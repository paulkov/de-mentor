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46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47.xml" ContentType="application/vnd.openxmlformats-officedocument.presentationml.notesSlide+xml"/>
  <Override PartName="/ppt/slides/slide48.xml" ContentType="application/vnd.openxmlformats-officedocument.presentationml.slide+xml"/>
  <Override PartName="/ppt/notesSlides/notesSlide48.xml" ContentType="application/vnd.openxmlformats-officedocument.presentationml.notesSlide+xml"/>
  <Override PartName="/ppt/slides/slide49.xml" ContentType="application/vnd.openxmlformats-officedocument.presentationml.slide+xml"/>
  <Override PartName="/ppt/notesSlides/notesSlide49.xml" ContentType="application/vnd.openxmlformats-officedocument.presentationml.notesSlide+xml"/>
  <Override PartName="/ppt/slides/slide50.xml" ContentType="application/vnd.openxmlformats-officedocument.presentationml.slide+xml"/>
  <Override PartName="/ppt/notesSlides/notesSlide50.xml" ContentType="application/vnd.openxmlformats-officedocument.presentationml.notesSlide+xml"/>
  <Override PartName="/ppt/slides/slide51.xml" ContentType="application/vnd.openxmlformats-officedocument.presentationml.slide+xml"/>
  <Override PartName="/ppt/notesSlides/notesSlide51.xml" ContentType="application/vnd.openxmlformats-officedocument.presentationml.notesSlide+xml"/>
  <Override PartName="/ppt/slides/slide52.xml" ContentType="application/vnd.openxmlformats-officedocument.presentationml.slide+xml"/>
  <Override PartName="/ppt/notesSlides/notesSlide52.xml" ContentType="application/vnd.openxmlformats-officedocument.presentationml.notesSlide+xml"/>
  <Override PartName="/ppt/slides/slide53.xml" ContentType="application/vnd.openxmlformats-officedocument.presentationml.slide+xml"/>
  <Override PartName="/ppt/notesSlides/notesSlide53.xml" ContentType="application/vnd.openxmlformats-officedocument.presentationml.notesSlide+xml"/>
  <Override PartName="/ppt/slides/slide54.xml" ContentType="application/vnd.openxmlformats-officedocument.presentationml.slide+xml"/>
  <Override PartName="/ppt/notesSlides/notesSlide54.xml" ContentType="application/vnd.openxmlformats-officedocument.presentationml.notesSlide+xml"/>
  <Override PartName="/ppt/slides/slide55.xml" ContentType="application/vnd.openxmlformats-officedocument.presentationml.slide+xml"/>
  <Override PartName="/ppt/notesSlides/notesSlide55.xml" ContentType="application/vnd.openxmlformats-officedocument.presentationml.notesSlide+xml"/>
  <Override PartName="/ppt/slides/slide56.xml" ContentType="application/vnd.openxmlformats-officedocument.presentationml.slide+xml"/>
  <Override PartName="/ppt/notesSlides/notesSlide56.xml" ContentType="application/vnd.openxmlformats-officedocument.presentationml.notesSlide+xml"/>
  <Override PartName="/ppt/slides/slide57.xml" ContentType="application/vnd.openxmlformats-officedocument.presentationml.slide+xml"/>
  <Override PartName="/ppt/notesSlides/notesSlide57.xml" ContentType="application/vnd.openxmlformats-officedocument.presentationml.notesSlide+xml"/>
  <Override PartName="/ppt/slides/slide58.xml" ContentType="application/vnd.openxmlformats-officedocument.presentationml.slide+xml"/>
  <Override PartName="/ppt/notesSlides/notesSlide58.xml" ContentType="application/vnd.openxmlformats-officedocument.presentationml.notesSlide+xml"/>
  <Override PartName="/ppt/slides/slide59.xml" ContentType="application/vnd.openxmlformats-officedocument.presentationml.slide+xml"/>
  <Override PartName="/ppt/notesSlides/notesSlide59.xml" ContentType="application/vnd.openxmlformats-officedocument.presentationml.notesSlide+xml"/>
  <Override PartName="/ppt/slides/slide60.xml" ContentType="application/vnd.openxmlformats-officedocument.presentationml.slide+xml"/>
  <Override PartName="/ppt/notesSlides/notesSlide6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dfb08fef05f4ec2" /><Relationship Type="http://schemas.openxmlformats.org/officeDocument/2006/relationships/extended-properties" Target="/docProps/app.xml" Id="R83044c831175492a" /><Relationship Type="http://schemas.openxmlformats.org/officeDocument/2006/relationships/officeDocument" Target="/ppt/presentation.xml" Id="Rcc64e4d7239f4e9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a51e619577f40fa"/>
  </p:sldMasterIdLst>
  <p:notesMasterIdLst>
    <p:notesMasterId xmlns:r="http://schemas.openxmlformats.org/officeDocument/2006/relationships" r:id="R54c4127dcca24766"/>
  </p:notesMasterIdLst>
  <p:sldIdLst>
    <p:sldId xmlns:r="http://schemas.openxmlformats.org/officeDocument/2006/relationships" id="256" r:id="R2c01bba7b1c7411a"/>
    <p:sldId xmlns:r="http://schemas.openxmlformats.org/officeDocument/2006/relationships" id="257" r:id="Re676d8ac23f743ba"/>
    <p:sldId xmlns:r="http://schemas.openxmlformats.org/officeDocument/2006/relationships" id="258" r:id="R219a1042a4074cae"/>
    <p:sldId xmlns:r="http://schemas.openxmlformats.org/officeDocument/2006/relationships" id="259" r:id="R3a8c11deb9bc4e64"/>
    <p:sldId xmlns:r="http://schemas.openxmlformats.org/officeDocument/2006/relationships" id="260" r:id="R68838bb41dd9413d"/>
    <p:sldId xmlns:r="http://schemas.openxmlformats.org/officeDocument/2006/relationships" id="261" r:id="R26fa9aec379042ba"/>
    <p:sldId xmlns:r="http://schemas.openxmlformats.org/officeDocument/2006/relationships" id="262" r:id="R7a13532433824ee7"/>
    <p:sldId xmlns:r="http://schemas.openxmlformats.org/officeDocument/2006/relationships" id="263" r:id="R74a901e5c07b4a12"/>
    <p:sldId xmlns:r="http://schemas.openxmlformats.org/officeDocument/2006/relationships" id="264" r:id="Re0d8a72d0f2d41a9"/>
    <p:sldId xmlns:r="http://schemas.openxmlformats.org/officeDocument/2006/relationships" id="265" r:id="R0cfcd527a24c4332"/>
    <p:sldId xmlns:r="http://schemas.openxmlformats.org/officeDocument/2006/relationships" id="266" r:id="Rc204765fb8d54a6d"/>
    <p:sldId xmlns:r="http://schemas.openxmlformats.org/officeDocument/2006/relationships" id="267" r:id="R9ceacb6555d24510"/>
    <p:sldId xmlns:r="http://schemas.openxmlformats.org/officeDocument/2006/relationships" id="268" r:id="R35e82c65bc14438a"/>
    <p:sldId xmlns:r="http://schemas.openxmlformats.org/officeDocument/2006/relationships" id="269" r:id="Ra95744749a584669"/>
    <p:sldId xmlns:r="http://schemas.openxmlformats.org/officeDocument/2006/relationships" id="270" r:id="R2c6d1252652049f5"/>
    <p:sldId xmlns:r="http://schemas.openxmlformats.org/officeDocument/2006/relationships" id="271" r:id="R16072635a5f6459a"/>
    <p:sldId xmlns:r="http://schemas.openxmlformats.org/officeDocument/2006/relationships" id="272" r:id="Ra61a94cac5ca41eb"/>
    <p:sldId xmlns:r="http://schemas.openxmlformats.org/officeDocument/2006/relationships" id="273" r:id="R2c6b6121b2184dee"/>
    <p:sldId xmlns:r="http://schemas.openxmlformats.org/officeDocument/2006/relationships" id="274" r:id="Rdeaa6f7a05eb4f72"/>
    <p:sldId xmlns:r="http://schemas.openxmlformats.org/officeDocument/2006/relationships" id="275" r:id="R20277dea74e54677"/>
    <p:sldId xmlns:r="http://schemas.openxmlformats.org/officeDocument/2006/relationships" id="276" r:id="R0f265439c38040f0"/>
    <p:sldId xmlns:r="http://schemas.openxmlformats.org/officeDocument/2006/relationships" id="277" r:id="R5d5089ac092645c2"/>
    <p:sldId xmlns:r="http://schemas.openxmlformats.org/officeDocument/2006/relationships" id="278" r:id="R7ab0ab55bf8040c3"/>
    <p:sldId xmlns:r="http://schemas.openxmlformats.org/officeDocument/2006/relationships" id="279" r:id="R1b9925dee222429c"/>
    <p:sldId xmlns:r="http://schemas.openxmlformats.org/officeDocument/2006/relationships" id="280" r:id="R4672c684005e4231"/>
    <p:sldId xmlns:r="http://schemas.openxmlformats.org/officeDocument/2006/relationships" id="281" r:id="R639b29d1c93c4537"/>
    <p:sldId xmlns:r="http://schemas.openxmlformats.org/officeDocument/2006/relationships" id="282" r:id="Ra97fbb8432a74871"/>
    <p:sldId xmlns:r="http://schemas.openxmlformats.org/officeDocument/2006/relationships" id="283" r:id="R4aaf561022a14c83"/>
    <p:sldId xmlns:r="http://schemas.openxmlformats.org/officeDocument/2006/relationships" id="284" r:id="Rb822fe153ae64ba8"/>
    <p:sldId xmlns:r="http://schemas.openxmlformats.org/officeDocument/2006/relationships" id="285" r:id="R1cc02f6541ae4c6a"/>
    <p:sldId xmlns:r="http://schemas.openxmlformats.org/officeDocument/2006/relationships" id="286" r:id="R45c4fa25b8fc4f0c"/>
    <p:sldId xmlns:r="http://schemas.openxmlformats.org/officeDocument/2006/relationships" id="287" r:id="Rc2ef25079ce14d97"/>
    <p:sldId xmlns:r="http://schemas.openxmlformats.org/officeDocument/2006/relationships" id="288" r:id="Ra4e2f4cae7504ed3"/>
    <p:sldId xmlns:r="http://schemas.openxmlformats.org/officeDocument/2006/relationships" id="289" r:id="R37aec989686c4b45"/>
    <p:sldId xmlns:r="http://schemas.openxmlformats.org/officeDocument/2006/relationships" id="290" r:id="R2d455b7082ae4d61"/>
    <p:sldId xmlns:r="http://schemas.openxmlformats.org/officeDocument/2006/relationships" id="291" r:id="Rbd7c70f0bf26478d"/>
    <p:sldId xmlns:r="http://schemas.openxmlformats.org/officeDocument/2006/relationships" id="292" r:id="Rd550ac9d90054b00"/>
    <p:sldId xmlns:r="http://schemas.openxmlformats.org/officeDocument/2006/relationships" id="293" r:id="R02ea7a4650f84a69"/>
    <p:sldId xmlns:r="http://schemas.openxmlformats.org/officeDocument/2006/relationships" id="294" r:id="Rf0dbbb6e8b2942e0"/>
    <p:sldId xmlns:r="http://schemas.openxmlformats.org/officeDocument/2006/relationships" id="295" r:id="R5a420d18dfcd4bdf"/>
    <p:sldId xmlns:r="http://schemas.openxmlformats.org/officeDocument/2006/relationships" id="296" r:id="R64c079806cf647ae"/>
    <p:sldId xmlns:r="http://schemas.openxmlformats.org/officeDocument/2006/relationships" id="297" r:id="R5eabe1c22ef44ee8"/>
    <p:sldId xmlns:r="http://schemas.openxmlformats.org/officeDocument/2006/relationships" id="298" r:id="R9d98ecfefd5947b4"/>
    <p:sldId xmlns:r="http://schemas.openxmlformats.org/officeDocument/2006/relationships" id="299" r:id="R154fe56972b4414e"/>
    <p:sldId xmlns:r="http://schemas.openxmlformats.org/officeDocument/2006/relationships" id="300" r:id="R7aad3beb9faa49b4"/>
    <p:sldId xmlns:r="http://schemas.openxmlformats.org/officeDocument/2006/relationships" id="301" r:id="Ra077b6888c9b4bc7"/>
    <p:sldId xmlns:r="http://schemas.openxmlformats.org/officeDocument/2006/relationships" id="302" r:id="Rc4166517696048ff"/>
    <p:sldId xmlns:r="http://schemas.openxmlformats.org/officeDocument/2006/relationships" id="303" r:id="Ra7923ce1705d46c9"/>
    <p:sldId xmlns:r="http://schemas.openxmlformats.org/officeDocument/2006/relationships" id="304" r:id="R98c263de07504c95"/>
    <p:sldId xmlns:r="http://schemas.openxmlformats.org/officeDocument/2006/relationships" id="305" r:id="R2ef17a09ab7b4a64"/>
    <p:sldId xmlns:r="http://schemas.openxmlformats.org/officeDocument/2006/relationships" id="306" r:id="R18e0940bc8cc4db4"/>
    <p:sldId xmlns:r="http://schemas.openxmlformats.org/officeDocument/2006/relationships" id="307" r:id="Rd779c3c718f448e1"/>
    <p:sldId xmlns:r="http://schemas.openxmlformats.org/officeDocument/2006/relationships" id="308" r:id="Rc2f425342a7146da"/>
    <p:sldId xmlns:r="http://schemas.openxmlformats.org/officeDocument/2006/relationships" id="309" r:id="R4d27f48df777452f"/>
    <p:sldId xmlns:r="http://schemas.openxmlformats.org/officeDocument/2006/relationships" id="310" r:id="Rf5512d829c294a43"/>
    <p:sldId xmlns:r="http://schemas.openxmlformats.org/officeDocument/2006/relationships" id="311" r:id="R53c2d4719f80448b"/>
    <p:sldId xmlns:r="http://schemas.openxmlformats.org/officeDocument/2006/relationships" id="312" r:id="R81aacd4c7c394600"/>
    <p:sldId xmlns:r="http://schemas.openxmlformats.org/officeDocument/2006/relationships" id="313" r:id="R29b7afde07b14a90"/>
    <p:sldId xmlns:r="http://schemas.openxmlformats.org/officeDocument/2006/relationships" id="314" r:id="R071c71ef091f487b"/>
    <p:sldId xmlns:r="http://schemas.openxmlformats.org/officeDocument/2006/relationships" id="315" r:id="R633a95fcdf5244da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687f2a8db8d4eec" /><Relationship Type="http://schemas.openxmlformats.org/officeDocument/2006/relationships/slideMaster" Target="/ppt/slideMasters/slideMaster1.xml" Id="R2a51e619577f40fa" /><Relationship Type="http://schemas.openxmlformats.org/officeDocument/2006/relationships/notesMaster" Target="/ppt/notesMasters/notesMaster1.xml" Id="R54c4127dcca24766" /><Relationship Type="http://schemas.openxmlformats.org/officeDocument/2006/relationships/presProps" Target="/ppt/presProps.xml" Id="Rffc51e9a28864d60" /><Relationship Type="http://schemas.openxmlformats.org/officeDocument/2006/relationships/tableStyles" Target="/ppt/tableStyles.xml" Id="R76e73123524445bc" /><Relationship Type="http://schemas.openxmlformats.org/officeDocument/2006/relationships/slide" Target="/ppt/slides/slide1.xml" Id="R2c01bba7b1c7411a" /><Relationship Type="http://schemas.openxmlformats.org/officeDocument/2006/relationships/slide" Target="/ppt/slides/slide2.xml" Id="Re676d8ac23f743ba" /><Relationship Type="http://schemas.openxmlformats.org/officeDocument/2006/relationships/slide" Target="/ppt/slides/slide3.xml" Id="R219a1042a4074cae" /><Relationship Type="http://schemas.openxmlformats.org/officeDocument/2006/relationships/slide" Target="/ppt/slides/slide4.xml" Id="R3a8c11deb9bc4e64" /><Relationship Type="http://schemas.openxmlformats.org/officeDocument/2006/relationships/slide" Target="/ppt/slides/slide5.xml" Id="R68838bb41dd9413d" /><Relationship Type="http://schemas.openxmlformats.org/officeDocument/2006/relationships/slide" Target="/ppt/slides/slide6.xml" Id="R26fa9aec379042ba" /><Relationship Type="http://schemas.openxmlformats.org/officeDocument/2006/relationships/slide" Target="/ppt/slides/slide7.xml" Id="R7a13532433824ee7" /><Relationship Type="http://schemas.openxmlformats.org/officeDocument/2006/relationships/slide" Target="/ppt/slides/slide8.xml" Id="R74a901e5c07b4a12" /><Relationship Type="http://schemas.openxmlformats.org/officeDocument/2006/relationships/slide" Target="/ppt/slides/slide9.xml" Id="Re0d8a72d0f2d41a9" /><Relationship Type="http://schemas.openxmlformats.org/officeDocument/2006/relationships/slide" Target="/ppt/slides/slide10.xml" Id="R0cfcd527a24c4332" /><Relationship Type="http://schemas.openxmlformats.org/officeDocument/2006/relationships/slide" Target="/ppt/slides/slide11.xml" Id="Rc204765fb8d54a6d" /><Relationship Type="http://schemas.openxmlformats.org/officeDocument/2006/relationships/slide" Target="/ppt/slides/slide12.xml" Id="R9ceacb6555d24510" /><Relationship Type="http://schemas.openxmlformats.org/officeDocument/2006/relationships/slide" Target="/ppt/slides/slide13.xml" Id="R35e82c65bc14438a" /><Relationship Type="http://schemas.openxmlformats.org/officeDocument/2006/relationships/slide" Target="/ppt/slides/slide14.xml" Id="Ra95744749a584669" /><Relationship Type="http://schemas.openxmlformats.org/officeDocument/2006/relationships/slide" Target="/ppt/slides/slide15.xml" Id="R2c6d1252652049f5" /><Relationship Type="http://schemas.openxmlformats.org/officeDocument/2006/relationships/slide" Target="/ppt/slides/slide16.xml" Id="R16072635a5f6459a" /><Relationship Type="http://schemas.openxmlformats.org/officeDocument/2006/relationships/slide" Target="/ppt/slides/slide17.xml" Id="Ra61a94cac5ca41eb" /><Relationship Type="http://schemas.openxmlformats.org/officeDocument/2006/relationships/slide" Target="/ppt/slides/slide18.xml" Id="R2c6b6121b2184dee" /><Relationship Type="http://schemas.openxmlformats.org/officeDocument/2006/relationships/slide" Target="/ppt/slides/slide19.xml" Id="Rdeaa6f7a05eb4f72" /><Relationship Type="http://schemas.openxmlformats.org/officeDocument/2006/relationships/slide" Target="/ppt/slides/slide20.xml" Id="R20277dea74e54677" /><Relationship Type="http://schemas.openxmlformats.org/officeDocument/2006/relationships/slide" Target="/ppt/slides/slide21.xml" Id="R0f265439c38040f0" /><Relationship Type="http://schemas.openxmlformats.org/officeDocument/2006/relationships/slide" Target="/ppt/slides/slide22.xml" Id="R5d5089ac092645c2" /><Relationship Type="http://schemas.openxmlformats.org/officeDocument/2006/relationships/slide" Target="/ppt/slides/slide23.xml" Id="R7ab0ab55bf8040c3" /><Relationship Type="http://schemas.openxmlformats.org/officeDocument/2006/relationships/slide" Target="/ppt/slides/slide24.xml" Id="R1b9925dee222429c" /><Relationship Type="http://schemas.openxmlformats.org/officeDocument/2006/relationships/slide" Target="/ppt/slides/slide25.xml" Id="R4672c684005e4231" /><Relationship Type="http://schemas.openxmlformats.org/officeDocument/2006/relationships/slide" Target="/ppt/slides/slide26.xml" Id="R639b29d1c93c4537" /><Relationship Type="http://schemas.openxmlformats.org/officeDocument/2006/relationships/slide" Target="/ppt/slides/slide27.xml" Id="Ra97fbb8432a74871" /><Relationship Type="http://schemas.openxmlformats.org/officeDocument/2006/relationships/slide" Target="/ppt/slides/slide28.xml" Id="R4aaf561022a14c83" /><Relationship Type="http://schemas.openxmlformats.org/officeDocument/2006/relationships/slide" Target="/ppt/slides/slide29.xml" Id="Rb822fe153ae64ba8" /><Relationship Type="http://schemas.openxmlformats.org/officeDocument/2006/relationships/slide" Target="/ppt/slides/slide30.xml" Id="R1cc02f6541ae4c6a" /><Relationship Type="http://schemas.openxmlformats.org/officeDocument/2006/relationships/slide" Target="/ppt/slides/slide31.xml" Id="R45c4fa25b8fc4f0c" /><Relationship Type="http://schemas.openxmlformats.org/officeDocument/2006/relationships/slide" Target="/ppt/slides/slide32.xml" Id="Rc2ef25079ce14d97" /><Relationship Type="http://schemas.openxmlformats.org/officeDocument/2006/relationships/slide" Target="/ppt/slides/slide33.xml" Id="Ra4e2f4cae7504ed3" /><Relationship Type="http://schemas.openxmlformats.org/officeDocument/2006/relationships/slide" Target="/ppt/slides/slide34.xml" Id="R37aec989686c4b45" /><Relationship Type="http://schemas.openxmlformats.org/officeDocument/2006/relationships/slide" Target="/ppt/slides/slide35.xml" Id="R2d455b7082ae4d61" /><Relationship Type="http://schemas.openxmlformats.org/officeDocument/2006/relationships/slide" Target="/ppt/slides/slide36.xml" Id="Rbd7c70f0bf26478d" /><Relationship Type="http://schemas.openxmlformats.org/officeDocument/2006/relationships/slide" Target="/ppt/slides/slide37.xml" Id="Rd550ac9d90054b00" /><Relationship Type="http://schemas.openxmlformats.org/officeDocument/2006/relationships/slide" Target="/ppt/slides/slide38.xml" Id="R02ea7a4650f84a69" /><Relationship Type="http://schemas.openxmlformats.org/officeDocument/2006/relationships/slide" Target="/ppt/slides/slide39.xml" Id="Rf0dbbb6e8b2942e0" /><Relationship Type="http://schemas.openxmlformats.org/officeDocument/2006/relationships/slide" Target="/ppt/slides/slide40.xml" Id="R5a420d18dfcd4bdf" /><Relationship Type="http://schemas.openxmlformats.org/officeDocument/2006/relationships/slide" Target="/ppt/slides/slide41.xml" Id="R64c079806cf647ae" /><Relationship Type="http://schemas.openxmlformats.org/officeDocument/2006/relationships/slide" Target="/ppt/slides/slide42.xml" Id="R5eabe1c22ef44ee8" /><Relationship Type="http://schemas.openxmlformats.org/officeDocument/2006/relationships/slide" Target="/ppt/slides/slide43.xml" Id="R9d98ecfefd5947b4" /><Relationship Type="http://schemas.openxmlformats.org/officeDocument/2006/relationships/slide" Target="/ppt/slides/slide44.xml" Id="R154fe56972b4414e" /><Relationship Type="http://schemas.openxmlformats.org/officeDocument/2006/relationships/slide" Target="/ppt/slides/slide45.xml" Id="R7aad3beb9faa49b4" /><Relationship Type="http://schemas.openxmlformats.org/officeDocument/2006/relationships/slide" Target="/ppt/slides/slide46.xml" Id="Ra077b6888c9b4bc7" /><Relationship Type="http://schemas.openxmlformats.org/officeDocument/2006/relationships/slide" Target="/ppt/slides/slide47.xml" Id="Rc4166517696048ff" /><Relationship Type="http://schemas.openxmlformats.org/officeDocument/2006/relationships/slide" Target="/ppt/slides/slide48.xml" Id="Ra7923ce1705d46c9" /><Relationship Type="http://schemas.openxmlformats.org/officeDocument/2006/relationships/slide" Target="/ppt/slides/slide49.xml" Id="R98c263de07504c95" /><Relationship Type="http://schemas.openxmlformats.org/officeDocument/2006/relationships/slide" Target="/ppt/slides/slide50.xml" Id="R2ef17a09ab7b4a64" /><Relationship Type="http://schemas.openxmlformats.org/officeDocument/2006/relationships/slide" Target="/ppt/slides/slide51.xml" Id="R18e0940bc8cc4db4" /><Relationship Type="http://schemas.openxmlformats.org/officeDocument/2006/relationships/slide" Target="/ppt/slides/slide52.xml" Id="Rd779c3c718f448e1" /><Relationship Type="http://schemas.openxmlformats.org/officeDocument/2006/relationships/slide" Target="/ppt/slides/slide53.xml" Id="Rc2f425342a7146da" /><Relationship Type="http://schemas.openxmlformats.org/officeDocument/2006/relationships/slide" Target="/ppt/slides/slide54.xml" Id="R4d27f48df777452f" /><Relationship Type="http://schemas.openxmlformats.org/officeDocument/2006/relationships/slide" Target="/ppt/slides/slide55.xml" Id="Rf5512d829c294a43" /><Relationship Type="http://schemas.openxmlformats.org/officeDocument/2006/relationships/slide" Target="/ppt/slides/slide56.xml" Id="R53c2d4719f80448b" /><Relationship Type="http://schemas.openxmlformats.org/officeDocument/2006/relationships/slide" Target="/ppt/slides/slide57.xml" Id="R81aacd4c7c394600" /><Relationship Type="http://schemas.openxmlformats.org/officeDocument/2006/relationships/slide" Target="/ppt/slides/slide58.xml" Id="R29b7afde07b14a90" /><Relationship Type="http://schemas.openxmlformats.org/officeDocument/2006/relationships/slide" Target="/ppt/slides/slide59.xml" Id="R071c71ef091f487b" /><Relationship Type="http://schemas.openxmlformats.org/officeDocument/2006/relationships/slide" Target="/ppt/slides/slide60.xml" Id="R633a95fcdf5244d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c8a432bfe8240d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0de783d2c234cea" /><Relationship Type="http://schemas.openxmlformats.org/officeDocument/2006/relationships/notesMaster" Target="/ppt/notesMasters/notesMaster1.xml" Id="R3bb53c2253fe4e4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559764d288b4edc" /><Relationship Type="http://schemas.openxmlformats.org/officeDocument/2006/relationships/notesMaster" Target="/ppt/notesMasters/notesMaster1.xml" Id="Rf078c6514b20419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66c57415e6747b7" /><Relationship Type="http://schemas.openxmlformats.org/officeDocument/2006/relationships/notesMaster" Target="/ppt/notesMasters/notesMaster1.xml" Id="R51317f253c2b419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27e762f58a74c41" /><Relationship Type="http://schemas.openxmlformats.org/officeDocument/2006/relationships/notesMaster" Target="/ppt/notesMasters/notesMaster1.xml" Id="Rba750502872946d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7c8d26d48414610" /><Relationship Type="http://schemas.openxmlformats.org/officeDocument/2006/relationships/notesMaster" Target="/ppt/notesMasters/notesMaster1.xml" Id="R9e3e2c0d2125468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e3f721394014227" /><Relationship Type="http://schemas.openxmlformats.org/officeDocument/2006/relationships/notesMaster" Target="/ppt/notesMasters/notesMaster1.xml" Id="R6950b851bba247f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6de53d4bffb46b8" /><Relationship Type="http://schemas.openxmlformats.org/officeDocument/2006/relationships/notesMaster" Target="/ppt/notesMasters/notesMaster1.xml" Id="Rde29f3a8c49e4a7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b0495dbfbd14e7e" /><Relationship Type="http://schemas.openxmlformats.org/officeDocument/2006/relationships/notesMaster" Target="/ppt/notesMasters/notesMaster1.xml" Id="R0c5f23b8f02e4a56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ee785ded05d42cf" /><Relationship Type="http://schemas.openxmlformats.org/officeDocument/2006/relationships/notesMaster" Target="/ppt/notesMasters/notesMaster1.xml" Id="R5d3793c6aa834c70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c9581125c5944dc6" /><Relationship Type="http://schemas.openxmlformats.org/officeDocument/2006/relationships/notesMaster" Target="/ppt/notesMasters/notesMaster1.xml" Id="R1d19a991f96447e3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2d052ffc432148e8" /><Relationship Type="http://schemas.openxmlformats.org/officeDocument/2006/relationships/notesMaster" Target="/ppt/notesMasters/notesMaster1.xml" Id="Rd135dd1bade1461d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91739dd483874aad" /><Relationship Type="http://schemas.openxmlformats.org/officeDocument/2006/relationships/notesMaster" Target="/ppt/notesMasters/notesMaster1.xml" Id="Rc9c79c3c236e45c5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89af6dbbe9594ba2" /><Relationship Type="http://schemas.openxmlformats.org/officeDocument/2006/relationships/notesMaster" Target="/ppt/notesMasters/notesMaster1.xml" Id="R02969e530a9249c6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8af9e94fca3d499a" /><Relationship Type="http://schemas.openxmlformats.org/officeDocument/2006/relationships/notesMaster" Target="/ppt/notesMasters/notesMaster1.xml" Id="R2b8df81dfc544394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e895830ac150497b" /><Relationship Type="http://schemas.openxmlformats.org/officeDocument/2006/relationships/notesMaster" Target="/ppt/notesMasters/notesMaster1.xml" Id="Rc10aa02accd24792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1459c59b2dc745d7" /><Relationship Type="http://schemas.openxmlformats.org/officeDocument/2006/relationships/notesMaster" Target="/ppt/notesMasters/notesMaster1.xml" Id="Rfac951633ec740fc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3c7c732f99204d78" /><Relationship Type="http://schemas.openxmlformats.org/officeDocument/2006/relationships/notesMaster" Target="/ppt/notesMasters/notesMaster1.xml" Id="R18b9e24c50394d1f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3116d764b91a4777" /><Relationship Type="http://schemas.openxmlformats.org/officeDocument/2006/relationships/notesMaster" Target="/ppt/notesMasters/notesMaster1.xml" Id="R116f21e1493c45fb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8afc5bc3e24e4896" /><Relationship Type="http://schemas.openxmlformats.org/officeDocument/2006/relationships/notesMaster" Target="/ppt/notesMasters/notesMaster1.xml" Id="Rad9d28138b5c477e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8706d0f65cac40d8" /><Relationship Type="http://schemas.openxmlformats.org/officeDocument/2006/relationships/notesMaster" Target="/ppt/notesMasters/notesMaster1.xml" Id="Rf80a89cf1a6f4bf7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c1feb9094bf841eb" /><Relationship Type="http://schemas.openxmlformats.org/officeDocument/2006/relationships/notesMaster" Target="/ppt/notesMasters/notesMaster1.xml" Id="Rbfba7c6cfc01466f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9ebfb2b7513c485f" /><Relationship Type="http://schemas.openxmlformats.org/officeDocument/2006/relationships/notesMaster" Target="/ppt/notesMasters/notesMaster1.xml" Id="R2d0bb532c0484eea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75dc7f24a7d24d7c" /><Relationship Type="http://schemas.openxmlformats.org/officeDocument/2006/relationships/notesMaster" Target="/ppt/notesMasters/notesMaster1.xml" Id="Reb9306e734c34fed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0bdc528e59904154" /><Relationship Type="http://schemas.openxmlformats.org/officeDocument/2006/relationships/notesMaster" Target="/ppt/notesMasters/notesMaster1.xml" Id="R4ef58454161c4c83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e6f54760aaf540e1" /><Relationship Type="http://schemas.openxmlformats.org/officeDocument/2006/relationships/notesMaster" Target="/ppt/notesMasters/notesMaster1.xml" Id="R5b4e3c012b334e6a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d3d8205ef53d4c68" /><Relationship Type="http://schemas.openxmlformats.org/officeDocument/2006/relationships/notesMaster" Target="/ppt/notesMasters/notesMaster1.xml" Id="R347f378dc1294fe7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5c861c168c7b4882" /><Relationship Type="http://schemas.openxmlformats.org/officeDocument/2006/relationships/notesMaster" Target="/ppt/notesMasters/notesMaster1.xml" Id="R3bad9cdf8eb14a2e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c24de3dd92e748d1" /><Relationship Type="http://schemas.openxmlformats.org/officeDocument/2006/relationships/notesMaster" Target="/ppt/notesMasters/notesMaster1.xml" Id="R2d5cb4ae22ad4da5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3a126d35b67844b8" /><Relationship Type="http://schemas.openxmlformats.org/officeDocument/2006/relationships/notesMaster" Target="/ppt/notesMasters/notesMaster1.xml" Id="Rc298aebebee04a51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74394cb7a22d4f5e" /><Relationship Type="http://schemas.openxmlformats.org/officeDocument/2006/relationships/notesMaster" Target="/ppt/notesMasters/notesMaster1.xml" Id="R02853effff3c4824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69476561c09747de" /><Relationship Type="http://schemas.openxmlformats.org/officeDocument/2006/relationships/notesMaster" Target="/ppt/notesMasters/notesMaster1.xml" Id="R7a34f46546214b4d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284cd4cd28144d88" /><Relationship Type="http://schemas.openxmlformats.org/officeDocument/2006/relationships/notesMaster" Target="/ppt/notesMasters/notesMaster1.xml" Id="R9bb8220536cb47ca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e65721ec692b4c15" /><Relationship Type="http://schemas.openxmlformats.org/officeDocument/2006/relationships/notesMaster" Target="/ppt/notesMasters/notesMaster1.xml" Id="Rf7d51fd681164237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ffaa7f0af99e49da" /><Relationship Type="http://schemas.openxmlformats.org/officeDocument/2006/relationships/notesMaster" Target="/ppt/notesMasters/notesMaster1.xml" Id="Rd15f5df8188a4255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58ee25732dfb47e3" /><Relationship Type="http://schemas.openxmlformats.org/officeDocument/2006/relationships/notesMaster" Target="/ppt/notesMasters/notesMaster1.xml" Id="R242cfdcb712d4025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56a461b3a01343cf" /><Relationship Type="http://schemas.openxmlformats.org/officeDocument/2006/relationships/notesMaster" Target="/ppt/notesMasters/notesMaster1.xml" Id="R6fe40a18db8e47a9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11deee2cb58647f4" /><Relationship Type="http://schemas.openxmlformats.org/officeDocument/2006/relationships/notesMaster" Target="/ppt/notesMasters/notesMaster1.xml" Id="Rf316138de8f64949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30de763f75cd47b8" /><Relationship Type="http://schemas.openxmlformats.org/officeDocument/2006/relationships/notesMaster" Target="/ppt/notesMasters/notesMaster1.xml" Id="R8f2a2f44d4714a96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f349bacd35dd4189" /><Relationship Type="http://schemas.openxmlformats.org/officeDocument/2006/relationships/notesMaster" Target="/ppt/notesMasters/notesMaster1.xml" Id="R0679f6b02c214293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57d3a5b5b1604408" /><Relationship Type="http://schemas.openxmlformats.org/officeDocument/2006/relationships/notesMaster" Target="/ppt/notesMasters/notesMaster1.xml" Id="R91cf90c50c014613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270c89e9c86a4b74" /><Relationship Type="http://schemas.openxmlformats.org/officeDocument/2006/relationships/notesMaster" Target="/ppt/notesMasters/notesMaster1.xml" Id="Rca27e7ba30f54e80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ef74ac6f3d16448c" /><Relationship Type="http://schemas.openxmlformats.org/officeDocument/2006/relationships/notesMaster" Target="/ppt/notesMasters/notesMaster1.xml" Id="R0b40fdfc96ec49b6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7c8f2be310744c97" /><Relationship Type="http://schemas.openxmlformats.org/officeDocument/2006/relationships/notesMaster" Target="/ppt/notesMasters/notesMaster1.xml" Id="R094307afc72d4200" /></Relationships>
</file>

<file path=ppt/notesSlides/_rels/notesSlide44.xml.rels>&#65279;<?xml version="1.0" encoding="utf-8"?><Relationships xmlns="http://schemas.openxmlformats.org/package/2006/relationships"><Relationship Type="http://schemas.openxmlformats.org/officeDocument/2006/relationships/slide" Target="/ppt/slides/slide44.xml" Id="R426a7ce9190e41cb" /><Relationship Type="http://schemas.openxmlformats.org/officeDocument/2006/relationships/notesMaster" Target="/ppt/notesMasters/notesMaster1.xml" Id="R2d619f27cb294aad" /></Relationships>
</file>

<file path=ppt/notesSlides/_rels/notesSlide45.xml.rels>&#65279;<?xml version="1.0" encoding="utf-8"?><Relationships xmlns="http://schemas.openxmlformats.org/package/2006/relationships"><Relationship Type="http://schemas.openxmlformats.org/officeDocument/2006/relationships/slide" Target="/ppt/slides/slide45.xml" Id="Rfad563e957144925" /><Relationship Type="http://schemas.openxmlformats.org/officeDocument/2006/relationships/notesMaster" Target="/ppt/notesMasters/notesMaster1.xml" Id="Rcdec7e9bf25b420e" /></Relationships>
</file>

<file path=ppt/notesSlides/_rels/notesSlide46.xml.rels>&#65279;<?xml version="1.0" encoding="utf-8"?><Relationships xmlns="http://schemas.openxmlformats.org/package/2006/relationships"><Relationship Type="http://schemas.openxmlformats.org/officeDocument/2006/relationships/slide" Target="/ppt/slides/slide46.xml" Id="R9bda2296727a49c0" /><Relationship Type="http://schemas.openxmlformats.org/officeDocument/2006/relationships/notesMaster" Target="/ppt/notesMasters/notesMaster1.xml" Id="Re56351dabb1e4179" /></Relationships>
</file>

<file path=ppt/notesSlides/_rels/notesSlide47.xml.rels>&#65279;<?xml version="1.0" encoding="utf-8"?><Relationships xmlns="http://schemas.openxmlformats.org/package/2006/relationships"><Relationship Type="http://schemas.openxmlformats.org/officeDocument/2006/relationships/slide" Target="/ppt/slides/slide47.xml" Id="Rfae7e8f4e27447fa" /><Relationship Type="http://schemas.openxmlformats.org/officeDocument/2006/relationships/notesMaster" Target="/ppt/notesMasters/notesMaster1.xml" Id="R6bfa2b3ed20c41d2" /></Relationships>
</file>

<file path=ppt/notesSlides/_rels/notesSlide48.xml.rels>&#65279;<?xml version="1.0" encoding="utf-8"?><Relationships xmlns="http://schemas.openxmlformats.org/package/2006/relationships"><Relationship Type="http://schemas.openxmlformats.org/officeDocument/2006/relationships/slide" Target="/ppt/slides/slide48.xml" Id="Rdae7809affd24cd2" /><Relationship Type="http://schemas.openxmlformats.org/officeDocument/2006/relationships/notesMaster" Target="/ppt/notesMasters/notesMaster1.xml" Id="Ra9462e42ac2944af" /></Relationships>
</file>

<file path=ppt/notesSlides/_rels/notesSlide49.xml.rels>&#65279;<?xml version="1.0" encoding="utf-8"?><Relationships xmlns="http://schemas.openxmlformats.org/package/2006/relationships"><Relationship Type="http://schemas.openxmlformats.org/officeDocument/2006/relationships/slide" Target="/ppt/slides/slide49.xml" Id="R92401508a184424c" /><Relationship Type="http://schemas.openxmlformats.org/officeDocument/2006/relationships/notesMaster" Target="/ppt/notesMasters/notesMaster1.xml" Id="R4321a3ee4a634820" /></Relationships>
</file>

<file path=ppt/notesSlides/_rels/notesSlide50.xml.rels>&#65279;<?xml version="1.0" encoding="utf-8"?><Relationships xmlns="http://schemas.openxmlformats.org/package/2006/relationships"><Relationship Type="http://schemas.openxmlformats.org/officeDocument/2006/relationships/slide" Target="/ppt/slides/slide50.xml" Id="R03e3091ff6634aa3" /><Relationship Type="http://schemas.openxmlformats.org/officeDocument/2006/relationships/notesMaster" Target="/ppt/notesMasters/notesMaster1.xml" Id="R9d7ea16c89394f74" /></Relationships>
</file>

<file path=ppt/notesSlides/_rels/notesSlide51.xml.rels>&#65279;<?xml version="1.0" encoding="utf-8"?><Relationships xmlns="http://schemas.openxmlformats.org/package/2006/relationships"><Relationship Type="http://schemas.openxmlformats.org/officeDocument/2006/relationships/slide" Target="/ppt/slides/slide51.xml" Id="Rf0dd798c33d44fd8" /><Relationship Type="http://schemas.openxmlformats.org/officeDocument/2006/relationships/notesMaster" Target="/ppt/notesMasters/notesMaster1.xml" Id="R2a6e1c720eeb4162" /></Relationships>
</file>

<file path=ppt/notesSlides/_rels/notesSlide52.xml.rels>&#65279;<?xml version="1.0" encoding="utf-8"?><Relationships xmlns="http://schemas.openxmlformats.org/package/2006/relationships"><Relationship Type="http://schemas.openxmlformats.org/officeDocument/2006/relationships/slide" Target="/ppt/slides/slide52.xml" Id="R58bc1014f8f64dbf" /><Relationship Type="http://schemas.openxmlformats.org/officeDocument/2006/relationships/notesMaster" Target="/ppt/notesMasters/notesMaster1.xml" Id="R4e635b3fb56a4d76" /></Relationships>
</file>

<file path=ppt/notesSlides/_rels/notesSlide53.xml.rels>&#65279;<?xml version="1.0" encoding="utf-8"?><Relationships xmlns="http://schemas.openxmlformats.org/package/2006/relationships"><Relationship Type="http://schemas.openxmlformats.org/officeDocument/2006/relationships/slide" Target="/ppt/slides/slide53.xml" Id="Rb557a2fecae24368" /><Relationship Type="http://schemas.openxmlformats.org/officeDocument/2006/relationships/notesMaster" Target="/ppt/notesMasters/notesMaster1.xml" Id="R5331460682c54a0a" /></Relationships>
</file>

<file path=ppt/notesSlides/_rels/notesSlide54.xml.rels>&#65279;<?xml version="1.0" encoding="utf-8"?><Relationships xmlns="http://schemas.openxmlformats.org/package/2006/relationships"><Relationship Type="http://schemas.openxmlformats.org/officeDocument/2006/relationships/slide" Target="/ppt/slides/slide54.xml" Id="R6c513876306e4e0a" /><Relationship Type="http://schemas.openxmlformats.org/officeDocument/2006/relationships/notesMaster" Target="/ppt/notesMasters/notesMaster1.xml" Id="Reefbf0565c9f4953" /></Relationships>
</file>

<file path=ppt/notesSlides/_rels/notesSlide55.xml.rels>&#65279;<?xml version="1.0" encoding="utf-8"?><Relationships xmlns="http://schemas.openxmlformats.org/package/2006/relationships"><Relationship Type="http://schemas.openxmlformats.org/officeDocument/2006/relationships/slide" Target="/ppt/slides/slide55.xml" Id="R03e019d14bb344f1" /><Relationship Type="http://schemas.openxmlformats.org/officeDocument/2006/relationships/notesMaster" Target="/ppt/notesMasters/notesMaster1.xml" Id="R9fdc27421b6343f1" /></Relationships>
</file>

<file path=ppt/notesSlides/_rels/notesSlide56.xml.rels>&#65279;<?xml version="1.0" encoding="utf-8"?><Relationships xmlns="http://schemas.openxmlformats.org/package/2006/relationships"><Relationship Type="http://schemas.openxmlformats.org/officeDocument/2006/relationships/slide" Target="/ppt/slides/slide56.xml" Id="Rd7c229032aec4352" /><Relationship Type="http://schemas.openxmlformats.org/officeDocument/2006/relationships/notesMaster" Target="/ppt/notesMasters/notesMaster1.xml" Id="R7b9aeb2a93874002" /></Relationships>
</file>

<file path=ppt/notesSlides/_rels/notesSlide57.xml.rels>&#65279;<?xml version="1.0" encoding="utf-8"?><Relationships xmlns="http://schemas.openxmlformats.org/package/2006/relationships"><Relationship Type="http://schemas.openxmlformats.org/officeDocument/2006/relationships/slide" Target="/ppt/slides/slide57.xml" Id="R2799d987696e41bb" /><Relationship Type="http://schemas.openxmlformats.org/officeDocument/2006/relationships/notesMaster" Target="/ppt/notesMasters/notesMaster1.xml" Id="R1cba0c32485149d9" /></Relationships>
</file>

<file path=ppt/notesSlides/_rels/notesSlide58.xml.rels>&#65279;<?xml version="1.0" encoding="utf-8"?><Relationships xmlns="http://schemas.openxmlformats.org/package/2006/relationships"><Relationship Type="http://schemas.openxmlformats.org/officeDocument/2006/relationships/slide" Target="/ppt/slides/slide58.xml" Id="R9100662e82e043e1" /><Relationship Type="http://schemas.openxmlformats.org/officeDocument/2006/relationships/notesMaster" Target="/ppt/notesMasters/notesMaster1.xml" Id="R535fac11766a4f7e" /></Relationships>
</file>

<file path=ppt/notesSlides/_rels/notesSlide59.xml.rels>&#65279;<?xml version="1.0" encoding="utf-8"?><Relationships xmlns="http://schemas.openxmlformats.org/package/2006/relationships"><Relationship Type="http://schemas.openxmlformats.org/officeDocument/2006/relationships/slide" Target="/ppt/slides/slide59.xml" Id="R0dda4e0b5bb844af" /><Relationship Type="http://schemas.openxmlformats.org/officeDocument/2006/relationships/notesMaster" Target="/ppt/notesMasters/notesMaster1.xml" Id="Ra566b8a1fdc840e7" /></Relationships>
</file>

<file path=ppt/notesSlides/_rels/notesSlide60.xml.rels>&#65279;<?xml version="1.0" encoding="utf-8"?><Relationships xmlns="http://schemas.openxmlformats.org/package/2006/relationships"><Relationship Type="http://schemas.openxmlformats.org/officeDocument/2006/relationships/slide" Target="/ppt/slides/slide60.xml" Id="Rcc344cdda49d4e50" /><Relationship Type="http://schemas.openxmlformats.org/officeDocument/2006/relationships/notesMaster" Target="/ppt/notesMasters/notesMaster1.xml" Id="Rf6e250b4813b44c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1. Apache Spark:</a:t>
            </a:r>
          </a:p>
          <a:p xmlns:a="http://schemas.openxmlformats.org/drawingml/2006/main">
            <a:r>
              <a:t>от данных к плану выполнения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Facilitator cue: ask learners to explain the slide in their own words before revealing the next 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https://spark.apache.org/docs/4.2.0/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2. Локальный Python больше не укладывается в SLA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Facilitator cue: ask learners to explain the slide in their own words before revealing the next 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No external sources; original instructional synthesis.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3. После лекции вы сможете объяснить Spark через evidence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Facilitator cue: ask learners to explain the slide in their own words before revealing the next 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https://spark.apache.org/docs/4.2.0/cluster-overview.html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4. Big Data — это ограничение workload, а не ярлык размера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Facilitator cue: ask learners to explain the slide in their own words before revealing the next 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https://www.nist.gov/publications/nist-big-data-interoperability-framework-volume-1-definitions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5. Big Data возник не в один день — термин догонял инженерную реальность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Facilitator cue: ask learners to explain the slide in their own words before revealing the next 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https://web.stanford.edu/class/ee380/9798win/lect08.html</a:t>
            </a:r>
          </a:p>
          <a:p xmlns:a="http://schemas.openxmlformats.org/drawingml/2006/main">
            <a:r>
              <a:t>- https://web.archive.org/web/20180206012552/http://blogs.gartner.com/doug-laney/files/2012/01/ad949-3D-Data-Management-Controlling-Data-Volume-Velocity-and-Variety.pdf</a:t>
            </a:r>
          </a:p>
          <a:p xmlns:a="http://schemas.openxmlformats.org/drawingml/2006/main">
            <a:r>
              <a:t>- https://www.nist.gov/publications/nist-big-data-interoperability-framework-volume-1-definitions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6. 3V — диагностическая модель давления, а не определение по порогу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Facilitator cue: ask learners to explain the slide in their own words before revealing the next 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https://web.archive.org/web/20180206012552/http://blogs.gartner.com/doug-laney/files/2012/01/ad949-3D-Data-Management-Controlling-Data-Volume-Velocity-and-Variety.pdf</a:t>
            </a:r>
          </a:p>
          <a:p xmlns:a="http://schemas.openxmlformats.org/drawingml/2006/main">
            <a:r>
              <a:t>- https://www.nist.gov/publications/nist-big-data-interoperability-framework-volume-1-definitions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7. После 3V появились десятки V — единого канона 6V или 10V нет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Facilitator cue: ask learners to explain the slide in their own words before revealing the next 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https://web.archive.org/web/20180206012552/http://blogs.gartner.com/doug-laney/files/2012/01/ad949-3D-Data-Management-Controlling-Data-Volume-Velocity-and-Variety.pdf</a:t>
            </a:r>
          </a:p>
          <a:p xmlns:a="http://schemas.openxmlformats.org/drawingml/2006/main">
            <a:r>
              <a:t>- https://www.nist.gov/publications/nist-big-data-interoperability-framework-volume-1-definitions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8. Big Data родился из разрыва между ростом данных и возможностями одного узла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Facilitator cue: ask learners to explain the slide in their own words before revealing the next 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https://web.stanford.edu/class/ee380/9798win/lect08.html</a:t>
            </a:r>
          </a:p>
          <a:p xmlns:a="http://schemas.openxmlformats.org/drawingml/2006/main">
            <a:r>
              <a:t>- https://research.google/pubs/the-google-file-system/</a:t>
            </a:r>
          </a:p>
          <a:p xmlns:a="http://schemas.openxmlformats.org/drawingml/2006/main">
            <a:r>
              <a:t>- https://www.nist.gov/publications/nist-big-data-interoperability-framework-volume-1-definitions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9. Google превратил ненадёжный кластер в программируемую платформу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Facilitator cue: ask learners to explain the slide in their own words before revealing the next 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https://research.google/pubs/the-google-file-system/</a:t>
            </a:r>
          </a:p>
          <a:p xmlns:a="http://schemas.openxmlformats.org/drawingml/2006/main">
            <a:r>
              <a:t>- https://research.google/pubs/mapreduce-simplified-data-processing-on-large-clusters/</a:t>
            </a:r>
          </a:p>
          <a:p xmlns:a="http://schemas.openxmlformats.org/drawingml/2006/main">
            <a:r>
              <a:t>- https://hadoop.apache.org/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10. MapReduce — как почтовый центр: пометить, рассортировать, собрать итог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Facilitator cue: ask learners to explain the slide in their own words before revealing the next 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https://research.google/pubs/mapreduce-simplified-data-processing-on-large-clusters/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11. Один MapReduce job фиксирует конвейер вокруг одной shuffle-границы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Facilitator cue: ask learners to explain the slide in their own words before revealing the next 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https://research.google/pubs/mapreduce-simplified-data-processing-on-large-clusters/</a:t>
            </a:r>
          </a:p>
          <a:p xmlns:a="http://schemas.openxmlformats.org/drawingml/2006/main">
            <a:r>
              <a:t>- https://hadoop.apache.org/docs/stable/hadoop-mapreduce-client/hadoop-mapreduce-client-core/MapReduceTutorial.html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12. Spark атаковал не Map и Reduce, а стоимость повторного использования данных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Facilitator cue: ask learners to explain the slide in their own words before revealing the next 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https://research.google/pubs/mapreduce-simplified-data-processing-on-large-clusters/</a:t>
            </a:r>
          </a:p>
          <a:p xmlns:a="http://schemas.openxmlformats.org/drawingml/2006/main">
            <a:r>
              <a:t>- https://www.usenix.org/conference/hotcloud-10/spark-cluster-computing-working-sets</a:t>
            </a:r>
          </a:p>
          <a:p xmlns:a="http://schemas.openxmlformats.org/drawingml/2006/main">
            <a:r>
              <a:t>- https://www.usenix.org/conference/nsdi12/technical-sessions/presentation/zaharia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13. Matei Zaharia и команда AMPLab начали Spark с боли iterative и interactive workloads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Facilitator cue: ask learners to explain the slide in their own words before revealing the next 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https://spark.apache.org/history</a:t>
            </a:r>
          </a:p>
          <a:p xmlns:a="http://schemas.openxmlformats.org/drawingml/2006/main">
            <a:r>
              <a:t>- https://www.usenix.org/conference/hotcloud-10/spark-cluster-computing-working-sets</a:t>
            </a:r>
          </a:p>
          <a:p xmlns:a="http://schemas.openxmlformats.org/drawingml/2006/main">
            <a:r>
              <a:t>- https://www.usenix.org/conference/nsdi12/technical-sessions/presentation/zaharia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14. 0.x и 1.x превратили исследовательский RDD engine в платформу данных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Facilitator cue: ask learners to explain the slide in their own words before revealing the next 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https://spark.apache.org/news/</a:t>
            </a:r>
          </a:p>
          <a:p xmlns:a="http://schemas.openxmlformats.org/drawingml/2006/main">
            <a:r>
              <a:t>- https://spark.apache.org/releases/spark-release-1-3-0.html</a:t>
            </a:r>
          </a:p>
          <a:p xmlns:a="http://schemas.openxmlformats.org/drawingml/2006/main">
            <a:r>
              <a:t>- https://people.csail.mit.edu/matei/papers/2015/sigmod_spark_sql.pdf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15. 2.x–4.x сместили центр тяжести от RDD к SQL engine и PySpark UX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Facilitator cue: ask learners to explain the slide in their own words before revealing the next 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https://spark.apache.org/releases/spark-release-2-0-0.html</a:t>
            </a:r>
          </a:p>
          <a:p xmlns:a="http://schemas.openxmlformats.org/drawingml/2006/main">
            <a:r>
              <a:t>- https://spark.apache.org/releases/spark-release-3-0-0.html</a:t>
            </a:r>
          </a:p>
          <a:p xmlns:a="http://schemas.openxmlformats.org/drawingml/2006/main">
            <a:r>
              <a:t>- https://spark.apache.org/releases/spark-release-4-0-0.html</a:t>
            </a:r>
          </a:p>
          <a:p xmlns:a="http://schemas.openxmlformats.org/drawingml/2006/main">
            <a:r>
              <a:t>- https://spark.apache.org/releases/spark-release-4-2-0.html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16. Победила комбинация модели выполнения, API и экосистемы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Facilitator cue: ask learners to explain the slide in their own words before revealing the next 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https://www.usenix.org/conference/nsdi12/technical-sessions/presentation/zaharia</a:t>
            </a:r>
          </a:p>
          <a:p xmlns:a="http://schemas.openxmlformats.org/drawingml/2006/main">
            <a:r>
              <a:t>- https://people.csail.mit.edu/matei/papers/2015/sigmod_spark_sql.pdf</a:t>
            </a:r>
          </a:p>
          <a:p xmlns:a="http://schemas.openxmlformats.org/drawingml/2006/main">
            <a:r>
              <a:t>- https://people.csail.mit.edu/matei/papers/2015/vldb_spark.pdf</a:t>
            </a:r>
          </a:p>
          <a:p xmlns:a="http://schemas.openxmlformats.org/drawingml/2006/main">
            <a:r>
              <a:t>- https://spark.apache.org/history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17. Spark — compute engine, а не база данных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Facilitator cue: ask learners to explain the slide in their own words before revealing the next 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https://spark.apache.org/docs/4.2.0/cluster-overview.html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18. Иногда лучший Spark job — тот, который вы не запускаете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Facilitator cue: ask learners to explain the slide in their own words before revealing the next 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No external sources; original instructional synthesis.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19. Один Spark application — один driver и набор executors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Facilitator cue: ask learners to explain the slide in their own words before revealing the next 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https://spark.apache.org/docs/4.2.0/cluster-overview.html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20. Cluster manager выдаёт ресурсы — Spark управляет вычислением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Facilitator cue: ask learners to explain the slide in their own words before revealing the next 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https://spark.apache.org/docs/4.2.0/cluster-overview.html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21. Partition — минимальная порция данных для одной task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Facilitator cue: ask learners to explain the slide in their own words before revealing the next 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https://spark.apache.org/docs/4.2.0/rdd-programming-guide.html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22. DataFrame — декларативный контракт, а не цикл по строкам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Facilitator cue: ask learners to explain the slide in their own words before revealing the next 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https://spark.apache.org/docs/4.2.0/api/python/getting_started/quickstart_df.html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23. Transformations строят план — action запускает работу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Facilitator cue: ask learners to explain the slide in their own words before revealing the next 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https://spark.apache.org/docs/4.2.0/api/python/getting_started/quickstart_df.html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24. Один action создаёт job, stages и tasks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Facilitator cue: ask learners to explain the slide in their own words before revealing the next 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https://spark.apache.org/docs/4.2.0/job-scheduling.html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25. Shuffle появляется, когда строки меняют владельца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Facilitator cue: ask learners to explain the slide in their own words before revealing the next 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https://spark.apache.org/docs/4.2.0/rdd-programming-guide.html#shuffle-operations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26. Контракт пайплайна: события → дневная выручка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Facilitator cue: ask learners to explain the slide in their own words before revealing the next 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No external sources; original instructional synthesis.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27. Явная schema делает контракт проверяемым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Facilitator cue: ask learners to explain the slide in their own words before revealing the next 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https://spark.apache.org/docs/4.2.0/sql-data-sources.html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28. Built-in expressions сохраняют оптимизации Catalyst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Facilitator cue: ask learners to explain the slide in their own words before revealing the next 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https://spark.apache.org/docs/4.2.0/api/python/reference/pyspark.sql/functions.html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29. Join и aggregation — место, где рождается стоимость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Facilitator cue: ask learners to explain the slide in their own words before revealing the next 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https://spark.apache.org/docs/4.2.0/sql-performance-tuning.html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30. Сначала читаем план — потом тратим кластер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Facilitator cue: ask learners to explain the slide in their own words before revealing the next 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https://spark.apache.org/docs/4.2.0/api/python/reference/pyspark.sql/api/pyspark.sql.DataFrame.explain.html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31. Exchange в physical plan — сигнал перераспределения данных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Facilitator cue: ask learners to explain the slide in their own words before revealing the next 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https://spark.apache.org/docs/4.2.0/sql-performance-tuning.html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32. Action материализует план — формат сохраняет будущие возможности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Facilitator cue: ask learners to explain the slide in their own words before revealing the next 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https://spark.apache.org/docs/4.2.0/sql-data-sources-parquet.html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33. Spark UI превращает “медленно” в проверяемую гипотезу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Facilitator cue: ask learners to explain the slide in their own words before revealing the next 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https://spark.apache.org/docs/4.2.0/web-ui.html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34. Хорошая диагностика связывает код, план и runtime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Facilitator cue: ask learners to explain the slide in their own words before revealing the next 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https://spark.apache.org/docs/4.2.0/sql-performance-tuning.html</a:t>
            </a:r>
          </a:p>
          <a:p xmlns:a="http://schemas.openxmlformats.org/drawingml/2006/main">
            <a:r>
              <a:t>- https://spark.apache.org/docs/4.2.0/web-ui.html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35. Выходной билет: объясните Spark без магии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Facilitator cue: ask learners to explain the slide in their own words before revealing the next 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No external sources; original instructional synthesis.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36. От API к физике выполнения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Facilitator cue: ask learners to explain the slide in their own words before revealing the next 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No external sources; original instructional synthesis.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37. Одна разница — четыре глубины объяснения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Facilitator cue: ask learners to explain the slide in their own words before revealing the next 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https://research.google/pubs/mapreduce-simplified-data-processing-on-large-clusters/</a:t>
            </a:r>
          </a:p>
          <a:p xmlns:a="http://schemas.openxmlformats.org/drawingml/2006/main">
            <a:r>
              <a:t>- https://www.usenix.org/conference/nsdi12/technical-sessions/presentation/zaharia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38. MapReduce оркестрирует job; Spark driver оркестрирует application DAG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Facilitator cue: ask learners to explain the slide in their own words before revealing the next 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https://hadoop.apache.org/docs/stable/hadoop-mapreduce-client/hadoop-mapreduce-client-core/MapReduceTutorial.html</a:t>
            </a:r>
          </a:p>
          <a:p xmlns:a="http://schemas.openxmlformats.org/drawingml/2006/main">
            <a:r>
              <a:t>- https://spark.apache.org/docs/4.2.0/cluster-overview.html</a:t>
            </a:r>
          </a:p>
          <a:p xmlns:a="http://schemas.openxmlformats.org/drawingml/2006/main">
            <a:r>
              <a:t>- https://spark.apache.org/docs/4.2.0/job-scheduling.html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39. На многошаговом пайплайне Spark убирает лишние durable boundaries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Facilitator cue: ask learners to explain the slide in their own words before revealing the next 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https://research.google/pubs/mapreduce-simplified-data-processing-on-large-clusters/</a:t>
            </a:r>
          </a:p>
          <a:p xmlns:a="http://schemas.openxmlformats.org/drawingml/2006/main">
            <a:r>
              <a:t>- https://www.usenix.org/conference/hotcloud-10/spark-cluster-computing-working-sets</a:t>
            </a:r>
          </a:p>
          <a:p xmlns:a="http://schemas.openxmlformats.org/drawingml/2006/main">
            <a:r>
              <a:t>- https://www.usenix.org/conference/nsdi12/technical-sessions/presentation/zaharia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40. Оба engine повторяют tasks — различается цена восстановления промежуточного состояния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Facilitator cue: ask learners to explain the slide in their own words before revealing the next 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https://research.google/pubs/mapreduce-simplified-data-processing-on-large-clusters/</a:t>
            </a:r>
          </a:p>
          <a:p xmlns:a="http://schemas.openxmlformats.org/drawingml/2006/main">
            <a:r>
              <a:t>- https://www.usenix.org/conference/nsdi12/technical-sessions/presentation/zaharia</a:t>
            </a:r>
          </a:p>
          <a:p xmlns:a="http://schemas.openxmlformats.org/drawingml/2006/main">
            <a:r>
              <a:t>- https://spark.apache.org/docs/4.2.0/rdd-programming-guide.html#rdd-persistence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41. Spark — не просто “MapReduce в RAM”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Facilitator cue: ask learners to explain the slide in their own words before revealing the next 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https://research.google/pubs/mapreduce-simplified-data-processing-on-large-clusters/</a:t>
            </a:r>
          </a:p>
          <a:p xmlns:a="http://schemas.openxmlformats.org/drawingml/2006/main">
            <a:r>
              <a:t>- https://www.usenix.org/conference/nsdi12/technical-sessions/presentation/zaharia</a:t>
            </a:r>
          </a:p>
          <a:p xmlns:a="http://schemas.openxmlformats.org/drawingml/2006/main">
            <a:r>
              <a:t>- https://people.csail.mit.edu/matei/papers/2015/sigmod_spark_sql.pdf</a:t>
            </a:r>
          </a:p>
          <a:p xmlns:a="http://schemas.openxmlformats.org/drawingml/2006/main">
            <a:r>
              <a:t>- https://spark.apache.org/docs/4.2.0/sql-performance-tuning.html#adaptive-query-execution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42. Разница важна не всегда: смотрим на число проходов, reuse и latency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Facilitator cue: ask learners to explain the slide in their own words before revealing the next 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https://www.usenix.org/conference/hotcloud-10/spark-cluster-computing-working-sets</a:t>
            </a:r>
          </a:p>
          <a:p xmlns:a="http://schemas.openxmlformats.org/drawingml/2006/main">
            <a:r>
              <a:t>- https://www.usenix.org/conference/nsdi12/technical-sessions/presentation/zaharia</a:t>
            </a:r>
          </a:p>
          <a:p xmlns:a="http://schemas.openxmlformats.org/drawingml/2006/main">
            <a:r>
              <a:t>- https://spark.apache.org/docs/4.2.0/streaming/index.html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43. Выбирайте по доминирующей стоимости, а не по названию технологии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Facilitator cue: ask learners to explain the slide in their own words before revealing the next 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https://www.usenix.org/conference/nsdi12/technical-sessions/presentation/zaharia</a:t>
            </a:r>
          </a:p>
          <a:p xmlns:a="http://schemas.openxmlformats.org/drawingml/2006/main">
            <a:r>
              <a:t>- https://spark.apache.org/docs/4.2.0/cluster-overview.html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44. Principal не спрашивает “что быстрее?” без cost model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Facilitator cue: ask learners to explain the slide in their own words before revealing the next 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https://dataintensive.net/</a:t>
            </a:r>
          </a:p>
          <a:p xmlns:a="http://schemas.openxmlformats.org/drawingml/2006/main">
            <a:r>
              <a:t>- https://spark.apache.org/docs/4.2.0/monitoring.html</a:t>
            </a:r>
          </a:p>
          <a:p xmlns:a="http://schemas.openxmlformats.org/drawingml/2006/main">
            <a:r>
              <a:t>- https://spark.apache.org/docs/4.2.0/sql-performance-tuning.html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45. Один DataFrame проходит четыре слоя плана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Facilitator cue: ask learners to explain the slide in their own words before revealing the next 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https://spark.apache.org/docs/4.2.0/sql-ref-syntax-qry-explain.html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46. Narrow dependency конвейеризуется; wide требует обмена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Facilitator cue: ask learners to explain the slide in their own words before revealing the next 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https://spark.apache.org/docs/4.2.0/rdd-programming-guide.html#shuffle-operations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47. PySpark управляет JVM engine — граница становится дорогой построчно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Facilitator cue: ask learners to explain the slide in their own words before revealing the next 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https://spark.apache.org/docs/4.2.0/api/python/user_guide/udfandudtf.html</a:t>
            </a:r>
          </a:p>
          <a:p xmlns:a="http://schemas.openxmlformats.org/drawingml/2006/main">
            <a:r>
              <a:t>- https://spark.apache.org/docs/4.2.0/api/python/tutorial/sql/arrow_pandas.html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48. Shuffle — это сеть, файлы и синхронизация между stages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Facilitator cue: ask learners to explain the slide in their own words before revealing the next 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https://spark.apache.org/docs/4.2.0/rdd-programming-guide.html#shuffle-operations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49. SortMergeJoin масштабируется, но сортирует обе стороны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Facilitator cue: ask learners to explain the slide in their own words before revealing the next 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https://spark.apache.org/docs/4.2.0/sql-performance-tuning.html#optimizing-the-join-strategy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50. BroadcastHashJoin убирает shuffle большой стороны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Facilitator cue: ask learners to explain the slide in their own words before revealing the next 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https://spark.apache.org/docs/4.2.0/sql-performance-tuning.html#optimizing-the-join-strategy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51. AQE меняет physical plan по фактической статистике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Facilitator cue: ask learners to explain the slide in their own words before revealing the next 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https://spark.apache.org/docs/4.2.0/sql-performance-tuning.html#adaptive-query-execution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52. Skew и small files ломают масштабирование с разных сторон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Facilitator cue: ask learners to explain the slide in their own words before revealing the next 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https://spark.apache.org/docs/4.2.0/sql-performance-tuning.html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53. Production-ready Spark начинается до spark-submit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Facilitator cue: ask learners to explain the slide in their own words before revealing the next 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https://spark.apache.org/docs/4.2.0/configuration.html</a:t>
            </a:r>
          </a:p>
          <a:p xmlns:a="http://schemas.openxmlformats.org/drawingml/2006/main">
            <a:r>
              <a:t>- https://spark.apache.org/docs/4.2.0/monitoring.html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54. Шпаргалки для практики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Facilitator cue: ask learners to explain the slide in their own words before revealing the next 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No external sources; original instructional synthesis.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55. Минимальный словарь Spark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Facilitator cue: ask learners to explain the slide in their own words before revealing the next 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https://spark.apache.org/docs/4.2.0/cluster-overview.html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56. Способ запуска меняет эксплуатацию, но не модель приложения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Facilitator cue: ask learners to explain the slide in their own words before revealing the next 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https://spark.apache.org/docs/4.2.0/cluster-overview.html#cluster-manager-types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57. Cache оправдан только повторным использованием дорогого результата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Facilitator cue: ask learners to explain the slide in their own words before revealing the next 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https://spark.apache.org/docs/4.2.0/rdd-programming-guide.html#rdd-persistence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58. Structured Streaming сохраняет ту же DataFrame-модель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Facilitator cue: ask learners to explain the slide in their own words before revealing the next 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https://spark.apache.org/docs/4.2.0/streaming/index.html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59. История и архитектура: первоисточники и книги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Facilitator cue: ask learners to explain the slide in their own words before revealing the next 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https://web.stanford.edu/class/ee380/9798win/lect08.html</a:t>
            </a:r>
          </a:p>
          <a:p xmlns:a="http://schemas.openxmlformats.org/drawingml/2006/main">
            <a:r>
              <a:t>- https://spark.apache.org/research.html</a:t>
            </a:r>
          </a:p>
          <a:p xmlns:a="http://schemas.openxmlformats.org/drawingml/2006/main">
            <a:r>
              <a:t>- https://www.oreilly.com/library/view/learning-spark-2nd/9781492050032/</a:t>
            </a:r>
          </a:p>
          <a:p xmlns:a="http://schemas.openxmlformats.org/drawingml/2006/main">
            <a:r>
              <a:t>- https://dataintensive.net/</a:t>
            </a:r>
          </a:p>
          <a:p xmlns:a="http://schemas.openxmlformats.org/drawingml/2006/main">
            <a:r>
              <a:t>- https://infolab.stanford.edu/~ullman/mmds/book.pdf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60. Следующий шаг — собрать собственную evidence chain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Facilitator cue: ask learners to explain the slide in their own words before revealing the next 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https://spark.apache.org/docs/4.2.0/</a:t>
            </a:r>
          </a:p>
          <a:p xmlns:a="http://schemas.openxmlformats.org/drawingml/2006/main">
            <a:r>
              <a:t>- https://spark.apache.org/docs/4.2.0/api/python/getting_started/install.html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bd65e262bc0466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fb17e5be16b4c86" /><Relationship Type="http://schemas.openxmlformats.org/officeDocument/2006/relationships/slideLayout" Target="/ppt/slideLayouts/slideLayout1.xml" Id="Rcf84c91973c94e3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f84c91973c94e3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01839dc23364b5e" /><Relationship Type="http://schemas.openxmlformats.org/officeDocument/2006/relationships/notesSlide" Target="/ppt/notesSlides/notesSlide1.xml" Id="Ra118c4b33428455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2b72705b5e4caa" /><Relationship Type="http://schemas.openxmlformats.org/officeDocument/2006/relationships/notesSlide" Target="/ppt/notesSlides/notesSlide2.xml" Id="R189374b41ef0483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b711525449a4f29" /><Relationship Type="http://schemas.openxmlformats.org/officeDocument/2006/relationships/notesSlide" Target="/ppt/notesSlides/notesSlide3.xml" Id="Rfe9d33ca10d542d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46e164870a4421a" /><Relationship Type="http://schemas.openxmlformats.org/officeDocument/2006/relationships/notesSlide" Target="/ppt/notesSlides/notesSlide4.xml" Id="Rea979a2256884ed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c4a04973b24204" /><Relationship Type="http://schemas.openxmlformats.org/officeDocument/2006/relationships/notesSlide" Target="/ppt/notesSlides/notesSlide5.xml" Id="Ra6428d7813fc467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9e165f89e204394" /><Relationship Type="http://schemas.openxmlformats.org/officeDocument/2006/relationships/notesSlide" Target="/ppt/notesSlides/notesSlide6.xml" Id="R7dea6469fe5d454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8824485fd4948a3" /><Relationship Type="http://schemas.openxmlformats.org/officeDocument/2006/relationships/notesSlide" Target="/ppt/notesSlides/notesSlide7.xml" Id="R1dc4dbe35e444cb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c6539c857d64080" /><Relationship Type="http://schemas.openxmlformats.org/officeDocument/2006/relationships/notesSlide" Target="/ppt/notesSlides/notesSlide8.xml" Id="R18a4e2b9f88d461e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090e1696f64446" /><Relationship Type="http://schemas.openxmlformats.org/officeDocument/2006/relationships/notesSlide" Target="/ppt/notesSlides/notesSlide9.xml" Id="R7bc4d5f62ad64f9c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b212ee42e7e48cc" /><Relationship Type="http://schemas.openxmlformats.org/officeDocument/2006/relationships/notesSlide" Target="/ppt/notesSlides/notesSlide10.xml" Id="Rcc1be8a675bc4af4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6bb8dd1972c4ff6" /><Relationship Type="http://schemas.openxmlformats.org/officeDocument/2006/relationships/notesSlide" Target="/ppt/notesSlides/notesSlide11.xml" Id="R13292bcfebad4720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a81826d4e9c4625" /><Relationship Type="http://schemas.openxmlformats.org/officeDocument/2006/relationships/notesSlide" Target="/ppt/notesSlides/notesSlide12.xml" Id="R12dd2cf5d66149b8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be2183e5ae47ee" /><Relationship Type="http://schemas.openxmlformats.org/officeDocument/2006/relationships/notesSlide" Target="/ppt/notesSlides/notesSlide13.xml" Id="R6b9eaa2fba264033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e2a197229804951" /><Relationship Type="http://schemas.openxmlformats.org/officeDocument/2006/relationships/notesSlide" Target="/ppt/notesSlides/notesSlide14.xml" Id="R5b81ca4730974816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227dbadd5b844bc" /><Relationship Type="http://schemas.openxmlformats.org/officeDocument/2006/relationships/notesSlide" Target="/ppt/notesSlides/notesSlide15.xml" Id="Rcff1bd68665d49b0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2776b63acda4b77" /><Relationship Type="http://schemas.openxmlformats.org/officeDocument/2006/relationships/notesSlide" Target="/ppt/notesSlides/notesSlide16.xml" Id="R016525c132f24aa2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0d29d9dd324319" /><Relationship Type="http://schemas.openxmlformats.org/officeDocument/2006/relationships/notesSlide" Target="/ppt/notesSlides/notesSlide17.xml" Id="R243336b8861e416c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081551b4ae4432" /><Relationship Type="http://schemas.openxmlformats.org/officeDocument/2006/relationships/notesSlide" Target="/ppt/notesSlides/notesSlide18.xml" Id="Rff5dae36fd1242e5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36be223c464da8" /><Relationship Type="http://schemas.openxmlformats.org/officeDocument/2006/relationships/notesSlide" Target="/ppt/notesSlides/notesSlide19.xml" Id="R9d306d1018b2487b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ebf4b31a0984908" /><Relationship Type="http://schemas.openxmlformats.org/officeDocument/2006/relationships/notesSlide" Target="/ppt/notesSlides/notesSlide20.xml" Id="Rdcd032dd5d394727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afba097123c4788" /><Relationship Type="http://schemas.openxmlformats.org/officeDocument/2006/relationships/notesSlide" Target="/ppt/notesSlides/notesSlide21.xml" Id="Re8a08eef96254dca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1fbf7f844f948a6" /><Relationship Type="http://schemas.openxmlformats.org/officeDocument/2006/relationships/notesSlide" Target="/ppt/notesSlides/notesSlide22.xml" Id="Rd9811f4b816149da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1e2b8dd2bd493f" /><Relationship Type="http://schemas.openxmlformats.org/officeDocument/2006/relationships/notesSlide" Target="/ppt/notesSlides/notesSlide23.xml" Id="R86f4c8b105b34f8f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bbb6a9eefb4a40" /><Relationship Type="http://schemas.openxmlformats.org/officeDocument/2006/relationships/notesSlide" Target="/ppt/notesSlides/notesSlide24.xml" Id="Rc07ed3db1f25494f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e9a5937f314d16" /><Relationship Type="http://schemas.openxmlformats.org/officeDocument/2006/relationships/notesSlide" Target="/ppt/notesSlides/notesSlide25.xml" Id="R03e422ec56c745f0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4a66ec94dff4463" /><Relationship Type="http://schemas.openxmlformats.org/officeDocument/2006/relationships/notesSlide" Target="/ppt/notesSlides/notesSlide26.xml" Id="Racce064ed8a64a64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ef1953ebcc8481e" /><Relationship Type="http://schemas.openxmlformats.org/officeDocument/2006/relationships/notesSlide" Target="/ppt/notesSlides/notesSlide27.xml" Id="R0efa3ccfcc684f05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1caed5e9f76428a" /><Relationship Type="http://schemas.openxmlformats.org/officeDocument/2006/relationships/notesSlide" Target="/ppt/notesSlides/notesSlide28.xml" Id="R109748b248544d7a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25482957f8490d" /><Relationship Type="http://schemas.openxmlformats.org/officeDocument/2006/relationships/notesSlide" Target="/ppt/notesSlides/notesSlide29.xml" Id="R43631e90aaa849fb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bc5fbf1ca24913" /><Relationship Type="http://schemas.openxmlformats.org/officeDocument/2006/relationships/notesSlide" Target="/ppt/notesSlides/notesSlide30.xml" Id="Rb14098e5a71b43fb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513eb5848245ce" /><Relationship Type="http://schemas.openxmlformats.org/officeDocument/2006/relationships/notesSlide" Target="/ppt/notesSlides/notesSlide31.xml" Id="R87aeaf6aa7ac4039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c98e4c5f3524c2e" /><Relationship Type="http://schemas.openxmlformats.org/officeDocument/2006/relationships/notesSlide" Target="/ppt/notesSlides/notesSlide32.xml" Id="R02f75083d2724b23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6b604271fe34eb8" /><Relationship Type="http://schemas.openxmlformats.org/officeDocument/2006/relationships/notesSlide" Target="/ppt/notesSlides/notesSlide33.xml" Id="R81b26f0a604141d2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3e570205a748f4" /><Relationship Type="http://schemas.openxmlformats.org/officeDocument/2006/relationships/notesSlide" Target="/ppt/notesSlides/notesSlide34.xml" Id="Ra79b5500b01a483f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67df070abf34e13" /><Relationship Type="http://schemas.openxmlformats.org/officeDocument/2006/relationships/notesSlide" Target="/ppt/notesSlides/notesSlide35.xml" Id="R90f1031d64c04b67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bd9e1cdea334d4f" /><Relationship Type="http://schemas.openxmlformats.org/officeDocument/2006/relationships/notesSlide" Target="/ppt/notesSlides/notesSlide36.xml" Id="Rd1907c9367634474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3ca6042583b4178" /><Relationship Type="http://schemas.openxmlformats.org/officeDocument/2006/relationships/notesSlide" Target="/ppt/notesSlides/notesSlide37.xml" Id="R0ba0c93472124b13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89f50c4cf03426a" /><Relationship Type="http://schemas.openxmlformats.org/officeDocument/2006/relationships/notesSlide" Target="/ppt/notesSlides/notesSlide38.xml" Id="R19ffed4be73f480d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8022fa53604844" /><Relationship Type="http://schemas.openxmlformats.org/officeDocument/2006/relationships/notesSlide" Target="/ppt/notesSlides/notesSlide39.xml" Id="R3b429456950e4f9b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6032d7fa94e40ae" /><Relationship Type="http://schemas.openxmlformats.org/officeDocument/2006/relationships/notesSlide" Target="/ppt/notesSlides/notesSlide40.xml" Id="Re2cc08f942b547a7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e1f2eb70d9e407d" /><Relationship Type="http://schemas.openxmlformats.org/officeDocument/2006/relationships/notesSlide" Target="/ppt/notesSlides/notesSlide41.xml" Id="R701f04a6f3144adf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cc186fafb8e4bfe" /><Relationship Type="http://schemas.openxmlformats.org/officeDocument/2006/relationships/notesSlide" Target="/ppt/notesSlides/notesSlide42.xml" Id="R9221a51f67664cdb" /></Relationships>
</file>

<file path=ppt/slides/_rels/slide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ccd041a25404a84" /><Relationship Type="http://schemas.openxmlformats.org/officeDocument/2006/relationships/notesSlide" Target="/ppt/notesSlides/notesSlide43.xml" Id="R2d42990520a64cd8" /></Relationships>
</file>

<file path=ppt/slides/_rels/slide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4a34a43eb524f31" /><Relationship Type="http://schemas.openxmlformats.org/officeDocument/2006/relationships/notesSlide" Target="/ppt/notesSlides/notesSlide44.xml" Id="Ra77c75f504564c07" /></Relationships>
</file>

<file path=ppt/slides/_rels/slide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0881de3bbda466f" /><Relationship Type="http://schemas.openxmlformats.org/officeDocument/2006/relationships/notesSlide" Target="/ppt/notesSlides/notesSlide45.xml" Id="R45f4dbe7eb32427b" /></Relationships>
</file>

<file path=ppt/slides/_rels/slide4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44f724c781d4b56" /><Relationship Type="http://schemas.openxmlformats.org/officeDocument/2006/relationships/notesSlide" Target="/ppt/notesSlides/notesSlide46.xml" Id="R11f506d1dd96441c" /></Relationships>
</file>

<file path=ppt/slides/_rels/slide4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116a418c3764aa5" /><Relationship Type="http://schemas.openxmlformats.org/officeDocument/2006/relationships/notesSlide" Target="/ppt/notesSlides/notesSlide47.xml" Id="R33934d8419784520" /></Relationships>
</file>

<file path=ppt/slides/_rels/slide4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620c14f2d174575" /><Relationship Type="http://schemas.openxmlformats.org/officeDocument/2006/relationships/notesSlide" Target="/ppt/notesSlides/notesSlide48.xml" Id="R9c0061f2a57f4a6e" /></Relationships>
</file>

<file path=ppt/slides/_rels/slide4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2cbe2b1c00a4858" /><Relationship Type="http://schemas.openxmlformats.org/officeDocument/2006/relationships/notesSlide" Target="/ppt/notesSlides/notesSlide49.xml" Id="Re4cc2aea25f94905" /></Relationships>
</file>

<file path=ppt/slides/_rels/slide5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61cf36d95dc4f90" /><Relationship Type="http://schemas.openxmlformats.org/officeDocument/2006/relationships/notesSlide" Target="/ppt/notesSlides/notesSlide50.xml" Id="R95a3332771d34600" /></Relationships>
</file>

<file path=ppt/slides/_rels/slide5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a99654f782a4afb" /><Relationship Type="http://schemas.openxmlformats.org/officeDocument/2006/relationships/notesSlide" Target="/ppt/notesSlides/notesSlide51.xml" Id="Rf2ed3d42cf7645fb" /></Relationships>
</file>

<file path=ppt/slides/_rels/slide5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28c75db0144f32" /><Relationship Type="http://schemas.openxmlformats.org/officeDocument/2006/relationships/notesSlide" Target="/ppt/notesSlides/notesSlide52.xml" Id="R4a674a2a009844cd" /></Relationships>
</file>

<file path=ppt/slides/_rels/slide5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8d195eb2f414d15" /><Relationship Type="http://schemas.openxmlformats.org/officeDocument/2006/relationships/notesSlide" Target="/ppt/notesSlides/notesSlide53.xml" Id="R90ac67424ae147cc" /></Relationships>
</file>

<file path=ppt/slides/_rels/slide5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92e967cf62f4949" /><Relationship Type="http://schemas.openxmlformats.org/officeDocument/2006/relationships/notesSlide" Target="/ppt/notesSlides/notesSlide54.xml" Id="Ra5a56999bdec4f4b" /></Relationships>
</file>

<file path=ppt/slides/_rels/slide5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db7d88c01634395" /><Relationship Type="http://schemas.openxmlformats.org/officeDocument/2006/relationships/notesSlide" Target="/ppt/notesSlides/notesSlide55.xml" Id="Ra2f738f7ed30448a" /></Relationships>
</file>

<file path=ppt/slides/_rels/slide5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53d88de74f94cce" /><Relationship Type="http://schemas.openxmlformats.org/officeDocument/2006/relationships/notesSlide" Target="/ppt/notesSlides/notesSlide56.xml" Id="R0d1cb94dc01d4a8e" /></Relationships>
</file>

<file path=ppt/slides/_rels/slide5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fdf142ddc14454b" /><Relationship Type="http://schemas.openxmlformats.org/officeDocument/2006/relationships/notesSlide" Target="/ppt/notesSlides/notesSlide57.xml" Id="Rb08f9b3df4774e3a" /></Relationships>
</file>

<file path=ppt/slides/_rels/slide5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03dd875fd544f04" /><Relationship Type="http://schemas.openxmlformats.org/officeDocument/2006/relationships/notesSlide" Target="/ppt/notesSlides/notesSlide58.xml" Id="Rd68e344e97004541" /></Relationships>
</file>

<file path=ppt/slides/_rels/slide5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ba84fbd92bd45b2" /><Relationship Type="http://schemas.openxmlformats.org/officeDocument/2006/relationships/notesSlide" Target="/ppt/notesSlides/notesSlide59.xml" Id="Rc90dde96083d404e" /></Relationships>
</file>

<file path=ppt/slides/_rels/slide6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6988435a254999" /><Relationship Type="http://schemas.openxmlformats.org/officeDocument/2006/relationships/notesSlide" Target="/ppt/notesSlides/notesSlide60.xml" Id="R5730925a5235438d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63993B4-8385-4EA1-B984-110A39F7E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4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475CDEB-D502-421E-8D1B-FB95040AE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905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696BD60-0162-4CA4-866B-230946A47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3810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E25A1C"/>
                </a:solidFill>
              </a:defRPr>
            </a:pPr>
            <a:r>
              <a:rPr sz="1200" b="1">
                <a:solidFill>
                  <a:srgbClr val="E25A1C"/>
                </a:solidFill>
              </a:rPr>
              <a:t>LESSON 04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41024FE-1F0F-49BB-AF5A-57FE86818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76400"/>
            <a:ext cx="828675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FFFFFF"/>
                </a:solidFill>
              </a:defRPr>
            </a:pPr>
            <a:r>
              <a:rPr sz="4650" b="1">
                <a:solidFill>
                  <a:srgbClr val="FFFFFF"/>
                </a:solidFill>
              </a:rPr>
              <a:t>Apache Spark:</a:t>
            </a:r>
          </a:p>
          <a:p xmlns:a="http://schemas.openxmlformats.org/drawingml/2006/main">
            <a:pPr algn="l">
              <a:defRPr sz="4650" b="1">
                <a:solidFill>
                  <a:srgbClr val="FFFFFF"/>
                </a:solidFill>
              </a:defRPr>
            </a:pPr>
            <a:r>
              <a:rPr sz="4650" b="1">
                <a:solidFill>
                  <a:srgbClr val="FFFFFF"/>
                </a:solidFill>
              </a:rPr>
              <a:t>от данных к плану выполнения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68413DA-C66B-4EA0-87CC-844010960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71950"/>
            <a:ext cx="7620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D6D9DC"/>
                </a:solidFill>
              </a:defRPr>
            </a:pPr>
            <a:r>
              <a:rPr sz="1875" b="0">
                <a:solidFill>
                  <a:srgbClr val="D6D9DC"/>
                </a:solidFill>
              </a:rPr>
              <a:t>Практическое погружение в PySpark для начинающего Data Engineer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0E935F2-85DA-4567-941E-B9148487D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238750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9AE1ABB-585E-4F9D-8CF4-439EA4AC1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0"/>
            <a:ext cx="619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D6D9DC"/>
                </a:solidFill>
              </a:defRPr>
            </a:pPr>
            <a:r>
              <a:rPr sz="1350" b="1">
                <a:solidFill>
                  <a:srgbClr val="D6D9DC"/>
                </a:solidFill>
              </a:rPr>
              <a:t>Core · 60 минут  |  Deep dive · +30 минут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A37B34B-76FC-45B6-B07E-B4450E574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5372100"/>
            <a:ext cx="2190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2100" b="1">
                <a:solidFill>
                  <a:srgbClr val="E25A1C"/>
                </a:solidFill>
              </a:defRPr>
            </a:pPr>
            <a:r>
              <a:rPr sz="2100" b="1">
                <a:solidFill>
                  <a:srgbClr val="E25A1C"/>
                </a:solidFill>
              </a:rPr>
              <a:t>PYSPARK</a:t>
            </a:r>
          </a:p>
        </p:txBody>
      </p:sp>
    </p:spTree>
    <p:extLst>
      <p:ext uri="{BB962C8B-B14F-4D97-AF65-F5344CB8AC3E}">
        <p14:creationId xmlns:p14="http://schemas.microsoft.com/office/powerpoint/2010/main" val="64319552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3B8AEEB-DF83-4416-8FC6-182D8A121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25A1C"/>
                </a:solidFill>
              </a:defRPr>
            </a:pPr>
            <a:r>
              <a:rPr sz="1050" b="1">
                <a:solidFill>
                  <a:srgbClr val="E25A1C"/>
                </a:solidFill>
              </a:rPr>
              <a:t>ЗАЧЕМ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724A328-E45D-48B4-89E6-34FE98BF2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238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DE / MENTOR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6671690-A686-4925-A364-EE8A3435A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EFBD6FA-051E-4673-94AE-360803F40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02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C944CB4-83A7-422A-8941-869E7DB7A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</a:defRPr>
            </a:pPr>
            <a:r>
              <a:rPr sz="2850" b="1">
                <a:solidFill>
                  <a:srgbClr val="202123"/>
                </a:solidFill>
              </a:rPr>
              <a:t>Локальный Python больше не укладывается в SLA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640939F-5E5A-443D-B4D6-3FA2B5AD0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657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B42318"/>
                </a:solidFill>
              </a:defRPr>
            </a:pPr>
            <a:r>
              <a:rPr sz="2325" b="1">
                <a:solidFill>
                  <a:srgbClr val="B42318"/>
                </a:solidFill>
              </a:rPr>
              <a:t>120 ГБ событий · 18 минут до дедлайна · один процесс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E138F19-7D2B-4727-ABC2-800A2D962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432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02E4041-E256-45A1-AD89-00447B22F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857500"/>
            <a:ext cx="63055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02123"/>
                </a:solidFill>
              </a:defRPr>
            </a:pPr>
            <a:r>
              <a:rPr sz="1800" b="0">
                <a:solidFill>
                  <a:srgbClr val="202123"/>
                </a:solidFill>
              </a:rPr>
              <a:t>Память заканчивается раньше данных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2ACDC74-5990-4FB9-9B63-13A29FCCD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290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9AA73D0-5084-4FA5-9E2A-669FBCBBC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543300"/>
            <a:ext cx="63055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02123"/>
                </a:solidFill>
              </a:defRPr>
            </a:pPr>
            <a:r>
              <a:rPr sz="1800" b="0">
                <a:solidFill>
                  <a:srgbClr val="202123"/>
                </a:solidFill>
              </a:rPr>
              <a:t>Повторный запуск начинается с нуля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F6AF1B2-82A7-4F13-8674-04BDCCE59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148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6FED5FE-F5EC-4EEE-8543-40BD01A31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229100"/>
            <a:ext cx="63055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02123"/>
                </a:solidFill>
              </a:defRPr>
            </a:pPr>
            <a:r>
              <a:rPr sz="1800" b="0">
                <a:solidFill>
                  <a:srgbClr val="202123"/>
                </a:solidFill>
              </a:rPr>
              <a:t>Ускорение упирается в один CPU и один диск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BD61848-3000-49BE-BF3C-280846879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981200"/>
            <a:ext cx="3676650" cy="3219450"/>
          </a:xfrm>
          <a:prstGeom xmlns:a="http://schemas.openxmlformats.org/drawingml/2006/main" prst="roundRect">
            <a:avLst>
              <a:gd name="adj" fmla="val 2367"/>
            </a:avLst>
          </a:prstGeom>
          <a:solidFill xmlns:a="http://schemas.openxmlformats.org/drawingml/2006/main">
            <a:srgbClr val="1F24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704039B-7E82-4782-B03B-8B4595D14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333625"/>
            <a:ext cx="1428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FFFFFF"/>
                </a:solidFill>
              </a:defRPr>
            </a:pPr>
            <a:r>
              <a:rPr sz="3450" b="1">
                <a:solidFill>
                  <a:srgbClr val="FFFFFF"/>
                </a:solidFill>
              </a:rPr>
              <a:t>SLA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B40FA1D-3374-4307-8A86-DAE1341C0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095625"/>
            <a:ext cx="27622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E25A1C"/>
                </a:solidFill>
              </a:defRPr>
            </a:pPr>
            <a:r>
              <a:rPr sz="4350" b="1">
                <a:solidFill>
                  <a:srgbClr val="E25A1C"/>
                </a:solidFill>
              </a:rPr>
              <a:t>18 min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E9F9089-2F0F-41CE-B662-DE1199C4F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095750"/>
            <a:ext cx="2857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E5E7EB"/>
                </a:solidFill>
              </a:defRPr>
            </a:pPr>
            <a:r>
              <a:rPr sz="1575" b="0">
                <a:solidFill>
                  <a:srgbClr val="E5E7EB"/>
                </a:solidFill>
              </a:rPr>
              <a:t>Нужен не “быстрый pandas”, а другая модель выполнения.</a:t>
            </a:r>
          </a:p>
        </p:txBody>
      </p:sp>
    </p:spTree>
    <p:extLst>
      <p:ext uri="{BB962C8B-B14F-4D97-AF65-F5344CB8AC3E}">
        <p14:creationId xmlns:p14="http://schemas.microsoft.com/office/powerpoint/2010/main" val="3107960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B4B90B8-576E-4649-BC3D-DA3C2EB92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25A1C"/>
                </a:solidFill>
              </a:defRPr>
            </a:pPr>
            <a:r>
              <a:rPr sz="1050" b="1">
                <a:solidFill>
                  <a:srgbClr val="E25A1C"/>
                </a:solidFill>
              </a:rPr>
              <a:t>КОНТРАКТ ЛЕКЦИИ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692D914-028D-4F6F-98E0-C70C846FF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238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DE / MENTOR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EA49E23-E966-4DF8-AA5A-8ACFEFD94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5A66710-C7FE-4684-97A7-27F0AC5A0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03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D8FB364-3D84-472A-B97F-1D2BB7387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</a:defRPr>
            </a:pPr>
            <a:r>
              <a:rPr sz="2850" b="1">
                <a:solidFill>
                  <a:srgbClr val="202123"/>
                </a:solidFill>
              </a:rPr>
              <a:t>После лекции вы сможете объяснить Spark через evidence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87C6FF1-1F54-4C5D-A7B9-7309F7DCA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76450"/>
            <a:ext cx="666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E25A1C"/>
                </a:solidFill>
              </a:defRPr>
            </a:pPr>
            <a:r>
              <a:rPr sz="2625" b="1">
                <a:solidFill>
                  <a:srgbClr val="E25A1C"/>
                </a:solidFill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04574BF-CFF8-4391-9DAB-56CA8C98B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07645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02123"/>
                </a:solidFill>
              </a:defRPr>
            </a:pPr>
            <a:r>
              <a:rPr sz="1875" b="1">
                <a:solidFill>
                  <a:srgbClr val="202123"/>
                </a:solidFill>
              </a:rPr>
              <a:t>Модель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1FB307A-E766-4DF0-97E8-F2BEB097B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095500"/>
            <a:ext cx="685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E6E68"/>
                </a:solidFill>
              </a:defRPr>
            </a:pPr>
            <a:r>
              <a:rPr sz="1650" b="0">
                <a:solidFill>
                  <a:srgbClr val="6E6E68"/>
                </a:solidFill>
              </a:rPr>
              <a:t>Driver, executors, partitions, jobs и stages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86738D2-E14F-4BF8-A445-5624A37EF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752725"/>
            <a:ext cx="92773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F52EE1C-D738-4471-B9C2-99F21C2F6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048000"/>
            <a:ext cx="666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E25A1C"/>
                </a:solidFill>
              </a:defRPr>
            </a:pPr>
            <a:r>
              <a:rPr sz="2625" b="1">
                <a:solidFill>
                  <a:srgbClr val="E25A1C"/>
                </a:solidFill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5C8C4D2-55B2-4931-96E4-70330B010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304800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02123"/>
                </a:solidFill>
              </a:defRPr>
            </a:pPr>
            <a:r>
              <a:rPr sz="1875" b="1">
                <a:solidFill>
                  <a:srgbClr val="202123"/>
                </a:solidFill>
              </a:rPr>
              <a:t>Код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CDA0C72-A5A3-4C80-8AC5-0FE9231E7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067050"/>
            <a:ext cx="685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E6E68"/>
                </a:solidFill>
              </a:defRPr>
            </a:pPr>
            <a:r>
              <a:rPr sz="1650" b="0">
                <a:solidFill>
                  <a:srgbClr val="6E6E68"/>
                </a:solidFill>
              </a:rPr>
              <a:t>DataFrame-пайплайн без Python UDF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5C6D804-74BE-446C-B3E1-5FD60422E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3724275"/>
            <a:ext cx="92773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106A0CB-7CCF-4CA3-8BAC-0E01A77C1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19550"/>
            <a:ext cx="666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E25A1C"/>
                </a:solidFill>
              </a:defRPr>
            </a:pPr>
            <a:r>
              <a:rPr sz="2625" b="1">
                <a:solidFill>
                  <a:srgbClr val="E25A1C"/>
                </a:solidFill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C69338C-701C-4F9D-9910-72A0ACC80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401955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02123"/>
                </a:solidFill>
              </a:defRPr>
            </a:pPr>
            <a:r>
              <a:rPr sz="1875" b="1">
                <a:solidFill>
                  <a:srgbClr val="202123"/>
                </a:solidFill>
              </a:rPr>
              <a:t>План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AC805AB-27A4-4998-BAF1-5DDC5896A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038600"/>
            <a:ext cx="685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E6E68"/>
                </a:solidFill>
              </a:defRPr>
            </a:pPr>
            <a:r>
              <a:rPr sz="1650" b="0">
                <a:solidFill>
                  <a:srgbClr val="6E6E68"/>
                </a:solidFill>
              </a:rPr>
              <a:t>Exchange, join strategy и AQE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784546B-004F-4BC4-8A9E-0890DA61C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4695825"/>
            <a:ext cx="92773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99FCC86-BE80-426D-9B50-EF6E10735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91100"/>
            <a:ext cx="666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E25A1C"/>
                </a:solidFill>
              </a:defRPr>
            </a:pPr>
            <a:r>
              <a:rPr sz="2625" b="1">
                <a:solidFill>
                  <a:srgbClr val="E25A1C"/>
                </a:solidFill>
              </a:rPr>
              <a:t>04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BDF9999-E292-47AA-BE28-ED727A37C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499110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02123"/>
                </a:solidFill>
              </a:defRPr>
            </a:pPr>
            <a:r>
              <a:rPr sz="1875" b="1">
                <a:solidFill>
                  <a:srgbClr val="202123"/>
                </a:solidFill>
              </a:rPr>
              <a:t>Наблюдение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2443D24-47DB-4C81-9335-FCF7C8661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5010150"/>
            <a:ext cx="685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E6E68"/>
                </a:solidFill>
              </a:defRPr>
            </a:pPr>
            <a:r>
              <a:rPr sz="1650" b="0">
                <a:solidFill>
                  <a:srgbClr val="6E6E68"/>
                </a:solidFill>
              </a:rPr>
              <a:t>Spark UI: где искать shuffle и skew</a:t>
            </a:r>
          </a:p>
        </p:txBody>
      </p:sp>
    </p:spTree>
    <p:extLst>
      <p:ext uri="{BB962C8B-B14F-4D97-AF65-F5344CB8AC3E}">
        <p14:creationId xmlns:p14="http://schemas.microsoft.com/office/powerpoint/2010/main" val="3367482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8F7FB1A-7AE5-43FC-8ECA-2491AC5D3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25A1C"/>
                </a:solidFill>
              </a:defRPr>
            </a:pPr>
            <a:r>
              <a:rPr sz="1050" b="1">
                <a:solidFill>
                  <a:srgbClr val="E25A1C"/>
                </a:solidFill>
              </a:rPr>
              <a:t>BIG DATA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334354F-8233-43B7-87B9-C10025783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238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DE / MENTOR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AA8FB84-A66D-4A44-B6B3-17BDD14E1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BDCE175-400F-4D25-930E-53F36E4AB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04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33BA424-8668-4ED4-BF6A-E2C998DB9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</a:defRPr>
            </a:pPr>
            <a:r>
              <a:rPr sz="2850" b="1">
                <a:solidFill>
                  <a:srgbClr val="202123"/>
                </a:solidFill>
              </a:rPr>
              <a:t>Big Data — это ограничение workload, а не ярлык размера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92C0359-5AC7-4160-920B-3CB12696D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10001250" cy="156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1F2428"/>
                </a:solidFill>
              </a:defRPr>
            </a:pPr>
            <a:r>
              <a:rPr sz="2775" b="1">
                <a:solidFill>
                  <a:srgbClr val="1F2428"/>
                </a:solidFill>
              </a:rPr>
              <a:t>“Данные становятся “big”, когда привычная архитектура перестаёт выполнять обещания.”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3A01BEC-3B2F-4DC2-A7F6-FECDF691F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05250"/>
            <a:ext cx="14287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7014753-2467-4421-9D77-F169A1EF5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05300"/>
            <a:ext cx="1809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E25A1C"/>
                </a:solidFill>
              </a:defRPr>
            </a:pPr>
            <a:r>
              <a:rPr sz="1275" b="1">
                <a:solidFill>
                  <a:srgbClr val="E25A1C"/>
                </a:solidFill>
              </a:rPr>
              <a:t>ОБЪЁМ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D44B292-3A2C-4B2D-8600-4F21CBA28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4305300"/>
            <a:ext cx="1809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6E6E68"/>
                </a:solidFill>
              </a:defRPr>
            </a:pPr>
            <a:r>
              <a:rPr sz="1275" b="1">
                <a:solidFill>
                  <a:srgbClr val="6E6E68"/>
                </a:solidFill>
              </a:rPr>
              <a:t>СКОРОСТЬ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2CC3DB6-DE45-4C25-BE0D-A805C1B27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4305300"/>
            <a:ext cx="1809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6E6E68"/>
                </a:solidFill>
              </a:defRPr>
            </a:pPr>
            <a:r>
              <a:rPr sz="1275" b="1">
                <a:solidFill>
                  <a:srgbClr val="6E6E68"/>
                </a:solidFill>
              </a:rPr>
              <a:t>РАЗНООБРАЗИЕ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D39264E-F751-4614-8DEB-D1D7C6BC7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4305300"/>
            <a:ext cx="1809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6E6E68"/>
                </a:solidFill>
              </a:defRPr>
            </a:pPr>
            <a:r>
              <a:rPr sz="1275" b="1">
                <a:solidFill>
                  <a:srgbClr val="6E6E68"/>
                </a:solidFill>
              </a:rPr>
              <a:t>СТОИМОСТЬ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2F50E14-AA53-459D-9623-04F4A8B39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4305300"/>
            <a:ext cx="1809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6E6E68"/>
                </a:solidFill>
              </a:defRPr>
            </a:pPr>
            <a:r>
              <a:rPr sz="1275" b="1">
                <a:solidFill>
                  <a:srgbClr val="6E6E68"/>
                </a:solidFill>
              </a:rPr>
              <a:t>СБОИ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E9C6D09-3955-4358-B6E8-65A60C124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81600"/>
            <a:ext cx="9048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E6E68"/>
                </a:solidFill>
              </a:defRPr>
            </a:pPr>
            <a:r>
              <a:rPr sz="1650" b="0">
                <a:solidFill>
                  <a:srgbClr val="6E6E68"/>
                </a:solidFill>
              </a:rPr>
              <a:t>Сначала формулируем SLA и профиль нагрузки — потом выбираем движок.</a:t>
            </a:r>
          </a:p>
        </p:txBody>
      </p:sp>
    </p:spTree>
    <p:extLst>
      <p:ext uri="{BB962C8B-B14F-4D97-AF65-F5344CB8AC3E}">
        <p14:creationId xmlns:p14="http://schemas.microsoft.com/office/powerpoint/2010/main" val="164300640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42BACE5-9379-4C47-BBE5-9E406B231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25A1C"/>
                </a:solidFill>
              </a:defRPr>
            </a:pPr>
            <a:r>
              <a:rPr sz="1050" b="1">
                <a:solidFill>
                  <a:srgbClr val="E25A1C"/>
                </a:solidFill>
              </a:rPr>
              <a:t>ИСТОРИЯ BIG DATA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DBF8CA1-8FDB-4F6F-8397-F9EFB33D5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238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DE / MENTOR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EDB4F94-3379-4769-BC82-FFADD97F5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4B28E34-7EF0-4173-BB3E-5689D692F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05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B2F4AD1-803F-4F40-A7C0-EA095C32B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</a:defRPr>
            </a:pPr>
            <a:r>
              <a:rPr sz="2850" b="1">
                <a:solidFill>
                  <a:srgbClr val="202123"/>
                </a:solidFill>
              </a:rPr>
              <a:t>Big Data возник не в один день — термин догонял инженерную реальность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C88002F-1BC2-47C9-882E-8D31193BA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952750"/>
            <a:ext cx="10287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48E29F2-789F-4491-ACC0-C1F9567FC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2800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349B13F-79DE-4F2E-8594-E8421AA84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52650"/>
            <a:ext cx="2457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2F6FED"/>
                </a:solidFill>
              </a:defRPr>
            </a:pPr>
            <a:r>
              <a:rPr sz="2175" b="1">
                <a:solidFill>
                  <a:srgbClr val="2F6FED"/>
                </a:solidFill>
              </a:rPr>
              <a:t>1990-е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6CB0DF3-5B7B-458B-B4A2-5B075B731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81375"/>
            <a:ext cx="24574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02123"/>
                </a:solidFill>
              </a:defRPr>
            </a:pPr>
            <a:r>
              <a:rPr sz="1725" b="1">
                <a:solidFill>
                  <a:srgbClr val="202123"/>
                </a:solidFill>
              </a:rPr>
              <a:t>Цифровые следы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5107887-E0AA-4FAC-8878-C0B4C9FCC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95750"/>
            <a:ext cx="24574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E6E68"/>
                </a:solidFill>
              </a:defRPr>
            </a:pPr>
            <a:r>
              <a:rPr sz="1425" b="0">
                <a:solidFill>
                  <a:srgbClr val="6E6E68"/>
                </a:solidFill>
              </a:rPr>
              <a:t>Web, логи, транзакции и сенсоры растут быстрее прежней инфраструктуры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79276F8-CFD0-43AC-B5A2-E876377E1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7575" y="2800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16D5A76-EDAA-4ECD-B622-9346FB867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152650"/>
            <a:ext cx="2457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2F6FED"/>
                </a:solidFill>
              </a:defRPr>
            </a:pPr>
            <a:r>
              <a:rPr sz="2175" b="1">
                <a:solidFill>
                  <a:srgbClr val="2F6FED"/>
                </a:solidFill>
              </a:rPr>
              <a:t>1998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91EB2DA-6ABC-4CE6-875B-6E3D82B2B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381375"/>
            <a:ext cx="24574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02123"/>
                </a:solidFill>
              </a:defRPr>
            </a:pPr>
            <a:r>
              <a:rPr sz="1725" b="1">
                <a:solidFill>
                  <a:srgbClr val="202123"/>
                </a:solidFill>
              </a:rPr>
              <a:t>John Mashey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C9A7D57-65BC-4C5A-AFF5-AB20D4CAA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4095750"/>
            <a:ext cx="24574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E6E68"/>
                </a:solidFill>
              </a:defRPr>
            </a:pPr>
            <a:r>
              <a:rPr sz="1425" b="0">
                <a:solidFill>
                  <a:srgbClr val="6E6E68"/>
                </a:solidFill>
              </a:rPr>
              <a:t>Доклад “Big Data … and the Next Wave of InfraStress” популяризирует термин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44D94BE-C442-4AA0-ACAF-CF5B1D76E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800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122CA11-554D-4375-8271-411C16042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152650"/>
            <a:ext cx="2457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2F6FED"/>
                </a:solidFill>
              </a:defRPr>
            </a:pPr>
            <a:r>
              <a:rPr sz="2175" b="1">
                <a:solidFill>
                  <a:srgbClr val="2F6FED"/>
                </a:solidFill>
              </a:rPr>
              <a:t>2001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02A9233-3FBD-49C0-8EBA-9F3DC45DA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381375"/>
            <a:ext cx="24574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02123"/>
                </a:solidFill>
              </a:defRPr>
            </a:pPr>
            <a:r>
              <a:rPr sz="1725" b="1">
                <a:solidFill>
                  <a:srgbClr val="202123"/>
                </a:solidFill>
              </a:rPr>
              <a:t>Doug Laney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13C9A4F-2F0C-43AC-B4B7-3C8F07CDE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4095750"/>
            <a:ext cx="24574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E6E68"/>
                </a:solidFill>
              </a:defRPr>
            </a:pPr>
            <a:r>
              <a:rPr sz="1425" b="0">
                <a:solidFill>
                  <a:srgbClr val="6E6E68"/>
                </a:solidFill>
              </a:rPr>
              <a:t>Volume, velocity, variety описывают три независимых давления на data management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BB7B839-71DB-4467-8206-8EDA40BB3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5875" y="2800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1A6F864-0DA3-4BF4-BC94-1318A5977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152650"/>
            <a:ext cx="2457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E25A1C"/>
                </a:solidFill>
              </a:defRPr>
            </a:pPr>
            <a:r>
              <a:rPr sz="2175" b="1">
                <a:solidFill>
                  <a:srgbClr val="E25A1C"/>
                </a:solidFill>
              </a:rPr>
              <a:t>2010-е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94EA527-24CB-432D-9BD4-3A13831B1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381375"/>
            <a:ext cx="24574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02123"/>
                </a:solidFill>
              </a:defRPr>
            </a:pPr>
            <a:r>
              <a:rPr sz="1725" b="1">
                <a:solidFill>
                  <a:srgbClr val="202123"/>
                </a:solidFill>
              </a:rPr>
              <a:t>Платформенный термин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D262BAC-B9F5-4C7A-9331-CD00F89EE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095750"/>
            <a:ext cx="24574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E6E68"/>
                </a:solidFill>
              </a:defRPr>
            </a:pPr>
            <a:r>
              <a:rPr sz="1425" b="0">
                <a:solidFill>
                  <a:srgbClr val="6E6E68"/>
                </a:solidFill>
              </a:rPr>
              <a:t>Big Data объединяет storage, compute, analytics и governance</a:t>
            </a:r>
          </a:p>
        </p:txBody>
      </p:sp>
    </p:spTree>
    <p:extLst>
      <p:ext uri="{BB962C8B-B14F-4D97-AF65-F5344CB8AC3E}">
        <p14:creationId xmlns:p14="http://schemas.microsoft.com/office/powerpoint/2010/main" val="164025293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9400596-3563-4BF2-9D59-2BE7AB721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25A1C"/>
                </a:solidFill>
              </a:defRPr>
            </a:pPr>
            <a:r>
              <a:rPr sz="1050" b="1">
                <a:solidFill>
                  <a:srgbClr val="E25A1C"/>
                </a:solidFill>
              </a:rPr>
              <a:t>3V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0D12E1-2A61-4A70-AE48-2447D551D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238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DE / MENTOR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71CFB68-B2C1-4E06-B1DF-0D71A61C3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F61784F-98EA-42A4-A613-35F925340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06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72BC9BF-72FE-48E2-8BD9-C4FD73702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</a:defRPr>
            </a:pPr>
            <a:r>
              <a:rPr sz="2850" b="1">
                <a:solidFill>
                  <a:srgbClr val="202123"/>
                </a:solidFill>
              </a:rPr>
              <a:t>3V — диагностическая модель давления, а не определение по порогу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0A5453-5273-47FB-BF7F-BD3508C0C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076450"/>
            <a:ext cx="2152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6FED"/>
                </a:solidFill>
              </a:defRPr>
            </a:pPr>
            <a:r>
              <a:rPr sz="1650" b="1">
                <a:solidFill>
                  <a:srgbClr val="2F6FED"/>
                </a:solidFill>
              </a:rPr>
              <a:t>Сигнал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71F6173-B27C-4CC6-A6CB-D24F08896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076450"/>
            <a:ext cx="2152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6FED"/>
                </a:solidFill>
              </a:defRPr>
            </a:pPr>
            <a:r>
              <a:rPr sz="1650" b="1">
                <a:solidFill>
                  <a:srgbClr val="2F6FED"/>
                </a:solidFill>
              </a:rPr>
              <a:t>Что ломается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DF7F6C8-63B1-4CB0-BCB6-33AEF8BF7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076450"/>
            <a:ext cx="2152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6FED"/>
                </a:solidFill>
              </a:defRPr>
            </a:pPr>
            <a:r>
              <a:rPr sz="1650" b="1">
                <a:solidFill>
                  <a:srgbClr val="2F6FED"/>
                </a:solidFill>
              </a:rPr>
              <a:t>Арх. ответ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1A1F0CD-A5B8-4E21-8ED5-3E4B379B4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076450"/>
            <a:ext cx="2152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E25A1C"/>
                </a:solidFill>
              </a:defRPr>
            </a:pPr>
            <a:r>
              <a:rPr sz="1650" b="1">
                <a:solidFill>
                  <a:srgbClr val="E25A1C"/>
                </a:solidFill>
              </a:rPr>
              <a:t>Вопрос архитектора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D71ED5B-E2F0-4347-ADA7-1A312DFFD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86050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</a:defRPr>
            </a:pPr>
            <a:r>
              <a:rPr sz="1500" b="1">
                <a:solidFill>
                  <a:srgbClr val="202123"/>
                </a:solidFill>
              </a:rPr>
              <a:t>Volume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F3CEEFE-371F-4C9E-A8D0-F8CCACE55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686050"/>
            <a:ext cx="2152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байты / строки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8B3EA83-0E24-4033-9AC1-DBEB8119D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686050"/>
            <a:ext cx="2152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один узел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5103FBD-6DEE-4CB3-9030-D5A638CFC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686050"/>
            <a:ext cx="2152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partitioning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7C9FEFD-C036-4104-964F-098BEC8D2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686050"/>
            <a:ext cx="2152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Где предел scale-up?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30513CF-164F-4E08-82C2-9E464C021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19450"/>
            <a:ext cx="10572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3254CDC-F1FA-4525-9519-0AB982FBD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71850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</a:defRPr>
            </a:pPr>
            <a:r>
              <a:rPr sz="1500" b="1">
                <a:solidFill>
                  <a:srgbClr val="202123"/>
                </a:solidFill>
              </a:rPr>
              <a:t>Velocity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1E732F2-9E78-4731-BEA0-E8640E665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371850"/>
            <a:ext cx="2152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события / сек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1EE6E36-0C80-40D8-9B1F-55E6762D9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371850"/>
            <a:ext cx="2152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batch SLA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F79BC9F-6E7B-4C82-B37A-F3CD77B1D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371850"/>
            <a:ext cx="2152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streaming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879C696-0502-4DB4-8E98-85F9A0330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371850"/>
            <a:ext cx="2152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Какова цена задержки?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94645C3-916D-4325-A70B-D637A75B3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05250"/>
            <a:ext cx="10572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A64F22C-AEC2-43FC-B169-2EB3988D2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57650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</a:defRPr>
            </a:pPr>
            <a:r>
              <a:rPr sz="1500" b="1">
                <a:solidFill>
                  <a:srgbClr val="202123"/>
                </a:solidFill>
              </a:rPr>
              <a:t>Variety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7E35A49-B7F0-4FAE-8660-7B30DF846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057650"/>
            <a:ext cx="2152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форматы / схемы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8FF7F0E-4D0F-4B4B-BD30-33F930003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4057650"/>
            <a:ext cx="2152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жёсткая модель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993C1BC-5778-4594-A38D-E7339C359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057650"/>
            <a:ext cx="2152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schema + contracts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F3BEE5F-68CB-401E-9CEF-331C5CA93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4057650"/>
            <a:ext cx="2152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Кто владеет изменением?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72700BE-EF2E-4523-9422-5F74B03EC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91050"/>
            <a:ext cx="10572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FF8C071-3CDF-46F1-B4B6-F234731CA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43450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</a:defRPr>
            </a:pPr>
            <a:r>
              <a:rPr sz="1500" b="1">
                <a:solidFill>
                  <a:srgbClr val="202123"/>
                </a:solidFill>
              </a:rPr>
              <a:t>Итог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59CC57B-190F-4120-A002-1604E6C31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743450"/>
            <a:ext cx="2152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профиль нагрузки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892A421-62BD-46EC-86E3-B0908991E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4743450"/>
            <a:ext cx="2152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обещания системы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4C23B80-769B-4569-9BC2-550E360DB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743450"/>
            <a:ext cx="2152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масштабируемая архитектура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608C83C-2EE4-4767-925D-5C279FC66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4743450"/>
            <a:ext cx="2152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Как измерим успех?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E016F2B-00C5-4F33-8A08-4BF5A1421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76850"/>
            <a:ext cx="10572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201018545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ABB34C1-0AF3-4B95-AA97-239A2853B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25A1C"/>
                </a:solidFill>
              </a:defRPr>
            </a:pPr>
            <a:r>
              <a:rPr sz="1050" b="1">
                <a:solidFill>
                  <a:srgbClr val="E25A1C"/>
                </a:solidFill>
              </a:rPr>
              <a:t>3V → 6V → 10V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28A5A7F-9A6A-4DAD-A00F-685869544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238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DE / MENTOR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D2F891-D820-41EF-A379-5512CD6D3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845F0B8-A96C-46AA-9663-D6B3D8623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07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594085E-DCB5-4A67-B958-50DBD2AAF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</a:defRPr>
            </a:pPr>
            <a:r>
              <a:rPr sz="2850" b="1">
                <a:solidFill>
                  <a:srgbClr val="202123"/>
                </a:solidFill>
              </a:rPr>
              <a:t>После 3V появились десятки V — единого канона 6V или 10V нет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4220A69-3540-48F2-BEB9-5315E3503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002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6FED"/>
                </a:solidFill>
              </a:defRPr>
            </a:pPr>
            <a:r>
              <a:rPr sz="1800" b="1">
                <a:solidFill>
                  <a:srgbClr val="2F6FED"/>
                </a:solidFill>
              </a:rPr>
              <a:t>Volume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10B2A73-E456-4895-A503-CCACAF06F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8425" y="2019300"/>
            <a:ext cx="2952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масштаб данных и стоимость хранения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A0093A1-87D3-447A-A2A1-F8087524A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0002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E25A1C"/>
                </a:solidFill>
              </a:defRPr>
            </a:pPr>
            <a:r>
              <a:rPr sz="1800" b="1">
                <a:solidFill>
                  <a:srgbClr val="E25A1C"/>
                </a:solidFill>
              </a:rPr>
              <a:t>Velocity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7A35799-326D-44EB-97A2-FE27C41B7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019300"/>
            <a:ext cx="2952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скорость поступления и допустимая задержка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64C57E1-06DE-4A56-A9FB-7942E7390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146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6FED"/>
                </a:solidFill>
              </a:defRPr>
            </a:pPr>
            <a:r>
              <a:rPr sz="1800" b="1">
                <a:solidFill>
                  <a:srgbClr val="2F6FED"/>
                </a:solidFill>
              </a:rPr>
              <a:t>Variety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E9B9E40-7023-498E-AAC6-CDF16712C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8425" y="2933700"/>
            <a:ext cx="2952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форматы, источники и эволюция schema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5A522B4-597D-4680-91D5-927FE678C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9146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E25A1C"/>
                </a:solidFill>
              </a:defRPr>
            </a:pPr>
            <a:r>
              <a:rPr sz="1800" b="1">
                <a:solidFill>
                  <a:srgbClr val="E25A1C"/>
                </a:solidFill>
              </a:rPr>
              <a:t>Veracity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6B99F4B-E49F-4761-BBCF-EA9EF63E8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933700"/>
            <a:ext cx="2952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качество, происхождение и доверие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9EFE266-BF35-4C8A-996C-B9095A85C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290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6FED"/>
                </a:solidFill>
              </a:defRPr>
            </a:pPr>
            <a:r>
              <a:rPr sz="1800" b="1">
                <a:solidFill>
                  <a:srgbClr val="2F6FED"/>
                </a:solidFill>
              </a:rPr>
              <a:t>Value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997236E-C66C-4682-A08D-0D3BDC370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8425" y="3848100"/>
            <a:ext cx="2952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измеримый эффект относительно стоимости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3723697-D513-48BF-89D4-F1AD5C68A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8290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E25A1C"/>
                </a:solidFill>
              </a:defRPr>
            </a:pPr>
            <a:r>
              <a:rPr sz="1800" b="1">
                <a:solidFill>
                  <a:srgbClr val="E25A1C"/>
                </a:solidFill>
              </a:rPr>
              <a:t>Variability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EA84953-515F-4AB8-AF15-3DF7061A9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3848100"/>
            <a:ext cx="2952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скачки нагрузки и изменение смысла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C216D8B-AB4C-4F9B-8A13-A68E43EFB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434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6FED"/>
                </a:solidFill>
              </a:defRPr>
            </a:pPr>
            <a:r>
              <a:rPr sz="1800" b="1">
                <a:solidFill>
                  <a:srgbClr val="2F6FED"/>
                </a:solidFill>
              </a:rPr>
              <a:t>Visualization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39100A7-3C6F-4DD3-B070-F1A9EE4E4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8425" y="4762500"/>
            <a:ext cx="2952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способ сделать вывод воспринимаемым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70937F5-CE65-40B7-B467-A2882936C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7434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E25A1C"/>
                </a:solidFill>
              </a:defRPr>
            </a:pPr>
            <a:r>
              <a:rPr sz="1800" b="1">
                <a:solidFill>
                  <a:srgbClr val="E25A1C"/>
                </a:solidFill>
              </a:rPr>
              <a:t>Vulnerability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99E4400-A1E6-454E-9BC1-31851E308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4762500"/>
            <a:ext cx="2952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privacy, security и риск утечки</a:t>
            </a:r>
          </a:p>
        </p:txBody>
      </p:sp>
    </p:spTree>
    <p:extLst>
      <p:ext uri="{BB962C8B-B14F-4D97-AF65-F5344CB8AC3E}">
        <p14:creationId xmlns:p14="http://schemas.microsoft.com/office/powerpoint/2010/main" val="60451491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AACCFBF-1CCB-47E6-8C8A-BEDD20F80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25A1C"/>
                </a:solidFill>
              </a:defRPr>
            </a:pPr>
            <a:r>
              <a:rPr sz="1050" b="1">
                <a:solidFill>
                  <a:srgbClr val="E25A1C"/>
                </a:solidFill>
              </a:rPr>
              <a:t>ПОЧЕМУ BIG DATA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F754BD6-97A9-42DB-9B45-D7992979A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238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DE / MENTOR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1B60010-149F-4A8C-AD21-828E152E4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4B41668-F487-456E-8A42-0A06A7A17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08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A5FDD30-0C61-4440-996E-5C8E5ACD9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</a:defRPr>
            </a:pPr>
            <a:r>
              <a:rPr sz="2850" b="1">
                <a:solidFill>
                  <a:srgbClr val="202123"/>
                </a:solidFill>
              </a:rPr>
              <a:t>Big Data родился из разрыва между ростом данных и возможностями одного узла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CEDB38B-B3D8-452F-A0CD-93062A57C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76450"/>
            <a:ext cx="666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E25A1C"/>
                </a:solidFill>
              </a:defRPr>
            </a:pPr>
            <a:r>
              <a:rPr sz="2625" b="1">
                <a:solidFill>
                  <a:srgbClr val="E25A1C"/>
                </a:solidFill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AAD473D-0C21-40A3-A9E1-208ED9684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07645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02123"/>
                </a:solidFill>
              </a:defRPr>
            </a:pPr>
            <a:r>
              <a:rPr sz="1875" b="1">
                <a:solidFill>
                  <a:srgbClr val="202123"/>
                </a:solidFill>
              </a:rPr>
              <a:t>Источники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3F63E2E-33C0-46CC-A268-7080744E7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095500"/>
            <a:ext cx="685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E6E68"/>
                </a:solidFill>
              </a:defRPr>
            </a:pPr>
            <a:r>
              <a:rPr sz="1650" b="0">
                <a:solidFill>
                  <a:srgbClr val="6E6E68"/>
                </a:solidFill>
              </a:rPr>
              <a:t>Web, mobile, telemetry и дешёвые сенсоры создают непрерывные цифровые следы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8E9B9D0-ECF2-442C-AB77-0D231C911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752725"/>
            <a:ext cx="92773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89078C0-D1A9-4088-B4E6-A6E1DA9A6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048000"/>
            <a:ext cx="666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E25A1C"/>
                </a:solidFill>
              </a:defRPr>
            </a:pPr>
            <a:r>
              <a:rPr sz="2625" b="1">
                <a:solidFill>
                  <a:srgbClr val="E25A1C"/>
                </a:solidFill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04F3C53-BFC4-46B7-B5F2-F9A7F3C94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304800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02123"/>
                </a:solidFill>
              </a:defRPr>
            </a:pPr>
            <a:r>
              <a:rPr sz="1875" b="1">
                <a:solidFill>
                  <a:srgbClr val="202123"/>
                </a:solidFill>
              </a:rPr>
              <a:t>Экономика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C88B911-2CEC-4BCB-B349-61FF5A4C3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067050"/>
            <a:ext cx="685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E6E68"/>
                </a:solidFill>
              </a:defRPr>
            </a:pPr>
            <a:r>
              <a:rPr sz="1650" b="0">
                <a:solidFill>
                  <a:srgbClr val="6E6E68"/>
                </a:solidFill>
              </a:rPr>
              <a:t>Commodity-машины дешевле вертикального масштабирования, но чаще отказывают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E2C8BCB-D440-45BE-8362-41C7712D4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3724275"/>
            <a:ext cx="92773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57B3C8F-DC67-4098-8AF5-1C740AA2A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19550"/>
            <a:ext cx="666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E25A1C"/>
                </a:solidFill>
              </a:defRPr>
            </a:pPr>
            <a:r>
              <a:rPr sz="2625" b="1">
                <a:solidFill>
                  <a:srgbClr val="E25A1C"/>
                </a:solidFill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B3F8748-CA8F-43D9-92B0-BD0901567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401955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02123"/>
                </a:solidFill>
              </a:defRPr>
            </a:pPr>
            <a:r>
              <a:rPr sz="1875" b="1">
                <a:solidFill>
                  <a:srgbClr val="202123"/>
                </a:solidFill>
              </a:rPr>
              <a:t>Workload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CE2487D-2CBD-42D4-92D1-85A381D80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038600"/>
            <a:ext cx="685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E6E68"/>
                </a:solidFill>
              </a:defRPr>
            </a:pPr>
            <a:r>
              <a:rPr sz="1650" b="0">
                <a:solidFill>
                  <a:srgbClr val="6E6E68"/>
                </a:solidFill>
              </a:rPr>
              <a:t>ETL, поиск, ML и ad hoc analytics требуют разных паттернов доступа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5ECAAE3-8473-49A9-982F-00E183E0E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4695825"/>
            <a:ext cx="92773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95A45EB-29A2-42DE-A75F-1CEF34EEE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91100"/>
            <a:ext cx="666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E25A1C"/>
                </a:solidFill>
              </a:defRPr>
            </a:pPr>
            <a:r>
              <a:rPr sz="2625" b="1">
                <a:solidFill>
                  <a:srgbClr val="E25A1C"/>
                </a:solidFill>
              </a:rPr>
              <a:t>04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289035C-F31C-483A-BB30-8CA4643C5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499110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02123"/>
                </a:solidFill>
              </a:defRPr>
            </a:pPr>
            <a:r>
              <a:rPr sz="1875" b="1">
                <a:solidFill>
                  <a:srgbClr val="202123"/>
                </a:solidFill>
              </a:rPr>
              <a:t>Обещание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8D212B2-C4F8-498D-A008-10623799A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5010150"/>
            <a:ext cx="685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E6E68"/>
                </a:solidFill>
              </a:defRPr>
            </a:pPr>
            <a:r>
              <a:rPr sz="1650" b="0">
                <a:solidFill>
                  <a:srgbClr val="6E6E68"/>
                </a:solidFill>
              </a:rPr>
              <a:t>Сохранить throughput и fault tolerance при росте объёма и числа узлов</a:t>
            </a:r>
          </a:p>
        </p:txBody>
      </p:sp>
    </p:spTree>
    <p:extLst>
      <p:ext uri="{BB962C8B-B14F-4D97-AF65-F5344CB8AC3E}">
        <p14:creationId xmlns:p14="http://schemas.microsoft.com/office/powerpoint/2010/main" val="123380818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FD1CA97-AE48-4685-963D-2F30DCF64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25A1C"/>
                </a:solidFill>
              </a:defRPr>
            </a:pPr>
            <a:r>
              <a:rPr sz="1050" b="1">
                <a:solidFill>
                  <a:srgbClr val="E25A1C"/>
                </a:solidFill>
              </a:rPr>
              <a:t>ОТ ХРАНЕНИЯ К COMPUTE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40D1AEF-A5EA-42CB-BF81-9C6CA1227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238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DE / MENTOR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C3489BD-C8D0-42F6-8754-327097A43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7EAFECC-8914-4532-BFBE-20B510214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09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B96D646-B507-4D4C-AC81-07780EACC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</a:defRPr>
            </a:pPr>
            <a:r>
              <a:rPr sz="2850" b="1">
                <a:solidFill>
                  <a:srgbClr val="202123"/>
                </a:solidFill>
              </a:rPr>
              <a:t>Google превратил ненадёжный кластер в программируемую платформу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3AF9B1C-B322-41E0-A7CB-0D9E5A9CA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952750"/>
            <a:ext cx="10287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2B8AB26-E1FA-4FAA-B4E7-C59100121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2800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138A26B-2AF9-4139-801C-3CFCEDD07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52650"/>
            <a:ext cx="2457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2F6FED"/>
                </a:solidFill>
              </a:defRPr>
            </a:pPr>
            <a:r>
              <a:rPr sz="2175" b="1">
                <a:solidFill>
                  <a:srgbClr val="2F6FED"/>
                </a:solidFill>
              </a:rPr>
              <a:t>2003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A620B01-234E-4393-953F-6B4C67913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81375"/>
            <a:ext cx="24574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02123"/>
                </a:solidFill>
              </a:defRPr>
            </a:pPr>
            <a:r>
              <a:rPr sz="1725" b="1">
                <a:solidFill>
                  <a:srgbClr val="202123"/>
                </a:solidFill>
              </a:rPr>
              <a:t>Google File System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AA51C6B-94B1-4B2D-ADA7-6CAF44B4D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95750"/>
            <a:ext cx="24574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E6E68"/>
                </a:solidFill>
              </a:defRPr>
            </a:pPr>
            <a:r>
              <a:rPr sz="1425" b="0">
                <a:solidFill>
                  <a:srgbClr val="6E6E68"/>
                </a:solidFill>
              </a:rPr>
              <a:t>Блоки, репликация и перенос compute ближе к данным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C489C09-AC1E-4045-8A13-59B7F58CA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7575" y="2800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AB4F365-BA0B-4BCE-874F-25B7B0D11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152650"/>
            <a:ext cx="2457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2F6FED"/>
                </a:solidFill>
              </a:defRPr>
            </a:pPr>
            <a:r>
              <a:rPr sz="2175" b="1">
                <a:solidFill>
                  <a:srgbClr val="2F6FED"/>
                </a:solidFill>
              </a:rPr>
              <a:t>2004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C7DCAB3-4D5D-45CD-91D3-1C34FA544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381375"/>
            <a:ext cx="24574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02123"/>
                </a:solidFill>
              </a:defRPr>
            </a:pPr>
            <a:r>
              <a:rPr sz="1725" b="1">
                <a:solidFill>
                  <a:srgbClr val="202123"/>
                </a:solidFill>
              </a:rPr>
              <a:t>MapReduce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5E69CC0-627F-43D3-B785-08A5A82B6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4095750"/>
            <a:ext cx="24574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E6E68"/>
                </a:solidFill>
              </a:defRPr>
            </a:pPr>
            <a:r>
              <a:rPr sz="1425" b="0">
                <a:solidFill>
                  <a:srgbClr val="6E6E68"/>
                </a:solidFill>
              </a:rPr>
              <a:t>Partitioning, scheduling, shuffle и retry становятся обязанностью runtime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97FE32D-7303-4147-94DE-68BA8C223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800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89B90B1-1CB0-40D8-B165-6133E2726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152650"/>
            <a:ext cx="2457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2F6FED"/>
                </a:solidFill>
              </a:defRPr>
            </a:pPr>
            <a:r>
              <a:rPr sz="2175" b="1">
                <a:solidFill>
                  <a:srgbClr val="2F6FED"/>
                </a:solidFill>
              </a:rPr>
              <a:t>2006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5B8B419-D2F5-4372-AC80-16B123769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381375"/>
            <a:ext cx="24574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02123"/>
                </a:solidFill>
              </a:defRPr>
            </a:pPr>
            <a:r>
              <a:rPr sz="1725" b="1">
                <a:solidFill>
                  <a:srgbClr val="202123"/>
                </a:solidFill>
              </a:rPr>
              <a:t>Apache Hadoop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B0E2FD5-735E-4E65-8AE2-29CEA5A67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4095750"/>
            <a:ext cx="24574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E6E68"/>
                </a:solidFill>
              </a:defRPr>
            </a:pPr>
            <a:r>
              <a:rPr sz="1425" b="0">
                <a:solidFill>
                  <a:srgbClr val="6E6E68"/>
                </a:solidFill>
              </a:rPr>
              <a:t>Open-source реализация HDFS + MapReduce переносит модель в индустрию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F6A8476-CDD1-4F8E-8299-96BA87883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5875" y="2800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158FF30-32F9-41DD-804F-184F15890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152650"/>
            <a:ext cx="2457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E25A1C"/>
                </a:solidFill>
              </a:defRPr>
            </a:pPr>
            <a:r>
              <a:rPr sz="2175" b="1">
                <a:solidFill>
                  <a:srgbClr val="E25A1C"/>
                </a:solidFill>
              </a:rPr>
              <a:t>Вывод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C27C78E-F106-4464-BEC5-7EF2B933A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381375"/>
            <a:ext cx="24574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02123"/>
                </a:solidFill>
              </a:defRPr>
            </a:pPr>
            <a:r>
              <a:rPr sz="1725" b="1">
                <a:solidFill>
                  <a:srgbClr val="202123"/>
                </a:solidFill>
              </a:rPr>
              <a:t>Сбой — часть протокола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DEA7250-76A4-4EE0-8FF1-9EF1CFA13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095750"/>
            <a:ext cx="24574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E6E68"/>
                </a:solidFill>
              </a:defRPr>
            </a:pPr>
            <a:r>
              <a:rPr sz="1425" b="0">
                <a:solidFill>
                  <a:srgbClr val="6E6E68"/>
                </a:solidFill>
              </a:rPr>
              <a:t>Вычисление проектируют так, чтобы task можно было безопасно повторить</a:t>
            </a:r>
          </a:p>
        </p:txBody>
      </p:sp>
    </p:spTree>
    <p:extLst>
      <p:ext uri="{BB962C8B-B14F-4D97-AF65-F5344CB8AC3E}">
        <p14:creationId xmlns:p14="http://schemas.microsoft.com/office/powerpoint/2010/main" val="11035183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52D36FB-CBAE-456C-BA10-D617BF0FF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25A1C"/>
                </a:solidFill>
              </a:defRPr>
            </a:pPr>
            <a:r>
              <a:rPr sz="1050" b="1">
                <a:solidFill>
                  <a:srgbClr val="E25A1C"/>
                </a:solidFill>
              </a:rPr>
              <a:t>MAPREDUCE · НА ПАЛЬЦАХ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F90F5BD-A5DF-4146-91C2-577C84759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238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DE / MENTOR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FB12436-D926-4F1C-9B72-925316DF4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DFE0AEC-B993-4CBF-9C07-2EFD6BDF7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10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D7BACC5-E1C3-4B66-A0CC-E7988C0C1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</a:defRPr>
            </a:pPr>
            <a:r>
              <a:rPr sz="2850" b="1">
                <a:solidFill>
                  <a:srgbClr val="202123"/>
                </a:solidFill>
              </a:rPr>
              <a:t>MapReduce — как почтовый центр: пометить, рассортировать, собрать итог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9EE51F5-82EC-4FFB-B20C-E73A5AFB2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4175" y="3105150"/>
            <a:ext cx="523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E25A1C"/>
                </a:solidFill>
              </a:defRPr>
            </a:pPr>
            <a:r>
              <a:rPr sz="2700" b="1">
                <a:solidFill>
                  <a:srgbClr val="E25A1C"/>
                </a:solidFill>
              </a:rPr>
              <a:t>→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93E363C-9634-490E-BBBA-9546C5765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76500"/>
            <a:ext cx="2190750" cy="17145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FDE4CF6-184B-468B-9BF8-B931DAA16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76550"/>
            <a:ext cx="17716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02123"/>
                </a:solidFill>
              </a:defRPr>
            </a:pPr>
            <a:r>
              <a:rPr sz="1875" b="1">
                <a:solidFill>
                  <a:srgbClr val="202123"/>
                </a:solidFill>
              </a:rPr>
              <a:t>input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FD036E4-02E0-4F73-B37F-87183F505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476625"/>
            <a:ext cx="1771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мешки писем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AEF9F74-A394-42D7-9539-84881DE9A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6425" y="3105150"/>
            <a:ext cx="523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E25A1C"/>
                </a:solidFill>
              </a:defRPr>
            </a:pPr>
            <a:r>
              <a:rPr sz="2700" b="1">
                <a:solidFill>
                  <a:srgbClr val="E25A1C"/>
                </a:solidFill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3FCE956-6794-4E03-B17A-61AF8436F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476500"/>
            <a:ext cx="2190750" cy="17145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2833BE0-6AE6-4B1A-9B87-C6A74FCBC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876550"/>
            <a:ext cx="17716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02123"/>
                </a:solidFill>
              </a:defRPr>
            </a:pPr>
            <a:r>
              <a:rPr sz="1875" b="1">
                <a:solidFill>
                  <a:srgbClr val="202123"/>
                </a:solidFill>
              </a:rPr>
              <a:t>map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89270F9-5284-4D9E-95D6-639E74C68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476625"/>
            <a:ext cx="1771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поставить индекс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DA67888-2FEF-4C37-A418-FDD3767C6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3105150"/>
            <a:ext cx="523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E25A1C"/>
                </a:solidFill>
              </a:defRPr>
            </a:pPr>
            <a:r>
              <a:rPr sz="2700" b="1">
                <a:solidFill>
                  <a:srgbClr val="E25A1C"/>
                </a:solidFill>
              </a:rPr>
              <a:t>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FDAAED6-544E-4D29-A524-6764614D9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476500"/>
            <a:ext cx="2190750" cy="17145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A7C6AD9-0845-4AE9-8907-6B0A028F2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876550"/>
            <a:ext cx="17716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02123"/>
                </a:solidFill>
              </a:defRPr>
            </a:pPr>
            <a:r>
              <a:rPr sz="1875" b="1">
                <a:solidFill>
                  <a:srgbClr val="202123"/>
                </a:solidFill>
              </a:rPr>
              <a:t>shuffle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0BF4E6C-65C3-4BE6-A7D1-AB43C15CE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476625"/>
            <a:ext cx="1771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свести по адресу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FD521BA-5FC9-488C-B1F7-A26912698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2476500"/>
            <a:ext cx="2190750" cy="17145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1F24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434418B-BC32-40BD-810C-BFBD1FEC5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2876550"/>
            <a:ext cx="17716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E25A1C"/>
                </a:solidFill>
              </a:defRPr>
            </a:pPr>
            <a:r>
              <a:rPr sz="1875" b="1">
                <a:solidFill>
                  <a:srgbClr val="E25A1C"/>
                </a:solidFill>
              </a:rPr>
              <a:t>reduce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8001840-E0C9-4898-815C-6AC127B5C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3476625"/>
            <a:ext cx="1771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собрать доставку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6B78301-94D4-49D4-9CD2-9E623AF45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810125"/>
            <a:ext cx="10287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E25A1C"/>
                </a:solidFill>
              </a:defRPr>
            </a:pPr>
            <a:r>
              <a:rPr sz="1725" b="1">
                <a:solidFill>
                  <a:srgbClr val="E25A1C"/>
                </a:solidFill>
              </a:rPr>
              <a:t>Runtime делит работу, двигает группы по ключу и повторяет потерянные части.</a:t>
            </a:r>
          </a:p>
        </p:txBody>
      </p:sp>
    </p:spTree>
    <p:extLst>
      <p:ext uri="{BB962C8B-B14F-4D97-AF65-F5344CB8AC3E}">
        <p14:creationId xmlns:p14="http://schemas.microsoft.com/office/powerpoint/2010/main" val="1605389344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D6C1EEE-3FC9-4D1C-B48F-422CBEC1E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25A1C"/>
                </a:solidFill>
              </a:defRPr>
            </a:pPr>
            <a:r>
              <a:rPr sz="1050" b="1">
                <a:solidFill>
                  <a:srgbClr val="E25A1C"/>
                </a:solidFill>
              </a:rPr>
              <a:t>MAPREDUCE · ТЕХНИЧЕСКИ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F6CDF5A-8F97-45BA-B499-BB6B29E98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238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DE / MENTOR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AA34A25-13C5-4D7E-A0B8-BCA88BA0E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C00D733-5FB5-47B3-9BA0-6B14A5E36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11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4B4D7FA-B163-4313-9E57-51E244EB4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</a:defRPr>
            </a:pPr>
            <a:r>
              <a:rPr sz="2850" b="1">
                <a:solidFill>
                  <a:srgbClr val="202123"/>
                </a:solidFill>
              </a:rPr>
              <a:t>Один MapReduce job фиксирует конвейер вокруг одной shuffle-границы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4A5C20E-43B0-4E3E-AB21-D736A29C2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248025"/>
            <a:ext cx="7048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5988E4D-4B5D-423B-A985-EC8F005F5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2990850"/>
            <a:ext cx="5143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E25A1C"/>
                </a:solidFill>
              </a:defRPr>
            </a:pPr>
            <a:r>
              <a:rPr sz="2550" b="1">
                <a:solidFill>
                  <a:srgbClr val="E25A1C"/>
                </a:solidFill>
              </a:rPr>
              <a:t>→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CE9EEA7-80FE-4777-9F1F-060B2146F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990850"/>
            <a:ext cx="5143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E25A1C"/>
                </a:solidFill>
              </a:defRPr>
            </a:pPr>
            <a:r>
              <a:rPr sz="2550" b="1">
                <a:solidFill>
                  <a:srgbClr val="E25A1C"/>
                </a:solidFill>
              </a:rPr>
              <a:t>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822ACE4-F856-4D94-8D6C-C4D7FA0C6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9225" y="2990850"/>
            <a:ext cx="5143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E25A1C"/>
                </a:solidFill>
              </a:defRPr>
            </a:pPr>
            <a:r>
              <a:rPr sz="2550" b="1">
                <a:solidFill>
                  <a:srgbClr val="E25A1C"/>
                </a:solidFill>
              </a:rPr>
              <a:t>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5F1F7AC-0401-417C-AF76-0B17E0ACF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33625"/>
            <a:ext cx="219075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1F24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1352935-1C4F-4AFD-8CE3-2F76FC0E8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47950"/>
            <a:ext cx="1733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E25A1C"/>
                </a:solidFill>
              </a:defRPr>
            </a:pPr>
            <a:r>
              <a:rPr sz="1725" b="1">
                <a:solidFill>
                  <a:srgbClr val="E25A1C"/>
                </a:solidFill>
              </a:rPr>
              <a:t>Input splits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B215C76-E0B5-4932-A77D-FF9D28CDB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19450"/>
            <a:ext cx="17335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блоки HDFS</a:t>
            </a:r>
          </a:p>
          <a:p xmlns:a="http://schemas.openxmlformats.org/drawingml/2006/main">
            <a:pPr algn="ctr"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локальность данных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B0B9863-5450-4BB8-AE93-ACE603C3C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333625"/>
            <a:ext cx="219075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63E9234-1045-4D8E-84AC-EC2ADAF79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647950"/>
            <a:ext cx="1733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2F6FED"/>
                </a:solidFill>
              </a:defRPr>
            </a:pPr>
            <a:r>
              <a:rPr sz="1725" b="1">
                <a:solidFill>
                  <a:srgbClr val="2F6FED"/>
                </a:solidFill>
              </a:rPr>
              <a:t>Map tasks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99D9074-C2CF-4676-9977-6CD72BB40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219450"/>
            <a:ext cx="17335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parse / filter</a:t>
            </a:r>
          </a:p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локальный sort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1C554DE-5179-4EEB-BFB9-53C15B4C7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333625"/>
            <a:ext cx="219075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018DFA8-179A-4E67-8C4B-E6A4FB468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647950"/>
            <a:ext cx="1733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2F6FED"/>
                </a:solidFill>
              </a:defRPr>
            </a:pPr>
            <a:r>
              <a:rPr sz="1725" b="1">
                <a:solidFill>
                  <a:srgbClr val="2F6FED"/>
                </a:solidFill>
              </a:rPr>
              <a:t>Shuffle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D451BFD-1CE6-442F-9C89-D71E1FA21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219450"/>
            <a:ext cx="17335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partition / fetch</a:t>
            </a:r>
          </a:p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merge by key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60EDF63-AB28-49D9-AEEF-71F75E5CF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2333625"/>
            <a:ext cx="219075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4F07BA9-F242-46BA-AD23-615A4DF66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647950"/>
            <a:ext cx="1733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2F6FED"/>
                </a:solidFill>
              </a:defRPr>
            </a:pPr>
            <a:r>
              <a:rPr sz="1725" b="1">
                <a:solidFill>
                  <a:srgbClr val="2F6FED"/>
                </a:solidFill>
              </a:rPr>
              <a:t>Reduce tasks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8F6DE1B-4785-4703-AB7A-04A8570E4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3219450"/>
            <a:ext cx="17335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aggregate</a:t>
            </a:r>
          </a:p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output в HDFS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BB7238B-9FCD-47BB-8A4E-C20C7153E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762500"/>
            <a:ext cx="10191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6E6E68"/>
                </a:solidFill>
              </a:defRPr>
            </a:pPr>
            <a:r>
              <a:rPr sz="1650" b="0">
                <a:solidFill>
                  <a:srgbClr val="6E6E68"/>
                </a:solidFill>
              </a:rPr>
              <a:t>Сильная сторона — простой восстанавливаемый batch. Цена — materialization между цепочками jobs.</a:t>
            </a:r>
          </a:p>
        </p:txBody>
      </p:sp>
    </p:spTree>
    <p:extLst>
      <p:ext uri="{BB962C8B-B14F-4D97-AF65-F5344CB8AC3E}">
        <p14:creationId xmlns:p14="http://schemas.microsoft.com/office/powerpoint/2010/main" val="116447167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C169ADF-3097-4C84-B37F-A8C6B0A90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25A1C"/>
                </a:solidFill>
              </a:defRPr>
            </a:pPr>
            <a:r>
              <a:rPr sz="1050" b="1">
                <a:solidFill>
                  <a:srgbClr val="E25A1C"/>
                </a:solidFill>
              </a:rPr>
              <a:t>MAPREDUCE → SPARK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50E13CC-FF3E-44EA-BAD0-411A7E8BC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238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DE / MENTOR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E6E5865-B46A-4662-9A50-EEFFB9AE4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153CA6F-FC08-4DC4-B7AD-EB3AC560E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12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9C3ADF3-6922-48F4-9B11-645EA9434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</a:defRPr>
            </a:pPr>
            <a:r>
              <a:rPr sz="2850" b="1">
                <a:solidFill>
                  <a:srgbClr val="202123"/>
                </a:solidFill>
              </a:rPr>
              <a:t>Spark атаковал не Map и Reduce, а стоимость повторного использования данных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C4CF939-9F32-4585-8619-826E1AB0B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14550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E6E68"/>
                </a:solidFill>
              </a:defRPr>
            </a:pPr>
            <a:r>
              <a:rPr sz="1200" b="1">
                <a:solidFill>
                  <a:srgbClr val="6E6E68"/>
                </a:solidFill>
              </a:rPr>
              <a:t>ЦЕПОЧКА MAPREDUCE JOBS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CEB0DC4-A886-4F66-AC26-C30A866C2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47950"/>
            <a:ext cx="4762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F2428"/>
                </a:solidFill>
              </a:defRPr>
            </a:pPr>
            <a:r>
              <a:rPr sz="2325" b="1">
                <a:solidFill>
                  <a:srgbClr val="1F2428"/>
                </a:solidFill>
              </a:rPr>
              <a:t>job → materialize → job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EF83E64-C06F-4892-9FAE-31E003547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671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35DAC23-C2A8-4BAD-909A-B9A2027C6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781425"/>
            <a:ext cx="4495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02123"/>
                </a:solidFill>
              </a:defRPr>
            </a:pPr>
            <a:r>
              <a:rPr sz="1575" b="0">
                <a:solidFill>
                  <a:srgbClr val="202123"/>
                </a:solidFill>
              </a:rPr>
              <a:t>Надёжный one-pass batch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9417715-743F-4F8A-B3C9-6FC57030E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577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29FCEE7-9523-487E-A347-FE0CB4745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371975"/>
            <a:ext cx="4495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02123"/>
                </a:solidFill>
              </a:defRPr>
            </a:pPr>
            <a:r>
              <a:rPr sz="1575" b="0">
                <a:solidFill>
                  <a:srgbClr val="202123"/>
                </a:solidFill>
              </a:rPr>
              <a:t>Простые retry boundaries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BFCCACA-ADE4-425D-818C-2E37F3F14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482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4A8A897-6FD9-439D-8B38-05A1840BD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962525"/>
            <a:ext cx="4495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02123"/>
                </a:solidFill>
              </a:defRPr>
            </a:pPr>
            <a:r>
              <a:rPr sz="1575" b="0">
                <a:solidFill>
                  <a:srgbClr val="202123"/>
                </a:solidFill>
              </a:rPr>
              <a:t>Итерации перечитывают и сериализуют данные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A953EF4-01B1-4BA2-A0B9-04CCF073B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114550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E25A1C"/>
                </a:solidFill>
              </a:defRPr>
            </a:pPr>
            <a:r>
              <a:rPr sz="1200" b="1">
                <a:solidFill>
                  <a:srgbClr val="E25A1C"/>
                </a:solidFill>
              </a:rPr>
              <a:t>SPARK APPLICATION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AE25EBB-7DA0-4285-B300-2C74FEDA0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647950"/>
            <a:ext cx="4762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F2428"/>
                </a:solidFill>
              </a:defRPr>
            </a:pPr>
            <a:r>
              <a:rPr sz="2325" b="1">
                <a:solidFill>
                  <a:srgbClr val="1F2428"/>
                </a:solidFill>
              </a:rPr>
              <a:t>DAG → stages → tasks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4FA44FD-D8F6-40A2-BF98-7312576EB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8671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9C1433D-F897-4F51-B563-BE8C6F708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781425"/>
            <a:ext cx="4495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02123"/>
                </a:solidFill>
              </a:defRPr>
            </a:pPr>
            <a:r>
              <a:rPr sz="1575" b="0">
                <a:solidFill>
                  <a:srgbClr val="202123"/>
                </a:solidFill>
              </a:rPr>
              <a:t>План виден целиком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3F17B5B-426D-4B33-B1FD-ECA196B57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4577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209AB46-7A1B-4A8B-BDFF-57A2689C9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371975"/>
            <a:ext cx="4495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02123"/>
                </a:solidFill>
              </a:defRPr>
            </a:pPr>
            <a:r>
              <a:rPr sz="1575" b="0">
                <a:solidFill>
                  <a:srgbClr val="202123"/>
                </a:solidFill>
              </a:rPr>
              <a:t>Working set можно persist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B912417-601E-4509-B25D-B863B75DE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0482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2076A46-8967-4F25-AA72-A3D0E73A3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962525"/>
            <a:ext cx="4495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02123"/>
                </a:solidFill>
              </a:defRPr>
            </a:pPr>
            <a:r>
              <a:rPr sz="1575" b="0">
                <a:solidFill>
                  <a:srgbClr val="202123"/>
                </a:solidFill>
              </a:rPr>
              <a:t>Lineage позволяет восстановить partition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6C309DD-A528-42B2-9D06-25030B1A6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038350"/>
            <a:ext cx="19050" cy="3714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524653963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A0F5E11-0615-4128-BF6D-4FF48E66F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25A1C"/>
                </a:solidFill>
              </a:defRPr>
            </a:pPr>
            <a:r>
              <a:rPr sz="1050" b="1">
                <a:solidFill>
                  <a:srgbClr val="E25A1C"/>
                </a:solidFill>
              </a:rPr>
              <a:t>ИСТОРИЯ SPARK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49E62F7-37F4-4A4C-86CB-4CE772B07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238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DE / MENTOR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74A0D23-2678-49B5-A468-4BA484C55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00B664C-6086-4A1F-91C5-09DF0CBD5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13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8092D46-8625-4236-BC9E-C5EF5F644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</a:defRPr>
            </a:pPr>
            <a:r>
              <a:rPr sz="2850" b="1">
                <a:solidFill>
                  <a:srgbClr val="202123"/>
                </a:solidFill>
              </a:rPr>
              <a:t>Matei Zaharia и команда AMPLab начали Spark с боли iterative и interactive workloads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9FBB5F-8A21-493B-B8BD-0119E51E9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952750"/>
            <a:ext cx="10287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3735CD4-43D9-4BA8-BE3C-B3967A055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2800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97C26EA-E65D-47F1-BD22-463830DC0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52650"/>
            <a:ext cx="2457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2F6FED"/>
                </a:solidFill>
              </a:defRPr>
            </a:pPr>
            <a:r>
              <a:rPr sz="2175" b="1">
                <a:solidFill>
                  <a:srgbClr val="2F6FED"/>
                </a:solidFill>
              </a:rPr>
              <a:t>2009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9B379D3-CE83-48CD-B862-2AE512908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81375"/>
            <a:ext cx="24574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02123"/>
                </a:solidFill>
              </a:defRPr>
            </a:pPr>
            <a:r>
              <a:rPr sz="1725" b="1">
                <a:solidFill>
                  <a:srgbClr val="202123"/>
                </a:solidFill>
              </a:rPr>
              <a:t>UC Berkeley AMPLab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4849605-F499-4B23-B392-31E44EE4C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95750"/>
            <a:ext cx="24574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E6E68"/>
                </a:solidFill>
              </a:defRPr>
            </a:pPr>
            <a:r>
              <a:rPr sz="1425" b="0">
                <a:solidFill>
                  <a:srgbClr val="6E6E68"/>
                </a:solidFill>
              </a:rPr>
              <a:t>Проект Matei Zaharia и исследовательской команды для cluster analytics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242C897-B7A4-4459-8807-D27BFF0C9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7575" y="2800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4FF8201-6B6C-4502-8AB7-B916909D8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152650"/>
            <a:ext cx="2457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2F6FED"/>
                </a:solidFill>
              </a:defRPr>
            </a:pPr>
            <a:r>
              <a:rPr sz="2175" b="1">
                <a:solidFill>
                  <a:srgbClr val="2F6FED"/>
                </a:solidFill>
              </a:rPr>
              <a:t>2010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94CFC65-B5B7-488B-915C-3EE415DD7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381375"/>
            <a:ext cx="24574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02123"/>
                </a:solidFill>
              </a:defRPr>
            </a:pPr>
            <a:r>
              <a:rPr sz="1725" b="1">
                <a:solidFill>
                  <a:srgbClr val="202123"/>
                </a:solidFill>
              </a:rPr>
              <a:t>Working Sets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FE120E1-AAF5-4BAF-A6CD-5D7208336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4095750"/>
            <a:ext cx="24574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E6E68"/>
                </a:solidFill>
              </a:defRPr>
            </a:pPr>
            <a:r>
              <a:rPr sz="1425" b="0">
                <a:solidFill>
                  <a:srgbClr val="6E6E68"/>
                </a:solidFill>
              </a:rPr>
              <a:t>HotCloud paper и open source: данные можно переиспользовать между operations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B7D5F64-F19D-4ECD-A08D-135E3BF1B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800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5FB3931-006A-4447-ADAA-46E45D7CB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152650"/>
            <a:ext cx="2457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2F6FED"/>
                </a:solidFill>
              </a:defRPr>
            </a:pPr>
            <a:r>
              <a:rPr sz="2175" b="1">
                <a:solidFill>
                  <a:srgbClr val="2F6FED"/>
                </a:solidFill>
              </a:rPr>
              <a:t>2012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1FA3882-60DE-45A6-B93B-1155B79E9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381375"/>
            <a:ext cx="24574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02123"/>
                </a:solidFill>
              </a:defRPr>
            </a:pPr>
            <a:r>
              <a:rPr sz="1725" b="1">
                <a:solidFill>
                  <a:srgbClr val="202123"/>
                </a:solidFill>
              </a:rPr>
              <a:t>RDD + lineage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2A8A7F6-ADEA-4523-A27D-CF2C76A33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4095750"/>
            <a:ext cx="24574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E6E68"/>
                </a:solidFill>
              </a:defRPr>
            </a:pPr>
            <a:r>
              <a:rPr sz="1425" b="0">
                <a:solidFill>
                  <a:srgbClr val="6E6E68"/>
                </a:solidFill>
              </a:rPr>
              <a:t>NSDI Best Paper формализует fault-tolerant distributed memory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33C7D11-65DA-46C4-BD77-F71516005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5875" y="2800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8B9EF55-755E-4066-8D44-B69731C82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152650"/>
            <a:ext cx="2457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E25A1C"/>
                </a:solidFill>
              </a:defRPr>
            </a:pPr>
            <a:r>
              <a:rPr sz="2175" b="1">
                <a:solidFill>
                  <a:srgbClr val="E25A1C"/>
                </a:solidFill>
              </a:rPr>
              <a:t>2013–14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D728B98-4147-41E0-A028-1EECE61BC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381375"/>
            <a:ext cx="24574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02123"/>
                </a:solidFill>
              </a:defRPr>
            </a:pPr>
            <a:r>
              <a:rPr sz="1725" b="1">
                <a:solidFill>
                  <a:srgbClr val="202123"/>
                </a:solidFill>
              </a:rPr>
              <a:t>Apache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01A669D-14E6-499B-AB1C-8605499EA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095750"/>
            <a:ext cx="24574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E6E68"/>
                </a:solidFill>
              </a:defRPr>
            </a:pPr>
            <a:r>
              <a:rPr sz="1425" b="0">
                <a:solidFill>
                  <a:srgbClr val="6E6E68"/>
                </a:solidFill>
              </a:rPr>
              <a:t>Incubator в 2013; top-level project в 2014; сообщество масштабирует engine</a:t>
            </a:r>
          </a:p>
        </p:txBody>
      </p:sp>
    </p:spTree>
    <p:extLst>
      <p:ext uri="{BB962C8B-B14F-4D97-AF65-F5344CB8AC3E}">
        <p14:creationId xmlns:p14="http://schemas.microsoft.com/office/powerpoint/2010/main" val="1404495763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7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23C48D4-37C3-49E2-9013-8D613CA76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25A1C"/>
                </a:solidFill>
              </a:defRPr>
            </a:pPr>
            <a:r>
              <a:rPr sz="1050" b="1">
                <a:solidFill>
                  <a:srgbClr val="E25A1C"/>
                </a:solidFill>
              </a:rPr>
              <a:t>ВЕРСИИ SPARK · 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4CCBC2D-173B-4AD5-A440-B96F3E665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238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DE / MENTOR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C39BD5B-45F6-48FC-B399-7AB064311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C7EFEB5-52DA-4B74-B849-320635647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14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1904BC1-2E58-42A9-BD6C-EB5FE4B0C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</a:defRPr>
            </a:pPr>
            <a:r>
              <a:rPr sz="2850" b="1">
                <a:solidFill>
                  <a:srgbClr val="202123"/>
                </a:solidFill>
              </a:rPr>
              <a:t>0.x и 1.x превратили исследовательский RDD engine в платформу данных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DC167CA-BFE5-4A23-BA91-CE6426BFF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952750"/>
            <a:ext cx="10287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0748CF7-2E3C-48C7-AEA8-6AAFAE645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2800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3E7491B-6EAA-4A11-871C-847BA46D0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52650"/>
            <a:ext cx="2457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2F6FED"/>
                </a:solidFill>
              </a:defRPr>
            </a:pPr>
            <a:r>
              <a:rPr sz="2175" b="1">
                <a:solidFill>
                  <a:srgbClr val="2F6FED"/>
                </a:solidFill>
              </a:rPr>
              <a:t>0.7 · 2013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9FFBEDD-586A-4791-B57E-0DADDA917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81375"/>
            <a:ext cx="24574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02123"/>
                </a:solidFill>
              </a:defRPr>
            </a:pPr>
            <a:r>
              <a:rPr sz="1725" b="1">
                <a:solidFill>
                  <a:srgbClr val="202123"/>
                </a:solidFill>
              </a:rPr>
              <a:t>PySpark + Streaming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AE4F030-464C-41B9-990B-7480EBCDE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95750"/>
            <a:ext cx="24574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E6E68"/>
                </a:solidFill>
              </a:defRPr>
            </a:pPr>
            <a:r>
              <a:rPr sz="1425" b="0">
                <a:solidFill>
                  <a:srgbClr val="6E6E68"/>
                </a:solidFill>
              </a:rPr>
              <a:t>Python API и alpha Spark Streaming расширяют аудиторию и workload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83F3A2E-8533-4EB4-B996-234DF5E56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7575" y="2800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4E06BE7-43E5-4CA9-B352-1403F7B89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152650"/>
            <a:ext cx="2457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2F6FED"/>
                </a:solidFill>
              </a:defRPr>
            </a:pPr>
            <a:r>
              <a:rPr sz="2175" b="1">
                <a:solidFill>
                  <a:srgbClr val="2F6FED"/>
                </a:solidFill>
              </a:rPr>
              <a:t>0.8 · 2013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6B168CD-625D-4C78-8B8E-D9FDEFE38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381375"/>
            <a:ext cx="24574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02123"/>
                </a:solidFill>
              </a:defRPr>
            </a:pPr>
            <a:r>
              <a:rPr sz="1725" b="1">
                <a:solidFill>
                  <a:srgbClr val="202123"/>
                </a:solidFill>
              </a:rPr>
              <a:t>YARN + MLlib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DED77D1-CEA8-437E-94B8-5A4FCACB1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4095750"/>
            <a:ext cx="24574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E6E68"/>
                </a:solidFill>
              </a:defRPr>
            </a:pPr>
            <a:r>
              <a:rPr sz="1425" b="0">
                <a:solidFill>
                  <a:srgbClr val="6E6E68"/>
                </a:solidFill>
              </a:rPr>
              <a:t>Spark входит в Hadoop estate и получает ML library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2485C11-AD72-49BF-90CB-ADA25E471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800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E5B74D3-31E4-4100-BBD3-16E6D7FEB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152650"/>
            <a:ext cx="2457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2F6FED"/>
                </a:solidFill>
              </a:defRPr>
            </a:pPr>
            <a:r>
              <a:rPr sz="2175" b="1">
                <a:solidFill>
                  <a:srgbClr val="2F6FED"/>
                </a:solidFill>
              </a:rPr>
              <a:t>1.0 · 2014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D635C1F-2A31-436E-935A-23A5560BC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381375"/>
            <a:ext cx="24574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02123"/>
                </a:solidFill>
              </a:defRPr>
            </a:pPr>
            <a:r>
              <a:rPr sz="1725" b="1">
                <a:solidFill>
                  <a:srgbClr val="202123"/>
                </a:solidFill>
              </a:rPr>
              <a:t>Стабильный проект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0F2D5FB-1F43-451E-BB47-50155B60C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4095750"/>
            <a:ext cx="24574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E6E68"/>
                </a:solidFill>
              </a:defRPr>
            </a:pPr>
            <a:r>
              <a:rPr sz="1425" b="0">
                <a:solidFill>
                  <a:srgbClr val="6E6E68"/>
                </a:solidFill>
              </a:rPr>
              <a:t>API и ecosystem закрепляют Spark как самостоятельный engine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D7BE74D-261F-49F4-B675-7658B0733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5875" y="2800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95FDE65-9631-4874-952A-E3531B2E5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152650"/>
            <a:ext cx="2457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E25A1C"/>
                </a:solidFill>
              </a:defRPr>
            </a:pPr>
            <a:r>
              <a:rPr sz="2175" b="1">
                <a:solidFill>
                  <a:srgbClr val="E25A1C"/>
                </a:solidFill>
              </a:rPr>
              <a:t>1.3 · 2015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78879E4-619B-4345-A14D-24B35A559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381375"/>
            <a:ext cx="24574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02123"/>
                </a:solidFill>
              </a:defRPr>
            </a:pPr>
            <a:r>
              <a:rPr sz="1725" b="1">
                <a:solidFill>
                  <a:srgbClr val="202123"/>
                </a:solidFill>
              </a:rPr>
              <a:t>DataFrame + Spark SQL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499E742-317B-40A6-8D22-0A3B05436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095750"/>
            <a:ext cx="24574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E6E68"/>
                </a:solidFill>
              </a:defRPr>
            </a:pPr>
            <a:r>
              <a:rPr sz="1425" b="0">
                <a:solidFill>
                  <a:srgbClr val="6E6E68"/>
                </a:solidFill>
              </a:rPr>
              <a:t>Schema и Catalyst делают оптимизацию доступной Python API</a:t>
            </a:r>
          </a:p>
        </p:txBody>
      </p:sp>
    </p:spTree>
    <p:extLst>
      <p:ext uri="{BB962C8B-B14F-4D97-AF65-F5344CB8AC3E}">
        <p14:creationId xmlns:p14="http://schemas.microsoft.com/office/powerpoint/2010/main" val="1118199324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7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2EBCBD4-D263-4C8E-BE40-6A8B91B0C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25A1C"/>
                </a:solidFill>
              </a:defRPr>
            </a:pPr>
            <a:r>
              <a:rPr sz="1050" b="1">
                <a:solidFill>
                  <a:srgbClr val="E25A1C"/>
                </a:solidFill>
              </a:rPr>
              <a:t>ВЕРСИИ SPARK · II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E3A3966-844C-49ED-9F44-DD7A9D5F3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238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DE / MENTOR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CC75AC5-F808-4E5D-BE24-D6D8F0783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D910DFA-5E81-467E-B63D-44D8CB4F5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30A111E-388D-4F6C-BAC7-F8BDA2294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</a:defRPr>
            </a:pPr>
            <a:r>
              <a:rPr sz="2850" b="1">
                <a:solidFill>
                  <a:srgbClr val="202123"/>
                </a:solidFill>
              </a:rPr>
              <a:t>2.x–4.x сместили центр тяжести от RDD к SQL engine и PySpark UX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C0B4AD-715E-4827-9E6A-15B0020CC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952750"/>
            <a:ext cx="10287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63CFF31-0183-428B-8651-C1483EB38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2800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E0818F5-429A-45E0-AE6B-269C62FA7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52650"/>
            <a:ext cx="2457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2F6FED"/>
                </a:solidFill>
              </a:defRPr>
            </a:pPr>
            <a:r>
              <a:rPr sz="2175" b="1">
                <a:solidFill>
                  <a:srgbClr val="2F6FED"/>
                </a:solidFill>
              </a:rPr>
              <a:t>2.0 · 2016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61C3DC0-4FF1-478E-BC0E-2A4F07AE0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81375"/>
            <a:ext cx="24574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02123"/>
                </a:solidFill>
              </a:defRPr>
            </a:pPr>
            <a:r>
              <a:rPr sz="1725" b="1">
                <a:solidFill>
                  <a:srgbClr val="202123"/>
                </a:solidFill>
              </a:rPr>
              <a:t>Unified structured APIs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1D577F1-E9AE-47D4-96B4-5503F20EB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95750"/>
            <a:ext cx="24574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E6E68"/>
                </a:solidFill>
              </a:defRPr>
            </a:pPr>
            <a:r>
              <a:rPr sz="1425" b="0">
                <a:solidFill>
                  <a:srgbClr val="6E6E68"/>
                </a:solidFill>
              </a:rPr>
              <a:t>SparkSession, whole-stage codegen и experimental Structured Streaming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46C1A3B-DF0E-4DEA-9B3C-CBF29906F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7575" y="2800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50A7278-E78C-479C-94E3-9479E79D0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152650"/>
            <a:ext cx="2457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2F6FED"/>
                </a:solidFill>
              </a:defRPr>
            </a:pPr>
            <a:r>
              <a:rPr sz="2175" b="1">
                <a:solidFill>
                  <a:srgbClr val="2F6FED"/>
                </a:solidFill>
              </a:rPr>
              <a:t>3.0 · 2020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AE449CF-43CE-4B80-BEAC-E8C072113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381375"/>
            <a:ext cx="24574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02123"/>
                </a:solidFill>
              </a:defRPr>
            </a:pPr>
            <a:r>
              <a:rPr sz="1725" b="1">
                <a:solidFill>
                  <a:srgbClr val="202123"/>
                </a:solidFill>
              </a:rPr>
              <a:t>Adaptive execution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16F67E1-E7D7-423B-A2DF-E572BDB72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4095750"/>
            <a:ext cx="24574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E6E68"/>
                </a:solidFill>
              </a:defRPr>
            </a:pPr>
            <a:r>
              <a:rPr sz="1425" b="0">
                <a:solidFill>
                  <a:srgbClr val="6E6E68"/>
                </a:solidFill>
              </a:rPr>
              <a:t>AQE, dynamic partition pruning, ANSI improvements и Python UX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DB0A504-B87C-4110-AF54-3E74ED377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800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F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3CA8068-E4F0-4613-A0ED-17EFB85A5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152650"/>
            <a:ext cx="2457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2F6FED"/>
                </a:solidFill>
              </a:defRPr>
            </a:pPr>
            <a:r>
              <a:rPr sz="2175" b="1">
                <a:solidFill>
                  <a:srgbClr val="2F6FED"/>
                </a:solidFill>
              </a:rPr>
              <a:t>4.0 · 2025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B4B1359-282F-485D-895D-5EEBC2D40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381375"/>
            <a:ext cx="24574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02123"/>
                </a:solidFill>
              </a:defRPr>
            </a:pPr>
            <a:r>
              <a:rPr sz="1725" b="1">
                <a:solidFill>
                  <a:srgbClr val="202123"/>
                </a:solidFill>
              </a:rPr>
              <a:t>SQL + Connect + Python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7A79F6B-117F-4AF3-97ED-C2F72EBB1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4095750"/>
            <a:ext cx="24574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E6E68"/>
                </a:solidFill>
              </a:defRPr>
            </a:pPr>
            <a:r>
              <a:rPr sz="1425" b="0">
                <a:solidFill>
                  <a:srgbClr val="6E6E68"/>
                </a:solidFill>
              </a:rPr>
              <a:t>ANSI default, VARIANT, Python Data Source API и mature Connect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B83E413-CCBC-495B-A13F-789B68D36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5875" y="2800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897F983-BB05-4F12-99B1-D68F4C029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152650"/>
            <a:ext cx="2457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E25A1C"/>
                </a:solidFill>
              </a:defRPr>
            </a:pPr>
            <a:r>
              <a:rPr sz="2175" b="1">
                <a:solidFill>
                  <a:srgbClr val="E25A1C"/>
                </a:solidFill>
              </a:rPr>
              <a:t>4.2 · 2026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AEA95E6-A17D-4389-A864-F3614ED7F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381375"/>
            <a:ext cx="24574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02123"/>
                </a:solidFill>
              </a:defRPr>
            </a:pPr>
            <a:r>
              <a:rPr sz="1725" b="1">
                <a:solidFill>
                  <a:srgbClr val="202123"/>
                </a:solidFill>
              </a:rPr>
              <a:t>Data platform surface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8193EFB-7404-4434-BD87-7B21CD719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095750"/>
            <a:ext cx="24574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E6E68"/>
                </a:solidFill>
              </a:defRPr>
            </a:pPr>
            <a:r>
              <a:rPr sz="1425" b="0">
                <a:solidFill>
                  <a:srgbClr val="6E6E68"/>
                </a:solidFill>
              </a:rPr>
              <a:t>CDC, geospatial, DSv2 transactions и Arrow IPC default</a:t>
            </a:r>
          </a:p>
        </p:txBody>
      </p:sp>
    </p:spTree>
    <p:extLst>
      <p:ext uri="{BB962C8B-B14F-4D97-AF65-F5344CB8AC3E}">
        <p14:creationId xmlns:p14="http://schemas.microsoft.com/office/powerpoint/2010/main" val="2061614550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7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9B8F9FA-076D-4D06-A311-3763E434B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25A1C"/>
                </a:solidFill>
              </a:defRPr>
            </a:pPr>
            <a:r>
              <a:rPr sz="1050" b="1">
                <a:solidFill>
                  <a:srgbClr val="E25A1C"/>
                </a:solidFill>
              </a:rPr>
              <a:t>ПОЧЕМУ SPARK ПОБЕДИЛ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61FCFA2-3DB6-4A6F-9421-FED7ABFE0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238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DE / MENTOR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91BC497-2E1E-457A-BCBC-4EBDCC360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81A4733-9350-4B22-8DBE-BDE09A9D8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16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DEDA3E5-9C43-421B-818F-D3F8BAA89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</a:defRPr>
            </a:pPr>
            <a:r>
              <a:rPr sz="2850" b="1">
                <a:solidFill>
                  <a:srgbClr val="202123"/>
                </a:solidFill>
              </a:rPr>
              <a:t>Победила комбинация модели выполнения, API и экосистемы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E79B825-4BFF-45D6-BE3B-CC0CEA8B9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57400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A37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9E8A95C-6FA6-46AD-9525-AF87A45A3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38350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50B6579-35E7-4D72-8C97-41C3E06B9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00025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02123"/>
                </a:solidFill>
              </a:defRPr>
            </a:pPr>
            <a:r>
              <a:rPr sz="1875" b="1">
                <a:solidFill>
                  <a:srgbClr val="202123"/>
                </a:solidFill>
              </a:rPr>
              <a:t>DAG / lineage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CC6B2FD-32FF-414B-94C0-1F144C7E0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019300"/>
            <a:ext cx="723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6E6E68"/>
                </a:solidFill>
              </a:defRPr>
            </a:pPr>
            <a:r>
              <a:rPr sz="1575" b="0">
                <a:solidFill>
                  <a:srgbClr val="6E6E68"/>
                </a:solidFill>
              </a:rPr>
              <a:t>богаче fixed Map→Reduce и дешевле восстанавливает coarse-grained datasets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3EDA5B5-2701-4C04-A455-05BDD8862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533650"/>
            <a:ext cx="96964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05FF42F-7F9B-4352-9F7E-A4F91E648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38450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A37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CF287DC-6745-401C-951C-24B4D3F04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19400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4ED9963-1681-4C02-A3C5-701D1DE4C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78130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02123"/>
                </a:solidFill>
              </a:defRPr>
            </a:pPr>
            <a:r>
              <a:rPr sz="1875" b="1">
                <a:solidFill>
                  <a:srgbClr val="202123"/>
                </a:solidFill>
              </a:rPr>
              <a:t>DF / Catalyst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45B8FE5-EB30-45BD-AD0A-39D3FCB7D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800350"/>
            <a:ext cx="723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6E6E68"/>
                </a:solidFill>
              </a:defRPr>
            </a:pPr>
            <a:r>
              <a:rPr sz="1575" b="0">
                <a:solidFill>
                  <a:srgbClr val="6E6E68"/>
                </a:solidFill>
              </a:rPr>
              <a:t>декларативный PySpark получает relational optimization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75B209E-19B6-47C0-B1A3-7148A7956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314700"/>
            <a:ext cx="96964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65DC2C2-9FDD-4728-96B7-41B5F6BBD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0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A37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3C4380C-E425-4310-92AA-14F452766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00450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099843D-3A0F-4F90-A7E1-4DD88F82C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56235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02123"/>
                </a:solidFill>
              </a:defRPr>
            </a:pPr>
            <a:r>
              <a:rPr sz="1875" b="1">
                <a:solidFill>
                  <a:srgbClr val="202123"/>
                </a:solidFill>
              </a:rPr>
              <a:t>Tungsten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3565888-0DE8-4E47-90A3-028541CE0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581400"/>
            <a:ext cx="723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6E6E68"/>
                </a:solidFill>
              </a:defRPr>
            </a:pPr>
            <a:r>
              <a:rPr sz="1575" b="0">
                <a:solidFill>
                  <a:srgbClr val="6E6E68"/>
                </a:solidFill>
              </a:rPr>
              <a:t>whole-stage codegen, меньше JVM overhead, эффективнее memory и CPU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82EECFA-CF31-4E66-9A9C-DD9E59685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095750"/>
            <a:ext cx="96964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FAE7541-39C1-4476-A893-48A1F79E0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00550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A37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BB8F45F-D515-4B4C-B3D0-90F21D86E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0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35966DC-0836-434C-85ED-D86527939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34340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02123"/>
                </a:solidFill>
              </a:defRPr>
            </a:pPr>
            <a:r>
              <a:rPr sz="1875" b="1">
                <a:solidFill>
                  <a:srgbClr val="202123"/>
                </a:solidFill>
              </a:rPr>
              <a:t>Unified engine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D7FADF5-C2B9-4106-A451-1D239A109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362450"/>
            <a:ext cx="723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6E6E68"/>
                </a:solidFill>
              </a:defRPr>
            </a:pPr>
            <a:r>
              <a:rPr sz="1575" b="0">
                <a:solidFill>
                  <a:srgbClr val="6E6E68"/>
                </a:solidFill>
              </a:rPr>
              <a:t>batch, SQL, streaming и ML используют общую execution model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CC29F92-62CD-4E6F-94F0-1435C6A3A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876800"/>
            <a:ext cx="96964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151A760-D75B-424C-822C-73925A1A2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81600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D29E754-2803-4174-96AE-CEB80622C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62550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21646DF-02F1-461C-A538-35F999F1C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12445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02123"/>
                </a:solidFill>
              </a:defRPr>
            </a:pPr>
            <a:r>
              <a:rPr sz="1875" b="1">
                <a:solidFill>
                  <a:srgbClr val="202123"/>
                </a:solidFill>
              </a:rPr>
              <a:t>Open ecosystem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D62EAAF-993E-4F95-8E9C-3BB276C63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5143500"/>
            <a:ext cx="723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6E6E68"/>
                </a:solidFill>
              </a:defRPr>
            </a:pPr>
            <a:r>
              <a:rPr sz="1575" b="0">
                <a:solidFill>
                  <a:srgbClr val="6E6E68"/>
                </a:solidFill>
              </a:rPr>
              <a:t>Apache governance, Hadoop/cloud storage, YARN/Kubernetes и Python API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A454556-647C-48A3-B075-EEE2416E2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657850"/>
            <a:ext cx="96964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1974377662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7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82F2C62-894F-4C34-9BDE-661222C75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25A1C"/>
                </a:solidFill>
              </a:defRPr>
            </a:pPr>
            <a:r>
              <a:rPr sz="1050" b="1">
                <a:solidFill>
                  <a:srgbClr val="E25A1C"/>
                </a:solidFill>
              </a:rPr>
              <a:t>МЕНТАЛЬНАЯ МОДЕЛЬ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1592CEE-74D9-4379-BB8E-3ABFC5184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238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DE / MENTOR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92456D7-3C04-4F9C-B02F-DA4DFDD64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362CCB3-80CC-4A76-97B0-03FF7F3B8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17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489D72A-3578-41B9-A973-594F28CBB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</a:defRPr>
            </a:pPr>
            <a:r>
              <a:rPr sz="2850" b="1">
                <a:solidFill>
                  <a:srgbClr val="202123"/>
                </a:solidFill>
              </a:rPr>
              <a:t>Spark — compute engine, а не база данных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7E9490A-01F6-468D-BC84-C2434CF5F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76450"/>
            <a:ext cx="476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0A37F"/>
                </a:solidFill>
              </a:defRPr>
            </a:pPr>
            <a:r>
              <a:rPr sz="1275" b="1">
                <a:solidFill>
                  <a:srgbClr val="10A37F"/>
                </a:solidFill>
              </a:rPr>
              <a:t>ENGINE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3A94582-7133-42D8-BA52-B30463B6B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076450"/>
            <a:ext cx="476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B42318"/>
                </a:solidFill>
              </a:defRPr>
            </a:pPr>
            <a:r>
              <a:rPr sz="1275" b="1">
                <a:solidFill>
                  <a:srgbClr val="B42318"/>
                </a:solidFill>
              </a:rPr>
              <a:t>НЕ ENGINE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D01EB65-C810-4FBB-AD67-A2081858F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047875"/>
            <a:ext cx="19050" cy="3714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5177062-D8FE-4920-9671-FA6DB04FA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71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BF6862A-3944-4F50-B2CB-8759BCEDC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686050"/>
            <a:ext cx="4495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02123"/>
                </a:solidFill>
              </a:defRPr>
            </a:pPr>
            <a:r>
              <a:rPr sz="1725" b="0">
                <a:solidFill>
                  <a:srgbClr val="202123"/>
                </a:solidFill>
              </a:rPr>
              <a:t>Планирует DAG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2106EE8-B420-4092-B548-255ECF5D4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385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290DF32-C4B9-4FDF-8F30-C89BA9BA7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352800"/>
            <a:ext cx="4495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02123"/>
                </a:solidFill>
              </a:defRPr>
            </a:pPr>
            <a:r>
              <a:rPr sz="1725" b="0">
                <a:solidFill>
                  <a:srgbClr val="202123"/>
                </a:solidFill>
              </a:rPr>
              <a:t>Распределяет задачи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9AAFC4C-C088-4DF6-8F22-5FE8B9799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052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1270EDF-BE33-4BE9-857F-B61EB177E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019550"/>
            <a:ext cx="4495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02123"/>
                </a:solidFill>
              </a:defRPr>
            </a:pPr>
            <a:r>
              <a:rPr sz="1725" b="0">
                <a:solidFill>
                  <a:srgbClr val="202123"/>
                </a:solidFill>
              </a:rPr>
              <a:t>Выполняет трансформации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791FD08-C49F-4BF9-B850-F958D3150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720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62F992A-1EA2-40F7-B70D-293F299B6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686300"/>
            <a:ext cx="4495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02123"/>
                </a:solidFill>
              </a:defRPr>
            </a:pPr>
            <a:r>
              <a:rPr sz="1725" b="0">
                <a:solidFill>
                  <a:srgbClr val="202123"/>
                </a:solidFill>
              </a:rPr>
              <a:t>Повторяет потерянные tasks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8106BCA-355F-4E2C-AEBD-16B93F5C0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771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F6404D0-5F9C-4217-AF40-FA36EBD32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686050"/>
            <a:ext cx="4495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02123"/>
                </a:solidFill>
              </a:defRPr>
            </a:pPr>
            <a:r>
              <a:rPr sz="1725" b="0">
                <a:solidFill>
                  <a:srgbClr val="202123"/>
                </a:solidFill>
              </a:rPr>
              <a:t>Не владеет бизнес-данными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1DB69FF-1C77-4105-98A3-9E15BA3EA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4385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C5FBB6E-2784-4282-93C5-1FE7906B8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352800"/>
            <a:ext cx="4495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02123"/>
                </a:solidFill>
              </a:defRPr>
            </a:pPr>
            <a:r>
              <a:rPr sz="1725" b="0">
                <a:solidFill>
                  <a:srgbClr val="202123"/>
                </a:solidFill>
              </a:rPr>
              <a:t>Не заменяет каталог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ECBA8AE-70B4-487E-BC7C-BC40F249C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1052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FB499FA-D7F4-4021-BEB3-41F453AA2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019550"/>
            <a:ext cx="4495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02123"/>
                </a:solidFill>
              </a:defRPr>
            </a:pPr>
            <a:r>
              <a:rPr sz="1725" b="0">
                <a:solidFill>
                  <a:srgbClr val="202123"/>
                </a:solidFill>
              </a:rPr>
              <a:t>Не гарантирует OLTP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19947B7-1EA9-4188-94DC-FAACB9568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7720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6E7367C-5F47-4A46-A7CE-4573BC592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686300"/>
            <a:ext cx="4495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02123"/>
                </a:solidFill>
              </a:defRPr>
            </a:pPr>
            <a:r>
              <a:rPr sz="1725" b="0">
                <a:solidFill>
                  <a:srgbClr val="202123"/>
                </a:solidFill>
              </a:rPr>
              <a:t>Не выбирает SLA за вас</a:t>
            </a:r>
          </a:p>
        </p:txBody>
      </p:sp>
    </p:spTree>
    <p:extLst>
      <p:ext uri="{BB962C8B-B14F-4D97-AF65-F5344CB8AC3E}">
        <p14:creationId xmlns:p14="http://schemas.microsoft.com/office/powerpoint/2010/main" val="2003392791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7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FFC9985-F535-4EE7-9030-F02C05AE3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25A1C"/>
                </a:solidFill>
              </a:defRPr>
            </a:pPr>
            <a:r>
              <a:rPr sz="1050" b="1">
                <a:solidFill>
                  <a:srgbClr val="E25A1C"/>
                </a:solidFill>
              </a:rPr>
              <a:t>АРХИТЕКТУРНЫЙ ВЫБОР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1C37F8C-5382-4140-BA50-DB5EE66A8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238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DE / MENTOR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8AB0D9D-DECE-4788-ADE1-50B3AA4EB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BC25192-DFB7-48D5-AAC3-D272544C4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18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0427CE2-FB79-4F71-A055-470587248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</a:defRPr>
            </a:pPr>
            <a:r>
              <a:rPr sz="2850" b="1">
                <a:solidFill>
                  <a:srgbClr val="202123"/>
                </a:solidFill>
              </a:rPr>
              <a:t>Иногда лучший Spark job — тот, который вы не запускаете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44BADD-9D5C-4350-94ED-D635D5FE0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095500"/>
            <a:ext cx="8953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02123"/>
                </a:solidFill>
              </a:defRPr>
            </a:pPr>
            <a:r>
              <a:rPr sz="2250" b="1">
                <a:solidFill>
                  <a:srgbClr val="202123"/>
                </a:solidFill>
              </a:rPr>
              <a:t>Данные и SLA действительно требуют распределённого вычисления?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F529075-0D6B-4565-986B-E612999B1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238500"/>
            <a:ext cx="4762500" cy="20955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EFEEE8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7FB78E4-1B3F-4A52-9A97-F961F725C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524250"/>
            <a:ext cx="409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E6E68"/>
                </a:solidFill>
              </a:defRPr>
            </a:pPr>
            <a:r>
              <a:rPr sz="1200" b="1">
                <a:solidFill>
                  <a:srgbClr val="6E6E68"/>
                </a:solidFill>
              </a:rPr>
              <a:t>НЕТ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128F55A-8C84-4357-9C73-3B8832533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000500"/>
            <a:ext cx="4095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202123"/>
                </a:solidFill>
              </a:defRPr>
            </a:pPr>
            <a:r>
              <a:rPr sz="2100" b="1">
                <a:solidFill>
                  <a:srgbClr val="202123"/>
                </a:solidFill>
              </a:rPr>
              <a:t>SQL в DWH / DuckDB / Python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2149B59-904D-4752-BD9F-43510C0AE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667250"/>
            <a:ext cx="4095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E6E68"/>
                </a:solidFill>
              </a:defRPr>
            </a:pPr>
            <a:r>
              <a:rPr sz="1425" b="0">
                <a:solidFill>
                  <a:srgbClr val="6E6E68"/>
                </a:solidFill>
              </a:rPr>
              <a:t>Меньше инфраструктуры и быстрее обратная связь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D1862DC-5C88-4471-AFAA-77D0C6697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238500"/>
            <a:ext cx="4762500" cy="20955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1F24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204C662-E7ED-49C9-9CCA-5E6C21DA5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524250"/>
            <a:ext cx="409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E25A1C"/>
                </a:solidFill>
              </a:defRPr>
            </a:pPr>
            <a:r>
              <a:rPr sz="1200" b="1">
                <a:solidFill>
                  <a:srgbClr val="E25A1C"/>
                </a:solidFill>
              </a:rPr>
              <a:t>ДА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5AB33A4-B77A-4EA1-8BFE-EDA31C901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000500"/>
            <a:ext cx="4095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FFFFFF"/>
                </a:solidFill>
              </a:defRPr>
            </a:pPr>
            <a:r>
              <a:rPr sz="2100" b="1">
                <a:solidFill>
                  <a:srgbClr val="FFFFFF"/>
                </a:solidFill>
              </a:rPr>
              <a:t>Spark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E502F1F-6B8B-4EFA-9759-354ED1DF9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667250"/>
            <a:ext cx="4095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D6D9DC"/>
                </a:solidFill>
              </a:defRPr>
            </a:pPr>
            <a:r>
              <a:rPr sz="1425" b="0">
                <a:solidFill>
                  <a:srgbClr val="D6D9DC"/>
                </a:solidFill>
              </a:rPr>
              <a:t>Когда нужны параллелизм, fault tolerance и единый batch API</a:t>
            </a:r>
          </a:p>
        </p:txBody>
      </p:sp>
    </p:spTree>
    <p:extLst>
      <p:ext uri="{BB962C8B-B14F-4D97-AF65-F5344CB8AC3E}">
        <p14:creationId xmlns:p14="http://schemas.microsoft.com/office/powerpoint/2010/main" val="26399750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7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DB614B1-FC24-4B9A-9065-CB71F25D4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25A1C"/>
                </a:solidFill>
              </a:defRPr>
            </a:pPr>
            <a:r>
              <a:rPr sz="1050" b="1">
                <a:solidFill>
                  <a:srgbClr val="E25A1C"/>
                </a:solidFill>
              </a:rPr>
              <a:t>RUNTIME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BAACD87-8A4F-428A-8E70-7EC7F01B9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238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DE / MENTOR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9D8CB80-A70B-4178-80A6-C4E0F8F22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188A1CB-2310-45F4-AAA2-E59FBF8EC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19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EA641B0-D308-42A1-A256-C0519D631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</a:defRPr>
            </a:pPr>
            <a:r>
              <a:rPr sz="2850" b="1">
                <a:solidFill>
                  <a:srgbClr val="202123"/>
                </a:solidFill>
              </a:rPr>
              <a:t>Один Spark application — один driver и набор executors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E9453AE-7F7D-44C4-A67A-9D41DC397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248025"/>
            <a:ext cx="7048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A799262-BAA7-4D75-8F80-112A6374E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2990850"/>
            <a:ext cx="5143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E25A1C"/>
                </a:solidFill>
              </a:defRPr>
            </a:pPr>
            <a:r>
              <a:rPr sz="2550" b="1">
                <a:solidFill>
                  <a:srgbClr val="E25A1C"/>
                </a:solidFill>
              </a:rPr>
              <a:t>→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C682F7F-3F6B-4B1E-B371-371896DFC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990850"/>
            <a:ext cx="5143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E25A1C"/>
                </a:solidFill>
              </a:defRPr>
            </a:pPr>
            <a:r>
              <a:rPr sz="2550" b="1">
                <a:solidFill>
                  <a:srgbClr val="E25A1C"/>
                </a:solidFill>
              </a:rPr>
              <a:t>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102C6AB-F61A-41F5-99CA-DE641C90D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9225" y="2990850"/>
            <a:ext cx="5143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E25A1C"/>
                </a:solidFill>
              </a:defRPr>
            </a:pPr>
            <a:r>
              <a:rPr sz="2550" b="1">
                <a:solidFill>
                  <a:srgbClr val="E25A1C"/>
                </a:solidFill>
              </a:rPr>
              <a:t>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CB74B72-6CD5-4AC3-BD22-A95EB66D1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33625"/>
            <a:ext cx="219075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1F24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FC3EF16-B14E-4BD3-968D-9C21BB10C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47950"/>
            <a:ext cx="1733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E25A1C"/>
                </a:solidFill>
              </a:defRPr>
            </a:pPr>
            <a:r>
              <a:rPr sz="1725" b="1">
                <a:solidFill>
                  <a:srgbClr val="E25A1C"/>
                </a:solidFill>
              </a:rPr>
              <a:t>Driver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EC74ED6-7E60-4EAB-A973-E23579536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19450"/>
            <a:ext cx="17335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SparkSession</a:t>
            </a:r>
          </a:p>
          <a:p xmlns:a="http://schemas.openxmlformats.org/drawingml/2006/main">
            <a:pPr algn="ctr"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DAG + scheduling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43E80C5-FFF4-400D-979E-5CD99646C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333625"/>
            <a:ext cx="219075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8AC2D54-5950-4C4D-8960-DC88A27DF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647950"/>
            <a:ext cx="1733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2F6FED"/>
                </a:solidFill>
              </a:defRPr>
            </a:pPr>
            <a:r>
              <a:rPr sz="1725" b="1">
                <a:solidFill>
                  <a:srgbClr val="2F6FED"/>
                </a:solidFill>
              </a:rPr>
              <a:t>Executor 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0876037-D982-4F40-B1DE-C2081D454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219450"/>
            <a:ext cx="17335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partition 0</a:t>
            </a:r>
          </a:p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partition 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A00B218-2094-4DF4-916B-22E5EC4F8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333625"/>
            <a:ext cx="219075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99199FD-00B5-4312-96BF-C147BFDAB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647950"/>
            <a:ext cx="1733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2F6FED"/>
                </a:solidFill>
              </a:defRPr>
            </a:pPr>
            <a:r>
              <a:rPr sz="1725" b="1">
                <a:solidFill>
                  <a:srgbClr val="2F6FED"/>
                </a:solidFill>
              </a:rPr>
              <a:t>Executor B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A92D8CA-05BB-478F-A579-0625676A2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219450"/>
            <a:ext cx="17335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partition 1</a:t>
            </a:r>
          </a:p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partition 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588B116-1FEC-4015-853D-27D1CD6AA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2333625"/>
            <a:ext cx="219075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B2B0FF4-95CB-42F8-97E8-BC9D6F63A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647950"/>
            <a:ext cx="1733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2F6FED"/>
                </a:solidFill>
              </a:defRPr>
            </a:pPr>
            <a:r>
              <a:rPr sz="1725" b="1">
                <a:solidFill>
                  <a:srgbClr val="2F6FED"/>
                </a:solidFill>
              </a:rPr>
              <a:t>Executor C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9E08E43-FD68-41E1-9435-AFA55AF89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3219450"/>
            <a:ext cx="17335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partition 2</a:t>
            </a:r>
          </a:p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partition 5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B5A976B-1FDE-4A40-8AFD-277724B8C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762500"/>
            <a:ext cx="10191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6E6E68"/>
                </a:solidFill>
              </a:defRPr>
            </a:pPr>
            <a:r>
              <a:rPr sz="1650" b="0">
                <a:solidFill>
                  <a:srgbClr val="6E6E68"/>
                </a:solidFill>
              </a:rPr>
              <a:t>Driver координирует. Executors считают. Данные движутся между ними только при необходимости.</a:t>
            </a:r>
          </a:p>
        </p:txBody>
      </p:sp>
    </p:spTree>
    <p:extLst>
      <p:ext uri="{BB962C8B-B14F-4D97-AF65-F5344CB8AC3E}">
        <p14:creationId xmlns:p14="http://schemas.microsoft.com/office/powerpoint/2010/main" val="1388178759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7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26DC4EE-4B15-4D9F-8C52-7C3AB3096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25A1C"/>
                </a:solidFill>
              </a:defRPr>
            </a:pPr>
            <a:r>
              <a:rPr sz="1050" b="1">
                <a:solidFill>
                  <a:srgbClr val="E25A1C"/>
                </a:solidFill>
              </a:rPr>
              <a:t>RUNTIME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094048E-330B-4B18-978D-C2A013AB8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238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DE / MENTOR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113C1D0-DBC0-45CB-885C-512D0B74E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61A5C0E-8686-4C73-97C7-B14ED5B12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20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2180B34-18EF-4EB7-9225-CB27010AC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</a:defRPr>
            </a:pPr>
            <a:r>
              <a:rPr sz="2850" b="1">
                <a:solidFill>
                  <a:srgbClr val="202123"/>
                </a:solidFill>
              </a:rPr>
              <a:t>Cluster manager выдаёт ресурсы — Spark управляет вычислением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4A84449-73BB-4C80-875E-7A4D296CE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14550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E6E68"/>
                </a:solidFill>
              </a:defRPr>
            </a:pPr>
            <a:r>
              <a:rPr sz="1200" b="1">
                <a:solidFill>
                  <a:srgbClr val="6E6E68"/>
                </a:solidFill>
              </a:rPr>
              <a:t>CLUSTER MANAGER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30C0C36-450E-4CE5-B236-62ECD075C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47950"/>
            <a:ext cx="4762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F2428"/>
                </a:solidFill>
              </a:defRPr>
            </a:pPr>
            <a:r>
              <a:rPr sz="2325" b="1">
                <a:solidFill>
                  <a:srgbClr val="1F2428"/>
                </a:solidFill>
              </a:rPr>
              <a:t>Кому дать CPU и memory?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F265882-EBA4-4A66-A67F-D7889E4B1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671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7AB91D5-2131-4807-81BB-FAD0D65CC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781425"/>
            <a:ext cx="4495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02123"/>
                </a:solidFill>
              </a:defRPr>
            </a:pPr>
            <a:r>
              <a:rPr sz="1575" b="0">
                <a:solidFill>
                  <a:srgbClr val="202123"/>
                </a:solidFill>
              </a:rPr>
              <a:t>Standalone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D719846-8970-4E6C-B122-2FCB350DE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577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A5FE753-8B6F-45B5-A4C9-DBD150CEB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371975"/>
            <a:ext cx="4495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02123"/>
                </a:solidFill>
              </a:defRPr>
            </a:pPr>
            <a:r>
              <a:rPr sz="1575" b="0">
                <a:solidFill>
                  <a:srgbClr val="202123"/>
                </a:solidFill>
              </a:rPr>
              <a:t>Kubernetes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D6F8EAA-82DC-4602-9C01-6064A007B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482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84C7387-973D-44E3-9B3E-ACC1EB598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962525"/>
            <a:ext cx="4495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02123"/>
                </a:solidFill>
              </a:defRPr>
            </a:pPr>
            <a:r>
              <a:rPr sz="1575" b="0">
                <a:solidFill>
                  <a:srgbClr val="202123"/>
                </a:solidFill>
              </a:rPr>
              <a:t>YARN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BD2F527-4F9F-4CF6-804C-0E0E5194F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114550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E25A1C"/>
                </a:solidFill>
              </a:defRPr>
            </a:pPr>
            <a:r>
              <a:rPr sz="1200" b="1">
                <a:solidFill>
                  <a:srgbClr val="E25A1C"/>
                </a:solidFill>
              </a:rPr>
              <a:t>SPARK APPLICATION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1AD8FD6-5240-499E-A2FA-541BFD569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647950"/>
            <a:ext cx="4762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F2428"/>
                </a:solidFill>
              </a:defRPr>
            </a:pPr>
            <a:r>
              <a:rPr sz="2325" b="1">
                <a:solidFill>
                  <a:srgbClr val="1F2428"/>
                </a:solidFill>
              </a:rPr>
              <a:t>Какие tasks выполнить?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64BA07D-A399-4F8F-B4E7-698EC6841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8671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AF07AF4-A517-45C9-AF39-E9A192500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781425"/>
            <a:ext cx="4495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02123"/>
                </a:solidFill>
              </a:defRPr>
            </a:pPr>
            <a:r>
              <a:rPr sz="1575" b="0">
                <a:solidFill>
                  <a:srgbClr val="202123"/>
                </a:solidFill>
              </a:rPr>
              <a:t>Driver строит план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C131309-6EEA-4792-A650-1A6886DDD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4577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76E1CD0-0B68-41A0-904E-F090A8065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371975"/>
            <a:ext cx="4495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02123"/>
                </a:solidFill>
              </a:defRPr>
            </a:pPr>
            <a:r>
              <a:rPr sz="1575" b="0">
                <a:solidFill>
                  <a:srgbClr val="202123"/>
                </a:solidFill>
              </a:rPr>
              <a:t>Executors выполняют tasks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DBD89A4-DC2F-492C-A92F-0D191CF99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0482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8FCAB39-7A16-4D4A-8971-79EBC67BB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962525"/>
            <a:ext cx="4495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02123"/>
                </a:solidFill>
              </a:defRPr>
            </a:pPr>
            <a:r>
              <a:rPr sz="1575" b="0">
                <a:solidFill>
                  <a:srgbClr val="202123"/>
                </a:solidFill>
              </a:rPr>
              <a:t>Spark отслеживает прогресс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AC2C6CC-FEBB-40EE-961F-4B9AC036C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038350"/>
            <a:ext cx="19050" cy="3714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994842064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7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5336D14-2921-48C1-A04E-C905F3F83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25A1C"/>
                </a:solidFill>
              </a:defRPr>
            </a:pPr>
            <a:r>
              <a:rPr sz="1050" b="1">
                <a:solidFill>
                  <a:srgbClr val="E25A1C"/>
                </a:solidFill>
              </a:rPr>
              <a:t>ПАРАЛЛЕЛИЗМ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C14DB8B-0061-4890-B1CB-61A7915E6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238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DE / MENTOR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E4CF5F1-3463-48AF-8714-4E45FC12E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5DD146F-7BE7-40EB-91DD-54E014CE6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21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EBA2B6A-18CC-4B78-A0BA-AC7B1A8A1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</a:defRPr>
            </a:pPr>
            <a:r>
              <a:rPr sz="2850" b="1">
                <a:solidFill>
                  <a:srgbClr val="202123"/>
                </a:solidFill>
              </a:rPr>
              <a:t>Partition — минимальная порция данных для одной task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1E3ABEE-AD87-4B4C-A0F1-814EECBF1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86000"/>
            <a:ext cx="104775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45548F3-0991-4969-B772-C92FEAAFC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66975"/>
            <a:ext cx="1047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p0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849ECB3-5DA6-47B1-B0F6-28BDDE10B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2286000"/>
            <a:ext cx="104775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2F6F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955AF14-9B5C-44AF-8895-56C98452E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2466975"/>
            <a:ext cx="1047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p1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D789C38-9BA8-4763-88D5-D979B3D5C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2286000"/>
            <a:ext cx="104775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B96707D-48D1-4E18-9CB8-376650233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2466975"/>
            <a:ext cx="1047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p2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A891DC8-68F1-4E5D-9D3C-E8E3B123E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286000"/>
            <a:ext cx="104775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2F6F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2AB4E85-78C9-456C-B8AD-A43B64777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466975"/>
            <a:ext cx="1047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p3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3D7245E-D290-46CE-81CE-ECD70821B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2286000"/>
            <a:ext cx="104775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91E4307-2F22-4400-9FD9-6FBE74C66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2466975"/>
            <a:ext cx="1047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p4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597C6BB-6C47-45E6-AB76-D37944546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2286000"/>
            <a:ext cx="104775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2F6F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729C1F1-6C93-4564-B628-4FD7DE173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2466975"/>
            <a:ext cx="1047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p5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0B345E8-7283-4D3C-BC23-F1DA9BDCC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286000"/>
            <a:ext cx="104775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9E4A1FE-2DEC-46DC-9700-2CFD75C0F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466975"/>
            <a:ext cx="1047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p6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07EDE81-F4F2-4736-89CC-9E1A2896D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2286000"/>
            <a:ext cx="104775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2F6F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6001084-B432-4864-BB8B-29D4CB809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2466975"/>
            <a:ext cx="1047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p7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3CE8726-58B7-4F8A-BD97-EDACE1127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43250"/>
            <a:ext cx="685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6E6E68"/>
                </a:solidFill>
              </a:defRPr>
            </a:pPr>
            <a:r>
              <a:rPr sz="2250" b="0">
                <a:solidFill>
                  <a:srgbClr val="6E6E68"/>
                </a:solidFill>
              </a:rPr>
              <a:t>↓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81EB3C5-9003-48EF-B13D-B69A16676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62375"/>
            <a:ext cx="2247900" cy="8382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0BBDD38-CD33-4C61-B39E-47FB68157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29075"/>
            <a:ext cx="2247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02123"/>
                </a:solidFill>
              </a:defRPr>
            </a:pPr>
            <a:r>
              <a:rPr sz="1650" b="1">
                <a:solidFill>
                  <a:srgbClr val="202123"/>
                </a:solidFill>
              </a:rPr>
              <a:t>Executor A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8A24F21-A92C-47E8-BEFA-906CBD756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143250"/>
            <a:ext cx="685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6E6E68"/>
                </a:solidFill>
              </a:defRPr>
            </a:pPr>
            <a:r>
              <a:rPr sz="2250" b="0">
                <a:solidFill>
                  <a:srgbClr val="6E6E68"/>
                </a:solidFill>
              </a:rPr>
              <a:t>↓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D6780C1-C53E-4D0C-878E-656DD0F99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762375"/>
            <a:ext cx="2247900" cy="8382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BAE7C56-D9A9-429F-9C04-92B5A685C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029075"/>
            <a:ext cx="2247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02123"/>
                </a:solidFill>
              </a:defRPr>
            </a:pPr>
            <a:r>
              <a:rPr sz="1650" b="1">
                <a:solidFill>
                  <a:srgbClr val="202123"/>
                </a:solidFill>
              </a:rPr>
              <a:t>Executor B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6D93E74-B4C6-40AE-8E17-958F63FF9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143250"/>
            <a:ext cx="685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6E6E68"/>
                </a:solidFill>
              </a:defRPr>
            </a:pPr>
            <a:r>
              <a:rPr sz="2250" b="0">
                <a:solidFill>
                  <a:srgbClr val="6E6E68"/>
                </a:solidFill>
              </a:rPr>
              <a:t>↓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A7CF5E2-77B9-4242-90C4-3FE92B125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762375"/>
            <a:ext cx="2247900" cy="8382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4FBEC7D-7037-4BED-8098-42AF1B421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4029075"/>
            <a:ext cx="2247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02123"/>
                </a:solidFill>
              </a:defRPr>
            </a:pPr>
            <a:r>
              <a:rPr sz="1650" b="1">
                <a:solidFill>
                  <a:srgbClr val="202123"/>
                </a:solidFill>
              </a:rPr>
              <a:t>Executor C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2A2E621-4E1F-4B57-82B0-19E93AADD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3143250"/>
            <a:ext cx="685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250" b="0">
                <a:solidFill>
                  <a:srgbClr val="6E6E68"/>
                </a:solidFill>
              </a:defRPr>
            </a:pPr>
            <a:r>
              <a:rPr sz="2250" b="0">
                <a:solidFill>
                  <a:srgbClr val="6E6E68"/>
                </a:solidFill>
              </a:rPr>
              <a:t>↓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0A770C7-EDDC-43F3-8033-3233D8782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3762375"/>
            <a:ext cx="2247900" cy="8382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3B753F0-3D4D-40CE-9AEC-8A8E51FEE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4029075"/>
            <a:ext cx="2247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02123"/>
                </a:solidFill>
              </a:defRPr>
            </a:pPr>
            <a:r>
              <a:rPr sz="1650" b="1">
                <a:solidFill>
                  <a:srgbClr val="202123"/>
                </a:solidFill>
              </a:rPr>
              <a:t>Executor D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CCE1CD5-B42A-45E5-A321-B370BF4E1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191125"/>
            <a:ext cx="103251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E25A1C"/>
                </a:solidFill>
              </a:defRPr>
            </a:pPr>
            <a:r>
              <a:rPr sz="1650" b="1">
                <a:solidFill>
                  <a:srgbClr val="E25A1C"/>
                </a:solidFill>
              </a:rPr>
              <a:t>Слишком мало partitions → недогруз. Слишком много → overhead и мелкие файлы.</a:t>
            </a:r>
          </a:p>
        </p:txBody>
      </p:sp>
    </p:spTree>
    <p:extLst>
      <p:ext uri="{BB962C8B-B14F-4D97-AF65-F5344CB8AC3E}">
        <p14:creationId xmlns:p14="http://schemas.microsoft.com/office/powerpoint/2010/main" val="1460931453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7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799A195-3B7F-498B-AE59-8FDE0BE5E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25A1C"/>
                </a:solidFill>
              </a:defRPr>
            </a:pPr>
            <a:r>
              <a:rPr sz="1050" b="1">
                <a:solidFill>
                  <a:srgbClr val="E25A1C"/>
                </a:solidFill>
              </a:rPr>
              <a:t>DATAFRAME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0B38A9A-B3AD-4E5C-B730-23681A9E8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238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DE / MENTOR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8E7C04A-1DD4-4F49-863E-C49971FFB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E77CDC9-AD10-468C-A999-763C56119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22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50BD9A6-A50F-48CE-B06C-6FA3C4FEC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</a:defRPr>
            </a:pPr>
            <a:r>
              <a:rPr sz="2850" b="1">
                <a:solidFill>
                  <a:srgbClr val="202123"/>
                </a:solidFill>
              </a:rPr>
              <a:t>DataFrame — декларативный контракт, а не цикл по строкам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4DAE309-D2EC-4CD6-AC9D-8116EBE15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10001250" cy="156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1F2428"/>
                </a:solidFill>
              </a:defRPr>
            </a:pPr>
            <a:r>
              <a:rPr sz="2775" b="1">
                <a:solidFill>
                  <a:srgbClr val="1F2428"/>
                </a:solidFill>
              </a:rPr>
              <a:t>“Вы описываете результат. Catalyst выбирает физический способ его получить.”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EA4E7C7-B9B7-463B-8181-D40A51E34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05250"/>
            <a:ext cx="14287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E105FAD-7BF7-496E-A39E-DEE6F0190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05300"/>
            <a:ext cx="1809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E25A1C"/>
                </a:solidFill>
              </a:defRPr>
            </a:pPr>
            <a:r>
              <a:rPr sz="1275" b="1">
                <a:solidFill>
                  <a:srgbClr val="E25A1C"/>
                </a:solidFill>
              </a:rPr>
              <a:t>SCHEMA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DD05D8F-66A9-4321-A611-D7ACB13B1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4305300"/>
            <a:ext cx="1809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6E6E68"/>
                </a:solidFill>
              </a:defRPr>
            </a:pPr>
            <a:r>
              <a:rPr sz="1275" b="1">
                <a:solidFill>
                  <a:srgbClr val="6E6E68"/>
                </a:solidFill>
              </a:rPr>
              <a:t>EXPRESSIONS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2592803-518D-4990-9A77-669A53F17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4305300"/>
            <a:ext cx="1809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6E6E68"/>
                </a:solidFill>
              </a:defRPr>
            </a:pPr>
            <a:r>
              <a:rPr sz="1275" b="1">
                <a:solidFill>
                  <a:srgbClr val="6E6E68"/>
                </a:solidFill>
              </a:rPr>
              <a:t>LOGICAL PLAN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1194E70-7290-40D3-A4E1-831702CD2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4305300"/>
            <a:ext cx="1809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6E6E68"/>
                </a:solidFill>
              </a:defRPr>
            </a:pPr>
            <a:r>
              <a:rPr sz="1275" b="1">
                <a:solidFill>
                  <a:srgbClr val="6E6E68"/>
                </a:solidFill>
              </a:rPr>
              <a:t>OPTIMIZER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2C73330-EDD6-46CA-A640-E4E8CE3CB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4305300"/>
            <a:ext cx="1809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6E6E68"/>
                </a:solidFill>
              </a:defRPr>
            </a:pPr>
            <a:r>
              <a:rPr sz="1275" b="1">
                <a:solidFill>
                  <a:srgbClr val="6E6E68"/>
                </a:solidFill>
              </a:rPr>
              <a:t>PHYSICAL PLAN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4E0CFD5-CC3F-428C-A7BE-24B2B702A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81600"/>
            <a:ext cx="9048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E6E68"/>
                </a:solidFill>
              </a:defRPr>
            </a:pPr>
            <a:r>
              <a:rPr sz="1650" b="0">
                <a:solidFill>
                  <a:srgbClr val="6E6E68"/>
                </a:solidFill>
              </a:rPr>
              <a:t>Чем больше логики видно Catalyst, тем больше свободы для оптимизации.</a:t>
            </a:r>
          </a:p>
        </p:txBody>
      </p:sp>
    </p:spTree>
    <p:extLst>
      <p:ext uri="{BB962C8B-B14F-4D97-AF65-F5344CB8AC3E}">
        <p14:creationId xmlns:p14="http://schemas.microsoft.com/office/powerpoint/2010/main" val="222998210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7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39A60D9-87E9-4E8C-B6F0-685CD5C23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25A1C"/>
                </a:solidFill>
              </a:defRPr>
            </a:pPr>
            <a:r>
              <a:rPr sz="1050" b="1">
                <a:solidFill>
                  <a:srgbClr val="E25A1C"/>
                </a:solidFill>
              </a:rPr>
              <a:t>LAZY EVALUATION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A12E74C-C4AC-4F0F-9EC9-5B4141F0F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238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DE / MENTOR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0970C47-DB4A-4083-B9E4-90D745615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153CE6B-0445-48AA-B18E-5162494E1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23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44D51D8-1AAB-4255-98A8-1FF45AD27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</a:defRPr>
            </a:pPr>
            <a:r>
              <a:rPr sz="2850" b="1">
                <a:solidFill>
                  <a:srgbClr val="202123"/>
                </a:solidFill>
              </a:rPr>
              <a:t>Transformations строят план — action запускает работу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529A479-33BF-4DC0-9900-20F9CF1D6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4175" y="3105150"/>
            <a:ext cx="523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E25A1C"/>
                </a:solidFill>
              </a:defRPr>
            </a:pPr>
            <a:r>
              <a:rPr sz="2700" b="1">
                <a:solidFill>
                  <a:srgbClr val="E25A1C"/>
                </a:solidFill>
              </a:rPr>
              <a:t>→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C5F7E09-FF7D-4000-B4EB-A18C6A941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76500"/>
            <a:ext cx="2190750" cy="17145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02EBFB7-4DE8-450A-954C-233E35501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76550"/>
            <a:ext cx="17716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02123"/>
                </a:solidFill>
              </a:defRPr>
            </a:pPr>
            <a:r>
              <a:rPr sz="1875" b="1">
                <a:solidFill>
                  <a:srgbClr val="202123"/>
                </a:solidFill>
              </a:rPr>
              <a:t>read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23ADDA9-8E7F-45CB-B5E1-6B122E584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476625"/>
            <a:ext cx="1771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ленивый источник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976B30D-26D8-40B6-8E9F-D05266717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6425" y="3105150"/>
            <a:ext cx="523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E25A1C"/>
                </a:solidFill>
              </a:defRPr>
            </a:pPr>
            <a:r>
              <a:rPr sz="2700" b="1">
                <a:solidFill>
                  <a:srgbClr val="E25A1C"/>
                </a:solidFill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88ADB52-A7C8-4F36-ADB4-F18D45C7D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476500"/>
            <a:ext cx="2190750" cy="17145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DD05366-5408-47BA-9D60-E9D623153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876550"/>
            <a:ext cx="17716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02123"/>
                </a:solidFill>
              </a:defRPr>
            </a:pPr>
            <a:r>
              <a:rPr sz="1875" b="1">
                <a:solidFill>
                  <a:srgbClr val="202123"/>
                </a:solidFill>
              </a:rPr>
              <a:t>filter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2A71ED6-D914-4D2B-9AF0-D9607F3A7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476625"/>
            <a:ext cx="1771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transformation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88FBC59-6EB9-48E3-8CBF-7A57D800D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3105150"/>
            <a:ext cx="523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E25A1C"/>
                </a:solidFill>
              </a:defRPr>
            </a:pPr>
            <a:r>
              <a:rPr sz="2700" b="1">
                <a:solidFill>
                  <a:srgbClr val="E25A1C"/>
                </a:solidFill>
              </a:rPr>
              <a:t>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6E55116-866F-4907-9E8A-4F9B998C8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476500"/>
            <a:ext cx="2190750" cy="17145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C83B748-20A3-48BF-A670-16B5594ED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876550"/>
            <a:ext cx="17716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02123"/>
                </a:solidFill>
              </a:defRPr>
            </a:pPr>
            <a:r>
              <a:rPr sz="1875" b="1">
                <a:solidFill>
                  <a:srgbClr val="202123"/>
                </a:solidFill>
              </a:rPr>
              <a:t>groupBy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3EB49B4-0772-4A1E-B977-2E6C34F10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476625"/>
            <a:ext cx="1771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transformation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61EC057-0124-414A-8905-DBB5A17CF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2476500"/>
            <a:ext cx="2190750" cy="17145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1F24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B3C087A-25E2-4BC3-85EB-6D6C758A5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2876550"/>
            <a:ext cx="17716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E25A1C"/>
                </a:solidFill>
              </a:defRPr>
            </a:pPr>
            <a:r>
              <a:rPr sz="1875" b="1">
                <a:solidFill>
                  <a:srgbClr val="E25A1C"/>
                </a:solidFill>
              </a:rPr>
              <a:t>write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2AF7B6B-1013-4C5C-911F-4FEAA9159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3476625"/>
            <a:ext cx="1771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action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C697886-50D2-4468-B520-460B2F183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810125"/>
            <a:ext cx="10287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E25A1C"/>
                </a:solidFill>
              </a:defRPr>
            </a:pPr>
            <a:r>
              <a:rPr sz="1725" b="1">
                <a:solidFill>
                  <a:srgbClr val="E25A1C"/>
                </a:solidFill>
              </a:rPr>
              <a:t>До action Spark может переписать и сократить план.</a:t>
            </a:r>
          </a:p>
        </p:txBody>
      </p:sp>
    </p:spTree>
    <p:extLst>
      <p:ext uri="{BB962C8B-B14F-4D97-AF65-F5344CB8AC3E}">
        <p14:creationId xmlns:p14="http://schemas.microsoft.com/office/powerpoint/2010/main" val="573184240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7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8B4B41E-6ED0-4A1C-8E2A-CD61DB8C8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25A1C"/>
                </a:solidFill>
              </a:defRPr>
            </a:pPr>
            <a:r>
              <a:rPr sz="1050" b="1">
                <a:solidFill>
                  <a:srgbClr val="E25A1C"/>
                </a:solidFill>
              </a:rPr>
              <a:t>EXECUTION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767CC9A-3F2D-40C5-B4A6-23E04080D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238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DE / MENTOR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3D4DEDF-00BA-42A6-B88D-3141AA443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E352791-7FD5-4B8E-887D-F8D2AB5C3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24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8A74A87-1F7D-4FA9-B821-EBC94D40E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</a:defRPr>
            </a:pPr>
            <a:r>
              <a:rPr sz="2850" b="1">
                <a:solidFill>
                  <a:srgbClr val="202123"/>
                </a:solidFill>
              </a:rPr>
              <a:t>Один action создаёт job, stages и tasks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CF0F868-9A8F-44B1-8D28-81EE7DAFF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1762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6FED"/>
                </a:solidFill>
              </a:defRPr>
            </a:pPr>
            <a:r>
              <a:rPr sz="1875" b="1">
                <a:solidFill>
                  <a:srgbClr val="2F6FED"/>
                </a:solidFill>
              </a:rPr>
              <a:t>Action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B86A44B-F355-4154-B15E-16DB691E7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2095500"/>
            <a:ext cx="4095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02123"/>
                </a:solidFill>
              </a:defRPr>
            </a:pPr>
            <a:r>
              <a:rPr sz="1650" b="1">
                <a:solidFill>
                  <a:srgbClr val="202123"/>
                </a:solidFill>
              </a:rPr>
              <a:t>write.parquet(…)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C5FE730-A811-4BBB-A7FE-6C0F47038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095500"/>
            <a:ext cx="381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E6E68"/>
                </a:solidFill>
              </a:defRPr>
            </a:pPr>
            <a:r>
              <a:rPr sz="1500" b="0">
                <a:solidFill>
                  <a:srgbClr val="6E6E68"/>
                </a:solidFill>
              </a:rPr>
              <a:t>Точка запуска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C4BFB6D-E546-4854-81A8-A23605A61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24150"/>
            <a:ext cx="10363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1A58969-F220-4BEB-828E-68D73D551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90850"/>
            <a:ext cx="1762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6FED"/>
                </a:solidFill>
              </a:defRPr>
            </a:pPr>
            <a:r>
              <a:rPr sz="1875" b="1">
                <a:solidFill>
                  <a:srgbClr val="2F6FED"/>
                </a:solidFill>
              </a:rPr>
              <a:t>Job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163284F-05D3-4BED-9FA4-B783DA213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2990850"/>
            <a:ext cx="4095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02123"/>
                </a:solidFill>
              </a:defRPr>
            </a:pPr>
            <a:r>
              <a:rPr sz="1650" b="1">
                <a:solidFill>
                  <a:srgbClr val="202123"/>
                </a:solidFill>
              </a:rPr>
              <a:t>весь DAG для action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707F260-4C44-4B12-84A9-9837E01A2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990850"/>
            <a:ext cx="381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E6E68"/>
                </a:solidFill>
              </a:defRPr>
            </a:pPr>
            <a:r>
              <a:rPr sz="1500" b="0">
                <a:solidFill>
                  <a:srgbClr val="6E6E68"/>
                </a:solidFill>
              </a:rPr>
              <a:t>Единица пользовательского результата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31842DC-D261-4F9C-82BB-E3FC280F1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0"/>
            <a:ext cx="10363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AEDDEBF-BC47-4818-B502-D366AEDB9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86200"/>
            <a:ext cx="1762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6FED"/>
                </a:solidFill>
              </a:defRPr>
            </a:pPr>
            <a:r>
              <a:rPr sz="1875" b="1">
                <a:solidFill>
                  <a:srgbClr val="2F6FED"/>
                </a:solidFill>
              </a:rPr>
              <a:t>Stage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D57CF14-9E99-49FE-ABB2-67DF4D697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3886200"/>
            <a:ext cx="4095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02123"/>
                </a:solidFill>
              </a:defRPr>
            </a:pPr>
            <a:r>
              <a:rPr sz="1650" b="1">
                <a:solidFill>
                  <a:srgbClr val="202123"/>
                </a:solidFill>
              </a:rPr>
              <a:t>цепочка без shuffle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D8644E3-C491-41BB-9919-FE9F5B8C1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886200"/>
            <a:ext cx="381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E6E68"/>
                </a:solidFill>
              </a:defRPr>
            </a:pPr>
            <a:r>
              <a:rPr sz="1500" b="0">
                <a:solidFill>
                  <a:srgbClr val="6E6E68"/>
                </a:solidFill>
              </a:rPr>
              <a:t>Граница передачи данных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9E04D7E-3BE0-4432-BEDA-FB40648D4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14850"/>
            <a:ext cx="10363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9F2FAEC-2B40-4FBB-B12C-FCB80E331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81550"/>
            <a:ext cx="1762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E25A1C"/>
                </a:solidFill>
              </a:defRPr>
            </a:pPr>
            <a:r>
              <a:rPr sz="1875" b="1">
                <a:solidFill>
                  <a:srgbClr val="E25A1C"/>
                </a:solidFill>
              </a:rPr>
              <a:t>Task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299975E-5DF5-4622-B28B-139688F4F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781550"/>
            <a:ext cx="4095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02123"/>
                </a:solidFill>
              </a:defRPr>
            </a:pPr>
            <a:r>
              <a:rPr sz="1650" b="1">
                <a:solidFill>
                  <a:srgbClr val="202123"/>
                </a:solidFill>
              </a:rPr>
              <a:t>stage × partition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4C590B9-F121-4C03-8E95-F6447E31D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781550"/>
            <a:ext cx="381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E6E68"/>
                </a:solidFill>
              </a:defRPr>
            </a:pPr>
            <a:r>
              <a:rPr sz="1500" b="0">
                <a:solidFill>
                  <a:srgbClr val="6E6E68"/>
                </a:solidFill>
              </a:rPr>
              <a:t>Единица исполнения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F9E894C-667F-4684-B90A-F6F07E265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10200"/>
            <a:ext cx="10363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1029486115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7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BCF4DCE-0E72-4B86-B445-BEEDD5DFA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25A1C"/>
                </a:solidFill>
              </a:defRPr>
            </a:pPr>
            <a:r>
              <a:rPr sz="1050" b="1">
                <a:solidFill>
                  <a:srgbClr val="E25A1C"/>
                </a:solidFill>
              </a:rPr>
              <a:t>EXECUTION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4ABE4C1-3153-4FE0-B5ED-88A0C7BC8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238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DE / MENTOR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C5151A6-CA4E-4DCF-9BA2-00477271E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6AA9B2A-D741-4361-83E1-0BEBB32D9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25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E1513B8-36ED-4416-AF03-844169BE9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</a:defRPr>
            </a:pPr>
            <a:r>
              <a:rPr sz="2850" b="1">
                <a:solidFill>
                  <a:srgbClr val="202123"/>
                </a:solidFill>
              </a:rPr>
              <a:t>Shuffle появляется, когда строки меняют владельца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69D904C-013C-40C8-9B78-18A746824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52650"/>
            <a:ext cx="238125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FA7033B-CADF-49E8-8365-8B59FDB00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4790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02123"/>
                </a:solidFill>
              </a:defRPr>
            </a:pPr>
            <a:r>
              <a:rPr sz="1425" b="1">
                <a:solidFill>
                  <a:srgbClr val="202123"/>
                </a:solidFill>
              </a:rPr>
              <a:t>p0: A,A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206FB96-8E2F-4D1C-A304-5E7604F2D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38450"/>
            <a:ext cx="238125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A6334E5-A689-4ADA-AB7B-FB20FD5E8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93370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02123"/>
                </a:solidFill>
              </a:defRPr>
            </a:pPr>
            <a:r>
              <a:rPr sz="1425" b="1">
                <a:solidFill>
                  <a:srgbClr val="202123"/>
                </a:solidFill>
              </a:rPr>
              <a:t>p1: B,C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569EF06-A72A-4475-A1B7-1483E90E8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24250"/>
            <a:ext cx="238125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D85443C-7171-4A8E-941F-94FBF8FBB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1950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02123"/>
                </a:solidFill>
              </a:defRPr>
            </a:pPr>
            <a:r>
              <a:rPr sz="1425" b="1">
                <a:solidFill>
                  <a:srgbClr val="202123"/>
                </a:solidFill>
              </a:rPr>
              <a:t>p2: A,C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1B19A1B-0184-48C0-8DC8-E8478D27F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10050"/>
            <a:ext cx="238125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C768D34-D7F9-43D1-B971-C0E6972D2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0530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02123"/>
                </a:solidFill>
              </a:defRPr>
            </a:pPr>
            <a:r>
              <a:rPr sz="1425" b="1">
                <a:solidFill>
                  <a:srgbClr val="202123"/>
                </a:solidFill>
              </a:rPr>
              <a:t>p3: B,B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FF4A15A-A8A2-4F74-8981-8EA93EB4F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781300"/>
            <a:ext cx="285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E25A1C"/>
                </a:solidFill>
              </a:defRPr>
            </a:pPr>
            <a:r>
              <a:rPr sz="2850" b="1">
                <a:solidFill>
                  <a:srgbClr val="E25A1C"/>
                </a:solidFill>
              </a:rPr>
              <a:t>SHUFFLE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1BD740C-896C-45DB-B5F3-F8C00E1B3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619500"/>
            <a:ext cx="4286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groupBy  ·  join  ·  distinct  ·  repartition  ·  orderBy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E10B3F2-2D38-440E-8BCC-6F5E63D20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152650"/>
            <a:ext cx="238125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1F24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38496C3-5B58-4C49-9BA0-35C293218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24790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A: A,A,A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F5E1F84-E45E-4E70-9844-2676C7510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524250"/>
            <a:ext cx="238125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1F24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3B97EDC-2138-4B89-AD49-6ABE5AEEB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61950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B: B,B,B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FAF0003-5AE7-4475-B0C2-530EE4C33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895850"/>
            <a:ext cx="238125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1F24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D1C910A-119D-4974-8664-BBE50794B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99110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C: C,C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036CAD3-88CE-4FBE-B5B9-D87B76522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467350"/>
            <a:ext cx="9334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B42318"/>
                </a:solidFill>
              </a:defRPr>
            </a:pPr>
            <a:r>
              <a:rPr sz="1650" b="1">
                <a:solidFill>
                  <a:srgbClr val="B42318"/>
                </a:solidFill>
              </a:rPr>
              <a:t>Shuffle = сеть + сериализация + disk spill + новая stage.</a:t>
            </a:r>
          </a:p>
        </p:txBody>
      </p:sp>
    </p:spTree>
    <p:extLst>
      <p:ext uri="{BB962C8B-B14F-4D97-AF65-F5344CB8AC3E}">
        <p14:creationId xmlns:p14="http://schemas.microsoft.com/office/powerpoint/2010/main" val="957851724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7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F224C7D-D076-4B63-942F-C1D818FF8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25A1C"/>
                </a:solidFill>
              </a:defRPr>
            </a:pPr>
            <a:r>
              <a:rPr sz="1050" b="1">
                <a:solidFill>
                  <a:srgbClr val="E25A1C"/>
                </a:solidFill>
              </a:rPr>
              <a:t>СКВОЗНОЙ КЕЙС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3E2F3F3-EBE9-49E5-B875-79FAE7B23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238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DE / MENTOR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79EFC22-81EE-431A-BC33-73B64DE85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1534FF2-8490-4A69-9E78-8E8DBF122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26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6031F1-3C44-4B52-A6B7-967C15302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</a:defRPr>
            </a:pPr>
            <a:r>
              <a:rPr sz="2850" b="1">
                <a:solidFill>
                  <a:srgbClr val="202123"/>
                </a:solidFill>
              </a:rPr>
              <a:t>Контракт пайплайна: события → дневная выручка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AEB0D9C-E181-4E11-BA58-C1535A770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9800"/>
            <a:ext cx="3238500" cy="2952750"/>
          </a:xfrm>
          <a:prstGeom xmlns:a="http://schemas.openxmlformats.org/drawingml/2006/main" prst="roundRect">
            <a:avLst>
              <a:gd name="adj" fmla="val 258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10CF627-3FD2-4A0F-A1AC-B88AA4370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524125"/>
            <a:ext cx="2705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E6E68"/>
                </a:solidFill>
              </a:defRPr>
            </a:pPr>
            <a:r>
              <a:rPr sz="1200" b="1">
                <a:solidFill>
                  <a:srgbClr val="6E6E68"/>
                </a:solidFill>
              </a:rPr>
              <a:t>INPUT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D0F648E-C33F-4C63-AC04-D4791181F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143250"/>
            <a:ext cx="2705100" cy="1733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02123"/>
                </a:solidFill>
              </a:defRPr>
            </a:pPr>
            <a:r>
              <a:rPr sz="1575" b="0">
                <a:solidFill>
                  <a:srgbClr val="202123"/>
                </a:solidFill>
              </a:rPr>
              <a:t>events/*.json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0">
                <a:solidFill>
                  <a:srgbClr val="202123"/>
                </a:solidFill>
              </a:defRPr>
            </a:pPr>
            <a:r>
              <a:rPr sz="1575" b="0">
                <a:solidFill>
                  <a:srgbClr val="202123"/>
                </a:solidFill>
              </a:rPr>
              <a:t>event_id, customer_id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0">
                <a:solidFill>
                  <a:srgbClr val="202123"/>
                </a:solidFill>
              </a:defRPr>
            </a:pPr>
            <a:r>
              <a:rPr sz="1575" b="0">
                <a:solidFill>
                  <a:srgbClr val="202123"/>
                </a:solidFill>
              </a:rPr>
              <a:t>event_ts, amount, country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D510FE3-1E14-4FE2-83D2-BD7C92AC8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209800"/>
            <a:ext cx="3238500" cy="2952750"/>
          </a:xfrm>
          <a:prstGeom xmlns:a="http://schemas.openxmlformats.org/drawingml/2006/main" prst="roundRect">
            <a:avLst>
              <a:gd name="adj" fmla="val 2581"/>
            </a:avLst>
          </a:prstGeom>
          <a:solidFill xmlns:a="http://schemas.openxmlformats.org/drawingml/2006/main">
            <a:srgbClr val="1F24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B57E568-3B5C-4C2E-AAFA-228E5D613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524125"/>
            <a:ext cx="2705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E25A1C"/>
                </a:solidFill>
              </a:defRPr>
            </a:pPr>
            <a:r>
              <a:rPr sz="1200" b="1">
                <a:solidFill>
                  <a:srgbClr val="E25A1C"/>
                </a:solidFill>
              </a:rPr>
              <a:t>OUTPUT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0034728-7EC0-484C-ABDE-B0BB644A5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3143250"/>
            <a:ext cx="2705100" cy="1733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daily_revenue/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event_date, country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orders, revenue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A15BB55-187B-433D-A9B2-2D4C00F61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209800"/>
            <a:ext cx="3238500" cy="2952750"/>
          </a:xfrm>
          <a:prstGeom xmlns:a="http://schemas.openxmlformats.org/drawingml/2006/main" prst="roundRect">
            <a:avLst>
              <a:gd name="adj" fmla="val 2581"/>
            </a:avLst>
          </a:prstGeom>
          <a:solidFill xmlns:a="http://schemas.openxmlformats.org/drawingml/2006/main">
            <a:srgbClr val="EFEE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00711B8-6C13-42CB-9899-2E27A3EF9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524125"/>
            <a:ext cx="2705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E6E68"/>
                </a:solidFill>
              </a:defRPr>
            </a:pPr>
            <a:r>
              <a:rPr sz="1200" b="1">
                <a:solidFill>
                  <a:srgbClr val="6E6E68"/>
                </a:solidFill>
              </a:rPr>
              <a:t>CONSTRAINTS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820D52B-17E9-433C-9198-DB3E05002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143250"/>
            <a:ext cx="2705100" cy="1733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02123"/>
                </a:solidFill>
              </a:defRPr>
            </a:pPr>
            <a:r>
              <a:rPr sz="1575" b="0">
                <a:solidFill>
                  <a:srgbClr val="202123"/>
                </a:solidFill>
              </a:rPr>
              <a:t>явная schema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0">
                <a:solidFill>
                  <a:srgbClr val="202123"/>
                </a:solidFill>
              </a:defRPr>
            </a:pPr>
            <a:r>
              <a:rPr sz="1575" b="0">
                <a:solidFill>
                  <a:srgbClr val="202123"/>
                </a:solidFill>
              </a:rPr>
              <a:t>валидные ключи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575" b="0">
                <a:solidFill>
                  <a:srgbClr val="202123"/>
                </a:solidFill>
              </a:defRPr>
            </a:pPr>
            <a:r>
              <a:rPr sz="1575" b="0">
                <a:solidFill>
                  <a:srgbClr val="202123"/>
                </a:solidFill>
              </a:rPr>
              <a:t>идемпотентная запись</a:t>
            </a:r>
          </a:p>
        </p:txBody>
      </p:sp>
    </p:spTree>
    <p:extLst>
      <p:ext uri="{BB962C8B-B14F-4D97-AF65-F5344CB8AC3E}">
        <p14:creationId xmlns:p14="http://schemas.microsoft.com/office/powerpoint/2010/main" val="236742420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7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803EA19-DD93-4FFA-A367-CA5F71F95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25A1C"/>
                </a:solidFill>
              </a:defRPr>
            </a:pPr>
            <a:r>
              <a:rPr sz="1050" b="1">
                <a:solidFill>
                  <a:srgbClr val="E25A1C"/>
                </a:solidFill>
              </a:rPr>
              <a:t>PYSPARK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D97F2FD-6251-415B-BE53-28B87D461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238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DE / MENTOR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83908D7-6D93-447F-9367-26739C6F0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A5CA887-CF24-4AD1-840B-1C178C771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27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63DC207-2A8B-4D23-B8A2-DE034928B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</a:defRPr>
            </a:pPr>
            <a:r>
              <a:rPr sz="2850" b="1">
                <a:solidFill>
                  <a:srgbClr val="202123"/>
                </a:solidFill>
              </a:rPr>
              <a:t>Явная schema делает контракт проверяемым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FA89F96-926E-475A-9900-6BFF82BBC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0250"/>
            <a:ext cx="7191375" cy="3714750"/>
          </a:xfrm>
          <a:prstGeom xmlns:a="http://schemas.openxmlformats.org/drawingml/2006/main" prst="roundRect">
            <a:avLst>
              <a:gd name="adj" fmla="val 2051"/>
            </a:avLst>
          </a:prstGeom>
          <a:solidFill xmlns:a="http://schemas.openxmlformats.org/drawingml/2006/main">
            <a:srgbClr val="1F24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A7BDB4B-B6F0-42F6-90D6-420696401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66950"/>
            <a:ext cx="6667500" cy="323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E6EDF3"/>
                </a:solidFill>
              </a:defRPr>
            </a:pPr>
            <a:r>
              <a:rPr sz="1275" b="0">
                <a:solidFill>
                  <a:srgbClr val="E6EDF3"/>
                </a:solidFill>
              </a:rPr>
              <a:t>EVENT_SCHEMA = StructType([</a:t>
            </a:r>
          </a:p>
          <a:p xmlns:a="http://schemas.openxmlformats.org/drawingml/2006/main">
            <a:pPr algn="l">
              <a:defRPr sz="1275" b="0">
                <a:solidFill>
                  <a:srgbClr val="E6EDF3"/>
                </a:solidFill>
              </a:defRPr>
            </a:pPr>
            <a:r>
              <a:rPr sz="1275" b="0">
                <a:solidFill>
                  <a:srgbClr val="E6EDF3"/>
                </a:solidFill>
              </a:rPr>
              <a:t>    StructField("event_id", StringType(), False),</a:t>
            </a:r>
          </a:p>
          <a:p xmlns:a="http://schemas.openxmlformats.org/drawingml/2006/main">
            <a:pPr algn="l">
              <a:defRPr sz="1275" b="0">
                <a:solidFill>
                  <a:srgbClr val="E6EDF3"/>
                </a:solidFill>
              </a:defRPr>
            </a:pPr>
            <a:r>
              <a:rPr sz="1275" b="0">
                <a:solidFill>
                  <a:srgbClr val="E6EDF3"/>
                </a:solidFill>
              </a:rPr>
              <a:t>    StructField("customer_id", StringType(), False),</a:t>
            </a:r>
          </a:p>
          <a:p xmlns:a="http://schemas.openxmlformats.org/drawingml/2006/main">
            <a:pPr algn="l">
              <a:defRPr sz="1275" b="0">
                <a:solidFill>
                  <a:srgbClr val="E6EDF3"/>
                </a:solidFill>
              </a:defRPr>
            </a:pPr>
            <a:r>
              <a:rPr sz="1275" b="0">
                <a:solidFill>
                  <a:srgbClr val="E6EDF3"/>
                </a:solidFill>
              </a:rPr>
              <a:t>    StructField("event_ts", TimestampType(), False),</a:t>
            </a:r>
          </a:p>
          <a:p xmlns:a="http://schemas.openxmlformats.org/drawingml/2006/main">
            <a:pPr algn="l">
              <a:defRPr sz="1275" b="0">
                <a:solidFill>
                  <a:srgbClr val="E6EDF3"/>
                </a:solidFill>
              </a:defRPr>
            </a:pPr>
            <a:r>
              <a:rPr sz="1275" b="0">
                <a:solidFill>
                  <a:srgbClr val="E6EDF3"/>
                </a:solidFill>
              </a:rPr>
              <a:t>    StructField("amount", DecimalType(18, 2), False),</a:t>
            </a:r>
          </a:p>
          <a:p xmlns:a="http://schemas.openxmlformats.org/drawingml/2006/main">
            <a:pPr algn="l">
              <a:defRPr sz="1275" b="0">
                <a:solidFill>
                  <a:srgbClr val="E6EDF3"/>
                </a:solidFill>
              </a:defRPr>
            </a:pPr>
            <a:r>
              <a:rPr sz="1275" b="0">
                <a:solidFill>
                  <a:srgbClr val="E6EDF3"/>
                </a:solidFill>
              </a:rPr>
              <a:t>    StructField("country", StringType(), True),</a:t>
            </a:r>
          </a:p>
          <a:p xmlns:a="http://schemas.openxmlformats.org/drawingml/2006/main">
            <a:pPr algn="l">
              <a:defRPr sz="1275" b="0">
                <a:solidFill>
                  <a:srgbClr val="E6EDF3"/>
                </a:solidFill>
              </a:defRPr>
            </a:pPr>
            <a:r>
              <a:rPr sz="1275" b="0">
                <a:solidFill>
                  <a:srgbClr val="E6EDF3"/>
                </a:solidFill>
              </a:rPr>
              <a:t>])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275" b="0">
                <a:solidFill>
                  <a:srgbClr val="E6EDF3"/>
                </a:solidFill>
              </a:defRPr>
            </a:pPr>
            <a:r>
              <a:rPr sz="1275" b="0">
                <a:solidFill>
                  <a:srgbClr val="E6EDF3"/>
                </a:solidFill>
              </a:rPr>
              <a:t>events = spark.read.schema(EVENT_SCHEMA).json(input_path)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DA7FAAE-D637-4195-9170-70CAAE6CB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152650"/>
            <a:ext cx="2762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E25A1C"/>
                </a:solidFill>
              </a:defRPr>
            </a:pPr>
            <a:r>
              <a:rPr sz="1200" b="1">
                <a:solidFill>
                  <a:srgbClr val="E25A1C"/>
                </a:solidFill>
              </a:rPr>
              <a:t>WHY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565B20C-2AB8-4C62-BB28-DC004536A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8479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95DE18C-E1B1-4D48-8D78-E27436FC2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762250"/>
            <a:ext cx="27813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02123"/>
                </a:solidFill>
              </a:defRPr>
            </a:pPr>
            <a:r>
              <a:rPr sz="1500" b="0">
                <a:solidFill>
                  <a:srgbClr val="202123"/>
                </a:solidFill>
              </a:rPr>
              <a:t>Нет полного scan для inferSchema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FE02F79-E460-4F83-841F-4ACAA2905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6671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A69D4C9-AF64-43EF-9986-7E667A3CE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3581400"/>
            <a:ext cx="27813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02123"/>
                </a:solidFill>
              </a:defRPr>
            </a:pPr>
            <a:r>
              <a:rPr sz="1500" b="0">
                <a:solidFill>
                  <a:srgbClr val="202123"/>
                </a:solidFill>
              </a:rPr>
              <a:t>Nullability — часть контракта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A1445F6-2FDA-4B3F-A071-6608F497C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4862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FC1C415-EC53-46B4-8FF3-0FD378F90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4400550"/>
            <a:ext cx="27813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02123"/>
                </a:solidFill>
              </a:defRPr>
            </a:pPr>
            <a:r>
              <a:rPr sz="1500" b="0">
                <a:solidFill>
                  <a:srgbClr val="202123"/>
                </a:solidFill>
              </a:rPr>
              <a:t>Типы стабильны между запусками</a:t>
            </a:r>
          </a:p>
        </p:txBody>
      </p:sp>
    </p:spTree>
    <p:extLst>
      <p:ext uri="{BB962C8B-B14F-4D97-AF65-F5344CB8AC3E}">
        <p14:creationId xmlns:p14="http://schemas.microsoft.com/office/powerpoint/2010/main" val="1421245894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7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86DA03A-ECA6-4D79-9C84-05B3CF8FC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25A1C"/>
                </a:solidFill>
              </a:defRPr>
            </a:pPr>
            <a:r>
              <a:rPr sz="1050" b="1">
                <a:solidFill>
                  <a:srgbClr val="E25A1C"/>
                </a:solidFill>
              </a:rPr>
              <a:t>PYSPARK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8A03308-BCD0-4FAC-8DF5-C0A0DCDD3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238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DE / MENTOR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E0FF59B-2AFC-48B5-A1AE-18B2CCA58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17A082-417F-41DE-8027-8F027407C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28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3D4EDC0-6955-4868-B332-AB8314909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</a:defRPr>
            </a:pPr>
            <a:r>
              <a:rPr sz="2850" b="1">
                <a:solidFill>
                  <a:srgbClr val="202123"/>
                </a:solidFill>
              </a:rPr>
              <a:t>Built-in expressions сохраняют оптимизации Catalyst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2698FB0-A87D-4014-BE38-56CC8AFC5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0250"/>
            <a:ext cx="7191375" cy="3714750"/>
          </a:xfrm>
          <a:prstGeom xmlns:a="http://schemas.openxmlformats.org/drawingml/2006/main" prst="roundRect">
            <a:avLst>
              <a:gd name="adj" fmla="val 2051"/>
            </a:avLst>
          </a:prstGeom>
          <a:solidFill xmlns:a="http://schemas.openxmlformats.org/drawingml/2006/main">
            <a:srgbClr val="1F24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EE71C6C-D722-46BF-B50B-DE56C7E8A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66950"/>
            <a:ext cx="6667500" cy="323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E6EDF3"/>
                </a:solidFill>
              </a:defRPr>
            </a:pPr>
            <a:r>
              <a:rPr sz="1275" b="0">
                <a:solidFill>
                  <a:srgbClr val="E6EDF3"/>
                </a:solidFill>
              </a:rPr>
              <a:t>clean = (</a:t>
            </a:r>
          </a:p>
          <a:p xmlns:a="http://schemas.openxmlformats.org/drawingml/2006/main">
            <a:pPr algn="l">
              <a:defRPr sz="1275" b="0">
                <a:solidFill>
                  <a:srgbClr val="E6EDF3"/>
                </a:solidFill>
              </a:defRPr>
            </a:pPr>
            <a:r>
              <a:rPr sz="1275" b="0">
                <a:solidFill>
                  <a:srgbClr val="E6EDF3"/>
                </a:solidFill>
              </a:rPr>
              <a:t>    events</a:t>
            </a:r>
          </a:p>
          <a:p xmlns:a="http://schemas.openxmlformats.org/drawingml/2006/main">
            <a:pPr algn="l">
              <a:defRPr sz="1275" b="0">
                <a:solidFill>
                  <a:srgbClr val="E6EDF3"/>
                </a:solidFill>
              </a:defRPr>
            </a:pPr>
            <a:r>
              <a:rPr sz="1275" b="0">
                <a:solidFill>
                  <a:srgbClr val="E6EDF3"/>
                </a:solidFill>
              </a:rPr>
              <a:t>    .filter(F.col("event_id").isNotNull())</a:t>
            </a:r>
          </a:p>
          <a:p xmlns:a="http://schemas.openxmlformats.org/drawingml/2006/main">
            <a:pPr algn="l">
              <a:defRPr sz="1275" b="0">
                <a:solidFill>
                  <a:srgbClr val="E6EDF3"/>
                </a:solidFill>
              </a:defRPr>
            </a:pPr>
            <a:r>
              <a:rPr sz="1275" b="0">
                <a:solidFill>
                  <a:srgbClr val="E6EDF3"/>
                </a:solidFill>
              </a:rPr>
              <a:t>    .filter(F.col("amount") &gt; 0)</a:t>
            </a:r>
          </a:p>
          <a:p xmlns:a="http://schemas.openxmlformats.org/drawingml/2006/main">
            <a:pPr algn="l">
              <a:defRPr sz="1275" b="0">
                <a:solidFill>
                  <a:srgbClr val="E6EDF3"/>
                </a:solidFill>
              </a:defRPr>
            </a:pPr>
            <a:r>
              <a:rPr sz="1275" b="0">
                <a:solidFill>
                  <a:srgbClr val="E6EDF3"/>
                </a:solidFill>
              </a:rPr>
              <a:t>    .withColumn("event_date", F.to_date("event_ts"))</a:t>
            </a:r>
          </a:p>
          <a:p xmlns:a="http://schemas.openxmlformats.org/drawingml/2006/main">
            <a:pPr algn="l">
              <a:defRPr sz="1275" b="0">
                <a:solidFill>
                  <a:srgbClr val="E6EDF3"/>
                </a:solidFill>
              </a:defRPr>
            </a:pPr>
            <a:r>
              <a:rPr sz="1275" b="0">
                <a:solidFill>
                  <a:srgbClr val="E6EDF3"/>
                </a:solidFill>
              </a:rPr>
              <a:t>    .withColumn("country", F.coalesce("country", F.lit("UNKNOWN")))</a:t>
            </a:r>
          </a:p>
          <a:p xmlns:a="http://schemas.openxmlformats.org/drawingml/2006/main">
            <a:pPr algn="l">
              <a:defRPr sz="1275" b="0">
                <a:solidFill>
                  <a:srgbClr val="E6EDF3"/>
                </a:solidFill>
              </a:defRPr>
            </a:pPr>
            <a:r>
              <a:rPr sz="1275" b="0">
                <a:solidFill>
                  <a:srgbClr val="E6EDF3"/>
                </a:solidFill>
              </a:rPr>
              <a:t>    .dropDuplicates(["event_id"])</a:t>
            </a:r>
          </a:p>
          <a:p xmlns:a="http://schemas.openxmlformats.org/drawingml/2006/main">
            <a:pPr algn="l">
              <a:defRPr sz="1275" b="0">
                <a:solidFill>
                  <a:srgbClr val="E6EDF3"/>
                </a:solidFill>
              </a:defRPr>
            </a:pPr>
            <a:r>
              <a:rPr sz="1275" b="0">
                <a:solidFill>
                  <a:srgbClr val="E6EDF3"/>
                </a:solidFill>
              </a:rPr>
              <a:t>)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287F16E-49AF-4FEA-BE96-499C28888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152650"/>
            <a:ext cx="2762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E25A1C"/>
                </a:solidFill>
              </a:defRPr>
            </a:pPr>
            <a:r>
              <a:rPr sz="1200" b="1">
                <a:solidFill>
                  <a:srgbClr val="E25A1C"/>
                </a:solidFill>
              </a:rPr>
              <a:t>WHY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A5C210C-B61E-4F0C-8531-1F8F90A27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8479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6941A8A-6384-4472-A4BE-2CBF64CC0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762250"/>
            <a:ext cx="27813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02123"/>
                </a:solidFill>
              </a:defRPr>
            </a:pPr>
            <a:r>
              <a:rPr sz="1500" b="0">
                <a:solidFill>
                  <a:srgbClr val="202123"/>
                </a:solidFill>
              </a:rPr>
              <a:t>Операции видны optimizer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63356FC-E235-4558-84D1-118F1191F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6671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79B2F11-C7A8-487E-9CDD-83AA6229F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3581400"/>
            <a:ext cx="27813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02123"/>
                </a:solidFill>
              </a:defRPr>
            </a:pPr>
            <a:r>
              <a:rPr sz="1500" b="0">
                <a:solidFill>
                  <a:srgbClr val="202123"/>
                </a:solidFill>
              </a:rPr>
              <a:t>Нет построчного Python callback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34C73ED-2796-4150-9CA5-CA5085E5E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4862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5AF60F0-8430-4004-B45B-36326916E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4400550"/>
            <a:ext cx="27813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02123"/>
                </a:solidFill>
              </a:defRPr>
            </a:pPr>
            <a:r>
              <a:rPr sz="1500" b="0">
                <a:solidFill>
                  <a:srgbClr val="202123"/>
                </a:solidFill>
              </a:rPr>
              <a:t>Логика читается как data contract</a:t>
            </a:r>
          </a:p>
        </p:txBody>
      </p:sp>
    </p:spTree>
    <p:extLst>
      <p:ext uri="{BB962C8B-B14F-4D97-AF65-F5344CB8AC3E}">
        <p14:creationId xmlns:p14="http://schemas.microsoft.com/office/powerpoint/2010/main" val="335597213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7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116ECEC-4698-415F-85EF-48ED1C5DD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25A1C"/>
                </a:solidFill>
              </a:defRPr>
            </a:pPr>
            <a:r>
              <a:rPr sz="1050" b="1">
                <a:solidFill>
                  <a:srgbClr val="E25A1C"/>
                </a:solidFill>
              </a:rPr>
              <a:t>PYSPARK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38E569B-8526-45D2-98A6-17171D0A2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238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DE / MENTOR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4D9AB23-3113-4D9C-BF8D-9542F84AC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F76D268-3076-46AC-8260-B4312E0C2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29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4DA140-FA31-428C-B700-46A9DEACD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</a:defRPr>
            </a:pPr>
            <a:r>
              <a:rPr sz="2850" b="1">
                <a:solidFill>
                  <a:srgbClr val="202123"/>
                </a:solidFill>
              </a:rPr>
              <a:t>Join и aggregation — место, где рождается стоимость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683FF4F-9A2B-4BC1-BEDE-8A588961D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0250"/>
            <a:ext cx="7191375" cy="3714750"/>
          </a:xfrm>
          <a:prstGeom xmlns:a="http://schemas.openxmlformats.org/drawingml/2006/main" prst="roundRect">
            <a:avLst>
              <a:gd name="adj" fmla="val 2051"/>
            </a:avLst>
          </a:prstGeom>
          <a:solidFill xmlns:a="http://schemas.openxmlformats.org/drawingml/2006/main">
            <a:srgbClr val="1F24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458ADA9-5149-4048-9B3E-2BACE12A6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66950"/>
            <a:ext cx="6667500" cy="323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E6EDF3"/>
                </a:solidFill>
              </a:defRPr>
            </a:pPr>
            <a:r>
              <a:rPr sz="1275" b="0">
                <a:solidFill>
                  <a:srgbClr val="E6EDF3"/>
                </a:solidFill>
              </a:rPr>
              <a:t>result = (</a:t>
            </a:r>
          </a:p>
          <a:p xmlns:a="http://schemas.openxmlformats.org/drawingml/2006/main">
            <a:pPr algn="l">
              <a:defRPr sz="1275" b="0">
                <a:solidFill>
                  <a:srgbClr val="E6EDF3"/>
                </a:solidFill>
              </a:defRPr>
            </a:pPr>
            <a:r>
              <a:rPr sz="1275" b="0">
                <a:solidFill>
                  <a:srgbClr val="E6EDF3"/>
                </a:solidFill>
              </a:rPr>
              <a:t>    clean</a:t>
            </a:r>
          </a:p>
          <a:p xmlns:a="http://schemas.openxmlformats.org/drawingml/2006/main">
            <a:pPr algn="l">
              <a:defRPr sz="1275" b="0">
                <a:solidFill>
                  <a:srgbClr val="E6EDF3"/>
                </a:solidFill>
              </a:defRPr>
            </a:pPr>
            <a:r>
              <a:rPr sz="1275" b="0">
                <a:solidFill>
                  <a:srgbClr val="E6EDF3"/>
                </a:solidFill>
              </a:rPr>
              <a:t>    .join(F.broadcast(countries), "country", "left")</a:t>
            </a:r>
          </a:p>
          <a:p xmlns:a="http://schemas.openxmlformats.org/drawingml/2006/main">
            <a:pPr algn="l">
              <a:defRPr sz="1275" b="0">
                <a:solidFill>
                  <a:srgbClr val="E6EDF3"/>
                </a:solidFill>
              </a:defRPr>
            </a:pPr>
            <a:r>
              <a:rPr sz="1275" b="0">
                <a:solidFill>
                  <a:srgbClr val="E6EDF3"/>
                </a:solidFill>
              </a:rPr>
              <a:t>    .groupBy("event_date", "country_name")</a:t>
            </a:r>
          </a:p>
          <a:p xmlns:a="http://schemas.openxmlformats.org/drawingml/2006/main">
            <a:pPr algn="l">
              <a:defRPr sz="1275" b="0">
                <a:solidFill>
                  <a:srgbClr val="E6EDF3"/>
                </a:solidFill>
              </a:defRPr>
            </a:pPr>
            <a:r>
              <a:rPr sz="1275" b="0">
                <a:solidFill>
                  <a:srgbClr val="E6EDF3"/>
                </a:solidFill>
              </a:rPr>
              <a:t>    .agg(</a:t>
            </a:r>
          </a:p>
          <a:p xmlns:a="http://schemas.openxmlformats.org/drawingml/2006/main">
            <a:pPr algn="l">
              <a:defRPr sz="1275" b="0">
                <a:solidFill>
                  <a:srgbClr val="E6EDF3"/>
                </a:solidFill>
              </a:defRPr>
            </a:pPr>
            <a:r>
              <a:rPr sz="1275" b="0">
                <a:solidFill>
                  <a:srgbClr val="E6EDF3"/>
                </a:solidFill>
              </a:rPr>
              <a:t>        F.count("*").alias("orders"),</a:t>
            </a:r>
          </a:p>
          <a:p xmlns:a="http://schemas.openxmlformats.org/drawingml/2006/main">
            <a:pPr algn="l">
              <a:defRPr sz="1275" b="0">
                <a:solidFill>
                  <a:srgbClr val="E6EDF3"/>
                </a:solidFill>
              </a:defRPr>
            </a:pPr>
            <a:r>
              <a:rPr sz="1275" b="0">
                <a:solidFill>
                  <a:srgbClr val="E6EDF3"/>
                </a:solidFill>
              </a:rPr>
              <a:t>        F.sum("amount").alias("revenue"),</a:t>
            </a:r>
          </a:p>
          <a:p xmlns:a="http://schemas.openxmlformats.org/drawingml/2006/main">
            <a:pPr algn="l">
              <a:defRPr sz="1275" b="0">
                <a:solidFill>
                  <a:srgbClr val="E6EDF3"/>
                </a:solidFill>
              </a:defRPr>
            </a:pPr>
            <a:r>
              <a:rPr sz="1275" b="0">
                <a:solidFill>
                  <a:srgbClr val="E6EDF3"/>
                </a:solidFill>
              </a:rPr>
              <a:t>    )</a:t>
            </a:r>
          </a:p>
          <a:p xmlns:a="http://schemas.openxmlformats.org/drawingml/2006/main">
            <a:pPr algn="l">
              <a:defRPr sz="1275" b="0">
                <a:solidFill>
                  <a:srgbClr val="E6EDF3"/>
                </a:solidFill>
              </a:defRPr>
            </a:pPr>
            <a:r>
              <a:rPr sz="1275" b="0">
                <a:solidFill>
                  <a:srgbClr val="E6EDF3"/>
                </a:solidFill>
              </a:rPr>
              <a:t>)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9471274-151B-4A41-AD9F-8097D32A0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152650"/>
            <a:ext cx="2762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E25A1C"/>
                </a:solidFill>
              </a:defRPr>
            </a:pPr>
            <a:r>
              <a:rPr sz="1200" b="1">
                <a:solidFill>
                  <a:srgbClr val="E25A1C"/>
                </a:solidFill>
              </a:rPr>
              <a:t>WHY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648CEF9-DF53-46B1-BE5E-B739CF2D7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8479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48888AC-01EE-48A7-95F2-E49B9D61C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762250"/>
            <a:ext cx="27813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02123"/>
                </a:solidFill>
              </a:defRPr>
            </a:pPr>
            <a:r>
              <a:rPr sz="1500" b="0">
                <a:solidFill>
                  <a:srgbClr val="202123"/>
                </a:solidFill>
              </a:rPr>
              <a:t>Размер стороны join важнее синтаксиса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36C4681-1847-429B-8107-EF072B4A5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6671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E00C348-3754-481F-AA8D-824025A20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3581400"/>
            <a:ext cx="27813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02123"/>
                </a:solidFill>
              </a:defRPr>
            </a:pPr>
            <a:r>
              <a:rPr sz="1500" b="0">
                <a:solidFill>
                  <a:srgbClr val="202123"/>
                </a:solidFill>
              </a:rPr>
              <a:t>groupBy почти всегда означает shuffle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7EAED73-6B2C-4FEB-BD72-E1B534A18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4862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C547BF8-BD25-47E0-9D54-A2490DEC6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4400550"/>
            <a:ext cx="27813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02123"/>
                </a:solidFill>
              </a:defRPr>
            </a:pPr>
            <a:r>
              <a:rPr sz="1500" b="0">
                <a:solidFill>
                  <a:srgbClr val="202123"/>
                </a:solidFill>
              </a:rPr>
              <a:t>Broadcast устраняет shuffle большой стороны</a:t>
            </a:r>
          </a:p>
        </p:txBody>
      </p:sp>
    </p:spTree>
    <p:extLst>
      <p:ext uri="{BB962C8B-B14F-4D97-AF65-F5344CB8AC3E}">
        <p14:creationId xmlns:p14="http://schemas.microsoft.com/office/powerpoint/2010/main" val="743709657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7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4FECD3C-39B4-4E7C-973A-92F1E2795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25A1C"/>
                </a:solidFill>
              </a:defRPr>
            </a:pPr>
            <a:r>
              <a:rPr sz="1050" b="1">
                <a:solidFill>
                  <a:srgbClr val="E25A1C"/>
                </a:solidFill>
              </a:rPr>
              <a:t>ПЛАН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3E29097-2F3A-46B1-A2D4-8F88F8F60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238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DE / MENTOR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4AB3769-107B-4673-BA27-B9C9BC817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4AF840B-6A2A-4965-8B75-1F60FBFBD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30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69EB108-3580-4138-B568-77F8B4F69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</a:defRPr>
            </a:pPr>
            <a:r>
              <a:rPr sz="2850" b="1">
                <a:solidFill>
                  <a:srgbClr val="202123"/>
                </a:solidFill>
              </a:rPr>
              <a:t>Сначала читаем план — потом тратим кластер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3DCD1C0-3E4B-4D93-A23E-A1741A74F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33600"/>
            <a:ext cx="762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E25A1C"/>
                </a:solidFill>
              </a:defRPr>
            </a:pPr>
            <a:r>
              <a:rPr sz="3150" b="1">
                <a:solidFill>
                  <a:srgbClr val="E25A1C"/>
                </a:solidFill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09D73CE-540E-41D9-9739-B44F4BB14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0"/>
            <a:ext cx="23622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02123"/>
                </a:solidFill>
              </a:defRPr>
            </a:pPr>
            <a:r>
              <a:rPr sz="1575" b="1">
                <a:solidFill>
                  <a:srgbClr val="202123"/>
                </a:solidFill>
              </a:rPr>
              <a:t>explain('formatted')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0B84EBA-F6C0-4030-86D8-515C2E6D6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71950"/>
            <a:ext cx="1809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96A38AF-12B2-489B-8B11-B9A8438BF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52950"/>
            <a:ext cx="23622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E6E68"/>
                </a:solidFill>
              </a:defRPr>
            </a:pPr>
            <a:r>
              <a:rPr sz="1500" b="0">
                <a:solidFill>
                  <a:srgbClr val="6E6E68"/>
                </a:solidFill>
              </a:rPr>
              <a:t>Получить physical plan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716F51F-CF91-4210-9F66-BBC313F1B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133600"/>
            <a:ext cx="762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E25A1C"/>
                </a:solidFill>
              </a:defRPr>
            </a:pPr>
            <a:r>
              <a:rPr sz="3150" b="1">
                <a:solidFill>
                  <a:srgbClr val="E25A1C"/>
                </a:solidFill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DD92FAB-D0A0-47D5-BBCD-C78D03F6C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3048000"/>
            <a:ext cx="23622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02123"/>
                </a:solidFill>
              </a:defRPr>
            </a:pPr>
            <a:r>
              <a:rPr sz="1575" b="1">
                <a:solidFill>
                  <a:srgbClr val="202123"/>
                </a:solidFill>
              </a:rPr>
              <a:t>Найти Exchange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A7A5E5E-B3C9-441F-B7B9-BA9C0D5BA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4171950"/>
            <a:ext cx="1809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1C2D4D6-9A5A-4A06-B7F0-4BB2AA709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4552950"/>
            <a:ext cx="23622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E6E68"/>
                </a:solidFill>
              </a:defRPr>
            </a:pPr>
            <a:r>
              <a:rPr sz="1500" b="0">
                <a:solidFill>
                  <a:srgbClr val="6E6E68"/>
                </a:solidFill>
              </a:rPr>
              <a:t>Увидеть shuffle boundaries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6A5F884-EE60-42B8-B00E-F004C3202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133600"/>
            <a:ext cx="762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E25A1C"/>
                </a:solidFill>
              </a:defRPr>
            </a:pPr>
            <a:r>
              <a:rPr sz="3150" b="1">
                <a:solidFill>
                  <a:srgbClr val="E25A1C"/>
                </a:solidFill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3AF225F-91B9-4FA5-B368-6B4E96F6A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048000"/>
            <a:ext cx="23622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02123"/>
                </a:solidFill>
              </a:defRPr>
            </a:pPr>
            <a:r>
              <a:rPr sz="1575" b="1">
                <a:solidFill>
                  <a:srgbClr val="202123"/>
                </a:solidFill>
              </a:rPr>
              <a:t>Проверить Join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1DCD283-9FF5-448A-B323-D9ABF022F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4171950"/>
            <a:ext cx="1809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063E829-67C6-412A-9360-A1A8BA49A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4552950"/>
            <a:ext cx="23622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E6E68"/>
                </a:solidFill>
              </a:defRPr>
            </a:pPr>
            <a:r>
              <a:rPr sz="1500" b="0">
                <a:solidFill>
                  <a:srgbClr val="6E6E68"/>
                </a:solidFill>
              </a:rPr>
              <a:t>BroadcastHash или SortMerge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ACCE7AA-4BB6-4DCD-B5CE-07DF5AB79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133600"/>
            <a:ext cx="762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E25A1C"/>
                </a:solidFill>
              </a:defRPr>
            </a:pPr>
            <a:r>
              <a:rPr sz="3150" b="1">
                <a:solidFill>
                  <a:srgbClr val="E25A1C"/>
                </a:solidFill>
              </a:rPr>
              <a:t>04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D9538BD-4E63-4E0E-A4E0-DD2E80CD5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048000"/>
            <a:ext cx="23622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02123"/>
                </a:solidFill>
              </a:defRPr>
            </a:pPr>
            <a:r>
              <a:rPr sz="1575" b="1">
                <a:solidFill>
                  <a:srgbClr val="202123"/>
                </a:solidFill>
              </a:rPr>
              <a:t>Сверить partitions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BBD6D34-13F5-4109-BEB8-3B93A8AAF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171950"/>
            <a:ext cx="1809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0892D46-1C61-454B-AFD8-601BC2305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552950"/>
            <a:ext cx="23622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E6E68"/>
                </a:solidFill>
              </a:defRPr>
            </a:pPr>
            <a:r>
              <a:rPr sz="1500" b="0">
                <a:solidFill>
                  <a:srgbClr val="6E6E68"/>
                </a:solidFill>
              </a:rPr>
              <a:t>Оценить parallelism</a:t>
            </a:r>
          </a:p>
        </p:txBody>
      </p:sp>
    </p:spTree>
    <p:extLst>
      <p:ext uri="{BB962C8B-B14F-4D97-AF65-F5344CB8AC3E}">
        <p14:creationId xmlns:p14="http://schemas.microsoft.com/office/powerpoint/2010/main" val="1654178484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7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5FEB8DE-6313-44D7-BB3A-F743AED00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25A1C"/>
                </a:solidFill>
              </a:defRPr>
            </a:pPr>
            <a:r>
              <a:rPr sz="1050" b="1">
                <a:solidFill>
                  <a:srgbClr val="E25A1C"/>
                </a:solidFill>
              </a:rPr>
              <a:t>ПЛАН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55A0A8C-BA92-4F45-A9EE-AA8A47400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238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DE / MENTOR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AC164C6-DE15-4AB7-8E08-DAD037B88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FC01346-B071-421D-AE09-F27492286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31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93C7076-9C2A-4D4D-9E50-5CF018D5C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</a:defRPr>
            </a:pPr>
            <a:r>
              <a:rPr sz="2850" b="1">
                <a:solidFill>
                  <a:srgbClr val="202123"/>
                </a:solidFill>
              </a:rPr>
              <a:t>Exchange в physical plan — сигнал перераспределения данных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5DA9B59-5CAD-4A68-886B-87178960F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0250"/>
            <a:ext cx="7239000" cy="3571875"/>
          </a:xfrm>
          <a:prstGeom xmlns:a="http://schemas.openxmlformats.org/drawingml/2006/main" prst="roundRect">
            <a:avLst>
              <a:gd name="adj" fmla="val 2133"/>
            </a:avLst>
          </a:prstGeom>
          <a:solidFill xmlns:a="http://schemas.openxmlformats.org/drawingml/2006/main">
            <a:srgbClr val="1F24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2B9A598-6948-44CF-9B09-CBBF31915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266950"/>
            <a:ext cx="6743700" cy="30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E6EDF3"/>
                </a:solidFill>
              </a:defRPr>
            </a:pPr>
            <a:r>
              <a:rPr sz="1275" b="0">
                <a:solidFill>
                  <a:srgbClr val="E6EDF3"/>
                </a:solidFill>
              </a:rPr>
              <a:t>== Physical Plan ==</a:t>
            </a:r>
          </a:p>
          <a:p xmlns:a="http://schemas.openxmlformats.org/drawingml/2006/main">
            <a:pPr algn="l">
              <a:defRPr sz="1275" b="0">
                <a:solidFill>
                  <a:srgbClr val="E6EDF3"/>
                </a:solidFill>
              </a:defRPr>
            </a:pPr>
            <a:r>
              <a:rPr sz="1275" b="0">
                <a:solidFill>
                  <a:srgbClr val="E6EDF3"/>
                </a:solidFill>
              </a:rPr>
              <a:t>AdaptiveSparkPlan</a:t>
            </a:r>
          </a:p>
          <a:p xmlns:a="http://schemas.openxmlformats.org/drawingml/2006/main">
            <a:pPr algn="l">
              <a:defRPr sz="1275" b="0">
                <a:solidFill>
                  <a:srgbClr val="E6EDF3"/>
                </a:solidFill>
              </a:defRPr>
            </a:pPr>
            <a:r>
              <a:rPr sz="1275" b="0">
                <a:solidFill>
                  <a:srgbClr val="E6EDF3"/>
                </a:solidFill>
              </a:rPr>
              <a:t>+- HashAggregate</a:t>
            </a:r>
          </a:p>
          <a:p xmlns:a="http://schemas.openxmlformats.org/drawingml/2006/main">
            <a:pPr algn="l">
              <a:defRPr sz="1275" b="0">
                <a:solidFill>
                  <a:srgbClr val="E6EDF3"/>
                </a:solidFill>
              </a:defRPr>
            </a:pPr>
            <a:r>
              <a:rPr sz="1275" b="0">
                <a:solidFill>
                  <a:srgbClr val="E6EDF3"/>
                </a:solidFill>
              </a:rPr>
              <a:t>   +- Exchange hashpartitioning(event_date, country_name, 8)</a:t>
            </a:r>
          </a:p>
          <a:p xmlns:a="http://schemas.openxmlformats.org/drawingml/2006/main">
            <a:pPr algn="l">
              <a:defRPr sz="1275" b="0">
                <a:solidFill>
                  <a:srgbClr val="E6EDF3"/>
                </a:solidFill>
              </a:defRPr>
            </a:pPr>
            <a:r>
              <a:rPr sz="1275" b="0">
                <a:solidFill>
                  <a:srgbClr val="E6EDF3"/>
                </a:solidFill>
              </a:rPr>
              <a:t>      +- HashAggregate</a:t>
            </a:r>
          </a:p>
          <a:p xmlns:a="http://schemas.openxmlformats.org/drawingml/2006/main">
            <a:pPr algn="l">
              <a:defRPr sz="1275" b="0">
                <a:solidFill>
                  <a:srgbClr val="E6EDF3"/>
                </a:solidFill>
              </a:defRPr>
            </a:pPr>
            <a:r>
              <a:rPr sz="1275" b="0">
                <a:solidFill>
                  <a:srgbClr val="E6EDF3"/>
                </a:solidFill>
              </a:rPr>
              <a:t>         +- BroadcastHashJoin [country], [country], LeftOuter</a:t>
            </a:r>
          </a:p>
          <a:p xmlns:a="http://schemas.openxmlformats.org/drawingml/2006/main">
            <a:pPr algn="l">
              <a:defRPr sz="1275" b="0">
                <a:solidFill>
                  <a:srgbClr val="E6EDF3"/>
                </a:solidFill>
              </a:defRPr>
            </a:pPr>
            <a:r>
              <a:rPr sz="1275" b="0">
                <a:solidFill>
                  <a:srgbClr val="E6EDF3"/>
                </a:solidFill>
              </a:rPr>
              <a:t>            :- Filter (amount &gt; 0)</a:t>
            </a:r>
          </a:p>
          <a:p xmlns:a="http://schemas.openxmlformats.org/drawingml/2006/main">
            <a:pPr algn="l">
              <a:defRPr sz="1275" b="0">
                <a:solidFill>
                  <a:srgbClr val="E6EDF3"/>
                </a:solidFill>
              </a:defRPr>
            </a:pPr>
            <a:r>
              <a:rPr sz="1275" b="0">
                <a:solidFill>
                  <a:srgbClr val="E6EDF3"/>
                </a:solidFill>
              </a:rPr>
              <a:t>            +- BroadcastExchange HashedRelationBroadcastMode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E7A21BE-4A80-4C8B-8AC3-F1C83453D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266950"/>
            <a:ext cx="285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E25A1C"/>
                </a:solidFill>
              </a:defRPr>
            </a:pPr>
            <a:r>
              <a:rPr sz="1800" b="1">
                <a:solidFill>
                  <a:srgbClr val="E25A1C"/>
                </a:solidFill>
              </a:rPr>
              <a:t>Exchange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9BEDA27-553E-42B1-B035-E42FB6E98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009900"/>
            <a:ext cx="285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6FED"/>
                </a:solidFill>
              </a:defRPr>
            </a:pPr>
            <a:r>
              <a:rPr sz="1800" b="1">
                <a:solidFill>
                  <a:srgbClr val="2F6FED"/>
                </a:solidFill>
              </a:rPr>
              <a:t>BroadcastHashJoin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DB88430-044E-4867-B0C9-EF4409B2D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752850"/>
            <a:ext cx="285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6FED"/>
                </a:solidFill>
              </a:defRPr>
            </a:pPr>
            <a:r>
              <a:rPr sz="1800" b="1">
                <a:solidFill>
                  <a:srgbClr val="2F6FED"/>
                </a:solidFill>
              </a:rPr>
              <a:t>8 partitions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5559817-3ADF-497E-90C5-3406E26FC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648200"/>
            <a:ext cx="2952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E6E68"/>
                </a:solidFill>
              </a:defRPr>
            </a:pPr>
            <a:r>
              <a:rPr sz="1500" b="0">
                <a:solidFill>
                  <a:srgbClr val="6E6E68"/>
                </a:solidFill>
              </a:rPr>
              <a:t>План подтверждает один shuffle для aggregation и broadcast маленького справочника.</a:t>
            </a:r>
          </a:p>
        </p:txBody>
      </p:sp>
    </p:spTree>
    <p:extLst>
      <p:ext uri="{BB962C8B-B14F-4D97-AF65-F5344CB8AC3E}">
        <p14:creationId xmlns:p14="http://schemas.microsoft.com/office/powerpoint/2010/main" val="985473512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7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06B1D91-F242-464D-99C8-D03CB83B9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25A1C"/>
                </a:solidFill>
              </a:defRPr>
            </a:pPr>
            <a:r>
              <a:rPr sz="1050" b="1">
                <a:solidFill>
                  <a:srgbClr val="E25A1C"/>
                </a:solidFill>
              </a:rPr>
              <a:t>ЗАПИСЬ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443E807-42A0-4D0C-BC11-F5646313A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238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DE / MENTOR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40B4FEA-2EB2-4B23-85AA-597CB668B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7C434B8-5B76-4687-8AFA-699B92BE5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32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EE406CE-8007-4CF1-AECE-CCFB6B247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</a:defRPr>
            </a:pPr>
            <a:r>
              <a:rPr sz="2850" b="1">
                <a:solidFill>
                  <a:srgbClr val="202123"/>
                </a:solidFill>
              </a:rPr>
              <a:t>Action материализует план — формат сохраняет будущие возможности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6F863C4-6775-49EA-950B-AEC8EF864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4175" y="3105150"/>
            <a:ext cx="523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E25A1C"/>
                </a:solidFill>
              </a:defRPr>
            </a:pPr>
            <a:r>
              <a:rPr sz="2700" b="1">
                <a:solidFill>
                  <a:srgbClr val="E25A1C"/>
                </a:solidFill>
              </a:rPr>
              <a:t>→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CF45923-0B2D-4AAB-9C8E-7B750AB0A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76500"/>
            <a:ext cx="2190750" cy="17145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AB34B34-FE87-4AAF-8C9C-8A8B2250D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76550"/>
            <a:ext cx="17716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02123"/>
                </a:solidFill>
              </a:defRPr>
            </a:pPr>
            <a:r>
              <a:rPr sz="1875" b="1">
                <a:solidFill>
                  <a:srgbClr val="202123"/>
                </a:solidFill>
              </a:rPr>
              <a:t>plan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CBEF00B-A21C-4097-980A-5B4236DC2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476625"/>
            <a:ext cx="1771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оптимизирован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2983F2A-50AA-4E1D-B265-779191B18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6425" y="3105150"/>
            <a:ext cx="523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E25A1C"/>
                </a:solidFill>
              </a:defRPr>
            </a:pPr>
            <a:r>
              <a:rPr sz="2700" b="1">
                <a:solidFill>
                  <a:srgbClr val="E25A1C"/>
                </a:solidFill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BC090C-5B81-4DC4-B00A-B6DD3E6C3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476500"/>
            <a:ext cx="2190750" cy="17145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758048C-9690-47EA-A983-F135FEA06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876550"/>
            <a:ext cx="17716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02123"/>
                </a:solidFill>
              </a:defRPr>
            </a:pPr>
            <a:r>
              <a:rPr sz="1875" b="1">
                <a:solidFill>
                  <a:srgbClr val="202123"/>
                </a:solidFill>
              </a:rPr>
              <a:t>tasks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C4A119B-DC3C-483A-8598-8DAE554DA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476625"/>
            <a:ext cx="1771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выполнены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CCAD5F7-C906-41F3-91BD-7339B5D76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3105150"/>
            <a:ext cx="523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E25A1C"/>
                </a:solidFill>
              </a:defRPr>
            </a:pPr>
            <a:r>
              <a:rPr sz="2700" b="1">
                <a:solidFill>
                  <a:srgbClr val="E25A1C"/>
                </a:solidFill>
              </a:rPr>
              <a:t>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BDF64C0-635C-4816-9D1D-C7154BACC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476500"/>
            <a:ext cx="2190750" cy="17145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C73E475-39F3-4A50-81FF-2EF71718F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876550"/>
            <a:ext cx="17716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02123"/>
                </a:solidFill>
              </a:defRPr>
            </a:pPr>
            <a:r>
              <a:rPr sz="1875" b="1">
                <a:solidFill>
                  <a:srgbClr val="202123"/>
                </a:solidFill>
              </a:rPr>
              <a:t>Parquet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0D5CD30-48C5-452F-B2CA-E6C73FB78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476625"/>
            <a:ext cx="1771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columnar + schema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4F8A229-5705-4804-9212-BCD7E3CC8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2476500"/>
            <a:ext cx="2190750" cy="17145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1F24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D17E8C6-D6FF-4C06-9349-F1B4A09ED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2876550"/>
            <a:ext cx="17716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E25A1C"/>
                </a:solidFill>
              </a:defRPr>
            </a:pPr>
            <a:r>
              <a:rPr sz="1875" b="1">
                <a:solidFill>
                  <a:srgbClr val="E25A1C"/>
                </a:solidFill>
              </a:rPr>
              <a:t>catalog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8493DB6-78B3-4904-BFC7-8388DAE69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3476625"/>
            <a:ext cx="1771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данные доступны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E308420-13E1-4DFB-AC27-2AE489762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810125"/>
            <a:ext cx="10287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E25A1C"/>
                </a:solidFill>
              </a:defRPr>
            </a:pPr>
            <a:r>
              <a:rPr sz="1725" b="1">
                <a:solidFill>
                  <a:srgbClr val="E25A1C"/>
                </a:solidFill>
              </a:rPr>
              <a:t>Пишите partitioned output только по реально используемым фильтрам.</a:t>
            </a:r>
          </a:p>
        </p:txBody>
      </p:sp>
    </p:spTree>
    <p:extLst>
      <p:ext uri="{BB962C8B-B14F-4D97-AF65-F5344CB8AC3E}">
        <p14:creationId xmlns:p14="http://schemas.microsoft.com/office/powerpoint/2010/main" val="1431645978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7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2393C84-57EE-4F3D-8A00-24FC23622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25A1C"/>
                </a:solidFill>
              </a:defRPr>
            </a:pPr>
            <a:r>
              <a:rPr sz="1050" b="1">
                <a:solidFill>
                  <a:srgbClr val="E25A1C"/>
                </a:solidFill>
              </a:rPr>
              <a:t>НАБЛЮДАЕМОСТЬ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0554DD4-3E15-4C6E-8F9F-3E0EDC6AC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238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DE / MENTOR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6690C07-D6B2-4582-A267-957C3E43A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E3D994B-D736-4C33-BBCD-F75D2D0CF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33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24B390D-7037-43B7-98AE-25BE47EF6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</a:defRPr>
            </a:pPr>
            <a:r>
              <a:rPr sz="2850" b="1">
                <a:solidFill>
                  <a:srgbClr val="202123"/>
                </a:solidFill>
              </a:rPr>
              <a:t>Spark UI превращает “медленно” в проверяемую гипотезу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3742073-F4B6-48CE-AF8D-8B3D69E05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05050"/>
            <a:ext cx="2381250" cy="2381250"/>
          </a:xfrm>
          <a:prstGeom xmlns:a="http://schemas.openxmlformats.org/drawingml/2006/main" prst="roundRect">
            <a:avLst>
              <a:gd name="adj" fmla="val 32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DA4A9E4-D015-4E9F-99DA-63B7DC1A2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86050"/>
            <a:ext cx="1885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2F6FED"/>
                </a:solidFill>
              </a:defRPr>
            </a:pPr>
            <a:r>
              <a:rPr sz="2025" b="1">
                <a:solidFill>
                  <a:srgbClr val="2F6FED"/>
                </a:solidFill>
              </a:rPr>
              <a:t>Jobs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3BB492F-D125-48C7-98E7-7D6A2B887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429000"/>
            <a:ext cx="18859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6E6E68"/>
                </a:solidFill>
              </a:defRPr>
            </a:pPr>
            <a:r>
              <a:rPr sz="1500" b="0">
                <a:solidFill>
                  <a:srgbClr val="6E6E68"/>
                </a:solidFill>
              </a:rPr>
              <a:t>Какая action и где упала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36B5D3F-1560-4C24-9E00-53A4F7282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305050"/>
            <a:ext cx="2381250" cy="2381250"/>
          </a:xfrm>
          <a:prstGeom xmlns:a="http://schemas.openxmlformats.org/drawingml/2006/main" prst="roundRect">
            <a:avLst>
              <a:gd name="adj" fmla="val 32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58E1D6F-B7AA-4F1A-A90B-301B7B481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686050"/>
            <a:ext cx="1885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2F6FED"/>
                </a:solidFill>
              </a:defRPr>
            </a:pPr>
            <a:r>
              <a:rPr sz="2025" b="1">
                <a:solidFill>
                  <a:srgbClr val="2F6FED"/>
                </a:solidFill>
              </a:rPr>
              <a:t>Stages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034BD7D-4B1C-4119-AA0C-A2933226B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429000"/>
            <a:ext cx="18859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6E6E68"/>
                </a:solidFill>
              </a:defRPr>
            </a:pPr>
            <a:r>
              <a:rPr sz="1500" b="0">
                <a:solidFill>
                  <a:srgbClr val="6E6E68"/>
                </a:solidFill>
              </a:rPr>
              <a:t>Shuffle, skew, spill и stragglers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A9C0878-E9CB-42D1-B828-6FCB271CC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305050"/>
            <a:ext cx="2381250" cy="2381250"/>
          </a:xfrm>
          <a:prstGeom xmlns:a="http://schemas.openxmlformats.org/drawingml/2006/main" prst="roundRect">
            <a:avLst>
              <a:gd name="adj" fmla="val 3200"/>
            </a:avLst>
          </a:prstGeom>
          <a:solidFill xmlns:a="http://schemas.openxmlformats.org/drawingml/2006/main">
            <a:srgbClr val="1F24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2E4F6C0-3768-46B9-B15D-ED23DC9A6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686050"/>
            <a:ext cx="1885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E25A1C"/>
                </a:solidFill>
              </a:defRPr>
            </a:pPr>
            <a:r>
              <a:rPr sz="2025" b="1">
                <a:solidFill>
                  <a:srgbClr val="E25A1C"/>
                </a:solidFill>
              </a:rPr>
              <a:t>SQL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72CF003-B5C5-4F89-94D0-A2DD4D337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429000"/>
            <a:ext cx="18859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FFFFFF"/>
                </a:solidFill>
              </a:defRPr>
            </a:pPr>
            <a:r>
              <a:rPr sz="1500" b="0">
                <a:solidFill>
                  <a:srgbClr val="FFFFFF"/>
                </a:solidFill>
              </a:rPr>
              <a:t>План и метрики операторов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B149480-0D5D-4223-9A62-09FF43AC8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305050"/>
            <a:ext cx="2381250" cy="2381250"/>
          </a:xfrm>
          <a:prstGeom xmlns:a="http://schemas.openxmlformats.org/drawingml/2006/main" prst="roundRect">
            <a:avLst>
              <a:gd name="adj" fmla="val 32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22A056E-2680-4074-A638-2A63DDB10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686050"/>
            <a:ext cx="1885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2F6FED"/>
                </a:solidFill>
              </a:defRPr>
            </a:pPr>
            <a:r>
              <a:rPr sz="2025" b="1">
                <a:solidFill>
                  <a:srgbClr val="2F6FED"/>
                </a:solidFill>
              </a:rPr>
              <a:t>Executors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A3BCD47-7A6E-458D-9844-0935F2E09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3429000"/>
            <a:ext cx="18859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6E6E68"/>
                </a:solidFill>
              </a:defRPr>
            </a:pPr>
            <a:r>
              <a:rPr sz="1500" b="0">
                <a:solidFill>
                  <a:srgbClr val="6E6E68"/>
                </a:solidFill>
              </a:rPr>
              <a:t>Memory, GC, input и failed tasks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16124E5-C89E-4055-A6CA-B4D36DE89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191125"/>
            <a:ext cx="9906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E25A1C"/>
                </a:solidFill>
              </a:defRPr>
            </a:pPr>
            <a:r>
              <a:rPr sz="1650" b="1">
                <a:solidFill>
                  <a:srgbClr val="E25A1C"/>
                </a:solidFill>
              </a:rPr>
              <a:t>Начните со Stage с максимальной длительностью — затем сравните tasks.</a:t>
            </a:r>
          </a:p>
        </p:txBody>
      </p:sp>
    </p:spTree>
    <p:extLst>
      <p:ext uri="{BB962C8B-B14F-4D97-AF65-F5344CB8AC3E}">
        <p14:creationId xmlns:p14="http://schemas.microsoft.com/office/powerpoint/2010/main" val="776914818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7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8BDF357-A071-4732-A78B-C4C73E9D6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25A1C"/>
                </a:solidFill>
              </a:defRPr>
            </a:pPr>
            <a:r>
              <a:rPr sz="1050" b="1">
                <a:solidFill>
                  <a:srgbClr val="E25A1C"/>
                </a:solidFill>
              </a:rPr>
              <a:t>ИНЖЕНЕРНЫЙ МЕТОД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FD001BA-3D8F-4512-9F01-15B4FAE8F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238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DE / MENTOR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436CFD3-72EF-474F-8562-A0282E270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3F9A47A-FACF-4EB3-A4CC-9EE6386F1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34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EA75F44-1E49-42E4-9777-0F241B8A4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</a:defRPr>
            </a:pPr>
            <a:r>
              <a:rPr sz="2850" b="1">
                <a:solidFill>
                  <a:srgbClr val="202123"/>
                </a:solidFill>
              </a:rPr>
              <a:t>Хорошая диагностика связывает код, план и runtime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DD33805-CAFA-4115-947C-0DA843F16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33600"/>
            <a:ext cx="23622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E25A1C"/>
                </a:solidFill>
              </a:defRPr>
            </a:pPr>
            <a:r>
              <a:rPr sz="1950" b="1">
                <a:solidFill>
                  <a:srgbClr val="E25A1C"/>
                </a:solidFill>
              </a:rPr>
              <a:t>Код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35FF5E0-C436-43C3-B832-12F3DF54A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0"/>
            <a:ext cx="23622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02123"/>
                </a:solidFill>
              </a:defRPr>
            </a:pPr>
            <a:r>
              <a:rPr sz="1800" b="1">
                <a:solidFill>
                  <a:srgbClr val="202123"/>
                </a:solidFill>
              </a:rPr>
              <a:t>groupBy + join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3155FD5-0B48-4B2B-B274-9B15C84E1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71950"/>
            <a:ext cx="1809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E3B366D-FFE4-4FF8-BCDD-26BEE639F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52950"/>
            <a:ext cx="23622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E6E68"/>
                </a:solidFill>
              </a:defRPr>
            </a:pPr>
            <a:r>
              <a:rPr sz="1500" b="0">
                <a:solidFill>
                  <a:srgbClr val="6E6E68"/>
                </a:solidFill>
              </a:rPr>
              <a:t>Что мы попросили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B379A1E-D976-4C76-AC22-0A7A286A4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133600"/>
            <a:ext cx="23622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E25A1C"/>
                </a:solidFill>
              </a:defRPr>
            </a:pPr>
            <a:r>
              <a:rPr sz="1950" b="1">
                <a:solidFill>
                  <a:srgbClr val="E25A1C"/>
                </a:solidFill>
              </a:rPr>
              <a:t>План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C635806-A68F-4F2A-BBBF-C16018FD0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3048000"/>
            <a:ext cx="23622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02123"/>
                </a:solidFill>
              </a:defRPr>
            </a:pPr>
            <a:r>
              <a:rPr sz="1800" b="1">
                <a:solidFill>
                  <a:srgbClr val="202123"/>
                </a:solidFill>
              </a:rPr>
              <a:t>Exchange + join strategy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18DD6EE-DA9B-4A0D-94A4-96E0E9233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4171950"/>
            <a:ext cx="1809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F1D5169-541B-45B2-84CE-7E90D87C1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4552950"/>
            <a:ext cx="23622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E6E68"/>
                </a:solidFill>
              </a:defRPr>
            </a:pPr>
            <a:r>
              <a:rPr sz="1500" b="0">
                <a:solidFill>
                  <a:srgbClr val="6E6E68"/>
                </a:solidFill>
              </a:rPr>
              <a:t>Что выбрал optimizer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80BFD37-DF1B-4C96-9791-AF6623B05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133600"/>
            <a:ext cx="23622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E25A1C"/>
                </a:solidFill>
              </a:defRPr>
            </a:pPr>
            <a:r>
              <a:rPr sz="1950" b="1">
                <a:solidFill>
                  <a:srgbClr val="E25A1C"/>
                </a:solidFill>
              </a:rPr>
              <a:t>UI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6109CD0-31F1-4001-B334-15C6DEAC8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048000"/>
            <a:ext cx="23622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02123"/>
                </a:solidFill>
              </a:defRPr>
            </a:pPr>
            <a:r>
              <a:rPr sz="1800" b="1">
                <a:solidFill>
                  <a:srgbClr val="202123"/>
                </a:solidFill>
              </a:rPr>
              <a:t>shuffle read + task time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C715533-A63C-460F-BB09-B86AF0AB8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4171950"/>
            <a:ext cx="1809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6968A80-7504-46A5-B954-CE3DF498C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4552950"/>
            <a:ext cx="23622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E6E68"/>
                </a:solidFill>
              </a:defRPr>
            </a:pPr>
            <a:r>
              <a:rPr sz="1500" b="0">
                <a:solidFill>
                  <a:srgbClr val="6E6E68"/>
                </a:solidFill>
              </a:rPr>
              <a:t>Что произошло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66CC01C-0182-4E0B-AC67-8A8D32FE3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133600"/>
            <a:ext cx="23622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E25A1C"/>
                </a:solidFill>
              </a:defRPr>
            </a:pPr>
            <a:r>
              <a:rPr sz="1950" b="1">
                <a:solidFill>
                  <a:srgbClr val="E25A1C"/>
                </a:solidFill>
              </a:rPr>
              <a:t>Изменение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906B090-EFC9-4601-AD78-E73E4A414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048000"/>
            <a:ext cx="23622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02123"/>
                </a:solidFill>
              </a:defRPr>
            </a:pPr>
            <a:r>
              <a:rPr sz="1800" b="1">
                <a:solidFill>
                  <a:srgbClr val="202123"/>
                </a:solidFill>
              </a:rPr>
              <a:t>broadcast / repartition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CC2C948-64BC-4FF9-BF8C-4F2BEC673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171950"/>
            <a:ext cx="1809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158A0F9-3EE2-4F13-B66C-EFD18C890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552950"/>
            <a:ext cx="23622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E6E68"/>
                </a:solidFill>
              </a:defRPr>
            </a:pPr>
            <a:r>
              <a:rPr sz="1500" b="0">
                <a:solidFill>
                  <a:srgbClr val="6E6E68"/>
                </a:solidFill>
              </a:rPr>
              <a:t>Как проверим эффект</a:t>
            </a:r>
          </a:p>
        </p:txBody>
      </p:sp>
    </p:spTree>
    <p:extLst>
      <p:ext uri="{BB962C8B-B14F-4D97-AF65-F5344CB8AC3E}">
        <p14:creationId xmlns:p14="http://schemas.microsoft.com/office/powerpoint/2010/main" val="328176849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7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52803AC-D62E-4608-B656-0BDB4804B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25A1C"/>
                </a:solidFill>
              </a:defRPr>
            </a:pPr>
            <a:r>
              <a:rPr sz="1050" b="1">
                <a:solidFill>
                  <a:srgbClr val="E25A1C"/>
                </a:solidFill>
              </a:rPr>
              <a:t>CORE · 60 МИН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081EB4C-F98E-4CCF-8485-C5A672F18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238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DE / MENTOR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FA49A9F-D60F-4901-AB8B-2970EFA05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0CF6071-84CE-45BC-977D-68725004B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35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19709F-78F5-49C8-8B31-9695601F0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</a:defRPr>
            </a:pPr>
            <a:r>
              <a:rPr sz="2850" b="1">
                <a:solidFill>
                  <a:srgbClr val="202123"/>
                </a:solidFill>
              </a:rPr>
              <a:t>Выходной билет: объясните Spark без магии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0E8CDBA-DCEA-4078-A4EF-60D3B1E97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43125"/>
            <a:ext cx="666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E25A1C"/>
                </a:solidFill>
              </a:defRPr>
            </a:pPr>
            <a:r>
              <a:rPr sz="2325" b="1">
                <a:solidFill>
                  <a:srgbClr val="E25A1C"/>
                </a:solidFill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5E4635B-3248-40E1-93B8-70DAA9D87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2143125"/>
            <a:ext cx="42862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02123"/>
                </a:solidFill>
              </a:defRPr>
            </a:pPr>
            <a:r>
              <a:rPr sz="1725" b="1">
                <a:solidFill>
                  <a:srgbClr val="202123"/>
                </a:solidFill>
              </a:rPr>
              <a:t>Почему transformations не запускают вычисление?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13564FC-5FA4-4040-BEA3-B58C80750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143125"/>
            <a:ext cx="666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E25A1C"/>
                </a:solidFill>
              </a:defRPr>
            </a:pPr>
            <a:r>
              <a:rPr sz="2325" b="1">
                <a:solidFill>
                  <a:srgbClr val="E25A1C"/>
                </a:solidFill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7E350A3-A484-4066-8BF4-896B1BDAA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2143125"/>
            <a:ext cx="42862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02123"/>
                </a:solidFill>
              </a:defRPr>
            </a:pPr>
            <a:r>
              <a:rPr sz="1725" b="1">
                <a:solidFill>
                  <a:srgbClr val="202123"/>
                </a:solidFill>
              </a:rPr>
              <a:t>Что создаёт границу stage?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B7F1A4D-BE89-4BA1-8D38-071CE6C2F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14750"/>
            <a:ext cx="666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E25A1C"/>
                </a:solidFill>
              </a:defRPr>
            </a:pPr>
            <a:r>
              <a:rPr sz="2325" b="1">
                <a:solidFill>
                  <a:srgbClr val="E25A1C"/>
                </a:solidFill>
              </a:rPr>
              <a:t>03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D0881D5-D11A-4A3E-8790-986D0ABC5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3714750"/>
            <a:ext cx="42862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02123"/>
                </a:solidFill>
              </a:defRPr>
            </a:pPr>
            <a:r>
              <a:rPr sz="1725" b="1">
                <a:solidFill>
                  <a:srgbClr val="202123"/>
                </a:solidFill>
              </a:rPr>
              <a:t>Где увидеть фактическую join strategy?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A3CE0AF-15A3-4E9F-826B-F3A078BB6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714750"/>
            <a:ext cx="666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E25A1C"/>
                </a:solidFill>
              </a:defRPr>
            </a:pPr>
            <a:r>
              <a:rPr sz="2325" b="1">
                <a:solidFill>
                  <a:srgbClr val="E25A1C"/>
                </a:solidFill>
              </a:rPr>
              <a:t>04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1DAC2D1-18A9-496A-887B-4D0F58E62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3714750"/>
            <a:ext cx="42862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02123"/>
                </a:solidFill>
              </a:defRPr>
            </a:pPr>
            <a:r>
              <a:rPr sz="1725" b="1">
                <a:solidFill>
                  <a:srgbClr val="202123"/>
                </a:solidFill>
              </a:rPr>
              <a:t>Когда Spark — лишняя сложность?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353C7A7-F92E-4635-BF35-F459C6849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5381625"/>
            <a:ext cx="1000125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1F24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AB8CBF6-CAC5-4315-8E0F-13FA1AB18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534025"/>
            <a:ext cx="9429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Практика: запустить pipeline, сохранить explain и найти evidence в Spark UI.</a:t>
            </a:r>
          </a:p>
        </p:txBody>
      </p:sp>
    </p:spTree>
    <p:extLst>
      <p:ext uri="{BB962C8B-B14F-4D97-AF65-F5344CB8AC3E}">
        <p14:creationId xmlns:p14="http://schemas.microsoft.com/office/powerpoint/2010/main" val="1085672954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7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D7DF2CA-43C4-42BF-AAC6-D0CD3C9BE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4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3BDA8B7-A649-4553-B426-23ED3544C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572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E25A1C"/>
                </a:solidFill>
              </a:defRPr>
            </a:pPr>
            <a:r>
              <a:rPr sz="1275" b="1">
                <a:solidFill>
                  <a:srgbClr val="E25A1C"/>
                </a:solidFill>
              </a:rPr>
              <a:t>DEEP DIVE · +30 МИН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069A7A4-E752-4AB8-B584-0F578B63E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14500"/>
            <a:ext cx="1571625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16743E0-1591-4243-BE51-592C55974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24100"/>
            <a:ext cx="95250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FFFFFF"/>
                </a:solidFill>
              </a:defRPr>
            </a:pPr>
            <a:r>
              <a:rPr sz="4350" b="1">
                <a:solidFill>
                  <a:srgbClr val="FFFFFF"/>
                </a:solidFill>
              </a:rPr>
              <a:t>От API к физике выполнения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4E65C5F-FF23-4FD7-BBB6-CF0F25587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95750"/>
            <a:ext cx="8096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D6D9DC"/>
                </a:solidFill>
              </a:defRPr>
            </a:pPr>
            <a:r>
              <a:rPr sz="1875" b="0">
                <a:solidFill>
                  <a:srgbClr val="D6D9DC"/>
                </a:solidFill>
              </a:rPr>
              <a:t>Spark vs MapReduce на principal-уровне, затем Catalyst, shuffle, Python/JVM boundary, AQE и skew</a:t>
            </a:r>
          </a:p>
        </p:txBody>
      </p:sp>
    </p:spTree>
    <p:extLst>
      <p:ext uri="{BB962C8B-B14F-4D97-AF65-F5344CB8AC3E}">
        <p14:creationId xmlns:p14="http://schemas.microsoft.com/office/powerpoint/2010/main" val="2020440405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F7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92D37AC-604C-4521-A605-CD797B90F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F6FED"/>
                </a:solidFill>
              </a:defRPr>
            </a:pPr>
            <a:r>
              <a:rPr sz="1050" b="1">
                <a:solidFill>
                  <a:srgbClr val="2F6FED"/>
                </a:solidFill>
              </a:rPr>
              <a:t>SPARK vs MAPREDUCE · 4 УРОВНЯ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A0C30DC-BFDB-48C0-8C9C-45988E40C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238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DE / MENTOR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84EA4C5-C5FF-4A84-B2DD-324ABCA9A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60DE194-AC65-45A3-8597-25201E651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37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552C3DB-1EB8-4467-A725-BA62C3168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</a:defRPr>
            </a:pPr>
            <a:r>
              <a:rPr sz="2850" b="1">
                <a:solidFill>
                  <a:srgbClr val="202123"/>
                </a:solidFill>
              </a:rPr>
              <a:t>Одна разница — четыре глубины объяснения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1626ECA-0200-4958-8171-C5CDD3CF3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1762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6FED"/>
                </a:solidFill>
              </a:defRPr>
            </a:pPr>
            <a:r>
              <a:rPr sz="1875" b="1">
                <a:solidFill>
                  <a:srgbClr val="2F6FED"/>
                </a:solidFill>
              </a:rPr>
              <a:t>Обыватель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0F031B5-9768-4C2A-A625-05E1CF7E9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2095500"/>
            <a:ext cx="4095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02123"/>
                </a:solidFill>
              </a:defRPr>
            </a:pPr>
            <a:r>
              <a:rPr sz="1650" b="1">
                <a:solidFill>
                  <a:srgbClr val="202123"/>
                </a:solidFill>
              </a:rPr>
              <a:t>MapReduce убирает стол после каждого блюда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F089E29-4DDE-4E50-9F75-2D79D5994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095500"/>
            <a:ext cx="381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E6E68"/>
                </a:solidFill>
              </a:defRPr>
            </a:pPr>
            <a:r>
              <a:rPr sz="1500" b="0">
                <a:solidFill>
                  <a:srgbClr val="6E6E68"/>
                </a:solidFill>
              </a:rPr>
              <a:t>Spark может оставить нужные продукты рядом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8187E32-6DA5-419F-8A36-CEC3A2BE8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24150"/>
            <a:ext cx="10363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57CDFB4-3D3B-4E02-9864-7A2D5C76D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90850"/>
            <a:ext cx="1762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6FED"/>
                </a:solidFill>
              </a:defRPr>
            </a:pPr>
            <a:r>
              <a:rPr sz="1875" b="1">
                <a:solidFill>
                  <a:srgbClr val="2F6FED"/>
                </a:solidFill>
              </a:rPr>
              <a:t>Data Engineer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FF5EF7B-FE87-4D17-88C8-3AF500033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2990850"/>
            <a:ext cx="4095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02123"/>
                </a:solidFill>
              </a:defRPr>
            </a:pPr>
            <a:r>
              <a:rPr sz="1650" b="1">
                <a:solidFill>
                  <a:srgbClr val="202123"/>
                </a:solidFill>
              </a:rPr>
              <a:t>MR связывает jobs через materialized output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617E02F-BEDA-4AAE-A25A-D3B7BDEFC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990850"/>
            <a:ext cx="381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E6E68"/>
                </a:solidFill>
              </a:defRPr>
            </a:pPr>
            <a:r>
              <a:rPr sz="1500" b="0">
                <a:solidFill>
                  <a:srgbClr val="6E6E68"/>
                </a:solidFill>
              </a:rPr>
              <a:t>Spark планирует DAG и переиспользует datasets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16A9528-5F97-40C9-A31A-F597F3D0E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0"/>
            <a:ext cx="10363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9291856-223A-4FBB-A6AB-9F30F568B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86200"/>
            <a:ext cx="1762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6FED"/>
                </a:solidFill>
              </a:defRPr>
            </a:pPr>
            <a:r>
              <a:rPr sz="1875" b="1">
                <a:solidFill>
                  <a:srgbClr val="2F6FED"/>
                </a:solidFill>
              </a:rPr>
              <a:t>Senior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83C67F3-6E0F-44E3-A13F-C2A1A9AEB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3886200"/>
            <a:ext cx="4095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02123"/>
                </a:solidFill>
              </a:defRPr>
            </a:pPr>
            <a:r>
              <a:rPr sz="1650" b="1">
                <a:solidFill>
                  <a:srgbClr val="202123"/>
                </a:solidFill>
              </a:rPr>
              <a:t>MR оптимизирует fixed map/shuffle/reduce job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FFB0574-7A4E-4959-A6B9-CEB488BA0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886200"/>
            <a:ext cx="381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E6E68"/>
                </a:solidFill>
              </a:defRPr>
            </a:pPr>
            <a:r>
              <a:rPr sz="1500" b="0">
                <a:solidFill>
                  <a:srgbClr val="6E6E68"/>
                </a:solidFill>
              </a:rPr>
              <a:t>Spark делит DAG на stages по wide dependencies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BE74E78-1D16-4AD3-8B3D-21F12BDD4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14850"/>
            <a:ext cx="10363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DA7B547-7F1B-4309-BD6F-26F3D09D6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81550"/>
            <a:ext cx="1762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E25A1C"/>
                </a:solidFill>
              </a:defRPr>
            </a:pPr>
            <a:r>
              <a:rPr sz="1875" b="1">
                <a:solidFill>
                  <a:srgbClr val="E25A1C"/>
                </a:solidFill>
              </a:rPr>
              <a:t>Principal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32045E7-7856-4A3E-975D-3319F63F6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781550"/>
            <a:ext cx="4095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02123"/>
                </a:solidFill>
              </a:defRPr>
            </a:pPr>
            <a:r>
              <a:rPr sz="1650" b="1">
                <a:solidFill>
                  <a:srgbClr val="202123"/>
                </a:solidFill>
              </a:rPr>
              <a:t>Durable boundaries упрощают recovery, но растят I/O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E80C147-200D-43B4-800A-B4A8BD7AE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781550"/>
            <a:ext cx="381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E6E68"/>
                </a:solidFill>
              </a:defRPr>
            </a:pPr>
            <a:r>
              <a:rPr sz="1500" b="0">
                <a:solidFill>
                  <a:srgbClr val="6E6E68"/>
                </a:solidFill>
              </a:rPr>
              <a:t>Lineage, optimizer и runtime stats меняют cost model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B7B62F7-BE3E-4825-9344-7AA8BF5F5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10200"/>
            <a:ext cx="10363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1642854833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F7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98550F6-657B-4297-82DF-A9C40091A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F6FED"/>
                </a:solidFill>
              </a:defRPr>
            </a:pPr>
            <a:r>
              <a:rPr sz="1050" b="1">
                <a:solidFill>
                  <a:srgbClr val="2F6FED"/>
                </a:solidFill>
              </a:rPr>
              <a:t>АРХИТЕКТУРА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F220986-06B3-4141-86CD-A39CD53CF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238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DE / MENTOR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410E75C-5B61-4EFA-AD14-A2FA94A3A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C417759-CAA7-48A3-ACE4-09C7468CA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38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164F867-B602-4E85-BD1C-4CC6A65FD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</a:defRPr>
            </a:pPr>
            <a:r>
              <a:rPr sz="2850" b="1">
                <a:solidFill>
                  <a:srgbClr val="202123"/>
                </a:solidFill>
              </a:rPr>
              <a:t>MapReduce оркестрирует job; Spark driver оркестрирует application DAG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F9EB994-2D45-43E2-8C61-DC1D45DD5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812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E6E68"/>
                </a:solidFill>
              </a:defRPr>
            </a:pPr>
            <a:r>
              <a:rPr sz="1200" b="1">
                <a:solidFill>
                  <a:srgbClr val="6E6E68"/>
                </a:solidFill>
              </a:rPr>
              <a:t>HADOOP MAPREDUCE ON YARN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86CAE10-E271-4BC0-8FDA-6C9FB376B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895600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E25A1C"/>
                </a:solidFill>
              </a:defRPr>
            </a:pPr>
            <a:r>
              <a:rPr sz="1650" b="1">
                <a:solidFill>
                  <a:srgbClr val="E25A1C"/>
                </a:solidFill>
              </a:rPr>
              <a:t>↓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315D8B2-0866-489E-81CD-54A8231A3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3657600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E25A1C"/>
                </a:solidFill>
              </a:defRPr>
            </a:pPr>
            <a:r>
              <a:rPr sz="1650" b="1">
                <a:solidFill>
                  <a:srgbClr val="E25A1C"/>
                </a:solidFill>
              </a:rPr>
              <a:t>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443393C-1646-41AE-9D5B-603EA6075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4419600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E25A1C"/>
                </a:solidFill>
              </a:defRPr>
            </a:pPr>
            <a:r>
              <a:rPr sz="1650" b="1">
                <a:solidFill>
                  <a:srgbClr val="E25A1C"/>
                </a:solidFill>
              </a:rPr>
              <a:t>↓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C288BDB-16D6-45DA-BCFA-C13A67F76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43150"/>
            <a:ext cx="47625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C593CCF-717D-4EB7-879A-94FBB6273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4955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</a:defRPr>
            </a:pPr>
            <a:r>
              <a:rPr sz="1500" b="1">
                <a:solidFill>
                  <a:srgbClr val="202123"/>
                </a:solidFill>
              </a:rPr>
              <a:t>Client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D7C2FE2-3437-440A-9A65-C6B9A6121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495550"/>
            <a:ext cx="2428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275" b="0">
                <a:solidFill>
                  <a:srgbClr val="6E6E68"/>
                </a:solidFill>
              </a:defRPr>
            </a:pPr>
            <a:r>
              <a:rPr sz="1275" b="0">
                <a:solidFill>
                  <a:srgbClr val="6E6E68"/>
                </a:solidFill>
              </a:rPr>
              <a:t>job config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9D6FCE7-EF84-473B-B031-3B885306C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05150"/>
            <a:ext cx="47625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F331814-680C-4E9D-B5B2-88E8BD8CC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2575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</a:defRPr>
            </a:pPr>
            <a:r>
              <a:rPr sz="1500" b="1">
                <a:solidFill>
                  <a:srgbClr val="202123"/>
                </a:solidFill>
              </a:rPr>
              <a:t>MRAppMaster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72F1766-9A05-459A-B412-A4664525C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3257550"/>
            <a:ext cx="2428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275" b="0">
                <a:solidFill>
                  <a:srgbClr val="6E6E68"/>
                </a:solidFill>
              </a:defRPr>
            </a:pPr>
            <a:r>
              <a:rPr sz="1275" b="0">
                <a:solidFill>
                  <a:srgbClr val="6E6E68"/>
                </a:solidFill>
              </a:rPr>
              <a:t>map/reduce scheduling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85A9BF4-1118-484E-8545-C6F5EF3B4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67150"/>
            <a:ext cx="47625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DE309A4-7C64-4046-A6B9-534BE6E7D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0195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</a:defRPr>
            </a:pPr>
            <a:r>
              <a:rPr sz="1500" b="1">
                <a:solidFill>
                  <a:srgbClr val="202123"/>
                </a:solidFill>
              </a:rPr>
              <a:t>Map → Shuffle → Reduce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7F90D8B-79E6-44AE-BAED-00188A3F7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4019550"/>
            <a:ext cx="2428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275" b="0">
                <a:solidFill>
                  <a:srgbClr val="6E6E68"/>
                </a:solidFill>
              </a:defRPr>
            </a:pPr>
            <a:r>
              <a:rPr sz="1275" b="0">
                <a:solidFill>
                  <a:srgbClr val="6E6E68"/>
                </a:solidFill>
              </a:rPr>
              <a:t>containers + retries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C3B47BD-B1D1-4E01-BA3C-8BA92B5CE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29150"/>
            <a:ext cx="47625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1F24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F30E404-1955-471B-A9BC-0F98E8302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7815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E25A1C"/>
                </a:solidFill>
              </a:defRPr>
            </a:pPr>
            <a:r>
              <a:rPr sz="1500" b="1">
                <a:solidFill>
                  <a:srgbClr val="E25A1C"/>
                </a:solidFill>
              </a:rPr>
              <a:t>HDFS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7658687-BA32-43FB-9DB7-4D150ADB1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4781550"/>
            <a:ext cx="2428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275" b="0">
                <a:solidFill>
                  <a:srgbClr val="FFFFFF"/>
                </a:solidFill>
              </a:defRPr>
            </a:pPr>
            <a:r>
              <a:rPr sz="1275" b="0">
                <a:solidFill>
                  <a:srgbClr val="FFFFFF"/>
                </a:solidFill>
              </a:rPr>
              <a:t>input / durable output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F4C04BD-9AC7-410D-AC5F-66C1FBFBA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9812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E25A1C"/>
                </a:solidFill>
              </a:defRPr>
            </a:pPr>
            <a:r>
              <a:rPr sz="1200" b="1">
                <a:solidFill>
                  <a:srgbClr val="E25A1C"/>
                </a:solidFill>
              </a:rPr>
              <a:t>SPARK APPLICATION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89FA8F1-77FE-4BB7-8A36-5FDBD7AB8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895600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E25A1C"/>
                </a:solidFill>
              </a:defRPr>
            </a:pPr>
            <a:r>
              <a:rPr sz="1650" b="1">
                <a:solidFill>
                  <a:srgbClr val="E25A1C"/>
                </a:solidFill>
              </a:rPr>
              <a:t>↓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20E876F-366A-4D4A-B4AF-6120739DD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657600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E25A1C"/>
                </a:solidFill>
              </a:defRPr>
            </a:pPr>
            <a:r>
              <a:rPr sz="1650" b="1">
                <a:solidFill>
                  <a:srgbClr val="E25A1C"/>
                </a:solidFill>
              </a:rPr>
              <a:t>↓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DEC1780-96FC-4B91-915C-00F30E921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4419600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E25A1C"/>
                </a:solidFill>
              </a:defRPr>
            </a:pPr>
            <a:r>
              <a:rPr sz="1650" b="1">
                <a:solidFill>
                  <a:srgbClr val="E25A1C"/>
                </a:solidFill>
              </a:rPr>
              <a:t>↓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20742A0-4249-40E0-98DB-1227483BD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343150"/>
            <a:ext cx="47625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4FC11FB-00CB-478E-9C1D-1392DEEE4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4955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</a:defRPr>
            </a:pPr>
            <a:r>
              <a:rPr sz="1500" b="1">
                <a:solidFill>
                  <a:srgbClr val="202123"/>
                </a:solidFill>
              </a:rPr>
              <a:t>Driver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E3FC4AD-C633-40C2-816B-1854C64A4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495550"/>
            <a:ext cx="2428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275" b="0">
                <a:solidFill>
                  <a:srgbClr val="6E6E68"/>
                </a:solidFill>
              </a:defRPr>
            </a:pPr>
            <a:r>
              <a:rPr sz="1275" b="0">
                <a:solidFill>
                  <a:srgbClr val="6E6E68"/>
                </a:solidFill>
              </a:rPr>
              <a:t>logical + physical plan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6D6AE07-453A-4579-B5E5-CB55070E3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105150"/>
            <a:ext cx="47625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A5AB25C-AC33-45A6-A3C1-64D3CEF78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2575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</a:defRPr>
            </a:pPr>
            <a:r>
              <a:rPr sz="1500" b="1">
                <a:solidFill>
                  <a:srgbClr val="202123"/>
                </a:solidFill>
              </a:rPr>
              <a:t>DAGScheduler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42FA967-5886-48F6-8619-C0829711F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257550"/>
            <a:ext cx="2428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275" b="0">
                <a:solidFill>
                  <a:srgbClr val="6E6E68"/>
                </a:solidFill>
              </a:defRPr>
            </a:pPr>
            <a:r>
              <a:rPr sz="1275" b="0">
                <a:solidFill>
                  <a:srgbClr val="6E6E68"/>
                </a:solidFill>
              </a:rPr>
              <a:t>jobs → stages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F313883-F10B-491F-8DB0-FEB870E98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867150"/>
            <a:ext cx="47625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56BD03C-740C-4554-94C6-E7DD2F3CF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0195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</a:defRPr>
            </a:pPr>
            <a:r>
              <a:rPr sz="1500" b="1">
                <a:solidFill>
                  <a:srgbClr val="202123"/>
                </a:solidFill>
              </a:rPr>
              <a:t>Executors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C3BC9CE-B558-4DE2-96CB-479768E7F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4019550"/>
            <a:ext cx="2428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275" b="0">
                <a:solidFill>
                  <a:srgbClr val="6E6E68"/>
                </a:solidFill>
              </a:defRPr>
            </a:pPr>
            <a:r>
              <a:rPr sz="1275" b="0">
                <a:solidFill>
                  <a:srgbClr val="6E6E68"/>
                </a:solidFill>
              </a:rPr>
              <a:t>tasks + cache + shuffle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9613BD4-7A08-4C9A-B5D5-3EEE07972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629150"/>
            <a:ext cx="47625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1F24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F6F0554-0B28-4D50-8DC4-CC5CF2027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7815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E25A1C"/>
                </a:solidFill>
              </a:defRPr>
            </a:pPr>
            <a:r>
              <a:rPr sz="1500" b="1">
                <a:solidFill>
                  <a:srgbClr val="E25A1C"/>
                </a:solidFill>
              </a:rPr>
              <a:t>Storage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9147D1A-1FDB-4737-8E6D-49CBBA49E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4781550"/>
            <a:ext cx="2428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275" b="0">
                <a:solidFill>
                  <a:srgbClr val="FFFFFF"/>
                </a:solidFill>
              </a:defRPr>
            </a:pPr>
            <a:r>
              <a:rPr sz="1275" b="0">
                <a:solidFill>
                  <a:srgbClr val="FFFFFF"/>
                </a:solidFill>
              </a:rPr>
              <a:t>input / output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DB4CA54-4A86-4DC8-BA6B-BD16349E4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1952625"/>
            <a:ext cx="19050" cy="3619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D4E41F7-7A85-45E8-AC4D-850528F86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619750"/>
            <a:ext cx="103632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E25A1C"/>
                </a:solidFill>
              </a:defRPr>
            </a:pPr>
            <a:r>
              <a:rPr sz="1500" b="1">
                <a:solidFill>
                  <a:srgbClr val="E25A1C"/>
                </a:solidFill>
              </a:rPr>
              <a:t>Cluster manager выдаёт ресурсы в обоих случаях; модель планирования и границы materialization различаются.</a:t>
            </a:r>
          </a:p>
        </p:txBody>
      </p:sp>
    </p:spTree>
    <p:extLst>
      <p:ext uri="{BB962C8B-B14F-4D97-AF65-F5344CB8AC3E}">
        <p14:creationId xmlns:p14="http://schemas.microsoft.com/office/powerpoint/2010/main" val="769197160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F7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7F2A0E0F-10C6-4CBC-8F89-694B9648B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F6FED"/>
                </a:solidFill>
              </a:defRPr>
            </a:pPr>
            <a:r>
              <a:rPr sz="1050" b="1">
                <a:solidFill>
                  <a:srgbClr val="2F6FED"/>
                </a:solidFill>
              </a:rPr>
              <a:t>PIPELINE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A94B57B-51DD-4F4A-8DC8-CF1667C1C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238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DE / MENTOR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6CAE9D9-862B-458B-9912-FCEFDF299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7EB769D-6543-4F30-8AF6-1AD531E3C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39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C0E2F5-67AD-4D0F-BE50-4EACF08F9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</a:defRPr>
            </a:pPr>
            <a:r>
              <a:rPr sz="2850" b="1">
                <a:solidFill>
                  <a:srgbClr val="202123"/>
                </a:solidFill>
              </a:rPr>
              <a:t>На многошаговом пайплайне Spark убирает лишние durable boundaries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4732D6B-ECEE-43A8-B7D5-0735CC7E4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81200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6E6E68"/>
                </a:solidFill>
              </a:defRPr>
            </a:pPr>
            <a:r>
              <a:rPr sz="1275" b="1">
                <a:solidFill>
                  <a:srgbClr val="6E6E68"/>
                </a:solidFill>
              </a:rPr>
              <a:t>3 MAPREDUCE JOBS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974A4D6-DEAA-4896-9177-166A41413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628900"/>
            <a:ext cx="438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E25A1C"/>
                </a:solidFill>
              </a:defRPr>
            </a:pPr>
            <a:r>
              <a:rPr sz="1800" b="1">
                <a:solidFill>
                  <a:srgbClr val="E25A1C"/>
                </a:solidFill>
              </a:rPr>
              <a:t>→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C28EA05-CF71-4662-B1FC-D9A76EB38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38400"/>
            <a:ext cx="106680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CE510BF-2384-413D-8BD2-B6F1D6221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38425"/>
            <a:ext cx="914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202123"/>
                </a:solidFill>
              </a:defRPr>
            </a:pPr>
            <a:r>
              <a:rPr sz="1200" b="1">
                <a:solidFill>
                  <a:srgbClr val="202123"/>
                </a:solidFill>
              </a:rPr>
              <a:t>read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E1391C2-93E2-4538-BCE6-39B929680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628900"/>
            <a:ext cx="438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E25A1C"/>
                </a:solidFill>
              </a:defRPr>
            </a:pPr>
            <a:r>
              <a:rPr sz="1800" b="1">
                <a:solidFill>
                  <a:srgbClr val="E25A1C"/>
                </a:solidFill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B8712E0-0561-4049-B81C-532C2EFD4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2438400"/>
            <a:ext cx="106680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BF2763B-B614-4613-BB0A-127EE9093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2638425"/>
            <a:ext cx="914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202123"/>
                </a:solidFill>
              </a:defRPr>
            </a:pPr>
            <a:r>
              <a:rPr sz="1200" b="1">
                <a:solidFill>
                  <a:srgbClr val="202123"/>
                </a:solidFill>
              </a:rPr>
              <a:t>job 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6922F39-F54F-4E3F-8221-C332B3730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628900"/>
            <a:ext cx="438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E25A1C"/>
                </a:solidFill>
              </a:defRPr>
            </a:pPr>
            <a:r>
              <a:rPr sz="1800" b="1">
                <a:solidFill>
                  <a:srgbClr val="E25A1C"/>
                </a:solidFill>
              </a:rPr>
              <a:t>→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B11B69A-9CFB-4677-81AC-6AC8FD850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2438400"/>
            <a:ext cx="106680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1F24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6E0446C-FFA4-4839-9F83-A5B3FE92F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638425"/>
            <a:ext cx="914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E25A1C"/>
                </a:solidFill>
              </a:defRPr>
            </a:pPr>
            <a:r>
              <a:rPr sz="1200" b="1">
                <a:solidFill>
                  <a:srgbClr val="E25A1C"/>
                </a:solidFill>
              </a:rPr>
              <a:t>HDFS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E78A8E0-626F-4E0B-9110-27716FA89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628900"/>
            <a:ext cx="438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E25A1C"/>
                </a:solidFill>
              </a:defRPr>
            </a:pPr>
            <a:r>
              <a:rPr sz="1800" b="1">
                <a:solidFill>
                  <a:srgbClr val="E25A1C"/>
                </a:solidFill>
              </a:rPr>
              <a:t>→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1F1AE45-D353-4F84-BB31-058441D57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2438400"/>
            <a:ext cx="106680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4AE9FE2-596E-429A-A06C-03EF8D519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2638425"/>
            <a:ext cx="914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202123"/>
                </a:solidFill>
              </a:defRPr>
            </a:pPr>
            <a:r>
              <a:rPr sz="1200" b="1">
                <a:solidFill>
                  <a:srgbClr val="202123"/>
                </a:solidFill>
              </a:rPr>
              <a:t>job 2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34D71CD-1154-4D86-9EF9-0B7D9F1C2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628900"/>
            <a:ext cx="438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E25A1C"/>
                </a:solidFill>
              </a:defRPr>
            </a:pPr>
            <a:r>
              <a:rPr sz="1800" b="1">
                <a:solidFill>
                  <a:srgbClr val="E25A1C"/>
                </a:solidFill>
              </a:rPr>
              <a:t>→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B008FBC-095E-4502-B875-3356D047F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438400"/>
            <a:ext cx="106680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1F24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73479BC-5BBD-4FD2-B946-F320F0F1B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638425"/>
            <a:ext cx="914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E25A1C"/>
                </a:solidFill>
              </a:defRPr>
            </a:pPr>
            <a:r>
              <a:rPr sz="1200" b="1">
                <a:solidFill>
                  <a:srgbClr val="E25A1C"/>
                </a:solidFill>
              </a:rPr>
              <a:t>HDFS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3C1B844-CF94-4ECD-A372-CBFA5607C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628900"/>
            <a:ext cx="438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E25A1C"/>
                </a:solidFill>
              </a:defRPr>
            </a:pPr>
            <a:r>
              <a:rPr sz="1800" b="1">
                <a:solidFill>
                  <a:srgbClr val="E25A1C"/>
                </a:solidFill>
              </a:rPr>
              <a:t>→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3331C7E-E293-4734-83C4-8F09C8C4D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438400"/>
            <a:ext cx="106680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BD1C357-9B44-49CF-B74C-647398127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638425"/>
            <a:ext cx="914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202123"/>
                </a:solidFill>
              </a:defRPr>
            </a:pPr>
            <a:r>
              <a:rPr sz="1200" b="1">
                <a:solidFill>
                  <a:srgbClr val="202123"/>
                </a:solidFill>
              </a:rPr>
              <a:t>job 3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0417ACF-FF34-4025-BD0C-1EF79DBF0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2438400"/>
            <a:ext cx="106680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9DC6B1B-4337-4F5A-B257-2AA1FDEE4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2638425"/>
            <a:ext cx="914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202123"/>
                </a:solidFill>
              </a:defRPr>
            </a:pPr>
            <a:r>
              <a:rPr sz="1200" b="1">
                <a:solidFill>
                  <a:srgbClr val="202123"/>
                </a:solidFill>
              </a:rPr>
              <a:t>write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A331B16-F948-4D3A-9492-E1430B0A1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57550"/>
            <a:ext cx="1047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E6E68"/>
                </a:solidFill>
              </a:defRPr>
            </a:pPr>
            <a:r>
              <a:rPr sz="1275" b="0">
                <a:solidFill>
                  <a:srgbClr val="6E6E68"/>
                </a:solidFill>
              </a:rPr>
              <a:t>Каждый job завершает контракт durable output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EA71821-5F85-4992-BD74-8256BD2E7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14750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E25A1C"/>
                </a:solidFill>
              </a:defRPr>
            </a:pPr>
            <a:r>
              <a:rPr sz="1275" b="1">
                <a:solidFill>
                  <a:srgbClr val="E25A1C"/>
                </a:solidFill>
              </a:rPr>
              <a:t>1 SPARK DAG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3831DC5-3F43-4323-BED7-8F4E8A598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362450"/>
            <a:ext cx="438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E25A1C"/>
                </a:solidFill>
              </a:defRPr>
            </a:pPr>
            <a:r>
              <a:rPr sz="1800" b="1">
                <a:solidFill>
                  <a:srgbClr val="E25A1C"/>
                </a:solidFill>
              </a:rPr>
              <a:t>→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C1A882E-D7CE-4F9B-A9E9-505F0558E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71950"/>
            <a:ext cx="106680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168BC35-CD2B-4381-BFBA-9E9A04E01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371975"/>
            <a:ext cx="914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202123"/>
                </a:solidFill>
              </a:defRPr>
            </a:pPr>
            <a:r>
              <a:rPr sz="1200" b="1">
                <a:solidFill>
                  <a:srgbClr val="202123"/>
                </a:solidFill>
              </a:rPr>
              <a:t>read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FD4A25A-F619-47F3-B1CC-2FD84F4E5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4362450"/>
            <a:ext cx="438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E25A1C"/>
                </a:solidFill>
              </a:defRPr>
            </a:pPr>
            <a:r>
              <a:rPr sz="1800" b="1">
                <a:solidFill>
                  <a:srgbClr val="E25A1C"/>
                </a:solidFill>
              </a:rPr>
              <a:t>→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C015210-866D-47DC-A6CC-FD23FC596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4171950"/>
            <a:ext cx="106680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6425B8D-8ED4-41E5-A4CB-710D4C36F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4371975"/>
            <a:ext cx="914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202123"/>
                </a:solidFill>
              </a:defRPr>
            </a:pPr>
            <a:r>
              <a:rPr sz="1200" b="1">
                <a:solidFill>
                  <a:srgbClr val="202123"/>
                </a:solidFill>
              </a:rPr>
              <a:t>stage 1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BCFF4CD-8760-4BF9-8D3F-30EF4EBB2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362450"/>
            <a:ext cx="438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E25A1C"/>
                </a:solidFill>
              </a:defRPr>
            </a:pPr>
            <a:r>
              <a:rPr sz="1800" b="1">
                <a:solidFill>
                  <a:srgbClr val="E25A1C"/>
                </a:solidFill>
              </a:rPr>
              <a:t>→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7830B0C-3298-4E16-821E-07D268D27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4171950"/>
            <a:ext cx="106680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1F24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9E0555F-A171-4D38-A4ED-C202617B8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4371975"/>
            <a:ext cx="914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E25A1C"/>
                </a:solidFill>
              </a:defRPr>
            </a:pPr>
            <a:r>
              <a:rPr sz="1200" b="1">
                <a:solidFill>
                  <a:srgbClr val="E25A1C"/>
                </a:solidFill>
              </a:rPr>
              <a:t>shuffle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ACCE2D6-C317-41A6-8D19-56134F6C8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362450"/>
            <a:ext cx="438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E25A1C"/>
                </a:solidFill>
              </a:defRPr>
            </a:pPr>
            <a:r>
              <a:rPr sz="1800" b="1">
                <a:solidFill>
                  <a:srgbClr val="E25A1C"/>
                </a:solidFill>
              </a:rPr>
              <a:t>→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4271E81-7C39-4121-81FE-AEF3244EA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4171950"/>
            <a:ext cx="106680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ABE07E8-9BB3-49C1-9BFC-44FE5EC1C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4371975"/>
            <a:ext cx="914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202123"/>
                </a:solidFill>
              </a:defRPr>
            </a:pPr>
            <a:r>
              <a:rPr sz="1200" b="1">
                <a:solidFill>
                  <a:srgbClr val="202123"/>
                </a:solidFill>
              </a:rPr>
              <a:t>stage 2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A6EA800-8A78-4071-A59A-F2018FD99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4362450"/>
            <a:ext cx="438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E25A1C"/>
                </a:solidFill>
              </a:defRPr>
            </a:pPr>
            <a:r>
              <a:rPr sz="1800" b="1">
                <a:solidFill>
                  <a:srgbClr val="E25A1C"/>
                </a:solidFill>
              </a:rPr>
              <a:t>→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99F5DAF6-4EB8-4D86-8028-0CD45A24A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171950"/>
            <a:ext cx="106680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1F24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313412B-898F-45EC-9C30-CBB6816DB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371975"/>
            <a:ext cx="914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E25A1C"/>
                </a:solidFill>
              </a:defRPr>
            </a:pPr>
            <a:r>
              <a:rPr sz="1200" b="1">
                <a:solidFill>
                  <a:srgbClr val="E25A1C"/>
                </a:solidFill>
              </a:rPr>
              <a:t>shuffle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534D868D-E93B-49BE-868E-98F83A6AA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4362450"/>
            <a:ext cx="438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E25A1C"/>
                </a:solidFill>
              </a:defRPr>
            </a:pPr>
            <a:r>
              <a:rPr sz="1800" b="1">
                <a:solidFill>
                  <a:srgbClr val="E25A1C"/>
                </a:solidFill>
              </a:rPr>
              <a:t>→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ED96F330-8402-490A-B708-267D5FDBB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4171950"/>
            <a:ext cx="106680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F02AB1DB-96E3-4FDD-8FDB-3F5610115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371975"/>
            <a:ext cx="914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202123"/>
                </a:solidFill>
              </a:defRPr>
            </a:pPr>
            <a:r>
              <a:rPr sz="1200" b="1">
                <a:solidFill>
                  <a:srgbClr val="202123"/>
                </a:solidFill>
              </a:rPr>
              <a:t>stage 3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8DD9DF5F-018A-4C4A-9046-B5AAF79C5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4171950"/>
            <a:ext cx="106680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466D2BD0-877C-4159-BB78-7C1C14746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4371975"/>
            <a:ext cx="914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202123"/>
                </a:solidFill>
              </a:defRPr>
            </a:pPr>
            <a:r>
              <a:rPr sz="1200" b="1">
                <a:solidFill>
                  <a:srgbClr val="202123"/>
                </a:solidFill>
              </a:rPr>
              <a:t>write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4C4A448E-20FD-408C-A393-6AA216E72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91100"/>
            <a:ext cx="1047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E6E68"/>
                </a:solidFill>
              </a:defRPr>
            </a:pPr>
            <a:r>
              <a:rPr sz="1275" b="0">
                <a:solidFill>
                  <a:srgbClr val="6E6E68"/>
                </a:solidFill>
              </a:rPr>
              <a:t>Materialization — только где её требует wide dependency или контракт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8E95E4BE-8591-4181-8B08-33402A2FB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810250"/>
            <a:ext cx="10363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E25A1C"/>
                </a:solidFill>
              </a:defRPr>
            </a:pPr>
            <a:r>
              <a:rPr sz="1500" b="1">
                <a:solidFill>
                  <a:srgbClr val="E25A1C"/>
                </a:solidFill>
              </a:rPr>
              <a:t>Разница максимальна при итерациях и reuse; минимальна в одном I/O-bound scan → aggregate → write.</a:t>
            </a:r>
          </a:p>
        </p:txBody>
      </p:sp>
    </p:spTree>
    <p:extLst>
      <p:ext uri="{BB962C8B-B14F-4D97-AF65-F5344CB8AC3E}">
        <p14:creationId xmlns:p14="http://schemas.microsoft.com/office/powerpoint/2010/main" val="1795698765"/>
      </p:ext>
    </p:extLst>
  </p:cSld>
</p:sld>
</file>

<file path=ppt/slides/slide40.xml><?xml version="1.0" encoding="utf-8"?>
<p:sld xmlns:p="http://schemas.openxmlformats.org/presentationml/2006/main">
  <p:cSld>
    <p:bg>
      <p:bgPr>
        <a:solidFill xmlns:a="http://schemas.openxmlformats.org/drawingml/2006/main">
          <a:srgbClr val="F7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FF841DE-5C28-4816-9477-F767DB0AF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F6FED"/>
                </a:solidFill>
              </a:defRPr>
            </a:pPr>
            <a:r>
              <a:rPr sz="1050" b="1">
                <a:solidFill>
                  <a:srgbClr val="2F6FED"/>
                </a:solidFill>
              </a:rPr>
              <a:t>FAULT TOLERANCE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9DD594A-3531-47C1-94E3-15E9ED1F2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238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DE / MENTOR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3C072C0-EB99-4A25-9D93-993B3D037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CB67D60-DC3F-4EE4-8C09-0284E7E87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40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5754C0A-750E-4803-95BD-430D69896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</a:defRPr>
            </a:pPr>
            <a:r>
              <a:rPr sz="2850" b="1">
                <a:solidFill>
                  <a:srgbClr val="202123"/>
                </a:solidFill>
              </a:rPr>
              <a:t>Оба engine повторяют tasks — различается цена восстановления промежуточного состояния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8298E72-23D5-41F3-9BEB-167499C7C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14550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E6E68"/>
                </a:solidFill>
              </a:defRPr>
            </a:pPr>
            <a:r>
              <a:rPr sz="1200" b="1">
                <a:solidFill>
                  <a:srgbClr val="6E6E68"/>
                </a:solidFill>
              </a:rPr>
              <a:t>MAPREDUCE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56A60DC-FAD6-41F2-8EC8-7314F579B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47950"/>
            <a:ext cx="4762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F2428"/>
                </a:solidFill>
              </a:defRPr>
            </a:pPr>
            <a:r>
              <a:rPr sz="2325" b="1">
                <a:solidFill>
                  <a:srgbClr val="1F2428"/>
                </a:solidFill>
              </a:rPr>
              <a:t>Recovery через materialized boundaries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84D078E-DEC9-4D4E-9B54-696478849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671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9431940-CA68-45DD-A664-ED5DD20B6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781425"/>
            <a:ext cx="4495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02123"/>
                </a:solidFill>
              </a:defRPr>
            </a:pPr>
            <a:r>
              <a:rPr sz="1575" b="0">
                <a:solidFill>
                  <a:srgbClr val="202123"/>
                </a:solidFill>
              </a:rPr>
              <a:t>Map output можно пересчитать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2288FAB-4115-4235-898B-355091A6A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577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95BDDED-6F72-410C-87A0-C4C0CB71A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371975"/>
            <a:ext cx="4495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02123"/>
                </a:solidFill>
              </a:defRPr>
            </a:pPr>
            <a:r>
              <a:rPr sz="1575" b="0">
                <a:solidFill>
                  <a:srgbClr val="202123"/>
                </a:solidFill>
              </a:rPr>
              <a:t>Job output обычно durable в HDFS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5953A3A-084F-4002-A955-726D228E5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482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C3EC970-32E3-4153-B7AF-1152619FB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962525"/>
            <a:ext cx="4495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02123"/>
                </a:solidFill>
              </a:defRPr>
            </a:pPr>
            <a:r>
              <a:rPr sz="1575" b="0">
                <a:solidFill>
                  <a:srgbClr val="202123"/>
                </a:solidFill>
              </a:rPr>
              <a:t>Простая локализация сбоя, больше I/O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415B927-9817-4E74-B878-FCD26ECC1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114550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E25A1C"/>
                </a:solidFill>
              </a:defRPr>
            </a:pPr>
            <a:r>
              <a:rPr sz="1200" b="1">
                <a:solidFill>
                  <a:srgbClr val="E25A1C"/>
                </a:solidFill>
              </a:rPr>
              <a:t>SPARK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6D3178D-D64A-4DE7-B998-D1C534888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647950"/>
            <a:ext cx="4762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F2428"/>
                </a:solidFill>
              </a:defRPr>
            </a:pPr>
            <a:r>
              <a:rPr sz="2325" b="1">
                <a:solidFill>
                  <a:srgbClr val="1F2428"/>
                </a:solidFill>
              </a:rPr>
              <a:t>Recovery через lineage + recompute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933776D-FC03-4536-BE57-FDAAEC520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8671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523BD74-7126-43E1-A7B0-84D7AB02A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781425"/>
            <a:ext cx="4495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02123"/>
                </a:solidFill>
              </a:defRPr>
            </a:pPr>
            <a:r>
              <a:rPr sz="1575" b="0">
                <a:solidFill>
                  <a:srgbClr val="202123"/>
                </a:solidFill>
              </a:rPr>
              <a:t>Потерянная partition строится заново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50C529F-0F47-4279-B362-29AE862F7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4577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F0EA13C-B7ED-4BF6-BD97-FAA9DF0A0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371975"/>
            <a:ext cx="4495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02123"/>
                </a:solidFill>
              </a:defRPr>
            </a:pPr>
            <a:r>
              <a:rPr sz="1575" b="0">
                <a:solidFill>
                  <a:srgbClr val="202123"/>
                </a:solidFill>
              </a:rPr>
              <a:t>Shuffle files и executor cache не равны durable storage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29647EE-D36B-4033-8D1D-5A9CF6D75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0482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D0B825E-930A-43E8-89F6-C1BC7A9F0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962525"/>
            <a:ext cx="4495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02123"/>
                </a:solidFill>
              </a:defRPr>
            </a:pPr>
            <a:r>
              <a:rPr sz="1575" b="0">
                <a:solidFill>
                  <a:srgbClr val="202123"/>
                </a:solidFill>
              </a:rPr>
              <a:t>Длинный lineage иногда требует checkpoint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4F17635-DE84-49AE-B772-13D1F4530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038350"/>
            <a:ext cx="19050" cy="3714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283527084"/>
      </p:ext>
    </p:extLst>
  </p:cSld>
</p:sld>
</file>

<file path=ppt/slides/slide41.xml><?xml version="1.0" encoding="utf-8"?>
<p:sld xmlns:p="http://schemas.openxmlformats.org/presentationml/2006/main">
  <p:cSld>
    <p:bg>
      <p:bgPr>
        <a:solidFill xmlns:a="http://schemas.openxmlformats.org/drawingml/2006/main">
          <a:srgbClr val="F7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B8426F3-ECE4-46F2-9EF5-65DDDCBF3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F6FED"/>
                </a:solidFill>
              </a:defRPr>
            </a:pPr>
            <a:r>
              <a:rPr sz="1050" b="1">
                <a:solidFill>
                  <a:srgbClr val="2F6FED"/>
                </a:solidFill>
              </a:rPr>
              <a:t>МАТРИЦА · EXECUTION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F4CC0F0-7097-45AF-962C-022A3306B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238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DE / MENTOR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6F6040F-CF47-4C1B-8E5B-40B1FE4B3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ABB8E14-27B0-415E-9890-B892ECF0E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41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4997E63-84D4-4ABA-9880-C2688C99B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</a:defRPr>
            </a:pPr>
            <a:r>
              <a:rPr sz="2850" b="1">
                <a:solidFill>
                  <a:srgbClr val="202123"/>
                </a:solidFill>
              </a:rPr>
              <a:t>Spark — не просто “MapReduce в RAM”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4748350-4F53-4A03-9766-D51CFFAE8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000250"/>
            <a:ext cx="2171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2F6FED"/>
                </a:solidFill>
              </a:defRPr>
            </a:pPr>
            <a:r>
              <a:rPr sz="1425" b="1">
                <a:solidFill>
                  <a:srgbClr val="2F6FED"/>
                </a:solidFill>
              </a:rPr>
              <a:t>MapReduce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3660569-75F8-4A27-AC6E-329832E92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000250"/>
            <a:ext cx="2171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2F6FED"/>
                </a:solidFill>
              </a:defRPr>
            </a:pPr>
            <a:r>
              <a:rPr sz="1425" b="1">
                <a:solidFill>
                  <a:srgbClr val="2F6FED"/>
                </a:solidFill>
              </a:rPr>
              <a:t>Spark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65C0D18-0C30-4D95-9D53-822A1F1E6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000250"/>
            <a:ext cx="3314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E25A1C"/>
                </a:solidFill>
              </a:defRPr>
            </a:pPr>
            <a:r>
              <a:rPr sz="1425" b="1">
                <a:solidFill>
                  <a:srgbClr val="E25A1C"/>
                </a:solidFill>
              </a:rPr>
              <a:t>Архитектурное следствие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8376715-3F74-4717-B66E-C8982463E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95550"/>
            <a:ext cx="10668000" cy="504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E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2C1E0D0-2473-42CA-8C40-D1B5353E4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90800"/>
            <a:ext cx="200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02123"/>
                </a:solidFill>
              </a:defRPr>
            </a:pPr>
            <a:r>
              <a:rPr sz="1275" b="1">
                <a:solidFill>
                  <a:srgbClr val="202123"/>
                </a:solidFill>
              </a:rPr>
              <a:t>Граф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1F4909E-9E7D-4C5F-9588-98C45E25C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562225"/>
            <a:ext cx="2171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E6E68"/>
                </a:solidFill>
              </a:defRPr>
            </a:pPr>
            <a:r>
              <a:rPr sz="1125" b="0">
                <a:solidFill>
                  <a:srgbClr val="6E6E68"/>
                </a:solidFill>
              </a:rPr>
              <a:t>fixed map → shuffle → reduce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6F357B8-9D44-409E-A423-05F7462FB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562225"/>
            <a:ext cx="2171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E6E68"/>
                </a:solidFill>
              </a:defRPr>
            </a:pPr>
            <a:r>
              <a:rPr sz="1125" b="0">
                <a:solidFill>
                  <a:srgbClr val="6E6E68"/>
                </a:solidFill>
              </a:rPr>
              <a:t>arbitrary DAG → stages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8081C99-43BF-46EE-B83A-8C68EAC8A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562225"/>
            <a:ext cx="3314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202123"/>
                </a:solidFill>
              </a:defRPr>
            </a:pPr>
            <a:r>
              <a:rPr sz="1125" b="0">
                <a:solidFill>
                  <a:srgbClr val="202123"/>
                </a:solidFill>
              </a:rPr>
              <a:t>меньше jobs-обвязки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7FF7D3B-80E6-440F-B917-8661F3CEB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099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2F21AFE-53DE-46D6-8533-EA40EDB02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43250"/>
            <a:ext cx="200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02123"/>
                </a:solidFill>
              </a:defRPr>
            </a:pPr>
            <a:r>
              <a:rPr sz="1275" b="1">
                <a:solidFill>
                  <a:srgbClr val="202123"/>
                </a:solidFill>
              </a:rPr>
              <a:t>Materialization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A7D4D97-7C95-41C1-A850-F6D8CF306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114675"/>
            <a:ext cx="2171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E6E68"/>
                </a:solidFill>
              </a:defRPr>
            </a:pPr>
            <a:r>
              <a:rPr sz="1125" b="0">
                <a:solidFill>
                  <a:srgbClr val="6E6E68"/>
                </a:solidFill>
              </a:rPr>
              <a:t>между jobs обычно durable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F424BF0-28E7-4829-A19F-5167BC8C4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114675"/>
            <a:ext cx="2171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E6E68"/>
                </a:solidFill>
              </a:defRPr>
            </a:pPr>
            <a:r>
              <a:rPr sz="1125" b="0">
                <a:solidFill>
                  <a:srgbClr val="6E6E68"/>
                </a:solidFill>
              </a:rPr>
              <a:t>shuffle/persist по необходимости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5EE33D1-7B73-44D5-A295-A9F1B0AE5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114675"/>
            <a:ext cx="3314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202123"/>
                </a:solidFill>
              </a:defRPr>
            </a:pPr>
            <a:r>
              <a:rPr sz="1125" b="0">
                <a:solidFill>
                  <a:srgbClr val="202123"/>
                </a:solidFill>
              </a:rPr>
              <a:t>разный I/O cost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52A6870-A235-479B-9C5E-4E64DF5F5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6235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3CB98A2-8450-46E7-9181-9CB6A00FF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00450"/>
            <a:ext cx="10668000" cy="504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E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DAE9A21-00AE-4F70-BB8F-9CE890C94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95700"/>
            <a:ext cx="200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02123"/>
                </a:solidFill>
              </a:defRPr>
            </a:pPr>
            <a:r>
              <a:rPr sz="1275" b="1">
                <a:solidFill>
                  <a:srgbClr val="202123"/>
                </a:solidFill>
              </a:rPr>
              <a:t>Reuse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C58E520-67A3-4C04-9BED-F0063CDFB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667125"/>
            <a:ext cx="2171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E6E68"/>
                </a:solidFill>
              </a:defRPr>
            </a:pPr>
            <a:r>
              <a:rPr sz="1125" b="0">
                <a:solidFill>
                  <a:srgbClr val="6E6E68"/>
                </a:solidFill>
              </a:rPr>
              <a:t>через external storage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0BC35BE-D6EB-443A-9BB1-4C8A4E09D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667125"/>
            <a:ext cx="2171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E6E68"/>
                </a:solidFill>
              </a:defRPr>
            </a:pPr>
            <a:r>
              <a:rPr sz="1125" b="0">
                <a:solidFill>
                  <a:srgbClr val="6E6E68"/>
                </a:solidFill>
              </a:rPr>
              <a:t>cache/persist + lineage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1D6D993-E450-4976-B920-DA3A32F52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667125"/>
            <a:ext cx="3314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202123"/>
                </a:solidFill>
              </a:defRPr>
            </a:pPr>
            <a:r>
              <a:rPr sz="1125" b="0">
                <a:solidFill>
                  <a:srgbClr val="202123"/>
                </a:solidFill>
              </a:rPr>
              <a:t>итерации дешевле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4ED95C7-5B8B-4ED2-BDEA-4FE286D96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148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95506C9-6177-4BFD-95B0-265E712AB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48150"/>
            <a:ext cx="200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02123"/>
                </a:solidFill>
              </a:defRPr>
            </a:pPr>
            <a:r>
              <a:rPr sz="1275" b="1">
                <a:solidFill>
                  <a:srgbClr val="202123"/>
                </a:solidFill>
              </a:rPr>
              <a:t>Оптимизация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6CB95E4-1B65-4F01-B6B1-8A345FBAF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219575"/>
            <a:ext cx="2171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E6E68"/>
                </a:solidFill>
              </a:defRPr>
            </a:pPr>
            <a:r>
              <a:rPr sz="1125" b="0">
                <a:solidFill>
                  <a:srgbClr val="6E6E68"/>
                </a:solidFill>
              </a:rPr>
              <a:t>в основном внутри job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B143970-0344-4474-B521-F868A5687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4219575"/>
            <a:ext cx="2171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E6E68"/>
                </a:solidFill>
              </a:defRPr>
            </a:pPr>
            <a:r>
              <a:rPr sz="1125" b="0">
                <a:solidFill>
                  <a:srgbClr val="6E6E68"/>
                </a:solidFill>
              </a:rPr>
              <a:t>Catalyst + AQE для structured API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C33E0DD-3BC4-4DFD-AB1A-64ECF41C1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219575"/>
            <a:ext cx="3314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202123"/>
                </a:solidFill>
              </a:defRPr>
            </a:pPr>
            <a:r>
              <a:rPr sz="1125" b="0">
                <a:solidFill>
                  <a:srgbClr val="202123"/>
                </a:solidFill>
              </a:rPr>
              <a:t>план может меняться runtime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F342620-A87C-4180-B833-54FD812BA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6725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D599B80-2335-48BB-BFB7-DA5FCD08F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05350"/>
            <a:ext cx="10668000" cy="504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E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6547C3E-B74E-4BCB-85BB-0C25FB613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00600"/>
            <a:ext cx="200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02123"/>
                </a:solidFill>
              </a:defRPr>
            </a:pPr>
            <a:r>
              <a:rPr sz="1275" b="1">
                <a:solidFill>
                  <a:srgbClr val="202123"/>
                </a:solidFill>
              </a:rPr>
              <a:t>Fault tolerance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A17E2EB-607F-456D-A59D-9DD6DF32C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772025"/>
            <a:ext cx="2171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E6E68"/>
                </a:solidFill>
              </a:defRPr>
            </a:pPr>
            <a:r>
              <a:rPr sz="1125" b="0">
                <a:solidFill>
                  <a:srgbClr val="6E6E68"/>
                </a:solidFill>
              </a:rPr>
              <a:t>retry + durable output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948314D-2FD9-403F-AD62-FF4D41B99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4772025"/>
            <a:ext cx="2171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E6E68"/>
                </a:solidFill>
              </a:defRPr>
            </a:pPr>
            <a:r>
              <a:rPr sz="1125" b="0">
                <a:solidFill>
                  <a:srgbClr val="6E6E68"/>
                </a:solidFill>
              </a:rPr>
              <a:t>retry + lineage recompute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8779540-6630-467B-9970-8FB7E2EEA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772025"/>
            <a:ext cx="3314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202123"/>
                </a:solidFill>
              </a:defRPr>
            </a:pPr>
            <a:r>
              <a:rPr sz="1125" b="0">
                <a:solidFill>
                  <a:srgbClr val="202123"/>
                </a:solidFill>
              </a:rPr>
              <a:t>разный recovery path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2752FF5-6ECA-49BC-89BC-4DA73C197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197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592E7DA-043A-440A-A08F-4F13BE307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53050"/>
            <a:ext cx="200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02123"/>
                </a:solidFill>
              </a:defRPr>
            </a:pPr>
            <a:r>
              <a:rPr sz="1275" b="1">
                <a:solidFill>
                  <a:srgbClr val="202123"/>
                </a:solidFill>
              </a:rPr>
              <a:t>API surface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6399C39-6047-4E9A-91BB-9A5A4F4B2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5324475"/>
            <a:ext cx="2171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E6E68"/>
                </a:solidFill>
              </a:defRPr>
            </a:pPr>
            <a:r>
              <a:rPr sz="1125" b="0">
                <a:solidFill>
                  <a:srgbClr val="6E6E68"/>
                </a:solidFill>
              </a:rPr>
              <a:t>key/value map и reduce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76AD99E-CFA4-4196-8501-8B14D5221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5324475"/>
            <a:ext cx="2171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E6E68"/>
                </a:solidFill>
              </a:defRPr>
            </a:pPr>
            <a:r>
              <a:rPr sz="1125" b="0">
                <a:solidFill>
                  <a:srgbClr val="6E6E68"/>
                </a:solidFill>
              </a:rPr>
              <a:t>DataFrame/SQL, RDD, streaming, ML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CDD0382-AF4B-4B7D-86F4-29F124D1B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5324475"/>
            <a:ext cx="3314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202123"/>
                </a:solidFill>
              </a:defRPr>
            </a:pPr>
            <a:r>
              <a:rPr sz="1125" b="0">
                <a:solidFill>
                  <a:srgbClr val="202123"/>
                </a:solidFill>
              </a:rPr>
              <a:t>выше productivity, больше engine magic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2B2C80D8-459B-4687-955F-D41B4E90A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7215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376995290"/>
      </p:ext>
    </p:extLst>
  </p:cSld>
</p:sld>
</file>

<file path=ppt/slides/slide42.xml><?xml version="1.0" encoding="utf-8"?>
<p:sld xmlns:p="http://schemas.openxmlformats.org/presentationml/2006/main">
  <p:cSld>
    <p:bg>
      <p:bgPr>
        <a:solidFill xmlns:a="http://schemas.openxmlformats.org/drawingml/2006/main">
          <a:srgbClr val="F7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006F96D1-62B8-4FA8-AC53-B2939AA22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F6FED"/>
                </a:solidFill>
              </a:defRPr>
            </a:pPr>
            <a:r>
              <a:rPr sz="1050" b="1">
                <a:solidFill>
                  <a:srgbClr val="2F6FED"/>
                </a:solidFill>
              </a:rPr>
              <a:t>МАТРИЦА · WORKLOAD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51D43E3-F38F-48EA-83D1-617159A22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238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DE / MENTOR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D540104-1E64-41FE-9E8B-AA43D79D6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F7E6829-7C9D-469D-9588-8D33FD2DC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42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9143F60-8F74-4A10-8716-F39A3E1C5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</a:defRPr>
            </a:pPr>
            <a:r>
              <a:rPr sz="2850" b="1">
                <a:solidFill>
                  <a:srgbClr val="202123"/>
                </a:solidFill>
              </a:rPr>
              <a:t>Разница важна не всегда: смотрим на число проходов, reuse и latency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0E113A1-BC47-44E2-BA27-B0CE51FB5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000250"/>
            <a:ext cx="2171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2F6FED"/>
                </a:solidFill>
              </a:defRPr>
            </a:pPr>
            <a:r>
              <a:rPr sz="1425" b="1">
                <a:solidFill>
                  <a:srgbClr val="2F6FED"/>
                </a:solidFill>
              </a:rPr>
              <a:t>MapReduce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2FD46E2-158B-4DAF-ADC7-922ADDBD3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000250"/>
            <a:ext cx="2171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2F6FED"/>
                </a:solidFill>
              </a:defRPr>
            </a:pPr>
            <a:r>
              <a:rPr sz="1425" b="1">
                <a:solidFill>
                  <a:srgbClr val="2F6FED"/>
                </a:solidFill>
              </a:rPr>
              <a:t>Spark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9731BEF-A84A-4BF7-AD6F-C7E12DE00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000250"/>
            <a:ext cx="3314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E25A1C"/>
                </a:solidFill>
              </a:defRPr>
            </a:pPr>
            <a:r>
              <a:rPr sz="1425" b="1">
                <a:solidFill>
                  <a:srgbClr val="E25A1C"/>
                </a:solidFill>
              </a:rPr>
              <a:t>Вердикт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D9A7E89-1A3D-40EE-958E-7FB663FD3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95550"/>
            <a:ext cx="10668000" cy="504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E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F73F60F-2A15-4A00-8307-3061CB7A4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90800"/>
            <a:ext cx="200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02123"/>
                </a:solidFill>
              </a:defRPr>
            </a:pPr>
            <a:r>
              <a:rPr sz="1275" b="1">
                <a:solidFill>
                  <a:srgbClr val="202123"/>
                </a:solidFill>
              </a:rPr>
              <a:t>One-pass scan/sort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9A3C9B2-B14C-4A55-B297-6F44C095D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562225"/>
            <a:ext cx="2171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E6E68"/>
                </a:solidFill>
              </a:defRPr>
            </a:pPr>
            <a:r>
              <a:rPr sz="1125" b="0">
                <a:solidFill>
                  <a:srgbClr val="6E6E68"/>
                </a:solidFill>
              </a:rPr>
              <a:t>сильно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886CB9C-098E-4825-89EF-08868A64C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562225"/>
            <a:ext cx="2171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E6E68"/>
                </a:solidFill>
              </a:defRPr>
            </a:pPr>
            <a:r>
              <a:rPr sz="1125" b="0">
                <a:solidFill>
                  <a:srgbClr val="6E6E68"/>
                </a:solidFill>
              </a:rPr>
              <a:t>сильно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82713E6-39BC-4574-BC54-92FE234C3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562225"/>
            <a:ext cx="3314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202123"/>
                </a:solidFill>
              </a:defRPr>
            </a:pPr>
            <a:r>
              <a:rPr sz="1125" b="0">
                <a:solidFill>
                  <a:srgbClr val="202123"/>
                </a:solidFill>
              </a:rPr>
              <a:t>часто паритет, I/O доминирует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D5CC566-054F-47E8-BCB9-AD6DA9596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099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CE00B79-3621-411B-99DF-D3713111F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43250"/>
            <a:ext cx="200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02123"/>
                </a:solidFill>
              </a:defRPr>
            </a:pPr>
            <a:r>
              <a:rPr sz="1275" b="1">
                <a:solidFill>
                  <a:srgbClr val="202123"/>
                </a:solidFill>
              </a:rPr>
              <a:t>Multi-stage ETL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E31305B-E7EE-4C86-B3AA-209221CD9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114675"/>
            <a:ext cx="2171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E6E68"/>
                </a:solidFill>
              </a:defRPr>
            </a:pPr>
            <a:r>
              <a:rPr sz="1125" b="0">
                <a:solidFill>
                  <a:srgbClr val="6E6E68"/>
                </a:solidFill>
              </a:rPr>
              <a:t>работает, много boundaries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9E2C950-668E-4160-9386-DCA54ACEB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114675"/>
            <a:ext cx="2171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E6E68"/>
                </a:solidFill>
              </a:defRPr>
            </a:pPr>
            <a:r>
              <a:rPr sz="1125" b="0">
                <a:solidFill>
                  <a:srgbClr val="6E6E68"/>
                </a:solidFill>
              </a:rPr>
              <a:t>DAG + SQL optimizer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A5040D8-7F33-40DE-9B2F-231AF3DFF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114675"/>
            <a:ext cx="3314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202123"/>
                </a:solidFill>
              </a:defRPr>
            </a:pPr>
            <a:r>
              <a:rPr sz="1125" b="0">
                <a:solidFill>
                  <a:srgbClr val="202123"/>
                </a:solidFill>
              </a:rPr>
              <a:t>обычно Spark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36A9E49-2F30-48A3-9AF3-1131B2FDC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6235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C59F383-9638-4675-8DF1-7713CC8F9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00450"/>
            <a:ext cx="10668000" cy="504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E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97696EB-AEDC-4E79-A61A-097B2BA33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95700"/>
            <a:ext cx="200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02123"/>
                </a:solidFill>
              </a:defRPr>
            </a:pPr>
            <a:r>
              <a:rPr sz="1275" b="1">
                <a:solidFill>
                  <a:srgbClr val="202123"/>
                </a:solidFill>
              </a:rPr>
              <a:t>Iterative ML / graph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65AC660-41B3-42C4-B151-3E79B69A6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667125"/>
            <a:ext cx="2171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E6E68"/>
                </a:solidFill>
              </a:defRPr>
            </a:pPr>
            <a:r>
              <a:rPr sz="1125" b="0">
                <a:solidFill>
                  <a:srgbClr val="6E6E68"/>
                </a:solidFill>
              </a:rPr>
              <a:t>дорогой reread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67E0514-EA86-4F52-A086-C0115C0FB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667125"/>
            <a:ext cx="2171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E6E68"/>
                </a:solidFill>
              </a:defRPr>
            </a:pPr>
            <a:r>
              <a:rPr sz="1125" b="0">
                <a:solidFill>
                  <a:srgbClr val="6E6E68"/>
                </a:solidFill>
              </a:rPr>
              <a:t>persist working set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034800D-4A0C-4D06-B3D8-596A4B784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667125"/>
            <a:ext cx="3314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202123"/>
                </a:solidFill>
              </a:defRPr>
            </a:pPr>
            <a:r>
              <a:rPr sz="1125" b="0">
                <a:solidFill>
                  <a:srgbClr val="202123"/>
                </a:solidFill>
              </a:rPr>
              <a:t>сильное преимущество Spark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4E35E5F-DC00-4EF0-A69D-6EB52122D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148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C453A28-4692-4035-8A98-56F2EFFC5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48150"/>
            <a:ext cx="200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02123"/>
                </a:solidFill>
              </a:defRPr>
            </a:pPr>
            <a:r>
              <a:rPr sz="1275" b="1">
                <a:solidFill>
                  <a:srgbClr val="202123"/>
                </a:solidFill>
              </a:rPr>
              <a:t>Interactive SQL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C89FA5F-03CD-4327-BD16-F13E0CD2C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219575"/>
            <a:ext cx="2171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E6E68"/>
                </a:solidFill>
              </a:defRPr>
            </a:pPr>
            <a:r>
              <a:rPr sz="1125" b="0">
                <a:solidFill>
                  <a:srgbClr val="6E6E68"/>
                </a:solidFill>
              </a:rPr>
              <a:t>высокий startup + jobs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F19AAC3-4C32-4A58-9E1E-39497408A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4219575"/>
            <a:ext cx="2171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E6E68"/>
                </a:solidFill>
              </a:defRPr>
            </a:pPr>
            <a:r>
              <a:rPr sz="1125" b="0">
                <a:solidFill>
                  <a:srgbClr val="6E6E68"/>
                </a:solidFill>
              </a:rPr>
              <a:t>reuse + optimizer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AF3EC7B-FDD8-4677-9338-90DA6CDFF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219575"/>
            <a:ext cx="3314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202123"/>
                </a:solidFill>
              </a:defRPr>
            </a:pPr>
            <a:r>
              <a:rPr sz="1125" b="0">
                <a:solidFill>
                  <a:srgbClr val="202123"/>
                </a:solidFill>
              </a:rPr>
              <a:t>Spark лучше, но DWH может быть лучше обоих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90CF572-AB5C-418B-8E82-7FFBDD151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6725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53754D3-CB37-4C59-AB02-BFF165437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05350"/>
            <a:ext cx="10668000" cy="504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E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745329B-D584-43DA-A970-1BCFEFF2E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00600"/>
            <a:ext cx="200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02123"/>
                </a:solidFill>
              </a:defRPr>
            </a:pPr>
            <a:r>
              <a:rPr sz="1275" b="1">
                <a:solidFill>
                  <a:srgbClr val="202123"/>
                </a:solidFill>
              </a:rPr>
              <a:t>Continuous streaming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0116A8F-418D-4843-8297-7920EB533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772025"/>
            <a:ext cx="2171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E6E68"/>
                </a:solidFill>
              </a:defRPr>
            </a:pPr>
            <a:r>
              <a:rPr sz="1125" b="0">
                <a:solidFill>
                  <a:srgbClr val="6E6E68"/>
                </a:solidFill>
              </a:rPr>
              <a:t>не нативный fit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5C82DB1-6CF5-4949-BF18-E2F01104F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4772025"/>
            <a:ext cx="2171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E6E68"/>
                </a:solidFill>
              </a:defRPr>
            </a:pPr>
            <a:r>
              <a:rPr sz="1125" b="0">
                <a:solidFill>
                  <a:srgbClr val="6E6E68"/>
                </a:solidFill>
              </a:rPr>
              <a:t>Structured Streaming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736C6D2-E26D-4090-8447-A90B3A705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772025"/>
            <a:ext cx="3314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202123"/>
                </a:solidFill>
              </a:defRPr>
            </a:pPr>
            <a:r>
              <a:rPr sz="1125" b="0">
                <a:solidFill>
                  <a:srgbClr val="202123"/>
                </a:solidFill>
              </a:rPr>
              <a:t>Spark, Flink или streaming DB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0E01F69-43A0-49C8-AF50-1E19DFE05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1970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9AA6EFA-F1CC-4636-A02D-4C3C6E58A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53050"/>
            <a:ext cx="200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02123"/>
                </a:solidFill>
              </a:defRPr>
            </a:pPr>
            <a:r>
              <a:rPr sz="1275" b="1">
                <a:solidFill>
                  <a:srgbClr val="202123"/>
                </a:solidFill>
              </a:rPr>
              <a:t>Tiny data / OLTP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17C15BB-183B-4469-A1DB-94C0D36DE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5324475"/>
            <a:ext cx="2171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E6E68"/>
                </a:solidFill>
              </a:defRPr>
            </a:pPr>
            <a:r>
              <a:rPr sz="1125" b="0">
                <a:solidFill>
                  <a:srgbClr val="6E6E68"/>
                </a:solidFill>
              </a:rPr>
              <a:t>плохо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D2FD550-3BE3-423A-8D64-1C9E082A1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5324475"/>
            <a:ext cx="2171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E6E68"/>
                </a:solidFill>
              </a:defRPr>
            </a:pPr>
            <a:r>
              <a:rPr sz="1125" b="0">
                <a:solidFill>
                  <a:srgbClr val="6E6E68"/>
                </a:solidFill>
              </a:rPr>
              <a:t>плохо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ECD0516-240C-4C16-AE54-F949D5892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5324475"/>
            <a:ext cx="3314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202123"/>
                </a:solidFill>
              </a:defRPr>
            </a:pPr>
            <a:r>
              <a:rPr sz="1125" b="0">
                <a:solidFill>
                  <a:srgbClr val="202123"/>
                </a:solidFill>
              </a:rPr>
              <a:t>не использовать distributed batch engine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3DBF134-0FF8-4632-BCF4-E09E8388A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7215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1688608451"/>
      </p:ext>
    </p:extLst>
  </p:cSld>
</p:sld>
</file>

<file path=ppt/slides/slide43.xml><?xml version="1.0" encoding="utf-8"?>
<p:sld xmlns:p="http://schemas.openxmlformats.org/presentationml/2006/main">
  <p:cSld>
    <p:bg>
      <p:bgPr>
        <a:solidFill xmlns:a="http://schemas.openxmlformats.org/drawingml/2006/main">
          <a:srgbClr val="F7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D1F5702-4707-448A-87F5-7CCC8B844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F6FED"/>
                </a:solidFill>
              </a:defRPr>
            </a:pPr>
            <a:r>
              <a:rPr sz="1050" b="1">
                <a:solidFill>
                  <a:srgbClr val="2F6FED"/>
                </a:solidFill>
              </a:rPr>
              <a:t>КОГДА РАЗНИЦА ЕСТЬ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3F46CE2-A5F5-4F27-A5A0-705142BD9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238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DE / MENTOR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494E321-7244-4328-AE77-88C57B19B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26565DF-AB2F-4E6A-A98D-BA946A0CA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43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53150CF-54E4-408E-9195-1601B9B6A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</a:defRPr>
            </a:pPr>
            <a:r>
              <a:rPr sz="2850" b="1">
                <a:solidFill>
                  <a:srgbClr val="202123"/>
                </a:solidFill>
              </a:rPr>
              <a:t>Выбирайте по доминирующей стоимости, а не по названию технологии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1560CB3-03B9-4470-BCA9-95194FEB8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14550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E6E68"/>
                </a:solidFill>
              </a:defRPr>
            </a:pPr>
            <a:r>
              <a:rPr sz="1200" b="1">
                <a:solidFill>
                  <a:srgbClr val="6E6E68"/>
                </a:solidFill>
              </a:rPr>
              <a:t>РАЗНИЦА ВЕЛИКА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8B76F7F-50F4-46BE-AF93-170287066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47950"/>
            <a:ext cx="4762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F2428"/>
                </a:solidFill>
              </a:defRPr>
            </a:pPr>
            <a:r>
              <a:rPr sz="2325" b="1">
                <a:solidFill>
                  <a:srgbClr val="1F2428"/>
                </a:solidFill>
              </a:rPr>
              <a:t>Reuse + много stages + tight SLA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648BC34-78B4-4554-9C6F-C229EED34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671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875EA72-0360-4549-AFF5-7AAD3FB58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781425"/>
            <a:ext cx="4495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02123"/>
                </a:solidFill>
              </a:defRPr>
            </a:pPr>
            <a:r>
              <a:rPr sz="1575" b="0">
                <a:solidFill>
                  <a:srgbClr val="202123"/>
                </a:solidFill>
              </a:rPr>
              <a:t>PageRank, gradient iterations, feature engineering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A5398DF-4009-4C97-AC51-CBA9006AF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577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11437F5-1A1E-4583-AE9B-65818B2A6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371975"/>
            <a:ext cx="4495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02123"/>
                </a:solidFill>
              </a:defRPr>
            </a:pPr>
            <a:r>
              <a:rPr sz="1575" b="0">
                <a:solidFill>
                  <a:srgbClr val="202123"/>
                </a:solidFill>
              </a:rPr>
              <a:t>Ad hoc исследования над одним working set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12F9CE5-4A47-4031-83BB-7AE7C4CC4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482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564C4D0-FD02-4DE2-9956-5D6143032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962525"/>
            <a:ext cx="4495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02123"/>
                </a:solidFill>
              </a:defRPr>
            </a:pPr>
            <a:r>
              <a:rPr sz="1575" b="0">
                <a:solidFill>
                  <a:srgbClr val="202123"/>
                </a:solidFill>
              </a:rPr>
              <a:t>SQL-пайплайн с несколькими joins и aggregations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D01DAB9-C151-456C-A6A7-41D9AC508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114550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E25A1C"/>
                </a:solidFill>
              </a:defRPr>
            </a:pPr>
            <a:r>
              <a:rPr sz="1200" b="1">
                <a:solidFill>
                  <a:srgbClr val="E25A1C"/>
                </a:solidFill>
              </a:rPr>
              <a:t>РАЗНИЦА МАЛА ИЛИ ОБА ПЛОХИ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8DCAE32-124A-4301-94F7-859A86B62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647950"/>
            <a:ext cx="4762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F2428"/>
                </a:solidFill>
              </a:defRPr>
            </a:pPr>
            <a:r>
              <a:rPr sz="2325" b="1">
                <a:solidFill>
                  <a:srgbClr val="1F2428"/>
                </a:solidFill>
              </a:rPr>
              <a:t>One-pass I/O или другой workload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1FF5A6E-E925-40D7-B2AF-EBF460A08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8671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8D358FC-9B21-4B39-8474-33210C34D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781425"/>
            <a:ext cx="4495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02123"/>
                </a:solidFill>
              </a:defRPr>
            </a:pPr>
            <a:r>
              <a:rPr sz="1575" b="0">
                <a:solidFill>
                  <a:srgbClr val="202123"/>
                </a:solidFill>
              </a:rPr>
              <a:t>Один полный scan и write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0CB6AC4-5263-4948-BB0E-4F5D2CEFA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4577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BC96F40-FEA3-46E5-B110-1A6B77F49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371975"/>
            <a:ext cx="4495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02123"/>
                </a:solidFill>
              </a:defRPr>
            </a:pPr>
            <a:r>
              <a:rPr sz="1575" b="0">
                <a:solidFill>
                  <a:srgbClr val="202123"/>
                </a:solidFill>
              </a:rPr>
              <a:t>Данные малы для одного узла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5943D90-EF68-438E-B219-1364500F0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0482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E953B9B-895B-4B17-85C5-FDBC23582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962525"/>
            <a:ext cx="4495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02123"/>
                </a:solidFill>
              </a:defRPr>
            </a:pPr>
            <a:r>
              <a:rPr sz="1575" b="0">
                <a:solidFill>
                  <a:srgbClr val="202123"/>
                </a:solidFill>
              </a:rPr>
              <a:t>OLTP, point lookup, business orchestration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88B015D-A463-4646-980B-D54367620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038350"/>
            <a:ext cx="19050" cy="3714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418034644"/>
      </p:ext>
    </p:extLst>
  </p:cSld>
</p:sld>
</file>

<file path=ppt/slides/slide44.xml><?xml version="1.0" encoding="utf-8"?>
<p:sld xmlns:p="http://schemas.openxmlformats.org/presentationml/2006/main">
  <p:cSld>
    <p:bg>
      <p:bgPr>
        <a:solidFill xmlns:a="http://schemas.openxmlformats.org/drawingml/2006/main">
          <a:srgbClr val="F7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5CFD638-6CA0-4EAE-9DE3-CC4FF907F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F6FED"/>
                </a:solidFill>
              </a:defRPr>
            </a:pPr>
            <a:r>
              <a:rPr sz="1050" b="1">
                <a:solidFill>
                  <a:srgbClr val="2F6FED"/>
                </a:solidFill>
              </a:rPr>
              <a:t>PRINCIPAL CHECK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FAE46BB-B299-4F65-BFF1-DA389FB1D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238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DE / MENTOR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7AFD4B9-DA0D-4AD3-A597-986655251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12EF0A6-E40A-4144-A00A-3813665E3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44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642148A-F93D-469B-B4AD-BE1247750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</a:defRPr>
            </a:pPr>
            <a:r>
              <a:rPr sz="2850" b="1">
                <a:solidFill>
                  <a:srgbClr val="202123"/>
                </a:solidFill>
              </a:rPr>
              <a:t>Principal не спрашивает “что быстрее?” без cost model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343E0B5-59DD-473A-B2B4-04F71020C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57400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A37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6488761-4D32-400B-818A-B8F02E669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38350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57AB5F4-1450-4548-B41B-30C179592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00025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02123"/>
                </a:solidFill>
              </a:defRPr>
            </a:pPr>
            <a:r>
              <a:rPr sz="1875" b="1">
                <a:solidFill>
                  <a:srgbClr val="202123"/>
                </a:solidFill>
              </a:rPr>
              <a:t>Workload graph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6153750-0494-4B80-A6E4-B7751A79C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019300"/>
            <a:ext cx="723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6E6E68"/>
                </a:solidFill>
              </a:defRPr>
            </a:pPr>
            <a:r>
              <a:rPr sz="1575" b="0">
                <a:solidFill>
                  <a:srgbClr val="6E6E68"/>
                </a:solidFill>
              </a:rPr>
              <a:t>сколько passes, shuffles, joins, iterations и независимых outputs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626908D-3E9F-492C-BA96-7D1EF87BD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533650"/>
            <a:ext cx="96964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563C1D1-4F7C-4824-BFCF-306975078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38450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A37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144F17E-050B-4ABE-B913-2E175DF1F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19400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1B2AFB1-26CE-40BF-902A-3E6136EE3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78130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02123"/>
                </a:solidFill>
              </a:defRPr>
            </a:pPr>
            <a:r>
              <a:rPr sz="1875" b="1">
                <a:solidFill>
                  <a:srgbClr val="202123"/>
                </a:solidFill>
              </a:rPr>
              <a:t>Data physics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CFC29CA-563F-4FC1-8AE1-97D8204C2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800350"/>
            <a:ext cx="723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6E6E68"/>
                </a:solidFill>
              </a:defRPr>
            </a:pPr>
            <a:r>
              <a:rPr sz="1575" b="0">
                <a:solidFill>
                  <a:srgbClr val="6E6E68"/>
                </a:solidFill>
              </a:rPr>
              <a:t>bytes scanned, cardinality, skew, compression, partitioning и locality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D6CF85C-7321-496B-8AB7-05579E5CE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314700"/>
            <a:ext cx="96964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86CC9F6-679D-4FDE-A4A4-63A6DE379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0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A37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7D0A76E-03D4-40C8-9585-B5C0A54E7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00450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E6076E7-5F88-45E1-BF58-33CC0CE92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56235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02123"/>
                </a:solidFill>
              </a:defRPr>
            </a:pPr>
            <a:r>
              <a:rPr sz="1875" b="1">
                <a:solidFill>
                  <a:srgbClr val="202123"/>
                </a:solidFill>
              </a:rPr>
              <a:t>Recovery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2B5446D-4290-4A7F-A416-E92B7BF28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581400"/>
            <a:ext cx="723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6E6E68"/>
                </a:solidFill>
              </a:defRPr>
            </a:pPr>
            <a:r>
              <a:rPr sz="1575" b="0">
                <a:solidFill>
                  <a:srgbClr val="6E6E68"/>
                </a:solidFill>
              </a:rPr>
              <a:t>что можно recompute, что обязано быть durable, каков blast radius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5CB3266-C2E2-439B-ACCF-79A33E7B8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095750"/>
            <a:ext cx="96964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0A5612E-AFD5-4A56-A6AB-9EE85628F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00550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A37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2FA2FE6-EB4B-4E6D-BD98-394E30897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0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371FF9A-5822-4841-A07B-E27EEF47D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34340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02123"/>
                </a:solidFill>
              </a:defRPr>
            </a:pPr>
            <a:r>
              <a:rPr sz="1875" b="1">
                <a:solidFill>
                  <a:srgbClr val="202123"/>
                </a:solidFill>
              </a:rPr>
              <a:t>Platform fit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36FDD78-E26C-4EFE-B165-89953C9B8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362450"/>
            <a:ext cx="723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6E6E68"/>
                </a:solidFill>
              </a:defRPr>
            </a:pPr>
            <a:r>
              <a:rPr sz="1575" b="0">
                <a:solidFill>
                  <a:srgbClr val="6E6E68"/>
                </a:solidFill>
              </a:rPr>
              <a:t>security, catalog, lineage, autoscaling, skills и эксплуатационная зрелость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36E6AEA-5180-4B6C-984D-7ED1359D9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876800"/>
            <a:ext cx="96964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BA92D8B-C0FF-42E4-9CEC-5A2DB3916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81600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40D1185-7ACB-4257-B909-5E834BF18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62550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60A83FA-965F-4A6E-95BC-50F54FA70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12445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02123"/>
                </a:solidFill>
              </a:defRPr>
            </a:pPr>
            <a:r>
              <a:rPr sz="1875" b="1">
                <a:solidFill>
                  <a:srgbClr val="202123"/>
                </a:solidFill>
              </a:rPr>
              <a:t>Evidence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2B39BEA-AE70-4378-86A2-27262DB63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5143500"/>
            <a:ext cx="723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6E6E68"/>
                </a:solidFill>
              </a:defRPr>
            </a:pPr>
            <a:r>
              <a:rPr sz="1575" b="0">
                <a:solidFill>
                  <a:srgbClr val="6E6E68"/>
                </a:solidFill>
              </a:rPr>
              <a:t>сравнить end-to-end cost, p95 latency и operator toil на репрезентативных данных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2781688-8739-4923-B95C-CBE0AD71D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657850"/>
            <a:ext cx="96964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1982523155"/>
      </p:ext>
    </p:extLst>
  </p:cSld>
</p:sld>
</file>

<file path=ppt/slides/slide45.xml><?xml version="1.0" encoding="utf-8"?>
<p:sld xmlns:p="http://schemas.openxmlformats.org/presentationml/2006/main">
  <p:cSld>
    <p:bg>
      <p:bgPr>
        <a:solidFill xmlns:a="http://schemas.openxmlformats.org/drawingml/2006/main">
          <a:srgbClr val="F7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7285563-7AAE-4D1E-812C-F558B0735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F6FED"/>
                </a:solidFill>
              </a:defRPr>
            </a:pPr>
            <a:r>
              <a:rPr sz="1050" b="1">
                <a:solidFill>
                  <a:srgbClr val="2F6FED"/>
                </a:solidFill>
              </a:rPr>
              <a:t>CATALYST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CFD4C90-0772-48F8-B09E-525D51DE3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238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DE / MENTOR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6E9AD53-44E4-4DB3-88D1-BF7511582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C65B7F1-7E67-45D1-9157-A24EF2214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45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6FFBB25-8846-4B64-8923-D825A0AD1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</a:defRPr>
            </a:pPr>
            <a:r>
              <a:rPr sz="2850" b="1">
                <a:solidFill>
                  <a:srgbClr val="202123"/>
                </a:solidFill>
              </a:rPr>
              <a:t>Один DataFrame проходит четыре слоя плана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A20AF88-56BC-4265-9707-898B3A34F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1762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6FED"/>
                </a:solidFill>
              </a:defRPr>
            </a:pPr>
            <a:r>
              <a:rPr sz="1875" b="1">
                <a:solidFill>
                  <a:srgbClr val="2F6FED"/>
                </a:solidFill>
              </a:rPr>
              <a:t>Parsed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1E1AA5D-472D-4E1D-A58A-E9F7AD5CD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2095500"/>
            <a:ext cx="4095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02123"/>
                </a:solidFill>
              </a:defRPr>
            </a:pPr>
            <a:r>
              <a:rPr sz="1650" b="1">
                <a:solidFill>
                  <a:srgbClr val="202123"/>
                </a:solidFill>
              </a:rPr>
              <a:t>что написал пользователь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AC83380-740B-495D-AA99-DBC0A7DB4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095500"/>
            <a:ext cx="381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E6E68"/>
                </a:solidFill>
              </a:defRPr>
            </a:pPr>
            <a:r>
              <a:rPr sz="1500" b="0">
                <a:solidFill>
                  <a:srgbClr val="6E6E68"/>
                </a:solidFill>
              </a:rPr>
              <a:t>ещё без разрешённых колонок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36A5544-55DF-49E0-9C30-14C28C8CA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24150"/>
            <a:ext cx="10363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EE0391E-8A59-43C4-887E-3569FE9EB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90850"/>
            <a:ext cx="1762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6FED"/>
                </a:solidFill>
              </a:defRPr>
            </a:pPr>
            <a:r>
              <a:rPr sz="1875" b="1">
                <a:solidFill>
                  <a:srgbClr val="2F6FED"/>
                </a:solidFill>
              </a:rPr>
              <a:t>Analyzed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7D6AC0F-06F5-46AE-BE81-90DC61F88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2990850"/>
            <a:ext cx="4095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02123"/>
                </a:solidFill>
              </a:defRPr>
            </a:pPr>
            <a:r>
              <a:rPr sz="1650" b="1">
                <a:solidFill>
                  <a:srgbClr val="202123"/>
                </a:solidFill>
              </a:rPr>
              <a:t>колонки и типы разрешены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8E1C0B7-4873-43CA-9ACA-9DBB1DDA5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990850"/>
            <a:ext cx="381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E6E68"/>
                </a:solidFill>
              </a:defRPr>
            </a:pPr>
            <a:r>
              <a:rPr sz="1500" b="0">
                <a:solidFill>
                  <a:srgbClr val="6E6E68"/>
                </a:solidFill>
              </a:rPr>
              <a:t>контракт проверен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1DB3111-7234-4008-9FAC-E88CED7E3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0"/>
            <a:ext cx="10363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D2EB5EC-45E1-40AD-BF44-A23B3FF16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86200"/>
            <a:ext cx="1762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6FED"/>
                </a:solidFill>
              </a:defRPr>
            </a:pPr>
            <a:r>
              <a:rPr sz="1875" b="1">
                <a:solidFill>
                  <a:srgbClr val="2F6FED"/>
                </a:solidFill>
              </a:rPr>
              <a:t>Optimized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992787E-F287-4336-B415-1D8A903FC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3886200"/>
            <a:ext cx="4095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02123"/>
                </a:solidFill>
              </a:defRPr>
            </a:pPr>
            <a:r>
              <a:rPr sz="1650" b="1">
                <a:solidFill>
                  <a:srgbClr val="202123"/>
                </a:solidFill>
              </a:rPr>
              <a:t>predicate pushdown, pruning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791E1A7-D61E-4AFB-90F7-BB299392A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886200"/>
            <a:ext cx="381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E6E68"/>
                </a:solidFill>
              </a:defRPr>
            </a:pPr>
            <a:r>
              <a:rPr sz="1500" b="0">
                <a:solidFill>
                  <a:srgbClr val="6E6E68"/>
                </a:solidFill>
              </a:rPr>
              <a:t>логика переписана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418158E-5180-48A9-89A1-263BC00B1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14850"/>
            <a:ext cx="10363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5650A64-347E-4E89-83EE-55D1D71D5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81550"/>
            <a:ext cx="1762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E25A1C"/>
                </a:solidFill>
              </a:defRPr>
            </a:pPr>
            <a:r>
              <a:rPr sz="1875" b="1">
                <a:solidFill>
                  <a:srgbClr val="E25A1C"/>
                </a:solidFill>
              </a:rPr>
              <a:t>Physical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8B463C6-B832-4698-8BD5-3206F6A7F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781550"/>
            <a:ext cx="4095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02123"/>
                </a:solidFill>
              </a:defRPr>
            </a:pPr>
            <a:r>
              <a:rPr sz="1650" b="1">
                <a:solidFill>
                  <a:srgbClr val="202123"/>
                </a:solidFill>
              </a:rPr>
              <a:t>join и exchange выбраны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34B071C-DD5D-40D1-A4B9-646187580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781550"/>
            <a:ext cx="381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E6E68"/>
                </a:solidFill>
              </a:defRPr>
            </a:pPr>
            <a:r>
              <a:rPr sz="1500" b="0">
                <a:solidFill>
                  <a:srgbClr val="6E6E68"/>
                </a:solidFill>
              </a:rPr>
              <a:t>можно выполнять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8003522-054D-43CD-A81A-786FC0DCA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10200"/>
            <a:ext cx="10363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771984769"/>
      </p:ext>
    </p:extLst>
  </p:cSld>
</p:sld>
</file>

<file path=ppt/slides/slide46.xml><?xml version="1.0" encoding="utf-8"?>
<p:sld xmlns:p="http://schemas.openxmlformats.org/presentationml/2006/main">
  <p:cSld>
    <p:bg>
      <p:bgPr>
        <a:solidFill xmlns:a="http://schemas.openxmlformats.org/drawingml/2006/main">
          <a:srgbClr val="F7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0740B39-F1BB-49D6-80D6-1F62C37A8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F6FED"/>
                </a:solidFill>
              </a:defRPr>
            </a:pPr>
            <a:r>
              <a:rPr sz="1050" b="1">
                <a:solidFill>
                  <a:srgbClr val="2F6FED"/>
                </a:solidFill>
              </a:rPr>
              <a:t>DAG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C3894CB-49AE-46C3-9CF5-6910FAC7D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238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DE / MENTOR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4B203A4-D4D4-4702-B4D3-899A17EB9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FC5DF49-303C-4C86-881C-13876EBA2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46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EB95BD7-B716-464C-95FA-C11049CE6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</a:defRPr>
            </a:pPr>
            <a:r>
              <a:rPr sz="2850" b="1">
                <a:solidFill>
                  <a:srgbClr val="202123"/>
                </a:solidFill>
              </a:rPr>
              <a:t>Narrow dependency конвейеризуется; wide требует обмена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B1009C8-ECB0-4637-8A58-85C3077E6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14550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E6E68"/>
                </a:solidFill>
              </a:defRPr>
            </a:pPr>
            <a:r>
              <a:rPr sz="1200" b="1">
                <a:solidFill>
                  <a:srgbClr val="6E6E68"/>
                </a:solidFill>
              </a:rPr>
              <a:t>NARROW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A83A5A3-8800-45D4-B94A-363F55AE4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47950"/>
            <a:ext cx="4762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F2428"/>
                </a:solidFill>
              </a:defRPr>
            </a:pPr>
            <a:r>
              <a:rPr sz="2325" b="1">
                <a:solidFill>
                  <a:srgbClr val="1F2428"/>
                </a:solidFill>
              </a:rPr>
              <a:t>filter → select → withColumn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23E9959-6288-43AA-95FD-8BBA07B32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671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2339696-6D3F-4CE3-B2C2-08535D80E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781425"/>
            <a:ext cx="4495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02123"/>
                </a:solidFill>
              </a:defRPr>
            </a:pPr>
            <a:r>
              <a:rPr sz="1575" b="0">
                <a:solidFill>
                  <a:srgbClr val="202123"/>
                </a:solidFill>
              </a:rPr>
              <a:t>Одна input partition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1831EE1-1340-42BC-BC48-8710376E6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577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EAC301E-B6D8-4734-A37A-F1354FAB1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371975"/>
            <a:ext cx="4495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02123"/>
                </a:solidFill>
              </a:defRPr>
            </a:pPr>
            <a:r>
              <a:rPr sz="1575" b="0">
                <a:solidFill>
                  <a:srgbClr val="202123"/>
                </a:solidFill>
              </a:rPr>
              <a:t>Одна output partition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B38C8AF-B86F-4E57-B3C9-3687EBA43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482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7A5A528-DBBE-43DD-A3D6-0E7E2632F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962525"/>
            <a:ext cx="4495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02123"/>
                </a:solidFill>
              </a:defRPr>
            </a:pPr>
            <a:r>
              <a:rPr sz="1575" b="0">
                <a:solidFill>
                  <a:srgbClr val="202123"/>
                </a:solidFill>
              </a:rPr>
              <a:t>Обычно одна stage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0B3FA82-DC22-444F-B9EB-7CF90FA62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114550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E25A1C"/>
                </a:solidFill>
              </a:defRPr>
            </a:pPr>
            <a:r>
              <a:rPr sz="1200" b="1">
                <a:solidFill>
                  <a:srgbClr val="E25A1C"/>
                </a:solidFill>
              </a:rPr>
              <a:t>WIDE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3AA1320-94A4-4863-A7A7-58465B7E4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647950"/>
            <a:ext cx="4762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F2428"/>
                </a:solidFill>
              </a:defRPr>
            </a:pPr>
            <a:r>
              <a:rPr sz="2325" b="1">
                <a:solidFill>
                  <a:srgbClr val="1F2428"/>
                </a:solidFill>
              </a:rPr>
              <a:t>groupBy → join → orderBy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DB6E022-F189-40CC-947C-AEA2F780E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8671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E002CD3-89A9-4C3A-BF50-5F0DD900E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781425"/>
            <a:ext cx="4495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02123"/>
                </a:solidFill>
              </a:defRPr>
            </a:pPr>
            <a:r>
              <a:rPr sz="1575" b="0">
                <a:solidFill>
                  <a:srgbClr val="202123"/>
                </a:solidFill>
              </a:rPr>
              <a:t>Много input partitions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482E1E0-AEBA-4A4D-9AA2-6AF6767AD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4577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9F9A6BB-EEF9-4AE4-B469-86D8A4330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371975"/>
            <a:ext cx="4495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02123"/>
                </a:solidFill>
              </a:defRPr>
            </a:pPr>
            <a:r>
              <a:rPr sz="1575" b="0">
                <a:solidFill>
                  <a:srgbClr val="202123"/>
                </a:solidFill>
              </a:rPr>
              <a:t>Перераспределение по ключу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B1CE772-BB95-410A-A473-F7BE9594C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0482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B3B1B3D-AA4C-4446-A3A3-9E9503E44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962525"/>
            <a:ext cx="4495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02123"/>
                </a:solidFill>
              </a:defRPr>
            </a:pPr>
            <a:r>
              <a:rPr sz="1575" b="0">
                <a:solidFill>
                  <a:srgbClr val="202123"/>
                </a:solidFill>
              </a:rPr>
              <a:t>Новая stage после shuffle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3DC9FDE-7BB6-45D3-A3B8-4EED3CE2D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038350"/>
            <a:ext cx="19050" cy="3714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67686328"/>
      </p:ext>
    </p:extLst>
  </p:cSld>
</p:sld>
</file>

<file path=ppt/slides/slide47.xml><?xml version="1.0" encoding="utf-8"?>
<p:sld xmlns:p="http://schemas.openxmlformats.org/presentationml/2006/main">
  <p:cSld>
    <p:bg>
      <p:bgPr>
        <a:solidFill xmlns:a="http://schemas.openxmlformats.org/drawingml/2006/main">
          <a:srgbClr val="F7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6696478-02B1-4F8D-B360-B2FF420F1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F6FED"/>
                </a:solidFill>
              </a:defRPr>
            </a:pPr>
            <a:r>
              <a:rPr sz="1050" b="1">
                <a:solidFill>
                  <a:srgbClr val="2F6FED"/>
                </a:solidFill>
              </a:rPr>
              <a:t>PYSPARK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9EAF7D5-7D87-499D-85FE-42A3D5045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238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DE / MENTOR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F6965E-102D-4F5A-9E39-5D91C2A18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A287526-F820-40BF-B97B-10B32ACED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47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6282E93-9DCB-48FE-9AA2-B2563FE75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</a:defRPr>
            </a:pPr>
            <a:r>
              <a:rPr sz="2850" b="1">
                <a:solidFill>
                  <a:srgbClr val="202123"/>
                </a:solidFill>
              </a:rPr>
              <a:t>PySpark управляет JVM engine — граница становится дорогой построчно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AE2358A-F027-48E6-9D67-A90C6B7A6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76450"/>
            <a:ext cx="476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0A37F"/>
                </a:solidFill>
              </a:defRPr>
            </a:pPr>
            <a:r>
              <a:rPr sz="1275" b="1">
                <a:solidFill>
                  <a:srgbClr val="10A37F"/>
                </a:solidFill>
              </a:rPr>
              <a:t>ENGINE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928D925-7C26-41AC-8C84-95B7D696F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076450"/>
            <a:ext cx="476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B42318"/>
                </a:solidFill>
              </a:defRPr>
            </a:pPr>
            <a:r>
              <a:rPr sz="1275" b="1">
                <a:solidFill>
                  <a:srgbClr val="B42318"/>
                </a:solidFill>
              </a:rPr>
              <a:t>НЕ ENGINE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A5CC57C-5B2D-4829-9B8B-9871D3A5C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047875"/>
            <a:ext cx="19050" cy="3714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01A5BE0-F7EB-4F5B-A0A4-C50FFF838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71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36FCD53-36F1-4C76-9399-7CF488F1A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686050"/>
            <a:ext cx="4495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02123"/>
                </a:solidFill>
              </a:defRPr>
            </a:pPr>
            <a:r>
              <a:rPr sz="1725" b="0">
                <a:solidFill>
                  <a:srgbClr val="202123"/>
                </a:solidFill>
              </a:rPr>
              <a:t>DataFrame expressions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87B5B79-8AD2-4EDB-B5D3-7AA67724F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385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03F13E6-5BE6-4F6B-BD9D-92EFAAC49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352800"/>
            <a:ext cx="4495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02123"/>
                </a:solidFill>
              </a:defRPr>
            </a:pPr>
            <a:r>
              <a:rPr sz="1725" b="0">
                <a:solidFill>
                  <a:srgbClr val="202123"/>
                </a:solidFill>
              </a:rPr>
              <a:t>Arrow batch exchange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92EE865-E9B6-4E97-AF95-164667A6E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052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47EAD2D-0613-4972-9388-2315AD719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019550"/>
            <a:ext cx="4495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02123"/>
                </a:solidFill>
              </a:defRPr>
            </a:pPr>
            <a:r>
              <a:rPr sz="1725" b="0">
                <a:solidFill>
                  <a:srgbClr val="202123"/>
                </a:solidFill>
              </a:rPr>
              <a:t>Pandas UDF batch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1ED0BFE-36F9-4FAD-B696-5F8BF0059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720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B1AA233-920B-43F5-9DA9-2184358D1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686300"/>
            <a:ext cx="4495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02123"/>
                </a:solidFill>
              </a:defRPr>
            </a:pPr>
            <a:r>
              <a:rPr sz="1725" b="0">
                <a:solidFill>
                  <a:srgbClr val="202123"/>
                </a:solidFill>
              </a:rPr>
              <a:t>Catalyst-visible logic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0B66691-2368-41B0-8C31-8236883C3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7717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740D00F-2686-4059-B4A9-E6CC971CD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686050"/>
            <a:ext cx="4495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02123"/>
                </a:solidFill>
              </a:defRPr>
            </a:pPr>
            <a:r>
              <a:rPr sz="1725" b="0">
                <a:solidFill>
                  <a:srgbClr val="202123"/>
                </a:solidFill>
              </a:rPr>
              <a:t>Обычный Python UDF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334CA3D-804B-43B4-93B3-D000E4432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4385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8130321-1E30-4E1B-A0AB-267C5AA10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352800"/>
            <a:ext cx="4495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02123"/>
                </a:solidFill>
              </a:defRPr>
            </a:pPr>
            <a:r>
              <a:rPr sz="1725" b="0">
                <a:solidFill>
                  <a:srgbClr val="202123"/>
                </a:solidFill>
              </a:rPr>
              <a:t>Row-by-row serialization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25214A9-D5A4-4E42-9202-B9CFA974A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1052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023F93C-3027-466D-A105-36299638C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019550"/>
            <a:ext cx="4495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02123"/>
                </a:solidFill>
              </a:defRPr>
            </a:pPr>
            <a:r>
              <a:rPr sz="1725" b="0">
                <a:solidFill>
                  <a:srgbClr val="202123"/>
                </a:solidFill>
              </a:rPr>
              <a:t>Непрозрачная бизнес-логика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0156425-8FD5-4230-AC8F-91696FC09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7720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120CED7-B514-4AE7-A96A-A95F6410B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686300"/>
            <a:ext cx="4495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02123"/>
                </a:solidFill>
              </a:defRPr>
            </a:pPr>
            <a:r>
              <a:rPr sz="1725" b="0">
                <a:solidFill>
                  <a:srgbClr val="202123"/>
                </a:solidFill>
              </a:rPr>
              <a:t>Сложнее оптимизировать</a:t>
            </a:r>
          </a:p>
        </p:txBody>
      </p:sp>
    </p:spTree>
    <p:extLst>
      <p:ext uri="{BB962C8B-B14F-4D97-AF65-F5344CB8AC3E}">
        <p14:creationId xmlns:p14="http://schemas.microsoft.com/office/powerpoint/2010/main" val="1707910814"/>
      </p:ext>
    </p:extLst>
  </p:cSld>
</p:sld>
</file>

<file path=ppt/slides/slide48.xml><?xml version="1.0" encoding="utf-8"?>
<p:sld xmlns:p="http://schemas.openxmlformats.org/presentationml/2006/main">
  <p:cSld>
    <p:bg>
      <p:bgPr>
        <a:solidFill xmlns:a="http://schemas.openxmlformats.org/drawingml/2006/main">
          <a:srgbClr val="F7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66A47FB-6E55-4EB8-9A11-5BDD725A2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F6FED"/>
                </a:solidFill>
              </a:defRPr>
            </a:pPr>
            <a:r>
              <a:rPr sz="1050" b="1">
                <a:solidFill>
                  <a:srgbClr val="2F6FED"/>
                </a:solidFill>
              </a:rPr>
              <a:t>SHUFFLE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45CD669-64CE-446A-B8F4-3A4A912E7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238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DE / MENTOR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0924776-CC8C-49B1-AB76-2CD651B67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8BA5C5C-0D33-4006-B333-38A2C848F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48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4B5CB10-1FC5-4B60-A8A5-3EC56BF96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</a:defRPr>
            </a:pPr>
            <a:r>
              <a:rPr sz="2850" b="1">
                <a:solidFill>
                  <a:srgbClr val="202123"/>
                </a:solidFill>
              </a:rPr>
              <a:t>Shuffle — это сеть, файлы и синхронизация между stages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92855A3-1443-41D2-9CAD-8DB083EAF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52650"/>
            <a:ext cx="238125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A975177-087A-4C4A-9920-8FF8CDCF6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4790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02123"/>
                </a:solidFill>
              </a:defRPr>
            </a:pPr>
            <a:r>
              <a:rPr sz="1425" b="1">
                <a:solidFill>
                  <a:srgbClr val="202123"/>
                </a:solidFill>
              </a:rPr>
              <a:t>map output 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9FEFEB9-D7EF-45A1-ABAB-811EA778C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38450"/>
            <a:ext cx="238125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824DC3C-7352-4D2F-888B-28E5EA051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93370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02123"/>
                </a:solidFill>
              </a:defRPr>
            </a:pPr>
            <a:r>
              <a:rPr sz="1425" b="1">
                <a:solidFill>
                  <a:srgbClr val="202123"/>
                </a:solidFill>
              </a:rPr>
              <a:t>map output 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86E116F-F129-47A0-A4EF-CFE3F1279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24250"/>
            <a:ext cx="238125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C057D90-9129-4DF4-871C-DD1C98360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1950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02123"/>
                </a:solidFill>
              </a:defRPr>
            </a:pPr>
            <a:r>
              <a:rPr sz="1425" b="1">
                <a:solidFill>
                  <a:srgbClr val="202123"/>
                </a:solidFill>
              </a:rPr>
              <a:t>map output 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2A2DB45-B0A5-4808-9468-467942C26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10050"/>
            <a:ext cx="238125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016C973-27E4-46C6-BF04-F6377CA1B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0530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02123"/>
                </a:solidFill>
              </a:defRPr>
            </a:pPr>
            <a:r>
              <a:rPr sz="1425" b="1">
                <a:solidFill>
                  <a:srgbClr val="202123"/>
                </a:solidFill>
              </a:rPr>
              <a:t>map output 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CF10C81-F5E7-4537-BD68-37E601A83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781300"/>
            <a:ext cx="285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E25A1C"/>
                </a:solidFill>
              </a:defRPr>
            </a:pPr>
            <a:r>
              <a:rPr sz="2850" b="1">
                <a:solidFill>
                  <a:srgbClr val="E25A1C"/>
                </a:solidFill>
              </a:rPr>
              <a:t>SHUFFLE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5FEC7AC-1321-4E7A-9BBD-C9978D79F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619500"/>
            <a:ext cx="4286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serialize  ·  write  ·  fetch  ·  merge  ·  spill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F6FA554-30A0-44C2-8759-ABA355572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152650"/>
            <a:ext cx="238125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1F24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D40401F-C476-4A8B-BCEF-190478B82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24790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reduce 0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22EE95A-CA3B-4E98-A682-FDE20290E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067050"/>
            <a:ext cx="238125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1F24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F8B1CEF-D0C1-400E-8785-9EA4625B6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16230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reduce 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2F122E1-6377-4E5D-9E43-A1CF72BA1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981450"/>
            <a:ext cx="238125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1F24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CEE3FFA-8EDE-48DA-90FA-09881E067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07670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reduce 2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F18C6CC-77EF-4752-B84B-71F5D770F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895850"/>
            <a:ext cx="238125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1F24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B798144-D896-4463-B365-12A5BC041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99110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reduce 3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FE351BB-ADB8-4DBE-AE87-9B2372FE7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467350"/>
            <a:ext cx="9334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B42318"/>
                </a:solidFill>
              </a:defRPr>
            </a:pPr>
            <a:r>
              <a:rPr sz="1650" b="1">
                <a:solidFill>
                  <a:srgbClr val="B42318"/>
                </a:solidFill>
              </a:rPr>
              <a:t>Оптимизация shuffle начинается с объёма данных и распределения ключей.</a:t>
            </a:r>
          </a:p>
        </p:txBody>
      </p:sp>
    </p:spTree>
    <p:extLst>
      <p:ext uri="{BB962C8B-B14F-4D97-AF65-F5344CB8AC3E}">
        <p14:creationId xmlns:p14="http://schemas.microsoft.com/office/powerpoint/2010/main" val="1014457018"/>
      </p:ext>
    </p:extLst>
  </p:cSld>
</p:sld>
</file>

<file path=ppt/slides/slide49.xml><?xml version="1.0" encoding="utf-8"?>
<p:sld xmlns:p="http://schemas.openxmlformats.org/presentationml/2006/main">
  <p:cSld>
    <p:bg>
      <p:bgPr>
        <a:solidFill xmlns:a="http://schemas.openxmlformats.org/drawingml/2006/main">
          <a:srgbClr val="F7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6CCAADB-B37E-4313-B2C9-55FB692BE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F6FED"/>
                </a:solidFill>
              </a:defRPr>
            </a:pPr>
            <a:r>
              <a:rPr sz="1050" b="1">
                <a:solidFill>
                  <a:srgbClr val="2F6FED"/>
                </a:solidFill>
              </a:rPr>
              <a:t>JOIN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C73C63F-FEE5-493D-BF96-89486435D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238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DE / MENTOR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E35711C-CDEF-469E-A285-AC395A392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5A97394-1937-4655-84CE-C99E275B7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49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7BE5C25-BA05-40A1-A6BE-D6FA81ED7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</a:defRPr>
            </a:pPr>
            <a:r>
              <a:rPr sz="2850" b="1">
                <a:solidFill>
                  <a:srgbClr val="202123"/>
                </a:solidFill>
              </a:rPr>
              <a:t>SortMergeJoin масштабируется, но сортирует обе стороны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3B199B1-D6F9-4EAD-ACDD-979E0933A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0250"/>
            <a:ext cx="7239000" cy="3571875"/>
          </a:xfrm>
          <a:prstGeom xmlns:a="http://schemas.openxmlformats.org/drawingml/2006/main" prst="roundRect">
            <a:avLst>
              <a:gd name="adj" fmla="val 2133"/>
            </a:avLst>
          </a:prstGeom>
          <a:solidFill xmlns:a="http://schemas.openxmlformats.org/drawingml/2006/main">
            <a:srgbClr val="1F24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C41C3A3-8466-4923-8BFB-29ECBCDD7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266950"/>
            <a:ext cx="6743700" cy="30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E6EDF3"/>
                </a:solidFill>
              </a:defRPr>
            </a:pPr>
            <a:r>
              <a:rPr sz="1275" b="0">
                <a:solidFill>
                  <a:srgbClr val="E6EDF3"/>
                </a:solidFill>
              </a:rPr>
              <a:t>+- SortMergeJoin [customer_id], [customer_id], Inner</a:t>
            </a:r>
          </a:p>
          <a:p xmlns:a="http://schemas.openxmlformats.org/drawingml/2006/main">
            <a:pPr algn="l">
              <a:defRPr sz="1275" b="0">
                <a:solidFill>
                  <a:srgbClr val="E6EDF3"/>
                </a:solidFill>
              </a:defRPr>
            </a:pPr>
            <a:r>
              <a:rPr sz="1275" b="0">
                <a:solidFill>
                  <a:srgbClr val="E6EDF3"/>
                </a:solidFill>
              </a:rPr>
              <a:t>   :- Sort [customer_id ASC]</a:t>
            </a:r>
          </a:p>
          <a:p xmlns:a="http://schemas.openxmlformats.org/drawingml/2006/main">
            <a:pPr algn="l">
              <a:defRPr sz="1275" b="0">
                <a:solidFill>
                  <a:srgbClr val="E6EDF3"/>
                </a:solidFill>
              </a:defRPr>
            </a:pPr>
            <a:r>
              <a:rPr sz="1275" b="0">
                <a:solidFill>
                  <a:srgbClr val="E6EDF3"/>
                </a:solidFill>
              </a:rPr>
              <a:t>   :  +- Exchange hashpartitioning(customer_id, 200)</a:t>
            </a:r>
          </a:p>
          <a:p xmlns:a="http://schemas.openxmlformats.org/drawingml/2006/main">
            <a:pPr algn="l">
              <a:defRPr sz="1275" b="0">
                <a:solidFill>
                  <a:srgbClr val="E6EDF3"/>
                </a:solidFill>
              </a:defRPr>
            </a:pPr>
            <a:r>
              <a:rPr sz="1275" b="0">
                <a:solidFill>
                  <a:srgbClr val="E6EDF3"/>
                </a:solidFill>
              </a:rPr>
              <a:t>   +- Sort [customer_id ASC]</a:t>
            </a:r>
          </a:p>
          <a:p xmlns:a="http://schemas.openxmlformats.org/drawingml/2006/main">
            <a:pPr algn="l">
              <a:defRPr sz="1275" b="0">
                <a:solidFill>
                  <a:srgbClr val="E6EDF3"/>
                </a:solidFill>
              </a:defRPr>
            </a:pPr>
            <a:r>
              <a:rPr sz="1275" b="0">
                <a:solidFill>
                  <a:srgbClr val="E6EDF3"/>
                </a:solidFill>
              </a:rPr>
              <a:t>      +- Exchange hashpartitioning(customer_id, 200)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D4C5130-727E-45E1-9AC2-43438B8BB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266950"/>
            <a:ext cx="285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E25A1C"/>
                </a:solidFill>
              </a:defRPr>
            </a:pPr>
            <a:r>
              <a:rPr sz="1800" b="1">
                <a:solidFill>
                  <a:srgbClr val="E25A1C"/>
                </a:solidFill>
              </a:rPr>
              <a:t>2 × Exchange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E116075-CC32-4150-85E5-21DA991A5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009900"/>
            <a:ext cx="285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6FED"/>
                </a:solidFill>
              </a:defRPr>
            </a:pPr>
            <a:r>
              <a:rPr sz="1800" b="1">
                <a:solidFill>
                  <a:srgbClr val="2F6FED"/>
                </a:solidFill>
              </a:rPr>
              <a:t>2 × Sort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5295C5D-8602-4128-8571-9A9702A8F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752850"/>
            <a:ext cx="285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6FED"/>
                </a:solidFill>
              </a:defRPr>
            </a:pPr>
            <a:r>
              <a:rPr sz="1800" b="1">
                <a:solidFill>
                  <a:srgbClr val="2F6FED"/>
                </a:solidFill>
              </a:rPr>
              <a:t>200 partitions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F4DD903-6382-4DD3-8FA3-907C8F9FD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648200"/>
            <a:ext cx="2952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E6E68"/>
                </a:solidFill>
              </a:defRPr>
            </a:pPr>
            <a:r>
              <a:rPr sz="1500" b="0">
                <a:solidFill>
                  <a:srgbClr val="6E6E68"/>
                </a:solidFill>
              </a:rPr>
              <a:t>Обе стороны перераспределяются по ключу: это устойчиво для больших таблиц, но дорого.</a:t>
            </a:r>
          </a:p>
        </p:txBody>
      </p:sp>
    </p:spTree>
    <p:extLst>
      <p:ext uri="{BB962C8B-B14F-4D97-AF65-F5344CB8AC3E}">
        <p14:creationId xmlns:p14="http://schemas.microsoft.com/office/powerpoint/2010/main" val="729854948"/>
      </p:ext>
    </p:extLst>
  </p:cSld>
</p:sld>
</file>

<file path=ppt/slides/slide50.xml><?xml version="1.0" encoding="utf-8"?>
<p:sld xmlns:p="http://schemas.openxmlformats.org/presentationml/2006/main">
  <p:cSld>
    <p:bg>
      <p:bgPr>
        <a:solidFill xmlns:a="http://schemas.openxmlformats.org/drawingml/2006/main">
          <a:srgbClr val="F7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D1B1E8E-197D-4F20-88A4-BE72768E5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F6FED"/>
                </a:solidFill>
              </a:defRPr>
            </a:pPr>
            <a:r>
              <a:rPr sz="1050" b="1">
                <a:solidFill>
                  <a:srgbClr val="2F6FED"/>
                </a:solidFill>
              </a:rPr>
              <a:t>JOIN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CC63B8C-B030-4007-83C3-2576FEFEC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238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DE / MENTOR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9FA746A-5D5F-4309-B716-D692E6130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EF50F5B-8143-464A-8BC6-F3BA0A627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50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308BA23-712E-468E-9D01-48A512D7A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</a:defRPr>
            </a:pPr>
            <a:r>
              <a:rPr sz="2850" b="1">
                <a:solidFill>
                  <a:srgbClr val="202123"/>
                </a:solidFill>
              </a:rPr>
              <a:t>BroadcastHashJoin убирает shuffle большой стороны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5ECCFD2-85EF-4217-ACC8-D9247EB23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0250"/>
            <a:ext cx="7239000" cy="3571875"/>
          </a:xfrm>
          <a:prstGeom xmlns:a="http://schemas.openxmlformats.org/drawingml/2006/main" prst="roundRect">
            <a:avLst>
              <a:gd name="adj" fmla="val 2133"/>
            </a:avLst>
          </a:prstGeom>
          <a:solidFill xmlns:a="http://schemas.openxmlformats.org/drawingml/2006/main">
            <a:srgbClr val="1F24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B694507-DEFF-4A27-B44C-1505C0E6D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266950"/>
            <a:ext cx="6743700" cy="30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E6EDF3"/>
                </a:solidFill>
              </a:defRPr>
            </a:pPr>
            <a:r>
              <a:rPr sz="1275" b="0">
                <a:solidFill>
                  <a:srgbClr val="E6EDF3"/>
                </a:solidFill>
              </a:rPr>
              <a:t>+- BroadcastHashJoin [country], [country], LeftOuter, BuildRight</a:t>
            </a:r>
          </a:p>
          <a:p xmlns:a="http://schemas.openxmlformats.org/drawingml/2006/main">
            <a:pPr algn="l">
              <a:defRPr sz="1275" b="0">
                <a:solidFill>
                  <a:srgbClr val="E6EDF3"/>
                </a:solidFill>
              </a:defRPr>
            </a:pPr>
            <a:r>
              <a:rPr sz="1275" b="0">
                <a:solidFill>
                  <a:srgbClr val="E6EDF3"/>
                </a:solidFill>
              </a:rPr>
              <a:t>   :- FileScan parquet [event_id, country, amount]</a:t>
            </a:r>
          </a:p>
          <a:p xmlns:a="http://schemas.openxmlformats.org/drawingml/2006/main">
            <a:pPr algn="l">
              <a:defRPr sz="1275" b="0">
                <a:solidFill>
                  <a:srgbClr val="E6EDF3"/>
                </a:solidFill>
              </a:defRPr>
            </a:pPr>
            <a:r>
              <a:rPr sz="1275" b="0">
                <a:solidFill>
                  <a:srgbClr val="E6EDF3"/>
                </a:solidFill>
              </a:rPr>
              <a:t>   +- BroadcastExchange HashedRelationBroadcastMode</a:t>
            </a:r>
          </a:p>
          <a:p xmlns:a="http://schemas.openxmlformats.org/drawingml/2006/main">
            <a:pPr algn="l">
              <a:defRPr sz="1275" b="0">
                <a:solidFill>
                  <a:srgbClr val="E6EDF3"/>
                </a:solidFill>
              </a:defRPr>
            </a:pPr>
            <a:r>
              <a:rPr sz="1275" b="0">
                <a:solidFill>
                  <a:srgbClr val="E6EDF3"/>
                </a:solidFill>
              </a:rPr>
              <a:t>      +- FileScan parquet [country, country_name]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9ABD5F2-3E06-4C90-A67B-978262AE2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266950"/>
            <a:ext cx="285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E25A1C"/>
                </a:solidFill>
              </a:defRPr>
            </a:pPr>
            <a:r>
              <a:rPr sz="1800" b="1">
                <a:solidFill>
                  <a:srgbClr val="E25A1C"/>
                </a:solidFill>
              </a:rPr>
              <a:t>BuildRight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7843C27-7F8B-46C0-AC53-74981FBED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009900"/>
            <a:ext cx="285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6FED"/>
                </a:solidFill>
              </a:defRPr>
            </a:pPr>
            <a:r>
              <a:rPr sz="1800" b="1">
                <a:solidFill>
                  <a:srgbClr val="2F6FED"/>
                </a:solidFill>
              </a:rPr>
              <a:t>BroadcastExchange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A60E465-5D09-4C5C-8197-B3B9EFB17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752850"/>
            <a:ext cx="285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6FED"/>
                </a:solidFill>
              </a:defRPr>
            </a:pPr>
            <a:r>
              <a:rPr sz="1800" b="1">
                <a:solidFill>
                  <a:srgbClr val="2F6FED"/>
                </a:solidFill>
              </a:rPr>
              <a:t>нет Exchange слева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D33310F-5F0F-4D22-B445-9E4D24061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648200"/>
            <a:ext cx="2952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E6E68"/>
                </a:solidFill>
              </a:defRPr>
            </a:pPr>
            <a:r>
              <a:rPr sz="1500" b="0">
                <a:solidFill>
                  <a:srgbClr val="6E6E68"/>
                </a:solidFill>
              </a:rPr>
              <a:t>Маленький справочник копируется на executors; большая таблица остаётся на месте.</a:t>
            </a:r>
          </a:p>
        </p:txBody>
      </p:sp>
    </p:spTree>
    <p:extLst>
      <p:ext uri="{BB962C8B-B14F-4D97-AF65-F5344CB8AC3E}">
        <p14:creationId xmlns:p14="http://schemas.microsoft.com/office/powerpoint/2010/main" val="130606880"/>
      </p:ext>
    </p:extLst>
  </p:cSld>
</p:sld>
</file>

<file path=ppt/slides/slide51.xml><?xml version="1.0" encoding="utf-8"?>
<p:sld xmlns:p="http://schemas.openxmlformats.org/presentationml/2006/main">
  <p:cSld>
    <p:bg>
      <p:bgPr>
        <a:solidFill xmlns:a="http://schemas.openxmlformats.org/drawingml/2006/main">
          <a:srgbClr val="F7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49005D1-C2C2-4D2D-86DF-5B01E70D7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F6FED"/>
                </a:solidFill>
              </a:defRPr>
            </a:pPr>
            <a:r>
              <a:rPr sz="1050" b="1">
                <a:solidFill>
                  <a:srgbClr val="2F6FED"/>
                </a:solidFill>
              </a:rPr>
              <a:t>AQE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A71EE86-4D6B-453A-9B01-AD3489025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238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DE / MENTOR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A30D2F5-EBFC-43C8-9373-051BDF0BD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4476212-658D-4515-A54A-67EC2B832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51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068AAAD-CA81-425E-A975-AAE3C82E9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</a:defRPr>
            </a:pPr>
            <a:r>
              <a:rPr sz="2850" b="1">
                <a:solidFill>
                  <a:srgbClr val="202123"/>
                </a:solidFill>
              </a:rPr>
              <a:t>AQE меняет physical plan по фактической статистике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6159396-3823-4AE3-8771-E36319DF8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4175" y="3105150"/>
            <a:ext cx="523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E25A1C"/>
                </a:solidFill>
              </a:defRPr>
            </a:pPr>
            <a:r>
              <a:rPr sz="2700" b="1">
                <a:solidFill>
                  <a:srgbClr val="E25A1C"/>
                </a:solidFill>
              </a:rPr>
              <a:t>→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B7104C7-C212-4514-BEFF-84FFD1A3E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76500"/>
            <a:ext cx="2190750" cy="17145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6811884-CC75-4A4B-9E61-A66B4C3C0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76550"/>
            <a:ext cx="17716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02123"/>
                </a:solidFill>
              </a:defRPr>
            </a:pPr>
            <a:r>
              <a:rPr sz="1875" b="1">
                <a:solidFill>
                  <a:srgbClr val="202123"/>
                </a:solidFill>
              </a:rPr>
              <a:t>initial plan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1208407-D990-4A59-A209-479B88EFF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476625"/>
            <a:ext cx="1771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оценки до запуска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3FAC70F-1588-4458-87CD-6CB843895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6425" y="3105150"/>
            <a:ext cx="523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E25A1C"/>
                </a:solidFill>
              </a:defRPr>
            </a:pPr>
            <a:r>
              <a:rPr sz="2700" b="1">
                <a:solidFill>
                  <a:srgbClr val="E25A1C"/>
                </a:solidFill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6E55DC9-881A-498A-B043-659074F01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476500"/>
            <a:ext cx="2190750" cy="17145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D0F40BE-5735-4121-8128-E42B09D1C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876550"/>
            <a:ext cx="17716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02123"/>
                </a:solidFill>
              </a:defRPr>
            </a:pPr>
            <a:r>
              <a:rPr sz="1875" b="1">
                <a:solidFill>
                  <a:srgbClr val="202123"/>
                </a:solidFill>
              </a:rPr>
              <a:t>runtime stats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2BF626E-E97F-42A6-96FA-98FCFC56B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476625"/>
            <a:ext cx="1771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размеры shuffle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5890534-5760-46F6-B142-8C6C1F7A8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3105150"/>
            <a:ext cx="523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E25A1C"/>
                </a:solidFill>
              </a:defRPr>
            </a:pPr>
            <a:r>
              <a:rPr sz="2700" b="1">
                <a:solidFill>
                  <a:srgbClr val="E25A1C"/>
                </a:solidFill>
              </a:rPr>
              <a:t>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946F530-B575-4699-A490-9FF084243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476500"/>
            <a:ext cx="2190750" cy="17145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E5FDC56-CA74-4A54-B376-71BB503AC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876550"/>
            <a:ext cx="17716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02123"/>
                </a:solidFill>
              </a:defRPr>
            </a:pPr>
            <a:r>
              <a:rPr sz="1875" b="1">
                <a:solidFill>
                  <a:srgbClr val="202123"/>
                </a:solidFill>
              </a:rPr>
              <a:t>plan update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D469561-3B1D-42B6-98E4-35B3A2889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476625"/>
            <a:ext cx="1771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join + partitions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70339FF-4225-46BA-9519-A0B3FDD3B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2476500"/>
            <a:ext cx="2190750" cy="17145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1F24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45FBCDD-C0E2-41CC-906F-F9A2C1388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2876550"/>
            <a:ext cx="17716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E25A1C"/>
                </a:solidFill>
              </a:defRPr>
            </a:pPr>
            <a:r>
              <a:rPr sz="1875" b="1">
                <a:solidFill>
                  <a:srgbClr val="E25A1C"/>
                </a:solidFill>
              </a:rPr>
              <a:t>final plan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974DA87-E8BD-4D5F-BD12-5979974EF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3476625"/>
            <a:ext cx="1771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адаптирован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28A14D7-5E2B-4C24-9B5F-F97A63A17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810125"/>
            <a:ext cx="10287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E25A1C"/>
                </a:solidFill>
              </a:defRPr>
            </a:pPr>
            <a:r>
              <a:rPr sz="1725" b="1">
                <a:solidFill>
                  <a:srgbClr val="E25A1C"/>
                </a:solidFill>
              </a:rPr>
              <a:t>AQE умеет coalesce partitions, менять join strategy и обрабатывать skewed partitions.</a:t>
            </a:r>
          </a:p>
        </p:txBody>
      </p:sp>
    </p:spTree>
    <p:extLst>
      <p:ext uri="{BB962C8B-B14F-4D97-AF65-F5344CB8AC3E}">
        <p14:creationId xmlns:p14="http://schemas.microsoft.com/office/powerpoint/2010/main" val="1540899054"/>
      </p:ext>
    </p:extLst>
  </p:cSld>
</p:sld>
</file>

<file path=ppt/slides/slide52.xml><?xml version="1.0" encoding="utf-8"?>
<p:sld xmlns:p="http://schemas.openxmlformats.org/presentationml/2006/main">
  <p:cSld>
    <p:bg>
      <p:bgPr>
        <a:solidFill xmlns:a="http://schemas.openxmlformats.org/drawingml/2006/main">
          <a:srgbClr val="F7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0582170-63F0-46B1-A69D-C3B20F69C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F6FED"/>
                </a:solidFill>
              </a:defRPr>
            </a:pPr>
            <a:r>
              <a:rPr sz="1050" b="1">
                <a:solidFill>
                  <a:srgbClr val="2F6FED"/>
                </a:solidFill>
              </a:rPr>
              <a:t>АНТИПАТТЕРНЫ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8F3C376-E207-41E1-A00F-60B30C17B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238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DE / MENTOR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66B9BBE-180C-41E3-8834-67339CF51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29C8204-495F-48FF-AB5B-B7A2AFB3D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52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1B78178-D888-4942-9A51-F5350758C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</a:defRPr>
            </a:pPr>
            <a:r>
              <a:rPr sz="2850" b="1">
                <a:solidFill>
                  <a:srgbClr val="202123"/>
                </a:solidFill>
              </a:rPr>
              <a:t>Skew и small files ломают масштабирование с разных сторон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C098A69-0C52-43DA-979A-AC43C9344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14550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E6E68"/>
                </a:solidFill>
              </a:defRPr>
            </a:pPr>
            <a:r>
              <a:rPr sz="1200" b="1">
                <a:solidFill>
                  <a:srgbClr val="6E6E68"/>
                </a:solidFill>
              </a:rPr>
              <a:t>DATA SKEW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0ABA39C-3129-4D94-8C66-B2978F283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47950"/>
            <a:ext cx="4762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F2428"/>
                </a:solidFill>
              </a:defRPr>
            </a:pPr>
            <a:r>
              <a:rPr sz="2325" b="1">
                <a:solidFill>
                  <a:srgbClr val="1F2428"/>
                </a:solidFill>
              </a:rPr>
              <a:t>Одна task держит stage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F5EE157-569E-47B8-B2AD-DD568DF8B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671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DEA48D6-5223-4A74-B627-822C754E0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781425"/>
            <a:ext cx="4495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02123"/>
                </a:solidFill>
              </a:defRPr>
            </a:pPr>
            <a:r>
              <a:rPr sz="1575" b="0">
                <a:solidFill>
                  <a:srgbClr val="202123"/>
                </a:solidFill>
              </a:rPr>
              <a:t>Горячий ключ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BBF2BA7-1B5E-4CCD-9933-5F143192D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577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6E50DD6-CD89-485C-B6E9-24E184609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371975"/>
            <a:ext cx="4495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02123"/>
                </a:solidFill>
              </a:defRPr>
            </a:pPr>
            <a:r>
              <a:rPr sz="1575" b="0">
                <a:solidFill>
                  <a:srgbClr val="202123"/>
                </a:solidFill>
              </a:rPr>
              <a:t>Длинный хвост task time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CC9A4C2-00D5-4F0E-AA88-7AE1E4725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482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47776C1-1E4E-43E6-A842-A39EE14CE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962525"/>
            <a:ext cx="4495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02123"/>
                </a:solidFill>
              </a:defRPr>
            </a:pPr>
            <a:r>
              <a:rPr sz="1575" b="0">
                <a:solidFill>
                  <a:srgbClr val="202123"/>
                </a:solidFill>
              </a:rPr>
              <a:t>Spill и OOM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FB09167-CEF9-47C7-AC27-57648641F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114550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E25A1C"/>
                </a:solidFill>
              </a:defRPr>
            </a:pPr>
            <a:r>
              <a:rPr sz="1200" b="1">
                <a:solidFill>
                  <a:srgbClr val="E25A1C"/>
                </a:solidFill>
              </a:rPr>
              <a:t>SMALL FILES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17D7CBE-C1D0-46A7-8076-5D749FFD8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647950"/>
            <a:ext cx="4762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F2428"/>
                </a:solidFill>
              </a:defRPr>
            </a:pPr>
            <a:r>
              <a:rPr sz="2325" b="1">
                <a:solidFill>
                  <a:srgbClr val="1F2428"/>
                </a:solidFill>
              </a:rPr>
              <a:t>Тысячи tasks делают мало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C518E25-BD60-48EE-AB0A-866E7C67B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8671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F2C7D88-1399-489C-B5C1-3671AFD7E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781425"/>
            <a:ext cx="4495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02123"/>
                </a:solidFill>
              </a:defRPr>
            </a:pPr>
            <a:r>
              <a:rPr sz="1575" b="0">
                <a:solidFill>
                  <a:srgbClr val="202123"/>
                </a:solidFill>
              </a:rPr>
              <a:t>Overhead планирования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77C4DC7-A2F9-4399-B1A2-B24DC66BD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4577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5F7AA0E-4CC8-4A8D-AD4F-B1CA24485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371975"/>
            <a:ext cx="4495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02123"/>
                </a:solidFill>
              </a:defRPr>
            </a:pPr>
            <a:r>
              <a:rPr sz="1575" b="0">
                <a:solidFill>
                  <a:srgbClr val="202123"/>
                </a:solidFill>
              </a:rPr>
              <a:t>Metadata pressure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F9AC709-1266-4788-8384-B2A552F1A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0482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B417576-B987-47B2-AA50-0DA0E5083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962525"/>
            <a:ext cx="4495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02123"/>
                </a:solidFill>
              </a:defRPr>
            </a:pPr>
            <a:r>
              <a:rPr sz="1575" b="0">
                <a:solidFill>
                  <a:srgbClr val="202123"/>
                </a:solidFill>
              </a:rPr>
              <a:t>Медленный listing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E868311-75A8-4406-A3F3-1702135FE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038350"/>
            <a:ext cx="19050" cy="3714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1204292151"/>
      </p:ext>
    </p:extLst>
  </p:cSld>
</p:sld>
</file>

<file path=ppt/slides/slide53.xml><?xml version="1.0" encoding="utf-8"?>
<p:sld xmlns:p="http://schemas.openxmlformats.org/presentationml/2006/main">
  <p:cSld>
    <p:bg>
      <p:bgPr>
        <a:solidFill xmlns:a="http://schemas.openxmlformats.org/drawingml/2006/main">
          <a:srgbClr val="F7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459167A-7EA9-416E-978A-C4FF46E56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F6FED"/>
                </a:solidFill>
              </a:defRPr>
            </a:pPr>
            <a:r>
              <a:rPr sz="1050" b="1">
                <a:solidFill>
                  <a:srgbClr val="2F6FED"/>
                </a:solidFill>
              </a:rPr>
              <a:t>PRODUCTION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F9887C2-D1B2-49EE-A324-BB837ADC3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238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DE / MENTOR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7CC630A-A9CC-4125-97DA-6A7B5318A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039A85D-A5A8-4DFA-A4AA-29FF21DD8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53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49F10A4-CC25-41A1-B156-D32FAFA97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</a:defRPr>
            </a:pPr>
            <a:r>
              <a:rPr sz="2850" b="1">
                <a:solidFill>
                  <a:srgbClr val="202123"/>
                </a:solidFill>
              </a:rPr>
              <a:t>Production-ready Spark начинается до spark-submit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5C93AC0-F349-4573-A8FF-BF49ED369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57400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A37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37ED375-58E3-4D5A-88CD-573A629BD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38350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40174F1-13AD-49DC-9353-F67A6F040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00025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02123"/>
                </a:solidFill>
              </a:defRPr>
            </a:pPr>
            <a:r>
              <a:rPr sz="1875" b="1">
                <a:solidFill>
                  <a:srgbClr val="202123"/>
                </a:solidFill>
              </a:rPr>
              <a:t>Контракт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911B761-4E86-42D5-A11F-D35BCA32B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019300"/>
            <a:ext cx="723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6E6E68"/>
                </a:solidFill>
              </a:defRPr>
            </a:pPr>
            <a:r>
              <a:rPr sz="1575" b="0">
                <a:solidFill>
                  <a:srgbClr val="6E6E68"/>
                </a:solidFill>
              </a:rPr>
              <a:t>schema · keys · nulls · idempotency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EBE1BBB-97DA-4B9A-920C-41B4FAA79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533650"/>
            <a:ext cx="96964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5A0AA33-A3A6-40D5-868C-02571F521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38450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A37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88AD326-301A-4207-AE67-DF317732E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19400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0003B39-9C51-41A3-90A7-F8FB52E46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78130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02123"/>
                </a:solidFill>
              </a:defRPr>
            </a:pPr>
            <a:r>
              <a:rPr sz="1875" b="1">
                <a:solidFill>
                  <a:srgbClr val="202123"/>
                </a:solidFill>
              </a:rPr>
              <a:t>План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1695DD3-0742-42F3-AD06-84ADE7AB9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800350"/>
            <a:ext cx="723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6E6E68"/>
                </a:solidFill>
              </a:defRPr>
            </a:pPr>
            <a:r>
              <a:rPr sz="1575" b="0">
                <a:solidFill>
                  <a:srgbClr val="6E6E68"/>
                </a:solidFill>
              </a:rPr>
              <a:t>explain · join strategy · exchanges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680FF93-8FDC-4FEF-AEAA-981565677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314700"/>
            <a:ext cx="96964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1154119-1762-46C2-93EC-5E0C5D8D2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0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A37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29CAA49-5214-4323-857E-1CEA494B2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00450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86AE6E6-0BF4-4A45-97AC-2C048C102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56235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02123"/>
                </a:solidFill>
              </a:defRPr>
            </a:pPr>
            <a:r>
              <a:rPr sz="1875" b="1">
                <a:solidFill>
                  <a:srgbClr val="202123"/>
                </a:solidFill>
              </a:rPr>
              <a:t>Ресурсы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96A92A7-F8CB-4C91-8DEE-234D0C809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581400"/>
            <a:ext cx="723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6E6E68"/>
                </a:solidFill>
              </a:defRPr>
            </a:pPr>
            <a:r>
              <a:rPr sz="1575" b="0">
                <a:solidFill>
                  <a:srgbClr val="6E6E68"/>
                </a:solidFill>
              </a:rPr>
              <a:t>partitions · memory · cores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9DCD114-834A-423A-A54A-704FDE8D8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095750"/>
            <a:ext cx="96964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C0365B3-B44A-418C-A636-C9DCCA438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00550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A37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22CA132-2E57-4117-A3F6-E50645C3A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0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4F7E455-1378-495C-9FC7-F0BB91C95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34340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02123"/>
                </a:solidFill>
              </a:defRPr>
            </a:pPr>
            <a:r>
              <a:rPr sz="1875" b="1">
                <a:solidFill>
                  <a:srgbClr val="202123"/>
                </a:solidFill>
              </a:rPr>
              <a:t>Evidence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D1FBC29-FC48-43C6-A131-9DE71C3E8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362450"/>
            <a:ext cx="723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6E6E68"/>
                </a:solidFill>
              </a:defRPr>
            </a:pPr>
            <a:r>
              <a:rPr sz="1575" b="0">
                <a:solidFill>
                  <a:srgbClr val="6E6E68"/>
                </a:solidFill>
              </a:rPr>
              <a:t>UI · metrics · logs · output checks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83D856A-F1F1-45A2-AE77-E5E66376C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876800"/>
            <a:ext cx="96964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78A7BFA-AF41-4675-AE3B-50B48EDDF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81600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6ABD93A-CF57-4BE9-91BF-5563E0837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62550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50E6CF7-6514-4B2A-94D4-1DB557CA7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12445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02123"/>
                </a:solidFill>
              </a:defRPr>
            </a:pPr>
            <a:r>
              <a:rPr sz="1875" b="1">
                <a:solidFill>
                  <a:srgbClr val="202123"/>
                </a:solidFill>
              </a:rPr>
              <a:t>Эксплуатация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04FFE49-10D8-4760-A1E0-FA5E15142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5143500"/>
            <a:ext cx="723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6E6E68"/>
                </a:solidFill>
              </a:defRPr>
            </a:pPr>
            <a:r>
              <a:rPr sz="1575" b="0">
                <a:solidFill>
                  <a:srgbClr val="6E6E68"/>
                </a:solidFill>
              </a:rPr>
              <a:t>retry · alerts · ownership · runbook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D6D7058-3155-4B9B-A49B-F05AE91EB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657850"/>
            <a:ext cx="96964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62182463"/>
      </p:ext>
    </p:extLst>
  </p:cSld>
</p:sld>
</file>

<file path=ppt/slides/slide54.xml><?xml version="1.0" encoding="utf-8"?>
<p:sld xmlns:p="http://schemas.openxmlformats.org/presentationml/2006/main">
  <p:cSld>
    <p:bg>
      <p:bgPr>
        <a:solidFill xmlns:a="http://schemas.openxmlformats.org/drawingml/2006/main">
          <a:srgbClr val="F7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0D69DC8-9314-4277-B0D5-DA50E3141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24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705D640-3D53-432B-84D6-388FCA245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572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E25A1C"/>
                </a:solidFill>
              </a:defRPr>
            </a:pPr>
            <a:r>
              <a:rPr sz="1275" b="1">
                <a:solidFill>
                  <a:srgbClr val="E25A1C"/>
                </a:solidFill>
              </a:rPr>
              <a:t>APPENDIX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7E1206A-639D-4F8F-AAFD-67B5F954B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14500"/>
            <a:ext cx="1571625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52FCCA4-4B7B-4452-97AB-2EA999F54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24100"/>
            <a:ext cx="95250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FFFFFF"/>
                </a:solidFill>
              </a:defRPr>
            </a:pPr>
            <a:r>
              <a:rPr sz="4350" b="1">
                <a:solidFill>
                  <a:srgbClr val="FFFFFF"/>
                </a:solidFill>
              </a:rPr>
              <a:t>Шпаргалки для практики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2B21907-4CD4-4AD5-8BA4-62047D52C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95750"/>
            <a:ext cx="8096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D6D9DC"/>
                </a:solidFill>
              </a:defRPr>
            </a:pPr>
            <a:r>
              <a:rPr sz="1875" b="0">
                <a:solidFill>
                  <a:srgbClr val="D6D9DC"/>
                </a:solidFill>
              </a:rPr>
              <a:t>Термины, варианты запуска и инженерные решения</a:t>
            </a:r>
          </a:p>
        </p:txBody>
      </p:sp>
    </p:spTree>
    <p:extLst>
      <p:ext uri="{BB962C8B-B14F-4D97-AF65-F5344CB8AC3E}">
        <p14:creationId xmlns:p14="http://schemas.microsoft.com/office/powerpoint/2010/main" val="1576409138"/>
      </p:ext>
    </p:extLst>
  </p:cSld>
</p:sld>
</file>

<file path=ppt/slides/slide55.xml><?xml version="1.0" encoding="utf-8"?>
<p:sld xmlns:p="http://schemas.openxmlformats.org/presentationml/2006/main">
  <p:cSld>
    <p:bg>
      <p:bgPr>
        <a:solidFill xmlns:a="http://schemas.openxmlformats.org/drawingml/2006/main">
          <a:srgbClr val="F7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5BD68A5-C23A-4388-B64D-9B43D12FF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25A1C"/>
                </a:solidFill>
              </a:defRPr>
            </a:pPr>
            <a:r>
              <a:rPr sz="1050" b="1">
                <a:solidFill>
                  <a:srgbClr val="E25A1C"/>
                </a:solidFill>
              </a:rPr>
              <a:t>ШПАРГАЛКА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C70ED0F-CD8B-43AA-8A5E-380FE909A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238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DE / MENTOR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173C82E-5D9F-4428-B4D9-53A282E26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B3A2681-BACF-42B1-B2CB-BABE7AD52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55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3E4DBE3-5099-49F2-B030-AA50718C4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</a:defRPr>
            </a:pPr>
            <a:r>
              <a:rPr sz="2850" b="1">
                <a:solidFill>
                  <a:srgbClr val="202123"/>
                </a:solidFill>
              </a:rPr>
              <a:t>Минимальный словарь Spark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1ADDA2F-F24D-443B-BF27-215F9259A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002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6FED"/>
                </a:solidFill>
              </a:defRPr>
            </a:pPr>
            <a:r>
              <a:rPr sz="1800" b="1">
                <a:solidFill>
                  <a:srgbClr val="2F6FED"/>
                </a:solidFill>
              </a:rPr>
              <a:t>Application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66AEA29-E45A-4543-A1FB-A5B95D585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8425" y="2019300"/>
            <a:ext cx="2952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один запуск пользовательской программы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D6595DC-B6BF-4333-941A-CC40F517D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0002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E25A1C"/>
                </a:solidFill>
              </a:defRPr>
            </a:pPr>
            <a:r>
              <a:rPr sz="1800" b="1">
                <a:solidFill>
                  <a:srgbClr val="E25A1C"/>
                </a:solidFill>
              </a:rPr>
              <a:t>Driver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95F0B6F-B947-4B20-920D-FC8326FFE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019300"/>
            <a:ext cx="2952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координатор приложения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CA3A286-F8E8-4959-8381-900A7DFAC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146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6FED"/>
                </a:solidFill>
              </a:defRPr>
            </a:pPr>
            <a:r>
              <a:rPr sz="1800" b="1">
                <a:solidFill>
                  <a:srgbClr val="2F6FED"/>
                </a:solidFill>
              </a:rPr>
              <a:t>Executor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C3B56C9-AD04-44C2-A292-78CDC46FB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8425" y="2933700"/>
            <a:ext cx="2952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процесс, который выполняет tasks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1B63767-D7A3-4BEE-BFEA-B14AA13F1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9146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E25A1C"/>
                </a:solidFill>
              </a:defRPr>
            </a:pPr>
            <a:r>
              <a:rPr sz="1800" b="1">
                <a:solidFill>
                  <a:srgbClr val="E25A1C"/>
                </a:solidFill>
              </a:rPr>
              <a:t>Job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F5BDDF2-BCA6-46C9-BB85-C6E3BF4E7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933700"/>
            <a:ext cx="2952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вычисление для одной action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B51FB01-494E-4591-8254-B66DB6496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290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6FED"/>
                </a:solidFill>
              </a:defRPr>
            </a:pPr>
            <a:r>
              <a:rPr sz="1800" b="1">
                <a:solidFill>
                  <a:srgbClr val="2F6FED"/>
                </a:solidFill>
              </a:rPr>
              <a:t>Stage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05C3774-B902-466E-B82A-A4E779BC2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8425" y="3848100"/>
            <a:ext cx="2952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часть job между shuffle boundaries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5E4E00E-A238-49C5-9D91-B43D703E9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8290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E25A1C"/>
                </a:solidFill>
              </a:defRPr>
            </a:pPr>
            <a:r>
              <a:rPr sz="1800" b="1">
                <a:solidFill>
                  <a:srgbClr val="E25A1C"/>
                </a:solidFill>
              </a:rPr>
              <a:t>Task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FB2EFCD-EBE5-4FA7-AAB4-650D83A5F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3848100"/>
            <a:ext cx="2952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работа stage над одной partition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C10DFAB-CDD5-4DA6-A61B-188D3015F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434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6FED"/>
                </a:solidFill>
              </a:defRPr>
            </a:pPr>
            <a:r>
              <a:rPr sz="1800" b="1">
                <a:solidFill>
                  <a:srgbClr val="2F6FED"/>
                </a:solidFill>
              </a:rPr>
              <a:t>Partition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BCDAA33-991D-48CD-9E68-A7CA5A342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8425" y="4762500"/>
            <a:ext cx="2952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порция данных для parallel work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A68881F-B261-4127-A030-286D97A4F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74345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E25A1C"/>
                </a:solidFill>
              </a:defRPr>
            </a:pPr>
            <a:r>
              <a:rPr sz="1800" b="1">
                <a:solidFill>
                  <a:srgbClr val="E25A1C"/>
                </a:solidFill>
              </a:rPr>
              <a:t>Exchange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F6DFFC3-F906-410B-AF3A-B4E46EB83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4762500"/>
            <a:ext cx="2952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узел physical plan с redistribution</a:t>
            </a:r>
          </a:p>
        </p:txBody>
      </p:sp>
    </p:spTree>
    <p:extLst>
      <p:ext uri="{BB962C8B-B14F-4D97-AF65-F5344CB8AC3E}">
        <p14:creationId xmlns:p14="http://schemas.microsoft.com/office/powerpoint/2010/main" val="2013190738"/>
      </p:ext>
    </p:extLst>
  </p:cSld>
</p:sld>
</file>

<file path=ppt/slides/slide56.xml><?xml version="1.0" encoding="utf-8"?>
<p:sld xmlns:p="http://schemas.openxmlformats.org/presentationml/2006/main">
  <p:cSld>
    <p:bg>
      <p:bgPr>
        <a:solidFill xmlns:a="http://schemas.openxmlformats.org/drawingml/2006/main">
          <a:srgbClr val="F7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D996A01-3253-49B7-BCB1-693E687EC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25A1C"/>
                </a:solidFill>
              </a:defRPr>
            </a:pPr>
            <a:r>
              <a:rPr sz="1050" b="1">
                <a:solidFill>
                  <a:srgbClr val="E25A1C"/>
                </a:solidFill>
              </a:rPr>
              <a:t>DEPLOYMENT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B8653E5-A9A8-49D1-9ACE-77E07E3CA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238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DE / MENTOR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7CA0C8E-A2D7-4380-A1EC-6980AAE7B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56AF01D-DF5A-47F3-BFB4-5C5B512C9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56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1B02FFC-C6E5-4DDB-98D1-9BC8D327F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</a:defRPr>
            </a:pPr>
            <a:r>
              <a:rPr sz="2850" b="1">
                <a:solidFill>
                  <a:srgbClr val="202123"/>
                </a:solidFill>
              </a:rPr>
              <a:t>Способ запуска меняет эксплуатацию, но не модель приложения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B7643E1-B325-461D-AF66-EFDBBBF74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076450"/>
            <a:ext cx="2152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6FED"/>
                </a:solidFill>
              </a:defRPr>
            </a:pPr>
            <a:r>
              <a:rPr sz="1650" b="1">
                <a:solidFill>
                  <a:srgbClr val="2F6FED"/>
                </a:solidFill>
              </a:rPr>
              <a:t>Local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EC25D66-05E6-4B85-A210-1731CA66B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076450"/>
            <a:ext cx="2152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6FED"/>
                </a:solidFill>
              </a:defRPr>
            </a:pPr>
            <a:r>
              <a:rPr sz="1650" b="1">
                <a:solidFill>
                  <a:srgbClr val="2F6FED"/>
                </a:solidFill>
              </a:rPr>
              <a:t>Standalone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2A652EC-0481-4FCC-B1D0-0A5B0A35D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076450"/>
            <a:ext cx="2152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6FED"/>
                </a:solidFill>
              </a:defRPr>
            </a:pPr>
            <a:r>
              <a:rPr sz="1650" b="1">
                <a:solidFill>
                  <a:srgbClr val="2F6FED"/>
                </a:solidFill>
              </a:rPr>
              <a:t>YARN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D25AA40-1B6A-4AF0-ADBC-174C5C520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076450"/>
            <a:ext cx="2152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E25A1C"/>
                </a:solidFill>
              </a:defRPr>
            </a:pPr>
            <a:r>
              <a:rPr sz="1650" b="1">
                <a:solidFill>
                  <a:srgbClr val="E25A1C"/>
                </a:solidFill>
              </a:rPr>
              <a:t>Kubernetes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88ADDDD-E6EC-49CD-B565-5D8384216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86050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</a:defRPr>
            </a:pPr>
            <a:r>
              <a:rPr sz="1500" b="1">
                <a:solidFill>
                  <a:srgbClr val="202123"/>
                </a:solidFill>
              </a:rPr>
              <a:t>Для чего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9151E71-CCE9-4F48-A996-93F39C9B0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686050"/>
            <a:ext cx="2152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разработка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1C5B9C1-1518-4089-88D7-75A471C87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686050"/>
            <a:ext cx="2152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учебный кластер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A5D0189-DECD-4230-8D7E-6274CC2A4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686050"/>
            <a:ext cx="2152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Hadoop estate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4D1082F-F204-434A-B70C-5E552896C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686050"/>
            <a:ext cx="2152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cloud-native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1008526-CD88-43F1-976E-BA62F27EF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19450"/>
            <a:ext cx="10572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2A6535D-72D4-4B9F-94CD-A23C57DFA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71850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</a:defRPr>
            </a:pPr>
            <a:r>
              <a:rPr sz="1500" b="1">
                <a:solidFill>
                  <a:srgbClr val="202123"/>
                </a:solidFill>
              </a:rPr>
              <a:t>Ресурсы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9C784A6-B434-46C6-8E4B-3C4C65967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371850"/>
            <a:ext cx="2152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один процесс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9EFA03D-2F28-4C25-A1D0-E2250A689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371850"/>
            <a:ext cx="2152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Spark master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03C02B2-786E-4D50-BA79-8EF22E2DF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371850"/>
            <a:ext cx="2152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ResourceManager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6C5177B-E8EE-4F6D-B3AE-75DD1881D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371850"/>
            <a:ext cx="2152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K8s scheduler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C33DFFA-61ED-495D-93FF-AE6F27B7D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05250"/>
            <a:ext cx="10572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0E5B1F1-4AE3-4FF1-9FCD-C63FF9669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57650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</a:defRPr>
            </a:pPr>
            <a:r>
              <a:rPr sz="1500" b="1">
                <a:solidFill>
                  <a:srgbClr val="202123"/>
                </a:solidFill>
              </a:rPr>
              <a:t>Изоляция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CD2F26A-F6EF-4221-8D1A-499AC262A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057650"/>
            <a:ext cx="2152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минимальная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3864BC6-C0A1-4F5D-9639-521D3C5A4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4057650"/>
            <a:ext cx="2152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процессы/hosts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6FA700B-E221-41A3-AE01-04D9A1F07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057650"/>
            <a:ext cx="2152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containers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C977DD5-BBF6-47FC-ABF1-5A9BA66F2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4057650"/>
            <a:ext cx="2152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pods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D0571AE-BB0D-4492-9893-ACAF35658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91050"/>
            <a:ext cx="10572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69AE69F-C50E-416C-AB7A-B53EF33A5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43450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02123"/>
                </a:solidFill>
              </a:defRPr>
            </a:pPr>
            <a:r>
              <a:rPr sz="1500" b="1">
                <a:solidFill>
                  <a:srgbClr val="202123"/>
                </a:solidFill>
              </a:rPr>
              <a:t>Сложность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BF438A4-16D8-4960-A2CC-548CEBBFB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743450"/>
            <a:ext cx="2152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низкая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5739B36-6AD4-4309-8DEE-36E22D74A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4743450"/>
            <a:ext cx="2152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средняя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B601357-8BE8-4721-8BF6-7655626C0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743450"/>
            <a:ext cx="2152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средняя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B422DD9-CCDE-456E-B2EF-D07A67354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4743450"/>
            <a:ext cx="2152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выше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FBAC5AB-C0F5-4595-8992-BCAB37730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76850"/>
            <a:ext cx="10572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987672353"/>
      </p:ext>
    </p:extLst>
  </p:cSld>
</p:sld>
</file>

<file path=ppt/slides/slide57.xml><?xml version="1.0" encoding="utf-8"?>
<p:sld xmlns:p="http://schemas.openxmlformats.org/presentationml/2006/main">
  <p:cSld>
    <p:bg>
      <p:bgPr>
        <a:solidFill xmlns:a="http://schemas.openxmlformats.org/drawingml/2006/main">
          <a:srgbClr val="F7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1E0AA5B-A613-4A2B-8DA5-6CBDC71B9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25A1C"/>
                </a:solidFill>
              </a:defRPr>
            </a:pPr>
            <a:r>
              <a:rPr sz="1050" b="1">
                <a:solidFill>
                  <a:srgbClr val="E25A1C"/>
                </a:solidFill>
              </a:rPr>
              <a:t>CACHE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DD95667-4613-46AB-A3AF-7C3FD2BB7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238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DE / MENTOR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1261F94-BAB6-4A5B-ABFD-23E02FBD9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8B4B5F5-3D08-413E-BD19-76FC2C1DF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57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DBDDF6B-D945-465D-BFB9-77C0F5869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</a:defRPr>
            </a:pPr>
            <a:r>
              <a:rPr sz="2850" b="1">
                <a:solidFill>
                  <a:srgbClr val="202123"/>
                </a:solidFill>
              </a:rPr>
              <a:t>Cache оправдан только повторным использованием дорогого результата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94553CB-18E1-4686-8538-B25E7237D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095500"/>
            <a:ext cx="8953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02123"/>
                </a:solidFill>
              </a:defRPr>
            </a:pPr>
            <a:r>
              <a:rPr sz="2250" b="1">
                <a:solidFill>
                  <a:srgbClr val="202123"/>
                </a:solidFill>
              </a:rPr>
              <a:t>Этот DataFrame будет вычислен снова — и его пересчёт дорог?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03E3673-5EAB-49C6-802D-83CF59B6E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238500"/>
            <a:ext cx="4762500" cy="20955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EFEEE8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A91FE61-6B70-4D02-9E81-C28781951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524250"/>
            <a:ext cx="409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E6E68"/>
                </a:solidFill>
              </a:defRPr>
            </a:pPr>
            <a:r>
              <a:rPr sz="1200" b="1">
                <a:solidFill>
                  <a:srgbClr val="6E6E68"/>
                </a:solidFill>
              </a:rPr>
              <a:t>НЕТ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881383F-7D83-4EFC-A5E1-C9217A8DF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000500"/>
            <a:ext cx="4095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202123"/>
                </a:solidFill>
              </a:defRPr>
            </a:pPr>
            <a:r>
              <a:rPr sz="2100" b="1">
                <a:solidFill>
                  <a:srgbClr val="202123"/>
                </a:solidFill>
              </a:rPr>
              <a:t>Не cache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6D685A3-7F3E-4560-BB26-A2DD44B46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667250"/>
            <a:ext cx="4095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E6E68"/>
                </a:solidFill>
              </a:defRPr>
            </a:pPr>
            <a:r>
              <a:rPr sz="1425" b="0">
                <a:solidFill>
                  <a:srgbClr val="6E6E68"/>
                </a:solidFill>
              </a:rPr>
              <a:t>Освободить executor memory для shuffle и execution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891EB09-16F5-4834-B6AE-8ECD2873D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238500"/>
            <a:ext cx="4762500" cy="20955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1F24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06D7C0C-CBD4-49B5-9AD3-5B567F98E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524250"/>
            <a:ext cx="409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E25A1C"/>
                </a:solidFill>
              </a:defRPr>
            </a:pPr>
            <a:r>
              <a:rPr sz="1200" b="1">
                <a:solidFill>
                  <a:srgbClr val="E25A1C"/>
                </a:solidFill>
              </a:rPr>
              <a:t>ДА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E615CB9-17DA-4182-8842-38E4224E2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000500"/>
            <a:ext cx="4095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FFFFFF"/>
                </a:solidFill>
              </a:defRPr>
            </a:pPr>
            <a:r>
              <a:rPr sz="2100" b="1">
                <a:solidFill>
                  <a:srgbClr val="FFFFFF"/>
                </a:solidFill>
              </a:rPr>
              <a:t>persist + unpersist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35453CF-1700-4A21-9575-22FBB94BD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667250"/>
            <a:ext cx="4095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D6D9DC"/>
                </a:solidFill>
              </a:defRPr>
            </a:pPr>
            <a:r>
              <a:rPr sz="1425" b="0">
                <a:solidFill>
                  <a:srgbClr val="D6D9DC"/>
                </a:solidFill>
              </a:rPr>
              <a:t>Проверить storage level и фактический reuse в UI</a:t>
            </a:r>
          </a:p>
        </p:txBody>
      </p:sp>
    </p:spTree>
    <p:extLst>
      <p:ext uri="{BB962C8B-B14F-4D97-AF65-F5344CB8AC3E}">
        <p14:creationId xmlns:p14="http://schemas.microsoft.com/office/powerpoint/2010/main" val="1492843563"/>
      </p:ext>
    </p:extLst>
  </p:cSld>
</p:sld>
</file>

<file path=ppt/slides/slide58.xml><?xml version="1.0" encoding="utf-8"?>
<p:sld xmlns:p="http://schemas.openxmlformats.org/presentationml/2006/main">
  <p:cSld>
    <p:bg>
      <p:bgPr>
        <a:solidFill xmlns:a="http://schemas.openxmlformats.org/drawingml/2006/main">
          <a:srgbClr val="F7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BE54DE1-9F39-4781-8C6A-59623AA2C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25A1C"/>
                </a:solidFill>
              </a:defRPr>
            </a:pPr>
            <a:r>
              <a:rPr sz="1050" b="1">
                <a:solidFill>
                  <a:srgbClr val="E25A1C"/>
                </a:solidFill>
              </a:rPr>
              <a:t>ДАЛЬШЕ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29BE16A-364F-44BD-B998-1B5F6F547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238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DE / MENTOR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F73E991-D11C-4E6F-9526-6FD006FA0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0C2BB1E-5181-4879-B7F9-8D250A4D1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58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CC4FE7F-4F43-4CC3-90A1-FC91BDAED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</a:defRPr>
            </a:pPr>
            <a:r>
              <a:rPr sz="2850" b="1">
                <a:solidFill>
                  <a:srgbClr val="202123"/>
                </a:solidFill>
              </a:rPr>
              <a:t>Structured Streaming сохраняет ту же DataFrame-модель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9A5DC3C-5A81-46AB-BB83-73654CD35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4175" y="3105150"/>
            <a:ext cx="523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E25A1C"/>
                </a:solidFill>
              </a:defRPr>
            </a:pPr>
            <a:r>
              <a:rPr sz="2700" b="1">
                <a:solidFill>
                  <a:srgbClr val="E25A1C"/>
                </a:solidFill>
              </a:rPr>
              <a:t>→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EB5E2D2-FEDF-403C-8D1C-E490D625B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76500"/>
            <a:ext cx="2190750" cy="17145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9F57D2B-C9D4-4450-BB53-5569B07DE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76550"/>
            <a:ext cx="17716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02123"/>
                </a:solidFill>
              </a:defRPr>
            </a:pPr>
            <a:r>
              <a:rPr sz="1875" b="1">
                <a:solidFill>
                  <a:srgbClr val="202123"/>
                </a:solidFill>
              </a:rPr>
              <a:t>source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B4F3959-34D8-4850-A52C-16AA67447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476625"/>
            <a:ext cx="1771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Kafka / files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A9F8425-A473-48F0-A188-2AB6665E7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6425" y="3105150"/>
            <a:ext cx="523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E25A1C"/>
                </a:solidFill>
              </a:defRPr>
            </a:pPr>
            <a:r>
              <a:rPr sz="2700" b="1">
                <a:solidFill>
                  <a:srgbClr val="E25A1C"/>
                </a:solidFill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CD89B62-E7CB-405D-8B25-3CA927862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476500"/>
            <a:ext cx="2190750" cy="17145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7E679E9-D51C-478A-9648-69838D005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876550"/>
            <a:ext cx="17716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02123"/>
                </a:solidFill>
              </a:defRPr>
            </a:pPr>
            <a:r>
              <a:rPr sz="1875" b="1">
                <a:solidFill>
                  <a:srgbClr val="202123"/>
                </a:solidFill>
              </a:rPr>
              <a:t>DataFrame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A9CBB59-9F11-473E-8D23-5550D47FB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476625"/>
            <a:ext cx="1771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transformations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719B030-F8A7-4E1B-8251-1D96480B9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3105150"/>
            <a:ext cx="523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E25A1C"/>
                </a:solidFill>
              </a:defRPr>
            </a:pPr>
            <a:r>
              <a:rPr sz="2700" b="1">
                <a:solidFill>
                  <a:srgbClr val="E25A1C"/>
                </a:solidFill>
              </a:rPr>
              <a:t>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EE2335B-3F11-4711-A5C2-60CF0D5E4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476500"/>
            <a:ext cx="2190750" cy="17145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7D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381A0F0-26B0-4BF6-8D6E-0B8953172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876550"/>
            <a:ext cx="17716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02123"/>
                </a:solidFill>
              </a:defRPr>
            </a:pPr>
            <a:r>
              <a:rPr sz="1875" b="1">
                <a:solidFill>
                  <a:srgbClr val="202123"/>
                </a:solidFill>
              </a:rPr>
              <a:t>state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B4EE567-E9C1-4F78-89E8-9C1BE6227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476625"/>
            <a:ext cx="1771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E6E68"/>
                </a:solidFill>
              </a:defRPr>
            </a:pPr>
            <a:r>
              <a:rPr sz="1350" b="0">
                <a:solidFill>
                  <a:srgbClr val="6E6E68"/>
                </a:solidFill>
              </a:rPr>
              <a:t>watermark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F8B04EF-5B0C-4B8B-BC6E-60EFF64F4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2476500"/>
            <a:ext cx="2190750" cy="17145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1F242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4F253DF-C54F-41F2-8699-8E50318A0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2876550"/>
            <a:ext cx="17716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E25A1C"/>
                </a:solidFill>
              </a:defRPr>
            </a:pPr>
            <a:r>
              <a:rPr sz="1875" b="1">
                <a:solidFill>
                  <a:srgbClr val="E25A1C"/>
                </a:solidFill>
              </a:rPr>
              <a:t>sink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51E546B-3FB0-43EA-BF69-85FF9D5F0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3476625"/>
            <a:ext cx="17716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table / topic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750F99E-2F63-46DE-9E86-43AD1C306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810125"/>
            <a:ext cx="10287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E25A1C"/>
                </a:solidFill>
              </a:defRPr>
            </a:pPr>
            <a:r>
              <a:rPr sz="1725" b="1">
                <a:solidFill>
                  <a:srgbClr val="E25A1C"/>
                </a:solidFill>
              </a:rPr>
              <a:t>Меняется режим исполнения; базовые понятия plan, partition и state остаются.</a:t>
            </a:r>
          </a:p>
        </p:txBody>
      </p:sp>
    </p:spTree>
    <p:extLst>
      <p:ext uri="{BB962C8B-B14F-4D97-AF65-F5344CB8AC3E}">
        <p14:creationId xmlns:p14="http://schemas.microsoft.com/office/powerpoint/2010/main" val="713271696"/>
      </p:ext>
    </p:extLst>
  </p:cSld>
</p:sld>
</file>

<file path=ppt/slides/slide59.xml><?xml version="1.0" encoding="utf-8"?>
<p:sld xmlns:p="http://schemas.openxmlformats.org/presentationml/2006/main">
  <p:cSld>
    <p:bg>
      <p:bgPr>
        <a:solidFill xmlns:a="http://schemas.openxmlformats.org/drawingml/2006/main">
          <a:srgbClr val="F7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52FCCC8-4E40-402D-887B-B2D313F69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25A1C"/>
                </a:solidFill>
              </a:defRPr>
            </a:pPr>
            <a:r>
              <a:rPr sz="1050" b="1">
                <a:solidFill>
                  <a:srgbClr val="E25A1C"/>
                </a:solidFill>
              </a:rPr>
              <a:t>ЧИТАТЬ ДАЛЬШЕ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F559200-3FA5-40EC-9F98-6543D7929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238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DE / MENTOR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7A89B95-E7C2-4BB1-BD6A-F1D3BB489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3CA800-B5DC-4BF0-B59D-B2DE18ACC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59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17EA323-2D57-49D4-92BD-E6B9739CC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</a:defRPr>
            </a:pPr>
            <a:r>
              <a:rPr sz="2850" b="1">
                <a:solidFill>
                  <a:srgbClr val="202123"/>
                </a:solidFill>
              </a:rPr>
              <a:t>История и архитектура: первоисточники и книги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E95FD0D-A746-464D-ADFF-62FD9CABC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38350"/>
            <a:ext cx="4095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E25A1C"/>
                </a:solidFill>
              </a:defRPr>
            </a:pPr>
            <a:r>
              <a:rPr sz="1200" b="1">
                <a:solidFill>
                  <a:srgbClr val="E25A1C"/>
                </a:solidFill>
              </a:rPr>
              <a:t>EVIDENCE CHAIN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3441C28-D9CA-4F8C-B1C6-189FFCAE2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527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C3DAB40-A6D4-49A2-81C7-1CFC58EAB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667000"/>
            <a:ext cx="54483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02123"/>
                </a:solidFill>
              </a:defRPr>
            </a:pPr>
            <a:r>
              <a:rPr sz="1650" b="0">
                <a:solidFill>
                  <a:srgbClr val="202123"/>
                </a:solidFill>
              </a:rPr>
              <a:t>Начать с Mashey и Laney: термин и исходные 3V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E1D885D-183D-4AA2-B82A-E472C5529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194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7FFBEC9-3637-4C10-BA6C-CE68369C7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333750"/>
            <a:ext cx="54483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02123"/>
                </a:solidFill>
              </a:defRPr>
            </a:pPr>
            <a:r>
              <a:rPr sz="1650" b="0">
                <a:solidFill>
                  <a:srgbClr val="202123"/>
                </a:solidFill>
              </a:rPr>
              <a:t>Прочитать GFS и MapReduce как один архитектурный ответ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C180FC6-3C70-4866-B2FD-68C6A82B2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862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48F3D8E-C206-40FA-B754-28E3343F5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000500"/>
            <a:ext cx="54483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02123"/>
                </a:solidFill>
              </a:defRPr>
            </a:pPr>
            <a:r>
              <a:rPr sz="1650" b="0">
                <a:solidFill>
                  <a:srgbClr val="202123"/>
                </a:solidFill>
              </a:rPr>
              <a:t>Сравнить HotCloud 2010 и RDD paper 2012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BEA9AA7-BB51-40FF-B907-7C9ED2D5F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529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B749629-C282-4ECB-AD9C-4D943ABE5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667250"/>
            <a:ext cx="54483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02123"/>
                </a:solidFill>
              </a:defRPr>
            </a:pPr>
            <a:r>
              <a:rPr sz="1650" b="0">
                <a:solidFill>
                  <a:srgbClr val="202123"/>
                </a:solidFill>
              </a:rPr>
              <a:t>Закрепить модель систем и практику PySpark книгами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72EA550-9BA7-44F2-B48A-057B2560A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2038350"/>
            <a:ext cx="4095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F6FED"/>
                </a:solidFill>
              </a:defRPr>
            </a:pPr>
            <a:r>
              <a:rPr sz="1200" b="1">
                <a:solidFill>
                  <a:srgbClr val="2F6FED"/>
                </a:solidFill>
              </a:rPr>
              <a:t>МАТЕРИАЛЫ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59EA66B-E5CC-45A9-BCA0-AED7E6BA8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2667000"/>
            <a:ext cx="400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02123"/>
                </a:solidFill>
              </a:defRPr>
            </a:pPr>
            <a:r>
              <a:rPr sz="1650" b="1">
                <a:solidFill>
                  <a:srgbClr val="202123"/>
                </a:solidFill>
              </a:rPr>
              <a:t>Big Data history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CE32BF2-9A28-4893-98A5-C11660359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000375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E6E68"/>
                </a:solidFill>
              </a:defRPr>
            </a:pPr>
            <a:r>
              <a:rPr sz="1200" b="0">
                <a:solidFill>
                  <a:srgbClr val="6E6E68"/>
                </a:solidFill>
              </a:rPr>
              <a:t>web.stanford.edu/class/ee380/9798win/lect08.html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5911D73-C55A-4062-B36A-268F7509C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409950"/>
            <a:ext cx="400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02123"/>
                </a:solidFill>
              </a:defRPr>
            </a:pPr>
            <a:r>
              <a:rPr sz="1650" b="1">
                <a:solidFill>
                  <a:srgbClr val="202123"/>
                </a:solidFill>
              </a:rPr>
              <a:t>Spark research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3D4038E-775F-4FFB-A5E7-37AB22C08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743325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E6E68"/>
                </a:solidFill>
              </a:defRPr>
            </a:pPr>
            <a:r>
              <a:rPr sz="1200" b="0">
                <a:solidFill>
                  <a:srgbClr val="6E6E68"/>
                </a:solidFill>
              </a:rPr>
              <a:t>spark.apache.org/research.html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F656044-B1B2-4C49-8EF9-2E5202069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4152900"/>
            <a:ext cx="400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02123"/>
                </a:solidFill>
              </a:defRPr>
            </a:pPr>
            <a:r>
              <a:rPr sz="1650" b="1">
                <a:solidFill>
                  <a:srgbClr val="202123"/>
                </a:solidFill>
              </a:rPr>
              <a:t>Learning Spark, 2nd ed.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3D57747-EF08-46BB-9DA0-F4E119269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4486275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E6E68"/>
                </a:solidFill>
              </a:defRPr>
            </a:pPr>
            <a:r>
              <a:rPr sz="1200" b="0">
                <a:solidFill>
                  <a:srgbClr val="6E6E68"/>
                </a:solidFill>
              </a:rPr>
              <a:t>oreilly.com/library/view/learning-spark-2nd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E171E4E-739B-4BC2-B480-43080EA46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4895850"/>
            <a:ext cx="400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02123"/>
                </a:solidFill>
              </a:defRPr>
            </a:pPr>
            <a:r>
              <a:rPr sz="1650" b="1">
                <a:solidFill>
                  <a:srgbClr val="202123"/>
                </a:solidFill>
              </a:rPr>
              <a:t>Designing Data-Intensive Applications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6C38ECE-8A64-45F6-8738-CB27B724A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5229225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E6E68"/>
                </a:solidFill>
              </a:defRPr>
            </a:pPr>
            <a:r>
              <a:rPr sz="1200" b="0">
                <a:solidFill>
                  <a:srgbClr val="6E6E68"/>
                </a:solidFill>
              </a:rPr>
              <a:t>dataintensive.net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1ED5B70-5FE5-4418-AEEB-F43CA019F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5638800"/>
            <a:ext cx="400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02123"/>
                </a:solidFill>
              </a:defRPr>
            </a:pPr>
            <a:r>
              <a:rPr sz="1650" b="1">
                <a:solidFill>
                  <a:srgbClr val="202123"/>
                </a:solidFill>
              </a:rPr>
              <a:t>Mining of Massive Datasets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20D1E59-EB83-4A9D-AF16-A21081403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5972175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E6E68"/>
                </a:solidFill>
              </a:defRPr>
            </a:pPr>
            <a:r>
              <a:rPr sz="1200" b="0">
                <a:solidFill>
                  <a:srgbClr val="6E6E68"/>
                </a:solidFill>
              </a:rPr>
              <a:t>infolab.stanford.edu/~ullman/mmds/book.pdf</a:t>
            </a:r>
          </a:p>
        </p:txBody>
      </p:sp>
    </p:spTree>
    <p:extLst>
      <p:ext uri="{BB962C8B-B14F-4D97-AF65-F5344CB8AC3E}">
        <p14:creationId xmlns:p14="http://schemas.microsoft.com/office/powerpoint/2010/main" val="482623197"/>
      </p:ext>
    </p:extLst>
  </p:cSld>
</p:sld>
</file>

<file path=ppt/slides/slide60.xml><?xml version="1.0" encoding="utf-8"?>
<p:sld xmlns:p="http://schemas.openxmlformats.org/presentationml/2006/main">
  <p:cSld>
    <p:bg>
      <p:bgPr>
        <a:solidFill xmlns:a="http://schemas.openxmlformats.org/drawingml/2006/main">
          <a:srgbClr val="F7F7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6FC5CEA-D417-4821-A581-545F1ECC2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25A1C"/>
                </a:solidFill>
              </a:defRPr>
            </a:pPr>
            <a:r>
              <a:rPr sz="1050" b="1">
                <a:solidFill>
                  <a:srgbClr val="E25A1C"/>
                </a:solidFill>
              </a:rPr>
              <a:t>ПРАКТИКА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3472B15-A41C-4891-9914-0BB203AC5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2385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DE / MENTOR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94A13EB-2042-4EFA-9B60-5EA977A2D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7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8EF2D64-6F61-4377-B84F-28CE4261A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64198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E6E68"/>
                </a:solidFill>
              </a:defRPr>
            </a:pPr>
            <a:r>
              <a:rPr sz="975" b="1">
                <a:solidFill>
                  <a:srgbClr val="6E6E68"/>
                </a:solidFill>
              </a:rPr>
              <a:t>60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43F60AD-16BE-4FFA-A4A4-37A6BE5CD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76300"/>
            <a:ext cx="109728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02123"/>
                </a:solidFill>
              </a:defRPr>
            </a:pPr>
            <a:r>
              <a:rPr sz="2850" b="1">
                <a:solidFill>
                  <a:srgbClr val="202123"/>
                </a:solidFill>
              </a:rPr>
              <a:t>Следующий шаг — собрать собственную evidence chain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5BE01FB-8566-418A-B885-24B485CC5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38350"/>
            <a:ext cx="4095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E25A1C"/>
                </a:solidFill>
              </a:defRPr>
            </a:pPr>
            <a:r>
              <a:rPr sz="1200" b="1">
                <a:solidFill>
                  <a:srgbClr val="E25A1C"/>
                </a:solidFill>
              </a:rPr>
              <a:t>EVIDENCE CHAIN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7CE7693-1210-4F4E-9451-D581058AD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527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5ECC354-702B-4E15-9A28-FDA637853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667000"/>
            <a:ext cx="54483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02123"/>
                </a:solidFill>
              </a:defRPr>
            </a:pPr>
            <a:r>
              <a:rPr sz="1650" b="0">
                <a:solidFill>
                  <a:srgbClr val="202123"/>
                </a:solidFill>
              </a:rPr>
              <a:t>Запустить core pipeline через mentor-lab.py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C580226-DB11-41EE-A236-399170E86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194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393E66A-8D45-4BAC-BBD9-F46413E32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333750"/>
            <a:ext cx="54483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02123"/>
                </a:solidFill>
              </a:defRPr>
            </a:pPr>
            <a:r>
              <a:rPr sz="1650" b="0">
                <a:solidFill>
                  <a:srgbClr val="202123"/>
                </a:solidFill>
              </a:rPr>
              <a:t>Сохранить formatted explain до выполнения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1C2637D-9947-4011-9D4D-4437E2EC1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862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24AB793-FEB4-4C58-86EF-390FB0B0A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000500"/>
            <a:ext cx="54483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02123"/>
                </a:solidFill>
              </a:defRPr>
            </a:pPr>
            <a:r>
              <a:rPr sz="1650" b="0">
                <a:solidFill>
                  <a:srgbClr val="202123"/>
                </a:solidFill>
              </a:rPr>
              <a:t>Найти самый дорогой stage в Spark UI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22167C3-A2B9-4EE0-BFDA-2CEF598EC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529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5A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6B3EE9F-C5B1-4156-8166-2A7C014CC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667250"/>
            <a:ext cx="54483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02123"/>
                </a:solidFill>
              </a:defRPr>
            </a:pPr>
            <a:r>
              <a:rPr sz="1650" b="0">
                <a:solidFill>
                  <a:srgbClr val="202123"/>
                </a:solidFill>
              </a:rPr>
              <a:t>Сформулировать одно изменение и критерий успеха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1AC4DC6-182C-43D2-8A4F-2935EF1A7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2038350"/>
            <a:ext cx="4095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F6FED"/>
                </a:solidFill>
              </a:defRPr>
            </a:pPr>
            <a:r>
              <a:rPr sz="1200" b="1">
                <a:solidFill>
                  <a:srgbClr val="2F6FED"/>
                </a:solidFill>
              </a:rPr>
              <a:t>МАТЕРИАЛЫ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58EE308-FFD3-48EB-BCB0-CD85D3FD7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2667000"/>
            <a:ext cx="400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02123"/>
                </a:solidFill>
              </a:defRPr>
            </a:pPr>
            <a:r>
              <a:rPr sz="1650" b="1">
                <a:solidFill>
                  <a:srgbClr val="202123"/>
                </a:solidFill>
              </a:rPr>
              <a:t>Spark 4.2.0 docs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8887843-F08A-4EC6-AD97-AD5AFE031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000375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E6E68"/>
                </a:solidFill>
              </a:defRPr>
            </a:pPr>
            <a:r>
              <a:rPr sz="1200" b="0">
                <a:solidFill>
                  <a:srgbClr val="6E6E68"/>
                </a:solidFill>
              </a:rPr>
              <a:t>spark.apache.org/docs/4.2.0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392E896-6291-458E-8A88-CB80B1FBF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409950"/>
            <a:ext cx="400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02123"/>
                </a:solidFill>
              </a:defRPr>
            </a:pPr>
            <a:r>
              <a:rPr sz="1650" b="1">
                <a:solidFill>
                  <a:srgbClr val="202123"/>
                </a:solidFill>
              </a:rPr>
              <a:t>Лаборатория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6AA7056-7CBD-4480-96F5-A060EEDE8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743325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E6E68"/>
                </a:solidFill>
              </a:defRPr>
            </a:pPr>
            <a:r>
              <a:rPr sz="1200" b="0">
                <a:solidFill>
                  <a:srgbClr val="6E6E68"/>
                </a:solidFill>
              </a:rPr>
              <a:t>labs/spark/README.md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F95E9B6-B055-4629-A5DE-9D33BF565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4152900"/>
            <a:ext cx="400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02123"/>
                </a:solidFill>
              </a:defRPr>
            </a:pPr>
            <a:r>
              <a:rPr sz="1650" b="1">
                <a:solidFill>
                  <a:srgbClr val="202123"/>
                </a:solidFill>
              </a:rPr>
              <a:t>Workbook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32B6EC5-5431-4240-A64E-459E900F9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4486275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E6E68"/>
                </a:solidFill>
              </a:defRPr>
            </a:pPr>
            <a:r>
              <a:rPr sz="1200" b="0">
                <a:solidFill>
                  <a:srgbClr val="6E6E68"/>
                </a:solidFill>
              </a:rPr>
              <a:t>lessons/lesson-04/docs/student-workbook.md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AFF3F8E-713A-4B5C-B823-61A5BE15F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4895850"/>
            <a:ext cx="400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02123"/>
                </a:solidFill>
              </a:defRPr>
            </a:pPr>
            <a:r>
              <a:rPr sz="1650" b="1">
                <a:solidFill>
                  <a:srgbClr val="202123"/>
                </a:solidFill>
              </a:rPr>
              <a:t>Домашнее задание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2BC93D4-8253-4931-96BD-54E5A9CFE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5229225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E6E68"/>
                </a:solidFill>
              </a:defRPr>
            </a:pPr>
            <a:r>
              <a:rPr sz="1200" b="0">
                <a:solidFill>
                  <a:srgbClr val="6E6E68"/>
                </a:solidFill>
              </a:rPr>
              <a:t>lessons/lesson-04/homework/assignment.md</a:t>
            </a:r>
          </a:p>
        </p:txBody>
      </p:sp>
    </p:spTree>
    <p:extLst>
      <p:ext uri="{BB962C8B-B14F-4D97-AF65-F5344CB8AC3E}">
        <p14:creationId xmlns:p14="http://schemas.microsoft.com/office/powerpoint/2010/main" val="28256058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2026-08-30T17:30:09.2610000Z</dcterms:created>
  <dcterms:modified xsi:type="dcterms:W3CDTF">2026-08-30T17:30:09.2610000Z</dcterms:modified>
</coreProperties>
</file>