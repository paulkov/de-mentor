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27cd5f1f6024b0c" /><Relationship Type="http://schemas.openxmlformats.org/officeDocument/2006/relationships/extended-properties" Target="/docProps/app.xml" Id="Refe574cb55684be4" /><Relationship Type="http://schemas.openxmlformats.org/officeDocument/2006/relationships/officeDocument" Target="/ppt/presentation.xml" Id="R3d3387de6f1c43a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a395c971a6b46c5"/>
  </p:sldMasterIdLst>
  <p:notesMasterIdLst>
    <p:notesMasterId xmlns:r="http://schemas.openxmlformats.org/officeDocument/2006/relationships" r:id="R8e5f2de2f9c94747"/>
  </p:notesMasterIdLst>
  <p:sldIdLst>
    <p:sldId xmlns:r="http://schemas.openxmlformats.org/officeDocument/2006/relationships" id="256" r:id="R0ab7753eb423411e"/>
    <p:sldId xmlns:r="http://schemas.openxmlformats.org/officeDocument/2006/relationships" id="257" r:id="R737471c118c34373"/>
    <p:sldId xmlns:r="http://schemas.openxmlformats.org/officeDocument/2006/relationships" id="258" r:id="R7e3239bffd3946ff"/>
    <p:sldId xmlns:r="http://schemas.openxmlformats.org/officeDocument/2006/relationships" id="259" r:id="R55856faa83984c88"/>
    <p:sldId xmlns:r="http://schemas.openxmlformats.org/officeDocument/2006/relationships" id="260" r:id="Rc79e97a67f3c4d4c"/>
    <p:sldId xmlns:r="http://schemas.openxmlformats.org/officeDocument/2006/relationships" id="261" r:id="R9bd929a2d4bd48af"/>
    <p:sldId xmlns:r="http://schemas.openxmlformats.org/officeDocument/2006/relationships" id="262" r:id="R26c8660139ec4e93"/>
    <p:sldId xmlns:r="http://schemas.openxmlformats.org/officeDocument/2006/relationships" id="263" r:id="R9315caa0bf4e4bcd"/>
    <p:sldId xmlns:r="http://schemas.openxmlformats.org/officeDocument/2006/relationships" id="264" r:id="R2e1fec6cfadf447e"/>
    <p:sldId xmlns:r="http://schemas.openxmlformats.org/officeDocument/2006/relationships" id="265" r:id="Rc9904eaf576642e8"/>
    <p:sldId xmlns:r="http://schemas.openxmlformats.org/officeDocument/2006/relationships" id="266" r:id="R1c773a90ebd44442"/>
    <p:sldId xmlns:r="http://schemas.openxmlformats.org/officeDocument/2006/relationships" id="267" r:id="Rfa45c287a43f4160"/>
    <p:sldId xmlns:r="http://schemas.openxmlformats.org/officeDocument/2006/relationships" id="268" r:id="R4439cf3a34dc4775"/>
    <p:sldId xmlns:r="http://schemas.openxmlformats.org/officeDocument/2006/relationships" id="269" r:id="R3628f00295c04be2"/>
    <p:sldId xmlns:r="http://schemas.openxmlformats.org/officeDocument/2006/relationships" id="270" r:id="R863395495deb4792"/>
    <p:sldId xmlns:r="http://schemas.openxmlformats.org/officeDocument/2006/relationships" id="271" r:id="Rb637aac7fcaf4ea8"/>
    <p:sldId xmlns:r="http://schemas.openxmlformats.org/officeDocument/2006/relationships" id="272" r:id="R0af9f7bcfedb43d2"/>
    <p:sldId xmlns:r="http://schemas.openxmlformats.org/officeDocument/2006/relationships" id="273" r:id="Rd25aff7a201a4ca1"/>
    <p:sldId xmlns:r="http://schemas.openxmlformats.org/officeDocument/2006/relationships" id="274" r:id="R5219e7c04d3c48b6"/>
    <p:sldId xmlns:r="http://schemas.openxmlformats.org/officeDocument/2006/relationships" id="275" r:id="R3cf6c2b43d194e6c"/>
    <p:sldId xmlns:r="http://schemas.openxmlformats.org/officeDocument/2006/relationships" id="276" r:id="Ra3eebdaddc8a434f"/>
    <p:sldId xmlns:r="http://schemas.openxmlformats.org/officeDocument/2006/relationships" id="277" r:id="R664143990edc4e2c"/>
    <p:sldId xmlns:r="http://schemas.openxmlformats.org/officeDocument/2006/relationships" id="278" r:id="R2caf6e3ae8d74de2"/>
    <p:sldId xmlns:r="http://schemas.openxmlformats.org/officeDocument/2006/relationships" id="279" r:id="R36a9d2f0921e4745"/>
    <p:sldId xmlns:r="http://schemas.openxmlformats.org/officeDocument/2006/relationships" id="280" r:id="R581f9729b4234d6f"/>
    <p:sldId xmlns:r="http://schemas.openxmlformats.org/officeDocument/2006/relationships" id="281" r:id="R1fd5aec5264440e9"/>
    <p:sldId xmlns:r="http://schemas.openxmlformats.org/officeDocument/2006/relationships" id="282" r:id="R9e2b699688aa4aa4"/>
    <p:sldId xmlns:r="http://schemas.openxmlformats.org/officeDocument/2006/relationships" id="283" r:id="Ra5be2885ed9f45ef"/>
    <p:sldId xmlns:r="http://schemas.openxmlformats.org/officeDocument/2006/relationships" id="284" r:id="R5edc1d9d34f1476b"/>
    <p:sldId xmlns:r="http://schemas.openxmlformats.org/officeDocument/2006/relationships" id="285" r:id="Reb484718027d4d07"/>
    <p:sldId xmlns:r="http://schemas.openxmlformats.org/officeDocument/2006/relationships" id="286" r:id="Rb1106828619f4e5e"/>
    <p:sldId xmlns:r="http://schemas.openxmlformats.org/officeDocument/2006/relationships" id="287" r:id="R8443aba6a9084b42"/>
    <p:sldId xmlns:r="http://schemas.openxmlformats.org/officeDocument/2006/relationships" id="288" r:id="Rf97520a204c940df"/>
    <p:sldId xmlns:r="http://schemas.openxmlformats.org/officeDocument/2006/relationships" id="289" r:id="Ra825646f25084d22"/>
    <p:sldId xmlns:r="http://schemas.openxmlformats.org/officeDocument/2006/relationships" id="290" r:id="R6cb8f92211254e10"/>
    <p:sldId xmlns:r="http://schemas.openxmlformats.org/officeDocument/2006/relationships" id="291" r:id="Rb24129fe649c4a55"/>
    <p:sldId xmlns:r="http://schemas.openxmlformats.org/officeDocument/2006/relationships" id="292" r:id="Rd9f7b55038e448b2"/>
    <p:sldId xmlns:r="http://schemas.openxmlformats.org/officeDocument/2006/relationships" id="293" r:id="R88a354b75c1d4fc4"/>
    <p:sldId xmlns:r="http://schemas.openxmlformats.org/officeDocument/2006/relationships" id="294" r:id="R938c4c211de4473a"/>
    <p:sldId xmlns:r="http://schemas.openxmlformats.org/officeDocument/2006/relationships" id="295" r:id="R9ce9b565ae0b46fe"/>
    <p:sldId xmlns:r="http://schemas.openxmlformats.org/officeDocument/2006/relationships" id="296" r:id="Reb06d2d8d5a14885"/>
    <p:sldId xmlns:r="http://schemas.openxmlformats.org/officeDocument/2006/relationships" id="297" r:id="Rdf5b14fcd7a24f7a"/>
    <p:sldId xmlns:r="http://schemas.openxmlformats.org/officeDocument/2006/relationships" id="298" r:id="R45acc4e5eb584754"/>
    <p:sldId xmlns:r="http://schemas.openxmlformats.org/officeDocument/2006/relationships" id="299" r:id="Reb67d44d2a194caf"/>
    <p:sldId xmlns:r="http://schemas.openxmlformats.org/officeDocument/2006/relationships" id="300" r:id="Ra585a6fb79a44d9f"/>
    <p:sldId xmlns:r="http://schemas.openxmlformats.org/officeDocument/2006/relationships" id="301" r:id="Rf3bd5d33033d44cb"/>
    <p:sldId xmlns:r="http://schemas.openxmlformats.org/officeDocument/2006/relationships" id="302" r:id="R80cccfa7e85046c2"/>
    <p:sldId xmlns:r="http://schemas.openxmlformats.org/officeDocument/2006/relationships" id="303" r:id="R31899679707a4b57"/>
    <p:sldId xmlns:r="http://schemas.openxmlformats.org/officeDocument/2006/relationships" id="304" r:id="R937a3a616dff482c"/>
    <p:sldId xmlns:r="http://schemas.openxmlformats.org/officeDocument/2006/relationships" id="305" r:id="R01b5aa71125e4db4"/>
    <p:sldId xmlns:r="http://schemas.openxmlformats.org/officeDocument/2006/relationships" id="306" r:id="Re73ede879ef9444d"/>
    <p:sldId xmlns:r="http://schemas.openxmlformats.org/officeDocument/2006/relationships" id="307" r:id="Ra065c11df7764b1a"/>
    <p:sldId xmlns:r="http://schemas.openxmlformats.org/officeDocument/2006/relationships" id="308" r:id="Rfc782eb0b52c4d4f"/>
    <p:sldId xmlns:r="http://schemas.openxmlformats.org/officeDocument/2006/relationships" id="309" r:id="Rad6ce6d4d49b4b44"/>
    <p:sldId xmlns:r="http://schemas.openxmlformats.org/officeDocument/2006/relationships" id="310" r:id="Ree44b6532ec74489"/>
    <p:sldId xmlns:r="http://schemas.openxmlformats.org/officeDocument/2006/relationships" id="311" r:id="R1b967b2a804447c3"/>
    <p:sldId xmlns:r="http://schemas.openxmlformats.org/officeDocument/2006/relationships" id="312" r:id="R47032f84eb3747c7"/>
    <p:sldId xmlns:r="http://schemas.openxmlformats.org/officeDocument/2006/relationships" id="313" r:id="R77c9f03aebcf483b"/>
    <p:sldId xmlns:r="http://schemas.openxmlformats.org/officeDocument/2006/relationships" id="314" r:id="R5a807c834ba749bc"/>
    <p:sldId xmlns:r="http://schemas.openxmlformats.org/officeDocument/2006/relationships" id="315" r:id="Ree38ddfa31be4242"/>
    <p:sldId xmlns:r="http://schemas.openxmlformats.org/officeDocument/2006/relationships" id="316" r:id="Rf2552b4a5b94422a"/>
    <p:sldId xmlns:r="http://schemas.openxmlformats.org/officeDocument/2006/relationships" id="317" r:id="R7605417fda7e4587"/>
    <p:sldId xmlns:r="http://schemas.openxmlformats.org/officeDocument/2006/relationships" id="318" r:id="R25e672f1888d40db"/>
    <p:sldId xmlns:r="http://schemas.openxmlformats.org/officeDocument/2006/relationships" id="319" r:id="R128d9bc52df14d07"/>
    <p:sldId xmlns:r="http://schemas.openxmlformats.org/officeDocument/2006/relationships" id="320" r:id="Radeddb4726ae4901"/>
    <p:sldId xmlns:r="http://schemas.openxmlformats.org/officeDocument/2006/relationships" id="321" r:id="R14feacc9a0b9437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b0adb08c45a4f12" /><Relationship Type="http://schemas.openxmlformats.org/officeDocument/2006/relationships/slideMaster" Target="/ppt/slideMasters/slideMaster1.xml" Id="R3a395c971a6b46c5" /><Relationship Type="http://schemas.openxmlformats.org/officeDocument/2006/relationships/notesMaster" Target="/ppt/notesMasters/notesMaster1.xml" Id="R8e5f2de2f9c94747" /><Relationship Type="http://schemas.openxmlformats.org/officeDocument/2006/relationships/presProps" Target="/ppt/presProps.xml" Id="R1da71c8ad4084352" /><Relationship Type="http://schemas.openxmlformats.org/officeDocument/2006/relationships/tableStyles" Target="/ppt/tableStyles.xml" Id="R68202982dc0d4a66" /><Relationship Type="http://schemas.openxmlformats.org/officeDocument/2006/relationships/slide" Target="/ppt/slides/slide1.xml" Id="R0ab7753eb423411e" /><Relationship Type="http://schemas.openxmlformats.org/officeDocument/2006/relationships/slide" Target="/ppt/slides/slide2.xml" Id="R737471c118c34373" /><Relationship Type="http://schemas.openxmlformats.org/officeDocument/2006/relationships/slide" Target="/ppt/slides/slide3.xml" Id="R7e3239bffd3946ff" /><Relationship Type="http://schemas.openxmlformats.org/officeDocument/2006/relationships/slide" Target="/ppt/slides/slide4.xml" Id="R55856faa83984c88" /><Relationship Type="http://schemas.openxmlformats.org/officeDocument/2006/relationships/slide" Target="/ppt/slides/slide5.xml" Id="Rc79e97a67f3c4d4c" /><Relationship Type="http://schemas.openxmlformats.org/officeDocument/2006/relationships/slide" Target="/ppt/slides/slide6.xml" Id="R9bd929a2d4bd48af" /><Relationship Type="http://schemas.openxmlformats.org/officeDocument/2006/relationships/slide" Target="/ppt/slides/slide7.xml" Id="R26c8660139ec4e93" /><Relationship Type="http://schemas.openxmlformats.org/officeDocument/2006/relationships/slide" Target="/ppt/slides/slide8.xml" Id="R9315caa0bf4e4bcd" /><Relationship Type="http://schemas.openxmlformats.org/officeDocument/2006/relationships/slide" Target="/ppt/slides/slide9.xml" Id="R2e1fec6cfadf447e" /><Relationship Type="http://schemas.openxmlformats.org/officeDocument/2006/relationships/slide" Target="/ppt/slides/slide10.xml" Id="Rc9904eaf576642e8" /><Relationship Type="http://schemas.openxmlformats.org/officeDocument/2006/relationships/slide" Target="/ppt/slides/slide11.xml" Id="R1c773a90ebd44442" /><Relationship Type="http://schemas.openxmlformats.org/officeDocument/2006/relationships/slide" Target="/ppt/slides/slide12.xml" Id="Rfa45c287a43f4160" /><Relationship Type="http://schemas.openxmlformats.org/officeDocument/2006/relationships/slide" Target="/ppt/slides/slide13.xml" Id="R4439cf3a34dc4775" /><Relationship Type="http://schemas.openxmlformats.org/officeDocument/2006/relationships/slide" Target="/ppt/slides/slide14.xml" Id="R3628f00295c04be2" /><Relationship Type="http://schemas.openxmlformats.org/officeDocument/2006/relationships/slide" Target="/ppt/slides/slide15.xml" Id="R863395495deb4792" /><Relationship Type="http://schemas.openxmlformats.org/officeDocument/2006/relationships/slide" Target="/ppt/slides/slide16.xml" Id="Rb637aac7fcaf4ea8" /><Relationship Type="http://schemas.openxmlformats.org/officeDocument/2006/relationships/slide" Target="/ppt/slides/slide17.xml" Id="R0af9f7bcfedb43d2" /><Relationship Type="http://schemas.openxmlformats.org/officeDocument/2006/relationships/slide" Target="/ppt/slides/slide18.xml" Id="Rd25aff7a201a4ca1" /><Relationship Type="http://schemas.openxmlformats.org/officeDocument/2006/relationships/slide" Target="/ppt/slides/slide19.xml" Id="R5219e7c04d3c48b6" /><Relationship Type="http://schemas.openxmlformats.org/officeDocument/2006/relationships/slide" Target="/ppt/slides/slide20.xml" Id="R3cf6c2b43d194e6c" /><Relationship Type="http://schemas.openxmlformats.org/officeDocument/2006/relationships/slide" Target="/ppt/slides/slide21.xml" Id="Ra3eebdaddc8a434f" /><Relationship Type="http://schemas.openxmlformats.org/officeDocument/2006/relationships/slide" Target="/ppt/slides/slide22.xml" Id="R664143990edc4e2c" /><Relationship Type="http://schemas.openxmlformats.org/officeDocument/2006/relationships/slide" Target="/ppt/slides/slide23.xml" Id="R2caf6e3ae8d74de2" /><Relationship Type="http://schemas.openxmlformats.org/officeDocument/2006/relationships/slide" Target="/ppt/slides/slide24.xml" Id="R36a9d2f0921e4745" /><Relationship Type="http://schemas.openxmlformats.org/officeDocument/2006/relationships/slide" Target="/ppt/slides/slide25.xml" Id="R581f9729b4234d6f" /><Relationship Type="http://schemas.openxmlformats.org/officeDocument/2006/relationships/slide" Target="/ppt/slides/slide26.xml" Id="R1fd5aec5264440e9" /><Relationship Type="http://schemas.openxmlformats.org/officeDocument/2006/relationships/slide" Target="/ppt/slides/slide27.xml" Id="R9e2b699688aa4aa4" /><Relationship Type="http://schemas.openxmlformats.org/officeDocument/2006/relationships/slide" Target="/ppt/slides/slide28.xml" Id="Ra5be2885ed9f45ef" /><Relationship Type="http://schemas.openxmlformats.org/officeDocument/2006/relationships/slide" Target="/ppt/slides/slide29.xml" Id="R5edc1d9d34f1476b" /><Relationship Type="http://schemas.openxmlformats.org/officeDocument/2006/relationships/slide" Target="/ppt/slides/slide30.xml" Id="Reb484718027d4d07" /><Relationship Type="http://schemas.openxmlformats.org/officeDocument/2006/relationships/slide" Target="/ppt/slides/slide31.xml" Id="Rb1106828619f4e5e" /><Relationship Type="http://schemas.openxmlformats.org/officeDocument/2006/relationships/slide" Target="/ppt/slides/slide32.xml" Id="R8443aba6a9084b42" /><Relationship Type="http://schemas.openxmlformats.org/officeDocument/2006/relationships/slide" Target="/ppt/slides/slide33.xml" Id="Rf97520a204c940df" /><Relationship Type="http://schemas.openxmlformats.org/officeDocument/2006/relationships/slide" Target="/ppt/slides/slide34.xml" Id="Ra825646f25084d22" /><Relationship Type="http://schemas.openxmlformats.org/officeDocument/2006/relationships/slide" Target="/ppt/slides/slide35.xml" Id="R6cb8f92211254e10" /><Relationship Type="http://schemas.openxmlformats.org/officeDocument/2006/relationships/slide" Target="/ppt/slides/slide36.xml" Id="Rb24129fe649c4a55" /><Relationship Type="http://schemas.openxmlformats.org/officeDocument/2006/relationships/slide" Target="/ppt/slides/slide37.xml" Id="Rd9f7b55038e448b2" /><Relationship Type="http://schemas.openxmlformats.org/officeDocument/2006/relationships/slide" Target="/ppt/slides/slide38.xml" Id="R88a354b75c1d4fc4" /><Relationship Type="http://schemas.openxmlformats.org/officeDocument/2006/relationships/slide" Target="/ppt/slides/slide39.xml" Id="R938c4c211de4473a" /><Relationship Type="http://schemas.openxmlformats.org/officeDocument/2006/relationships/slide" Target="/ppt/slides/slide40.xml" Id="R9ce9b565ae0b46fe" /><Relationship Type="http://schemas.openxmlformats.org/officeDocument/2006/relationships/slide" Target="/ppt/slides/slide41.xml" Id="Reb06d2d8d5a14885" /><Relationship Type="http://schemas.openxmlformats.org/officeDocument/2006/relationships/slide" Target="/ppt/slides/slide42.xml" Id="Rdf5b14fcd7a24f7a" /><Relationship Type="http://schemas.openxmlformats.org/officeDocument/2006/relationships/slide" Target="/ppt/slides/slide43.xml" Id="R45acc4e5eb584754" /><Relationship Type="http://schemas.openxmlformats.org/officeDocument/2006/relationships/slide" Target="/ppt/slides/slide44.xml" Id="Reb67d44d2a194caf" /><Relationship Type="http://schemas.openxmlformats.org/officeDocument/2006/relationships/slide" Target="/ppt/slides/slide45.xml" Id="Ra585a6fb79a44d9f" /><Relationship Type="http://schemas.openxmlformats.org/officeDocument/2006/relationships/slide" Target="/ppt/slides/slide46.xml" Id="Rf3bd5d33033d44cb" /><Relationship Type="http://schemas.openxmlformats.org/officeDocument/2006/relationships/slide" Target="/ppt/slides/slide47.xml" Id="R80cccfa7e85046c2" /><Relationship Type="http://schemas.openxmlformats.org/officeDocument/2006/relationships/slide" Target="/ppt/slides/slide48.xml" Id="R31899679707a4b57" /><Relationship Type="http://schemas.openxmlformats.org/officeDocument/2006/relationships/slide" Target="/ppt/slides/slide49.xml" Id="R937a3a616dff482c" /><Relationship Type="http://schemas.openxmlformats.org/officeDocument/2006/relationships/slide" Target="/ppt/slides/slide50.xml" Id="R01b5aa71125e4db4" /><Relationship Type="http://schemas.openxmlformats.org/officeDocument/2006/relationships/slide" Target="/ppt/slides/slide51.xml" Id="Re73ede879ef9444d" /><Relationship Type="http://schemas.openxmlformats.org/officeDocument/2006/relationships/slide" Target="/ppt/slides/slide52.xml" Id="Ra065c11df7764b1a" /><Relationship Type="http://schemas.openxmlformats.org/officeDocument/2006/relationships/slide" Target="/ppt/slides/slide53.xml" Id="Rfc782eb0b52c4d4f" /><Relationship Type="http://schemas.openxmlformats.org/officeDocument/2006/relationships/slide" Target="/ppt/slides/slide54.xml" Id="Rad6ce6d4d49b4b44" /><Relationship Type="http://schemas.openxmlformats.org/officeDocument/2006/relationships/slide" Target="/ppt/slides/slide55.xml" Id="Ree44b6532ec74489" /><Relationship Type="http://schemas.openxmlformats.org/officeDocument/2006/relationships/slide" Target="/ppt/slides/slide56.xml" Id="R1b967b2a804447c3" /><Relationship Type="http://schemas.openxmlformats.org/officeDocument/2006/relationships/slide" Target="/ppt/slides/slide57.xml" Id="R47032f84eb3747c7" /><Relationship Type="http://schemas.openxmlformats.org/officeDocument/2006/relationships/slide" Target="/ppt/slides/slide58.xml" Id="R77c9f03aebcf483b" /><Relationship Type="http://schemas.openxmlformats.org/officeDocument/2006/relationships/slide" Target="/ppt/slides/slide59.xml" Id="R5a807c834ba749bc" /><Relationship Type="http://schemas.openxmlformats.org/officeDocument/2006/relationships/slide" Target="/ppt/slides/slide60.xml" Id="Ree38ddfa31be4242" /><Relationship Type="http://schemas.openxmlformats.org/officeDocument/2006/relationships/slide" Target="/ppt/slides/slide61.xml" Id="Rf2552b4a5b94422a" /><Relationship Type="http://schemas.openxmlformats.org/officeDocument/2006/relationships/slide" Target="/ppt/slides/slide62.xml" Id="R7605417fda7e4587" /><Relationship Type="http://schemas.openxmlformats.org/officeDocument/2006/relationships/slide" Target="/ppt/slides/slide63.xml" Id="R25e672f1888d40db" /><Relationship Type="http://schemas.openxmlformats.org/officeDocument/2006/relationships/slide" Target="/ppt/slides/slide64.xml" Id="R128d9bc52df14d07" /><Relationship Type="http://schemas.openxmlformats.org/officeDocument/2006/relationships/slide" Target="/ppt/slides/slide65.xml" Id="Radeddb4726ae4901" /><Relationship Type="http://schemas.openxmlformats.org/officeDocument/2006/relationships/slide" Target="/ppt/slides/slide66.xml" Id="R14feacc9a0b9437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7e0a4f5f95e496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b7ce2bca9af450e" /><Relationship Type="http://schemas.openxmlformats.org/officeDocument/2006/relationships/notesMaster" Target="/ppt/notesMasters/notesMaster1.xml" Id="R4b4f79be355b4e4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79a830f1c1d4fac" /><Relationship Type="http://schemas.openxmlformats.org/officeDocument/2006/relationships/notesMaster" Target="/ppt/notesMasters/notesMaster1.xml" Id="R920f2c0afd5e4a2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984faf8de60467f" /><Relationship Type="http://schemas.openxmlformats.org/officeDocument/2006/relationships/notesMaster" Target="/ppt/notesMasters/notesMaster1.xml" Id="Ra81fe553d0a04b5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205727a32084328" /><Relationship Type="http://schemas.openxmlformats.org/officeDocument/2006/relationships/notesMaster" Target="/ppt/notesMasters/notesMaster1.xml" Id="Rf07aaa88d10144c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b5e1abbcd704a80" /><Relationship Type="http://schemas.openxmlformats.org/officeDocument/2006/relationships/notesMaster" Target="/ppt/notesMasters/notesMaster1.xml" Id="Reca181edc2a2491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0b039c65db34e24" /><Relationship Type="http://schemas.openxmlformats.org/officeDocument/2006/relationships/notesMaster" Target="/ppt/notesMasters/notesMaster1.xml" Id="Rb43941e22f51495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4bb51d1bcbf4e36" /><Relationship Type="http://schemas.openxmlformats.org/officeDocument/2006/relationships/notesMaster" Target="/ppt/notesMasters/notesMaster1.xml" Id="R61a0646bad2c484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b39d181ce404eb7" /><Relationship Type="http://schemas.openxmlformats.org/officeDocument/2006/relationships/notesMaster" Target="/ppt/notesMasters/notesMaster1.xml" Id="R8fdd99c0b7de4c1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db1f379217f4ee4" /><Relationship Type="http://schemas.openxmlformats.org/officeDocument/2006/relationships/notesMaster" Target="/ppt/notesMasters/notesMaster1.xml" Id="R7e38b9c2086d4bd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4096d2462f343b0" /><Relationship Type="http://schemas.openxmlformats.org/officeDocument/2006/relationships/notesMaster" Target="/ppt/notesMasters/notesMaster1.xml" Id="R62412af61980494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5556ac59364412b" /><Relationship Type="http://schemas.openxmlformats.org/officeDocument/2006/relationships/notesMaster" Target="/ppt/notesMasters/notesMaster1.xml" Id="Re1b191cc9f58443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5438672b82a4687" /><Relationship Type="http://schemas.openxmlformats.org/officeDocument/2006/relationships/notesMaster" Target="/ppt/notesMasters/notesMaster1.xml" Id="R6e250449ba02463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79b5373ad9144bb" /><Relationship Type="http://schemas.openxmlformats.org/officeDocument/2006/relationships/notesMaster" Target="/ppt/notesMasters/notesMaster1.xml" Id="R03461c4d3051454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e95fdcda3934328" /><Relationship Type="http://schemas.openxmlformats.org/officeDocument/2006/relationships/notesMaster" Target="/ppt/notesMasters/notesMaster1.xml" Id="R0627899951534cf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b4c4b1aa62b45e0" /><Relationship Type="http://schemas.openxmlformats.org/officeDocument/2006/relationships/notesMaster" Target="/ppt/notesMasters/notesMaster1.xml" Id="Ra2946b76184a494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136e4eb0a7d4f77" /><Relationship Type="http://schemas.openxmlformats.org/officeDocument/2006/relationships/notesMaster" Target="/ppt/notesMasters/notesMaster1.xml" Id="Raf89bb596500478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2333a7b1acc408e" /><Relationship Type="http://schemas.openxmlformats.org/officeDocument/2006/relationships/notesMaster" Target="/ppt/notesMasters/notesMaster1.xml" Id="R570662e3606a4ec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ae300941e8f4f1c" /><Relationship Type="http://schemas.openxmlformats.org/officeDocument/2006/relationships/notesMaster" Target="/ppt/notesMasters/notesMaster1.xml" Id="Rd2e765f64a8d4f9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be7e71f5b144c3e" /><Relationship Type="http://schemas.openxmlformats.org/officeDocument/2006/relationships/notesMaster" Target="/ppt/notesMasters/notesMaster1.xml" Id="R2630529e2a5d4be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6480b5d47b64cd1" /><Relationship Type="http://schemas.openxmlformats.org/officeDocument/2006/relationships/notesMaster" Target="/ppt/notesMasters/notesMaster1.xml" Id="R9b83487b2c2e498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db2fb9bf0174a30" /><Relationship Type="http://schemas.openxmlformats.org/officeDocument/2006/relationships/notesMaster" Target="/ppt/notesMasters/notesMaster1.xml" Id="Rd27959f2f6404bd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b5ef0477ecf4e91" /><Relationship Type="http://schemas.openxmlformats.org/officeDocument/2006/relationships/notesMaster" Target="/ppt/notesMasters/notesMaster1.xml" Id="R8d076f91651847b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cef4c6d3d574593" /><Relationship Type="http://schemas.openxmlformats.org/officeDocument/2006/relationships/notesMaster" Target="/ppt/notesMasters/notesMaster1.xml" Id="Rca8939f8b52040c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f3be4dc6f83472e" /><Relationship Type="http://schemas.openxmlformats.org/officeDocument/2006/relationships/notesMaster" Target="/ppt/notesMasters/notesMaster1.xml" Id="Rc4a55d5783ce4f7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6d133c1abe247e7" /><Relationship Type="http://schemas.openxmlformats.org/officeDocument/2006/relationships/notesMaster" Target="/ppt/notesMasters/notesMaster1.xml" Id="Ra6cb23517fec4cb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d53c7be798a406a" /><Relationship Type="http://schemas.openxmlformats.org/officeDocument/2006/relationships/notesMaster" Target="/ppt/notesMasters/notesMaster1.xml" Id="R030c65d782c147b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e62bf2e8d574415" /><Relationship Type="http://schemas.openxmlformats.org/officeDocument/2006/relationships/notesMaster" Target="/ppt/notesMasters/notesMaster1.xml" Id="R008e6654493d41a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88e2ed4ee404b5e" /><Relationship Type="http://schemas.openxmlformats.org/officeDocument/2006/relationships/notesMaster" Target="/ppt/notesMasters/notesMaster1.xml" Id="R7167833b007e46b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e856066588c54308" /><Relationship Type="http://schemas.openxmlformats.org/officeDocument/2006/relationships/notesMaster" Target="/ppt/notesMasters/notesMaster1.xml" Id="Rffcfca82c18643d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5392c60f813f4708" /><Relationship Type="http://schemas.openxmlformats.org/officeDocument/2006/relationships/notesMaster" Target="/ppt/notesMasters/notesMaster1.xml" Id="R330dca1d33d64dc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a87738c34a234f2d" /><Relationship Type="http://schemas.openxmlformats.org/officeDocument/2006/relationships/notesMaster" Target="/ppt/notesMasters/notesMaster1.xml" Id="R344a3e3ee739403a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376ace0f1b4f4a8d" /><Relationship Type="http://schemas.openxmlformats.org/officeDocument/2006/relationships/notesMaster" Target="/ppt/notesMasters/notesMaster1.xml" Id="R55e45696b6ef43a0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a83b7dfe3fb849c7" /><Relationship Type="http://schemas.openxmlformats.org/officeDocument/2006/relationships/notesMaster" Target="/ppt/notesMasters/notesMaster1.xml" Id="Rd80921e4fcd14f40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0e48052ebfd94d82" /><Relationship Type="http://schemas.openxmlformats.org/officeDocument/2006/relationships/notesMaster" Target="/ppt/notesMasters/notesMaster1.xml" Id="R6e00768cb8e44810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d0dd05eedabd4ba1" /><Relationship Type="http://schemas.openxmlformats.org/officeDocument/2006/relationships/notesMaster" Target="/ppt/notesMasters/notesMaster1.xml" Id="R9e6a7124081c427a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dc909079569e4e35" /><Relationship Type="http://schemas.openxmlformats.org/officeDocument/2006/relationships/notesMaster" Target="/ppt/notesMasters/notesMaster1.xml" Id="Rcc7bc6cbea284297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6bee3db7bb4441b6" /><Relationship Type="http://schemas.openxmlformats.org/officeDocument/2006/relationships/notesMaster" Target="/ppt/notesMasters/notesMaster1.xml" Id="R55b6765850af4632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041318c4527e4b0f" /><Relationship Type="http://schemas.openxmlformats.org/officeDocument/2006/relationships/notesMaster" Target="/ppt/notesMasters/notesMaster1.xml" Id="R99bb86e97a0242b8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71b37f4d99c04c89" /><Relationship Type="http://schemas.openxmlformats.org/officeDocument/2006/relationships/notesMaster" Target="/ppt/notesMasters/notesMaster1.xml" Id="Ra025ce3b25864a7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42d38a6414474f82" /><Relationship Type="http://schemas.openxmlformats.org/officeDocument/2006/relationships/notesMaster" Target="/ppt/notesMasters/notesMaster1.xml" Id="R8c9e381d25ea4ba9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4371dd42928845e2" /><Relationship Type="http://schemas.openxmlformats.org/officeDocument/2006/relationships/notesMaster" Target="/ppt/notesMasters/notesMaster1.xml" Id="Raa848978e3944d0e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4e210516da604a15" /><Relationship Type="http://schemas.openxmlformats.org/officeDocument/2006/relationships/notesMaster" Target="/ppt/notesMasters/notesMaster1.xml" Id="R20fe9fc55d81491d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d463be9f82e44fef" /><Relationship Type="http://schemas.openxmlformats.org/officeDocument/2006/relationships/notesMaster" Target="/ppt/notesMasters/notesMaster1.xml" Id="Rc9522c1f40484eb7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0806b70d5a7e491b" /><Relationship Type="http://schemas.openxmlformats.org/officeDocument/2006/relationships/notesMaster" Target="/ppt/notesMasters/notesMaster1.xml" Id="Rb550ae2082ca43a6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f9c206000df64210" /><Relationship Type="http://schemas.openxmlformats.org/officeDocument/2006/relationships/notesMaster" Target="/ppt/notesMasters/notesMaster1.xml" Id="R7499ee13d0b648bf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8499999ca47e4456" /><Relationship Type="http://schemas.openxmlformats.org/officeDocument/2006/relationships/notesMaster" Target="/ppt/notesMasters/notesMaster1.xml" Id="R8194e533a27c42eb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c5f2e448b7634bef" /><Relationship Type="http://schemas.openxmlformats.org/officeDocument/2006/relationships/notesMaster" Target="/ppt/notesMasters/notesMaster1.xml" Id="R55078be5b4444c70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a7ff37e76fae44e6" /><Relationship Type="http://schemas.openxmlformats.org/officeDocument/2006/relationships/notesMaster" Target="/ppt/notesMasters/notesMaster1.xml" Id="Red702bc5e47b4b3a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61d0f42c9c164c00" /><Relationship Type="http://schemas.openxmlformats.org/officeDocument/2006/relationships/notesMaster" Target="/ppt/notesMasters/notesMaster1.xml" Id="R0225a37e85be462c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ebb972cfd71041a0" /><Relationship Type="http://schemas.openxmlformats.org/officeDocument/2006/relationships/notesMaster" Target="/ppt/notesMasters/notesMaster1.xml" Id="R56a49039611d41d9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3745131d7f0f4f6e" /><Relationship Type="http://schemas.openxmlformats.org/officeDocument/2006/relationships/notesMaster" Target="/ppt/notesMasters/notesMaster1.xml" Id="Rf84a690b614d494d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7524ce3f8cda4c40" /><Relationship Type="http://schemas.openxmlformats.org/officeDocument/2006/relationships/notesMaster" Target="/ppt/notesMasters/notesMaster1.xml" Id="R453ec7ab1bb94eee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a801eb4c0b0546fd" /><Relationship Type="http://schemas.openxmlformats.org/officeDocument/2006/relationships/notesMaster" Target="/ppt/notesMasters/notesMaster1.xml" Id="R25ade6c105434b0d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29a3f45e61e34d32" /><Relationship Type="http://schemas.openxmlformats.org/officeDocument/2006/relationships/notesMaster" Target="/ppt/notesMasters/notesMaster1.xml" Id="R2a9a0fec1984481e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eb8b5d2483f44132" /><Relationship Type="http://schemas.openxmlformats.org/officeDocument/2006/relationships/notesMaster" Target="/ppt/notesMasters/notesMaster1.xml" Id="Rf58236a724b94ffa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e7f8820e16df4518" /><Relationship Type="http://schemas.openxmlformats.org/officeDocument/2006/relationships/notesMaster" Target="/ppt/notesMasters/notesMaster1.xml" Id="Red65f9cfab8440c3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a60f693266a845aa" /><Relationship Type="http://schemas.openxmlformats.org/officeDocument/2006/relationships/notesMaster" Target="/ppt/notesMasters/notesMaster1.xml" Id="R719f25bb3a144235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03459e57182548ca" /><Relationship Type="http://schemas.openxmlformats.org/officeDocument/2006/relationships/notesMaster" Target="/ppt/notesMasters/notesMaster1.xml" Id="Rc251b631554845c8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803cd0fde70b4a5d" /><Relationship Type="http://schemas.openxmlformats.org/officeDocument/2006/relationships/notesMaster" Target="/ppt/notesMasters/notesMaster1.xml" Id="R2a3d0390b0b44c3a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f3657c0528b14fc0" /><Relationship Type="http://schemas.openxmlformats.org/officeDocument/2006/relationships/notesMaster" Target="/ppt/notesMasters/notesMaster1.xml" Id="R7e5917c7f6414676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0bdc3c96acc74e8c" /><Relationship Type="http://schemas.openxmlformats.org/officeDocument/2006/relationships/notesMaster" Target="/ppt/notesMasters/notesMaster1.xml" Id="R5ef2403b487f41a0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e5057839f6e1409d" /><Relationship Type="http://schemas.openxmlformats.org/officeDocument/2006/relationships/notesMaster" Target="/ppt/notesMasters/notesMaster1.xml" Id="Ra9ba2487f9ab4ea1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ab9ee663622d4c39" /><Relationship Type="http://schemas.openxmlformats.org/officeDocument/2006/relationships/notesMaster" Target="/ppt/notesMasters/notesMaster1.xml" Id="R3b95732aef4c48b4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58f352425b1f4bfd" /><Relationship Type="http://schemas.openxmlformats.org/officeDocument/2006/relationships/notesMaster" Target="/ppt/notesMasters/notesMaster1.xml" Id="Re9fb73c80b56420b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cf7a95680bd84834" /><Relationship Type="http://schemas.openxmlformats.org/officeDocument/2006/relationships/notesMaster" Target="/ppt/notesMasters/notesMaster1.xml" Id="R1dee92892c3c47fa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04544a141c82459e" /><Relationship Type="http://schemas.openxmlformats.org/officeDocument/2006/relationships/notesMaster" Target="/ppt/notesMasters/notesMaster1.xml" Id="R42c3a7a5f9c148a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1. Apache Spark:</a:t>
            </a:r>
          </a:p>
          <a:p xmlns:a="http://schemas.openxmlformats.org/drawingml/2006/main">
            <a:r>
              <a:t>от данных к плану выполнения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2. Локальный Python больше не укладывается в SLA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 external sources; original instructional synthesis.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3. После лекции вы сможете объяснить Spark через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https://spark.apache.org/docs/4.2.0/cluster-overview.html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4. Big Data — это ограничение workload, а не ярлык размера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https://www.nist.gov/publications/nist-big-data-interoperability-framework-volume-1-definitions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5. Big Data возник не в один день — термин догонял инженерную реальность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https://web.stanford.edu/class/ee380/9798win/lect08.html</a:t>
            </a:r>
          </a:p>
          <a:p xmlns:a="http://schemas.openxmlformats.org/drawingml/2006/main">
            <a:r>
              <a:t>- https://web.archive.org/web/20180206012552/http://blogs.gartner.com/doug-laney/files/2012/01/ad949-3D-Data-Management-Controlling-Data-Volume-Velocity-and-Variety.pdf</a:t>
            </a:r>
          </a:p>
          <a:p xmlns:a="http://schemas.openxmlformats.org/drawingml/2006/main">
            <a:r>
              <a:t>- https://www.nist.gov/publications/nist-big-data-interoperability-framework-volume-1-definitions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6. 3V — диагностическая модель давления, а не определение по порогу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https://web.archive.org/web/20180206012552/http://blogs.gartner.com/doug-laney/files/2012/01/ad949-3D-Data-Management-Controlling-Data-Volume-Velocity-and-Variety.pdf</a:t>
            </a:r>
          </a:p>
          <a:p xmlns:a="http://schemas.openxmlformats.org/drawingml/2006/main">
            <a:r>
              <a:t>- https://www.nist.gov/publications/nist-big-data-interoperability-framework-volume-1-definitions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7. После 3V появились десятки V — единого канона 6V или 10V нет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https://web.archive.org/web/20180206012552/http://blogs.gartner.com/doug-laney/files/2012/01/ad949-3D-Data-Management-Controlling-Data-Volume-Velocity-and-Variety.pdf</a:t>
            </a:r>
          </a:p>
          <a:p xmlns:a="http://schemas.openxmlformats.org/drawingml/2006/main">
            <a:r>
              <a:t>- https://www.nist.gov/publications/nist-big-data-interoperability-framework-volume-1-definitions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8. Big Data родился из разрыва между ростом данных и возможностями одного узла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https://web.stanford.edu/class/ee380/9798win/lect08.html</a:t>
            </a:r>
          </a:p>
          <a:p xmlns:a="http://schemas.openxmlformats.org/drawingml/2006/main">
            <a:r>
              <a:t>- https://research.google/pubs/the-google-file-system/</a:t>
            </a:r>
          </a:p>
          <a:p xmlns:a="http://schemas.openxmlformats.org/drawingml/2006/main">
            <a:r>
              <a:t>- https://www.nist.gov/publications/nist-big-data-interoperability-framework-volume-1-definitions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9. Google превратил ненадёжный кластер в программируемую платформу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https://research.google/pubs/the-google-file-system/</a:t>
            </a:r>
          </a:p>
          <a:p xmlns:a="http://schemas.openxmlformats.org/drawingml/2006/main">
            <a:r>
              <a:t>- https://research.google/pubs/mapreduce-simplified-data-processing-on-large-clusters/</a:t>
            </a:r>
          </a:p>
          <a:p xmlns:a="http://schemas.openxmlformats.org/drawingml/2006/main">
            <a:r>
              <a:t>- https://hadoop.apache.org/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10. MapReduce — как почтовый центр: пометить, рассортировать, собрать итог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https://research.google/pubs/mapreduce-simplified-data-processing-on-large-clusters/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11. Один MapReduce job фиксирует конвейер вокруг одной shuffle-границы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https://research.google/pubs/mapreduce-simplified-data-processing-on-large-clusters/</a:t>
            </a:r>
          </a:p>
          <a:p xmlns:a="http://schemas.openxmlformats.org/drawingml/2006/main">
            <a:r>
              <a:t>- https://hadoop.apache.org/docs/stable/hadoop-mapreduce-client/hadoop-mapreduce-client-core/MapReduceTutorial.html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12. Spark атаковал не Map и Reduce, а стоимость повторного использования данных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https://research.google/pubs/mapreduce-simplified-data-processing-on-large-clusters/</a:t>
            </a:r>
          </a:p>
          <a:p xmlns:a="http://schemas.openxmlformats.org/drawingml/2006/main">
            <a:r>
              <a:t>- https://www.usenix.org/conference/hotcloud-10/spark-cluster-computing-working-sets</a:t>
            </a:r>
          </a:p>
          <a:p xmlns:a="http://schemas.openxmlformats.org/drawingml/2006/main">
            <a:r>
              <a:t>- https://www.usenix.org/conference/nsdi12/technical-sessions/presentation/zaharia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13. Matei Zaharia и команда AMPLab начали Spark с боли iterative и interactive workloads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https://spark.apache.org/history</a:t>
            </a:r>
          </a:p>
          <a:p xmlns:a="http://schemas.openxmlformats.org/drawingml/2006/main">
            <a:r>
              <a:t>- https://www.usenix.org/conference/hotcloud-10/spark-cluster-computing-working-sets</a:t>
            </a:r>
          </a:p>
          <a:p xmlns:a="http://schemas.openxmlformats.org/drawingml/2006/main">
            <a:r>
              <a:t>- https://www.usenix.org/conference/nsdi12/technical-sessions/presentation/zaharia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14. 0.x и 1.x превратили исследовательский RDD engine в платформу данных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https://spark.apache.org/news/</a:t>
            </a:r>
          </a:p>
          <a:p xmlns:a="http://schemas.openxmlformats.org/drawingml/2006/main">
            <a:r>
              <a:t>- https://spark.apache.org/releases/spark-release-1-3-0.html</a:t>
            </a:r>
          </a:p>
          <a:p xmlns:a="http://schemas.openxmlformats.org/drawingml/2006/main">
            <a:r>
              <a:t>- https://people.csail.mit.edu/matei/papers/2015/sigmod_spark_sql.pdf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15. 2.x–4.x сместили центр тяжести от RDD к SQL engine и PySpark UX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https://spark.apache.org/releases/spark-release-2-0-0.html</a:t>
            </a:r>
          </a:p>
          <a:p xmlns:a="http://schemas.openxmlformats.org/drawingml/2006/main">
            <a:r>
              <a:t>- https://spark.apache.org/releases/spark-release-3-0-0.html</a:t>
            </a:r>
          </a:p>
          <a:p xmlns:a="http://schemas.openxmlformats.org/drawingml/2006/main">
            <a:r>
              <a:t>- https://spark.apache.org/releases/spark-release-4-0-0.html</a:t>
            </a:r>
          </a:p>
          <a:p xmlns:a="http://schemas.openxmlformats.org/drawingml/2006/main">
            <a:r>
              <a:t>- https://spark.apache.org/releases/spark-release-4-2-0.html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16. Победила комбинация модели выполнения, API и экосистемы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https://www.usenix.org/conference/nsdi12/technical-sessions/presentation/zaharia</a:t>
            </a:r>
          </a:p>
          <a:p xmlns:a="http://schemas.openxmlformats.org/drawingml/2006/main">
            <a:r>
              <a:t>- https://people.csail.mit.edu/matei/papers/2015/sigmod_spark_sql.pdf</a:t>
            </a:r>
          </a:p>
          <a:p xmlns:a="http://schemas.openxmlformats.org/drawingml/2006/main">
            <a:r>
              <a:t>- https://people.csail.mit.edu/matei/papers/2015/vldb_spark.pdf</a:t>
            </a:r>
          </a:p>
          <a:p xmlns:a="http://schemas.openxmlformats.org/drawingml/2006/main">
            <a:r>
              <a:t>- https://spark.apache.org/history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17. Spark — compute engine, а не база данных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https://spark.apache.org/docs/4.2.0/cluster-overview.html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18. Иногда лучший Spark job — тот, который вы не запускаете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 external sources; original instructional synthesis.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19. Один Spark application — один driver и набор executors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https://spark.apache.org/docs/4.2.0/cluster-overview.html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20. Cluster manager выдаёт ресурсы — Spark управляет вычислением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https://spark.apache.org/docs/4.2.0/cluster-overview.html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21. В PySpark работаем через DataFrame — но понимаем все уровни API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https://spark.apache.org/docs/4.2.0/api/python/reference/pyspark.sql/api/pyspark.sql.SparkSession.html</a:t>
            </a:r>
          </a:p>
          <a:p xmlns:a="http://schemas.openxmlformats.org/drawingml/2006/main">
            <a:r>
              <a:t>- https://spark.apache.org/docs/4.2.0/api/python/reference/api/pyspark.SparkContext.html</a:t>
            </a:r>
          </a:p>
          <a:p xmlns:a="http://schemas.openxmlformats.org/drawingml/2006/main">
            <a:r>
              <a:t>- https://spark.apache.org/docs/4.2.0/rdd-programming-guide.html</a:t>
            </a:r>
          </a:p>
          <a:p xmlns:a="http://schemas.openxmlformats.org/drawingml/2006/main">
            <a:r>
              <a:t>- https://spark.apache.org/docs/4.2.0/sql-programming-guide.html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22. Driver назначает tasks — cluster manager лишь выделяет executors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https://spark.apache.org/docs/4.2.0/cluster-overview.html</a:t>
            </a:r>
          </a:p>
          <a:p xmlns:a="http://schemas.openxmlformats.org/drawingml/2006/main">
            <a:r>
              <a:t>- https://spark.apache.org/docs/4.2.0/job-scheduling.html</a:t>
            </a:r>
          </a:p>
          <a:p xmlns:a="http://schemas.openxmlformats.org/drawingml/2006/main">
            <a:r>
              <a:t>- https://github.com/apache/spark/blob/v4.2.0/core/src/main/scala/org/apache/spark/scheduler/DAGScheduler.scala</a:t>
            </a:r>
          </a:p>
          <a:p xmlns:a="http://schemas.openxmlformats.org/drawingml/2006/main">
            <a:r>
              <a:t>- https://github.com/apache/spark/blob/v4.2.0/core/src/main/scala/org/apache/spark/scheduler/TaskSchedulerImpl.scala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23. Partition — минимальная порция данных для одной task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https://spark.apache.org/docs/4.2.0/rdd-programming-guide.html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24. DataFrame — декларативный контракт, а не цикл по строкам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https://spark.apache.org/docs/4.2.0/api/python/getting_started/quickstart_df.html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25. Transformations строят план — action запускает работу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https://spark.apache.org/docs/4.2.0/api/python/getting_started/quickstart_df.html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26. Lazy evaluation даёт optimizer увидеть весь pipeline до запуска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https://spark.apache.org/docs/4.2.0/rdd-programming-guide.html</a:t>
            </a:r>
          </a:p>
          <a:p xmlns:a="http://schemas.openxmlformats.org/drawingml/2006/main">
            <a:r>
              <a:t>- https://spark.apache.org/docs/4.2.0/sql-performance-tuning.html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27. Два actions без persist повторяют lineage; cache меняет второй проход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https://spark.apache.org/docs/4.2.0/rdd-programming-guide.html</a:t>
            </a:r>
          </a:p>
          <a:p xmlns:a="http://schemas.openxmlformats.org/drawingml/2006/main">
            <a:r>
              <a:t>- https://spark.apache.org/docs/4.2.0/api/python/reference/pyspark.sql/api/pyspark.sql.DataFrame.cache.html</a:t>
            </a:r>
          </a:p>
          <a:p xmlns:a="http://schemas.openxmlformats.org/drawingml/2006/main">
            <a:r>
              <a:t>- https://spark.apache.org/docs/4.2.0/api/python/reference/pyspark.sql/api/pyspark.sql.DataFrame.persist.html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28. Один action создаёт job, stages и tasks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https://spark.apache.org/docs/4.2.0/job-scheduling.html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29. Shuffle появляется, когда строки меняют владельца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https://spark.apache.org/docs/4.2.0/rdd-programming-guide.html#shuffle-operations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30. Контракт пайплайна: события → дневная выручка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 external sources; original instructional synthesis.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31. Явная schema делает контракт проверяемым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https://spark.apache.org/docs/4.2.0/sql-data-sources.html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32. Built-in expressions сохраняют оптимизации Catalyst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https://spark.apache.org/docs/4.2.0/api/python/reference/pyspark.sql/functions.html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33. Join и aggregation — место, где рождается стоимость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https://spark.apache.org/docs/4.2.0/sql-performance-tuning.html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34. Сначала читаем план — потом тратим кластер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https://spark.apache.org/docs/4.2.0/api/python/reference/pyspark.sql/api/pyspark.sql.DataFrame.explain.html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35. Exchange в physical plan — сигнал перераспределения данных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https://spark.apache.org/docs/4.2.0/sql-performance-tuning.html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36. Action материализует план — формат сохраняет будущие возможности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https://spark.apache.org/docs/4.2.0/sql-data-sources-parquet.html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37. Spark UI превращает “медленно” в проверяемую гипотезу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https://spark.apache.org/docs/4.2.0/web-ui.html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38. Хорошая диагностика связывает код, план и runtime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https://spark.apache.org/docs/4.2.0/sql-performance-tuning.html</a:t>
            </a:r>
          </a:p>
          <a:p xmlns:a="http://schemas.openxmlformats.org/drawingml/2006/main">
            <a:r>
              <a:t>- https://spark.apache.org/docs/4.2.0/web-ui.html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39. Выходной билет: объясните Spark без магии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 external sources; original instructional synthesis.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40. От API к физике выполнения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 external sources; original instructional synthesis.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41. Одна разница — четыре глубины объяснения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https://research.google/pubs/mapreduce-simplified-data-processing-on-large-clusters/</a:t>
            </a:r>
          </a:p>
          <a:p xmlns:a="http://schemas.openxmlformats.org/drawingml/2006/main">
            <a:r>
              <a:t>- https://www.usenix.org/conference/nsdi12/technical-sessions/presentation/zaharia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42. MapReduce оркестрирует job; Spark driver оркестрирует application DAG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https://hadoop.apache.org/docs/stable/hadoop-mapreduce-client/hadoop-mapreduce-client-core/MapReduceTutorial.html</a:t>
            </a:r>
          </a:p>
          <a:p xmlns:a="http://schemas.openxmlformats.org/drawingml/2006/main">
            <a:r>
              <a:t>- https://spark.apache.org/docs/4.2.0/cluster-overview.html</a:t>
            </a:r>
          </a:p>
          <a:p xmlns:a="http://schemas.openxmlformats.org/drawingml/2006/main">
            <a:r>
              <a:t>- https://spark.apache.org/docs/4.2.0/job-scheduling.html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43. На многошаговом пайплайне Spark убирает лишние durable boundaries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https://research.google/pubs/mapreduce-simplified-data-processing-on-large-clusters/</a:t>
            </a:r>
          </a:p>
          <a:p xmlns:a="http://schemas.openxmlformats.org/drawingml/2006/main">
            <a:r>
              <a:t>- https://www.usenix.org/conference/hotcloud-10/spark-cluster-computing-working-sets</a:t>
            </a:r>
          </a:p>
          <a:p xmlns:a="http://schemas.openxmlformats.org/drawingml/2006/main">
            <a:r>
              <a:t>- https://www.usenix.org/conference/nsdi12/technical-sessions/presentation/zaharia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44. Оба engine повторяют tasks — различается цена восстановления промежуточного состояния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https://research.google/pubs/mapreduce-simplified-data-processing-on-large-clusters/</a:t>
            </a:r>
          </a:p>
          <a:p xmlns:a="http://schemas.openxmlformats.org/drawingml/2006/main">
            <a:r>
              <a:t>- https://www.usenix.org/conference/nsdi12/technical-sessions/presentation/zaharia</a:t>
            </a:r>
          </a:p>
          <a:p xmlns:a="http://schemas.openxmlformats.org/drawingml/2006/main">
            <a:r>
              <a:t>- https://spark.apache.org/docs/4.2.0/rdd-programming-guide.html#rdd-persistence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45. Spark — не просто “MapReduce в RAM”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https://research.google/pubs/mapreduce-simplified-data-processing-on-large-clusters/</a:t>
            </a:r>
          </a:p>
          <a:p xmlns:a="http://schemas.openxmlformats.org/drawingml/2006/main">
            <a:r>
              <a:t>- https://www.usenix.org/conference/nsdi12/technical-sessions/presentation/zaharia</a:t>
            </a:r>
          </a:p>
          <a:p xmlns:a="http://schemas.openxmlformats.org/drawingml/2006/main">
            <a:r>
              <a:t>- https://people.csail.mit.edu/matei/papers/2015/sigmod_spark_sql.pdf</a:t>
            </a:r>
          </a:p>
          <a:p xmlns:a="http://schemas.openxmlformats.org/drawingml/2006/main">
            <a:r>
              <a:t>- https://spark.apache.org/docs/4.2.0/sql-performance-tuning.html#adaptive-query-execution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46. Разница важна не всегда: смотрим на число проходов, reuse и latency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https://www.usenix.org/conference/hotcloud-10/spark-cluster-computing-working-sets</a:t>
            </a:r>
          </a:p>
          <a:p xmlns:a="http://schemas.openxmlformats.org/drawingml/2006/main">
            <a:r>
              <a:t>- https://www.usenix.org/conference/nsdi12/technical-sessions/presentation/zaharia</a:t>
            </a:r>
          </a:p>
          <a:p xmlns:a="http://schemas.openxmlformats.org/drawingml/2006/main">
            <a:r>
              <a:t>- https://spark.apache.org/docs/4.2.0/streaming/index.html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47. Выбирайте по доминирующей стоимости, а не по названию технологии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https://www.usenix.org/conference/nsdi12/technical-sessions/presentation/zaharia</a:t>
            </a:r>
          </a:p>
          <a:p xmlns:a="http://schemas.openxmlformats.org/drawingml/2006/main">
            <a:r>
              <a:t>- https://spark.apache.org/docs/4.2.0/cluster-overview.html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48. Principal не спрашивает “что быстрее?” без cost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https://dataintensive.net/</a:t>
            </a:r>
          </a:p>
          <a:p xmlns:a="http://schemas.openxmlformats.org/drawingml/2006/main">
            <a:r>
              <a:t>- https://spark.apache.org/docs/4.2.0/monitoring.html</a:t>
            </a:r>
          </a:p>
          <a:p xmlns:a="http://schemas.openxmlformats.org/drawingml/2006/main">
            <a:r>
              <a:t>- https://spark.apache.org/docs/4.2.0/sql-performance-tuning.html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49. От action до executor slot: границы ответственности scheduler stack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https://spark.apache.org/docs/4.2.0/job-scheduling.html</a:t>
            </a:r>
          </a:p>
          <a:p xmlns:a="http://schemas.openxmlformats.org/drawingml/2006/main">
            <a:r>
              <a:t>- https://spark.apache.org/docs/4.2.0/cluster-overview.html</a:t>
            </a:r>
          </a:p>
          <a:p xmlns:a="http://schemas.openxmlformats.org/drawingml/2006/main">
            <a:r>
              <a:t>- https://github.com/apache/spark/blob/v4.2.0/core/src/main/scala/org/apache/spark/scheduler/DAGScheduler.scala</a:t>
            </a:r>
          </a:p>
          <a:p xmlns:a="http://schemas.openxmlformats.org/drawingml/2006/main">
            <a:r>
              <a:t>- https://github.com/apache/spark/blob/v4.2.0/core/src/main/scala/org/apache/spark/scheduler/TaskSchedulerImpl.scala</a:t>
            </a:r>
          </a:p>
          <a:p xmlns:a="http://schemas.openxmlformats.org/drawingml/2006/main">
            <a:r>
              <a:t>- https://github.com/apache/spark/blob/v4.2.0/core/src/main/scala/org/apache/spark/scheduler/SchedulerBackend.scala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50. Один DataFrame проходит четыре слоя плана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https://spark.apache.org/docs/4.2.0/sql-ref-syntax-qry-explain.html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51. Narrow dependency конвейеризуется; wide требует обмена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https://spark.apache.org/docs/4.2.0/rdd-programming-guide.html#shuffle-operations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52. PySpark управляет JVM engine — граница становится дорогой построчно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https://spark.apache.org/docs/4.2.0/api/python/user_guide/udfandudtf.html</a:t>
            </a:r>
          </a:p>
          <a:p xmlns:a="http://schemas.openxmlformats.org/drawingml/2006/main">
            <a:r>
              <a:t>- https://spark.apache.org/docs/4.2.0/api/python/tutorial/sql/arrow_pandas.html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53. Shuffle — это сеть, файлы и синхронизация между stages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https://spark.apache.org/docs/4.2.0/rdd-programming-guide.html#shuffle-operations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54. Cache хранит partitions как blocks на executors — не обрывая lineage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https://spark.apache.org/docs/4.2.0/api/python/reference/pyspark.sql/api/pyspark.sql.DataFrame.persist.html</a:t>
            </a:r>
          </a:p>
          <a:p xmlns:a="http://schemas.openxmlformats.org/drawingml/2006/main">
            <a:r>
              <a:t>- https://spark.apache.org/docs/4.2.0/api/python/reference/pyspark.sql/api/pyspark.sql.DataFrame.cache.html</a:t>
            </a:r>
          </a:p>
          <a:p xmlns:a="http://schemas.openxmlformats.org/drawingml/2006/main">
            <a:r>
              <a:t>- https://spark.apache.org/docs/4.2.0/rdd-programming-guide.html</a:t>
            </a:r>
          </a:p>
          <a:p xmlns:a="http://schemas.openxmlformats.org/drawingml/2006/main">
            <a:r>
              <a:t>- https://spark.apache.org/docs/4.2.0/configuration.html#memory-management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55. SortMergeJoin масштабируется, но сортирует обе стороны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https://spark.apache.org/docs/4.2.0/sql-performance-tuning.html#optimizing-the-join-strategy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56. BroadcastHashJoin убирает shuffle большой стороны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https://spark.apache.org/docs/4.2.0/sql-performance-tuning.html#optimizing-the-join-strategy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57. AQE меняет physical plan по фактической статистике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https://spark.apache.org/docs/4.2.0/sql-performance-tuning.html#adaptive-query-execution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58. Skew и small files ломают масштабирование с разных сторон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https://spark.apache.org/docs/4.2.0/sql-performance-tuning.html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59. Production-ready Spark начинается до spark-submit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https://spark.apache.org/docs/4.2.0/configuration.html</a:t>
            </a:r>
          </a:p>
          <a:p xmlns:a="http://schemas.openxmlformats.org/drawingml/2006/main">
            <a:r>
              <a:t>- https://spark.apache.org/docs/4.2.0/monitoring.html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60. Шпаргалки для практики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 external sources; original instructional synthesis.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61. Минимальный словарь Spark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https://spark.apache.org/docs/4.2.0/cluster-overview.html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62. Способ запуска меняет эксплуатацию, но не модель приложения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https://spark.apache.org/docs/4.2.0/cluster-overview.html#cluster-manager-types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63. Cache оправдан только повторным использованием дорогого результата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https://spark.apache.org/docs/4.2.0/rdd-programming-guide.html#rdd-persistence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64. Structured Streaming сохраняет ту же DataFrame-модель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https://spark.apache.org/docs/4.2.0/streaming/index.html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65. История и архитектура: первоисточники и книги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https://web.stanford.edu/class/ee380/9798win/lect08.html</a:t>
            </a:r>
          </a:p>
          <a:p xmlns:a="http://schemas.openxmlformats.org/drawingml/2006/main">
            <a:r>
              <a:t>- https://spark.apache.org/research.html</a:t>
            </a:r>
          </a:p>
          <a:p xmlns:a="http://schemas.openxmlformats.org/drawingml/2006/main">
            <a:r>
              <a:t>- https://www.oreilly.com/library/view/learning-spark-2nd/9781492050032/</a:t>
            </a:r>
          </a:p>
          <a:p xmlns:a="http://schemas.openxmlformats.org/drawingml/2006/main">
            <a:r>
              <a:t>- https://dataintensive.net/</a:t>
            </a:r>
          </a:p>
          <a:p xmlns:a="http://schemas.openxmlformats.org/drawingml/2006/main">
            <a:r>
              <a:t>- https://infolab.stanford.edu/~ullman/mmds/book.pdf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66. Следующий шаг — собрать собственную evidence chain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</a:t>
            </a:r>
          </a:p>
          <a:p xmlns:a="http://schemas.openxmlformats.org/drawingml/2006/main">
            <a:r>
              <a:t>- https://spark.apache.org/docs/4.2.0/api/python/getting_started/install.html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be6b5b157d4ea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c74512cde66459f" /><Relationship Type="http://schemas.openxmlformats.org/officeDocument/2006/relationships/slideLayout" Target="/ppt/slideLayouts/slideLayout1.xml" Id="R564f332078bb487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64f332078bb487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affb88e98f41df" /><Relationship Type="http://schemas.openxmlformats.org/officeDocument/2006/relationships/notesSlide" Target="/ppt/notesSlides/notesSlide1.xml" Id="Rbcd15b3c0cb8494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4ffdd38f954c94" /><Relationship Type="http://schemas.openxmlformats.org/officeDocument/2006/relationships/notesSlide" Target="/ppt/notesSlides/notesSlide2.xml" Id="Reb5bea92a51c43f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badda33d8646e7" /><Relationship Type="http://schemas.openxmlformats.org/officeDocument/2006/relationships/notesSlide" Target="/ppt/notesSlides/notesSlide3.xml" Id="R829e8bb4fce6443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fe9946ef374067" /><Relationship Type="http://schemas.openxmlformats.org/officeDocument/2006/relationships/notesSlide" Target="/ppt/notesSlides/notesSlide4.xml" Id="R9f517a29a67a4ae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7a4d047e3e4931" /><Relationship Type="http://schemas.openxmlformats.org/officeDocument/2006/relationships/notesSlide" Target="/ppt/notesSlides/notesSlide5.xml" Id="R12d10ce935524a4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8f84ea61e64fde" /><Relationship Type="http://schemas.openxmlformats.org/officeDocument/2006/relationships/notesSlide" Target="/ppt/notesSlides/notesSlide6.xml" Id="Rdf36ef841ffd41b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89f85af2ed403e" /><Relationship Type="http://schemas.openxmlformats.org/officeDocument/2006/relationships/notesSlide" Target="/ppt/notesSlides/notesSlide7.xml" Id="Rb15b26a901fc496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d9d5e7a8df440a" /><Relationship Type="http://schemas.openxmlformats.org/officeDocument/2006/relationships/notesSlide" Target="/ppt/notesSlides/notesSlide8.xml" Id="R8caf289d659d479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8273b6413d4c77" /><Relationship Type="http://schemas.openxmlformats.org/officeDocument/2006/relationships/notesSlide" Target="/ppt/notesSlides/notesSlide9.xml" Id="Rff534b36fb53492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218def1b61465f" /><Relationship Type="http://schemas.openxmlformats.org/officeDocument/2006/relationships/notesSlide" Target="/ppt/notesSlides/notesSlide10.xml" Id="R8da0d537626a4df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9c8ecc8128444c" /><Relationship Type="http://schemas.openxmlformats.org/officeDocument/2006/relationships/notesSlide" Target="/ppt/notesSlides/notesSlide11.xml" Id="R6b25b1e2caf94a1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0e07bf5e1b4c65" /><Relationship Type="http://schemas.openxmlformats.org/officeDocument/2006/relationships/notesSlide" Target="/ppt/notesSlides/notesSlide12.xml" Id="Ra4ccf8187ac04fe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2d5d25c5ce4e30" /><Relationship Type="http://schemas.openxmlformats.org/officeDocument/2006/relationships/notesSlide" Target="/ppt/notesSlides/notesSlide13.xml" Id="R9c262cb79d77439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105cda5cd94f14" /><Relationship Type="http://schemas.openxmlformats.org/officeDocument/2006/relationships/notesSlide" Target="/ppt/notesSlides/notesSlide14.xml" Id="Rde161f50ebbd445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3b3d7d7fdb4ab2" /><Relationship Type="http://schemas.openxmlformats.org/officeDocument/2006/relationships/notesSlide" Target="/ppt/notesSlides/notesSlide15.xml" Id="R6d249afd4d4a44c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3ee07da948495a" /><Relationship Type="http://schemas.openxmlformats.org/officeDocument/2006/relationships/notesSlide" Target="/ppt/notesSlides/notesSlide16.xml" Id="Rcbc15b2b1ee146c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35b1dce6d34c97" /><Relationship Type="http://schemas.openxmlformats.org/officeDocument/2006/relationships/notesSlide" Target="/ppt/notesSlides/notesSlide17.xml" Id="R50db1976fd12414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5e559206a54ca8" /><Relationship Type="http://schemas.openxmlformats.org/officeDocument/2006/relationships/notesSlide" Target="/ppt/notesSlides/notesSlide18.xml" Id="R2b3fe04e3508490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e606ea31e1451e" /><Relationship Type="http://schemas.openxmlformats.org/officeDocument/2006/relationships/notesSlide" Target="/ppt/notesSlides/notesSlide19.xml" Id="R3bc67811d26543c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1cd5853a8b418b" /><Relationship Type="http://schemas.openxmlformats.org/officeDocument/2006/relationships/notesSlide" Target="/ppt/notesSlides/notesSlide20.xml" Id="R58e02efa14ae423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d39678937247b8" /><Relationship Type="http://schemas.openxmlformats.org/officeDocument/2006/relationships/notesSlide" Target="/ppt/notesSlides/notesSlide21.xml" Id="Rd598ae42427d449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7dbc30a36e4a33" /><Relationship Type="http://schemas.openxmlformats.org/officeDocument/2006/relationships/notesSlide" Target="/ppt/notesSlides/notesSlide22.xml" Id="Rf9ce3c9b9281460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c84afe507b4e60" /><Relationship Type="http://schemas.openxmlformats.org/officeDocument/2006/relationships/notesSlide" Target="/ppt/notesSlides/notesSlide23.xml" Id="R43d40188e0bc423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0e987937a44449" /><Relationship Type="http://schemas.openxmlformats.org/officeDocument/2006/relationships/notesSlide" Target="/ppt/notesSlides/notesSlide24.xml" Id="R4023bb9ed0114e0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40586907d14d91" /><Relationship Type="http://schemas.openxmlformats.org/officeDocument/2006/relationships/notesSlide" Target="/ppt/notesSlides/notesSlide25.xml" Id="R93fce5c417b14f1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b95ac4498f4c94" /><Relationship Type="http://schemas.openxmlformats.org/officeDocument/2006/relationships/notesSlide" Target="/ppt/notesSlides/notesSlide26.xml" Id="Rf70ba574b4e4400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123f86368e4f1c" /><Relationship Type="http://schemas.openxmlformats.org/officeDocument/2006/relationships/notesSlide" Target="/ppt/notesSlides/notesSlide27.xml" Id="R9a9498ff0c9c409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3cddd32cf745f5" /><Relationship Type="http://schemas.openxmlformats.org/officeDocument/2006/relationships/notesSlide" Target="/ppt/notesSlides/notesSlide28.xml" Id="Re5bfe5bd81b24b5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2c02773c9649fd" /><Relationship Type="http://schemas.openxmlformats.org/officeDocument/2006/relationships/notesSlide" Target="/ppt/notesSlides/notesSlide29.xml" Id="R377ad5f192654db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f0e32e89e34222" /><Relationship Type="http://schemas.openxmlformats.org/officeDocument/2006/relationships/notesSlide" Target="/ppt/notesSlides/notesSlide30.xml" Id="R11d7d888210948b0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3d15b70a4a4e57" /><Relationship Type="http://schemas.openxmlformats.org/officeDocument/2006/relationships/notesSlide" Target="/ppt/notesSlides/notesSlide31.xml" Id="R8661708683e7406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0121f038fc4f42" /><Relationship Type="http://schemas.openxmlformats.org/officeDocument/2006/relationships/notesSlide" Target="/ppt/notesSlides/notesSlide32.xml" Id="Re94ac168b01d4fa2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ec244f6f8a4ce8" /><Relationship Type="http://schemas.openxmlformats.org/officeDocument/2006/relationships/notesSlide" Target="/ppt/notesSlides/notesSlide33.xml" Id="Ra702c4216313487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4bced1fe4c4b01" /><Relationship Type="http://schemas.openxmlformats.org/officeDocument/2006/relationships/notesSlide" Target="/ppt/notesSlides/notesSlide34.xml" Id="R3c6927b50beb4bb9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e7be4615b14535" /><Relationship Type="http://schemas.openxmlformats.org/officeDocument/2006/relationships/notesSlide" Target="/ppt/notesSlides/notesSlide35.xml" Id="R7fb56ffa895f4908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29373b145349d4" /><Relationship Type="http://schemas.openxmlformats.org/officeDocument/2006/relationships/notesSlide" Target="/ppt/notesSlides/notesSlide36.xml" Id="Red8ff92c4a9a4f80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02ccf39e87414a" /><Relationship Type="http://schemas.openxmlformats.org/officeDocument/2006/relationships/notesSlide" Target="/ppt/notesSlides/notesSlide37.xml" Id="Rd623c85d25b74a3d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3ab1f0bdf84cc5" /><Relationship Type="http://schemas.openxmlformats.org/officeDocument/2006/relationships/notesSlide" Target="/ppt/notesSlides/notesSlide38.xml" Id="R6ad736c4022746da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c947919512432a" /><Relationship Type="http://schemas.openxmlformats.org/officeDocument/2006/relationships/notesSlide" Target="/ppt/notesSlides/notesSlide39.xml" Id="Rf2ff4128a5ae43f3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62067697314cbf" /><Relationship Type="http://schemas.openxmlformats.org/officeDocument/2006/relationships/notesSlide" Target="/ppt/notesSlides/notesSlide40.xml" Id="Rd39695305f634dad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7a2fa666614260" /><Relationship Type="http://schemas.openxmlformats.org/officeDocument/2006/relationships/notesSlide" Target="/ppt/notesSlides/notesSlide41.xml" Id="Rc4e3bb2b99a54bd3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6a38084e434184" /><Relationship Type="http://schemas.openxmlformats.org/officeDocument/2006/relationships/notesSlide" Target="/ppt/notesSlides/notesSlide42.xml" Id="R9bdc88399c334d6d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cf706e5e9b4265" /><Relationship Type="http://schemas.openxmlformats.org/officeDocument/2006/relationships/notesSlide" Target="/ppt/notesSlides/notesSlide43.xml" Id="R747ed9c8ccc24e0d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c4e02cc8814abe" /><Relationship Type="http://schemas.openxmlformats.org/officeDocument/2006/relationships/notesSlide" Target="/ppt/notesSlides/notesSlide44.xml" Id="Rf15deb284b794c03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2d32eb657d41c8" /><Relationship Type="http://schemas.openxmlformats.org/officeDocument/2006/relationships/notesSlide" Target="/ppt/notesSlides/notesSlide45.xml" Id="R58ed73be95a84a30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7832589e6745de" /><Relationship Type="http://schemas.openxmlformats.org/officeDocument/2006/relationships/notesSlide" Target="/ppt/notesSlides/notesSlide46.xml" Id="Refa3dadc100a4830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fc9dd988c94a11" /><Relationship Type="http://schemas.openxmlformats.org/officeDocument/2006/relationships/notesSlide" Target="/ppt/notesSlides/notesSlide47.xml" Id="R9d0e0eb4ed404a0b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503a4f33aa40c7" /><Relationship Type="http://schemas.openxmlformats.org/officeDocument/2006/relationships/notesSlide" Target="/ppt/notesSlides/notesSlide48.xml" Id="R2eef01e853b44946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a20db97b0644d0" /><Relationship Type="http://schemas.openxmlformats.org/officeDocument/2006/relationships/notesSlide" Target="/ppt/notesSlides/notesSlide49.xml" Id="Rdfc91a234d094814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079799bb3b4211" /><Relationship Type="http://schemas.openxmlformats.org/officeDocument/2006/relationships/notesSlide" Target="/ppt/notesSlides/notesSlide50.xml" Id="R9b17f03cf14549eb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8c97b1f6ec4918" /><Relationship Type="http://schemas.openxmlformats.org/officeDocument/2006/relationships/notesSlide" Target="/ppt/notesSlides/notesSlide51.xml" Id="R07448786b6344d25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f6fb49fa5d478d" /><Relationship Type="http://schemas.openxmlformats.org/officeDocument/2006/relationships/notesSlide" Target="/ppt/notesSlides/notesSlide52.xml" Id="Rc3678487ae8c4bc9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23106a29764291" /><Relationship Type="http://schemas.openxmlformats.org/officeDocument/2006/relationships/notesSlide" Target="/ppt/notesSlides/notesSlide53.xml" Id="Rb5e4b3e7dd944b3a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34658c623f40ae" /><Relationship Type="http://schemas.openxmlformats.org/officeDocument/2006/relationships/notesSlide" Target="/ppt/notesSlides/notesSlide54.xml" Id="Rfb377a89cb02475b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7a54745822497c" /><Relationship Type="http://schemas.openxmlformats.org/officeDocument/2006/relationships/notesSlide" Target="/ppt/notesSlides/notesSlide55.xml" Id="Ra912d284d146436e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1ef9fa4e89415c" /><Relationship Type="http://schemas.openxmlformats.org/officeDocument/2006/relationships/notesSlide" Target="/ppt/notesSlides/notesSlide56.xml" Id="R86b6798310684ea8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d51b8e6eb64e54" /><Relationship Type="http://schemas.openxmlformats.org/officeDocument/2006/relationships/notesSlide" Target="/ppt/notesSlides/notesSlide57.xml" Id="R6a449e7449754962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509d1e24bb4417" /><Relationship Type="http://schemas.openxmlformats.org/officeDocument/2006/relationships/notesSlide" Target="/ppt/notesSlides/notesSlide58.xml" Id="Re362170ca694460c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7c9eede66f4c37" /><Relationship Type="http://schemas.openxmlformats.org/officeDocument/2006/relationships/notesSlide" Target="/ppt/notesSlides/notesSlide59.xml" Id="R3ec1a5a459034bd6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9055155d724fdd" /><Relationship Type="http://schemas.openxmlformats.org/officeDocument/2006/relationships/notesSlide" Target="/ppt/notesSlides/notesSlide60.xml" Id="Ra0d2368760314943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8c43877a564861" /><Relationship Type="http://schemas.openxmlformats.org/officeDocument/2006/relationships/notesSlide" Target="/ppt/notesSlides/notesSlide61.xml" Id="R0ef8a6dc942240f3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0de9fa22e14f53" /><Relationship Type="http://schemas.openxmlformats.org/officeDocument/2006/relationships/notesSlide" Target="/ppt/notesSlides/notesSlide62.xml" Id="Raa53fab0dd2743ac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10c03910694e19" /><Relationship Type="http://schemas.openxmlformats.org/officeDocument/2006/relationships/notesSlide" Target="/ppt/notesSlides/notesSlide63.xml" Id="R5811766e3b734447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ec6e3b0e63491a" /><Relationship Type="http://schemas.openxmlformats.org/officeDocument/2006/relationships/notesSlide" Target="/ppt/notesSlides/notesSlide64.xml" Id="R207cd43072f84ecc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41c38d85994dad" /><Relationship Type="http://schemas.openxmlformats.org/officeDocument/2006/relationships/notesSlide" Target="/ppt/notesSlides/notesSlide65.xml" Id="Rb9e6b020e38d4e15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d5e760dca14e1b" /><Relationship Type="http://schemas.openxmlformats.org/officeDocument/2006/relationships/notesSlide" Target="/ppt/notesSlides/notesSlide66.xml" Id="Rc1328b9c15834c8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D73F03-7532-4056-8CA6-1F3A2189E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12B31D-0C1A-40CC-93BE-E5D97873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0A3AE8-0E7C-4561-811E-1F8464632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LESSON 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D8BE49-1292-40BA-8BAD-4F2C1FC06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8286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</a:defRPr>
            </a:pPr>
            <a:r>
              <a:rPr sz="4650" b="1">
                <a:solidFill>
                  <a:srgbClr val="FFFFFF"/>
                </a:solidFill>
              </a:rPr>
              <a:t>Apache Spark:</a:t>
            </a:r>
          </a:p>
          <a:p xmlns:a="http://schemas.openxmlformats.org/drawingml/2006/main">
            <a:pPr algn="l">
              <a:defRPr sz="4650" b="1">
                <a:solidFill>
                  <a:srgbClr val="FFFFFF"/>
                </a:solidFill>
              </a:defRPr>
            </a:pPr>
            <a:r>
              <a:rPr sz="4650" b="1">
                <a:solidFill>
                  <a:srgbClr val="FFFFFF"/>
                </a:solidFill>
              </a:rPr>
              <a:t>от данных к плану выполнения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0679C1-FAB1-447A-8AFE-BD1615BD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71950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6D9DC"/>
                </a:solidFill>
              </a:defRPr>
            </a:pPr>
            <a:r>
              <a:rPr sz="1875" b="0">
                <a:solidFill>
                  <a:srgbClr val="D6D9DC"/>
                </a:solidFill>
              </a:rPr>
              <a:t>Практическое погружение в PySpark для начинающего Data Engineer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E535C3-2D7E-48FD-AF17-25FF9A730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387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540BC5-2990-4F0C-AAFB-88210D7E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6D9DC"/>
                </a:solidFill>
              </a:defRPr>
            </a:pPr>
            <a:r>
              <a:rPr sz="1350" b="1">
                <a:solidFill>
                  <a:srgbClr val="D6D9DC"/>
                </a:solidFill>
              </a:rPr>
              <a:t>Core · 60 минут  |  Deep dive · +30 минут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8C1CF4-4CDC-4C67-8E93-9C4BF22E3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37210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2100" b="1">
                <a:solidFill>
                  <a:srgbClr val="E25A1C"/>
                </a:solidFill>
              </a:defRPr>
            </a:pPr>
            <a:r>
              <a:rPr sz="2100" b="1">
                <a:solidFill>
                  <a:srgbClr val="E25A1C"/>
                </a:solidFill>
              </a:rPr>
              <a:t>PYSPARK</a:t>
            </a:r>
          </a:p>
        </p:txBody>
      </p:sp>
    </p:spTree>
    <p:extLst>
      <p:ext uri="{BB962C8B-B14F-4D97-AF65-F5344CB8AC3E}">
        <p14:creationId xmlns:p14="http://schemas.microsoft.com/office/powerpoint/2010/main" val="17700353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CA6435-FC27-407E-8C2A-23263D20C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ЗАЧЕМ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71F088-BD37-4AFA-AE6D-797A98F9F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BF2C7D-B267-4247-9E3D-DB87C1A3B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8DCF04-1D90-46FD-A781-5412F62B6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27AA36-C0DA-4378-90BC-9C0531A16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Локальный Python больше не укладывается в SLA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E8F3A4-E8FF-4D1E-A1FC-F47EEDDB3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42318"/>
                </a:solidFill>
              </a:defRPr>
            </a:pPr>
            <a:r>
              <a:rPr sz="2325" b="1">
                <a:solidFill>
                  <a:srgbClr val="B42318"/>
                </a:solidFill>
              </a:rPr>
              <a:t>120 ГБ событий · 18 минут до дедлайна · один процесс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3C2CC4-A25A-4ED7-A776-142A895F1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43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F4E513-8E5F-4B31-A002-FF19D5667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6305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123"/>
                </a:solidFill>
              </a:defRPr>
            </a:pPr>
            <a:r>
              <a:rPr sz="1800" b="0">
                <a:solidFill>
                  <a:srgbClr val="202123"/>
                </a:solidFill>
              </a:rPr>
              <a:t>Память заканчивается раньше данных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240CCD-CF6B-4DE6-BB96-527E3B91A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29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BBA064-355F-4ADE-B444-CD8DE0E9E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43300"/>
            <a:ext cx="6305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123"/>
                </a:solidFill>
              </a:defRPr>
            </a:pPr>
            <a:r>
              <a:rPr sz="1800" b="0">
                <a:solidFill>
                  <a:srgbClr val="202123"/>
                </a:solidFill>
              </a:rPr>
              <a:t>Повторный запуск начинается с нуля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78CAD0-951B-4A0F-B02C-9C2AE1603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14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65A960-CFAD-40AD-8820-008A9B8FC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29100"/>
            <a:ext cx="6305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123"/>
                </a:solidFill>
              </a:defRPr>
            </a:pPr>
            <a:r>
              <a:rPr sz="1800" b="0">
                <a:solidFill>
                  <a:srgbClr val="202123"/>
                </a:solidFill>
              </a:rPr>
              <a:t>Ускорение упирается в один CPU и один диск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671C12-4298-4AC6-A1A8-4465F4D55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81200"/>
            <a:ext cx="3676650" cy="3219450"/>
          </a:xfrm>
          <a:prstGeom xmlns:a="http://schemas.openxmlformats.org/drawingml/2006/main" prst="roundRect">
            <a:avLst>
              <a:gd name="adj" fmla="val 2367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A2607C-96B2-4B66-B3DC-EA5D1B77D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33625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SLA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EC83F7-E8F4-421A-B96C-1D95FF486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095625"/>
            <a:ext cx="2762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E25A1C"/>
                </a:solidFill>
              </a:defRPr>
            </a:pPr>
            <a:r>
              <a:rPr sz="4350" b="1">
                <a:solidFill>
                  <a:srgbClr val="E25A1C"/>
                </a:solidFill>
              </a:rPr>
              <a:t>18 min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E1E2F3-AC14-4FC1-BF33-E02D1B939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95750"/>
            <a:ext cx="2857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E5E7EB"/>
                </a:solidFill>
              </a:defRPr>
            </a:pPr>
            <a:r>
              <a:rPr sz="1575" b="0">
                <a:solidFill>
                  <a:srgbClr val="E5E7EB"/>
                </a:solidFill>
              </a:rPr>
              <a:t>Нужен не “быстрый pandas”, а другая модель выполнения.</a:t>
            </a:r>
          </a:p>
        </p:txBody>
      </p:sp>
    </p:spTree>
    <p:extLst>
      <p:ext uri="{BB962C8B-B14F-4D97-AF65-F5344CB8AC3E}">
        <p14:creationId xmlns:p14="http://schemas.microsoft.com/office/powerpoint/2010/main" val="7625523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8E31D8-ABCC-4F4D-98BB-7E88893AA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КОНТРАКТ ЛЕКЦИИ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6F6F91-8E55-4250-A510-77D2DDE3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37F515-27C2-4232-A0B1-A313C8CD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5B6C36-70D4-428E-8AA2-A697AE6E6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D80B2A-AA84-40EE-985E-D3E1C2F84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После лекции вы сможете объяснить Spark через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B1E841-5FF2-4CF2-8B72-A1981B721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59AA81-60FF-4B6E-A3A0-093E5BD69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0764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Модель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FB7966-8DE4-499A-9C32-36587B34F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9550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Driver, executors, partitions, jobs и stages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48101F-3F39-4446-AE80-3A56AB31F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5272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3B6F52-3E76-436E-B5D7-804CA701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546843-4F5F-4C05-A27A-BA828F132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0480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Код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C7564B-BDC3-4327-AD03-B6774C056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6705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DataFrame-пайплайн без Python UDF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BA348D-EB13-4302-A6F9-DCE33556A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72427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57C283-437E-4556-83C5-2FC3F16C0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95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207BE6-FAFE-43A0-BAF7-FA492125F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0195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План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9ECB89-6382-4D8D-898B-18720F055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3860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Exchange, join strategy и AQE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308ADD-BDE3-4A75-A774-9CA84D26C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69582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2290C5-905C-4C8A-BBFC-6EFE69F8E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9110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0684D4-C02A-4E7B-9A58-99DDA9DF0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9911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Наблюдение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5513C3-7C68-44AD-AAEF-0FA4D266F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01015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Spark UI: где искать shuffle и skew</a:t>
            </a:r>
          </a:p>
        </p:txBody>
      </p:sp>
    </p:spTree>
    <p:extLst>
      <p:ext uri="{BB962C8B-B14F-4D97-AF65-F5344CB8AC3E}">
        <p14:creationId xmlns:p14="http://schemas.microsoft.com/office/powerpoint/2010/main" val="5367878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69CD31-08C1-4E65-82F7-AFADE0CD9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BIG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E925FE-7A55-4FBC-95F2-05EF5FC2B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5A8B9A-B4C6-4931-9355-9E8673BA7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767F23-3835-4C8A-9FC1-5AABD2755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5CB2EB-0397-4B3F-A765-FB588C571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Big Data — это ограничение workload, а не ярлык размера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46F014-5649-4ECF-93AA-95A980C6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F2428"/>
                </a:solidFill>
              </a:defRPr>
            </a:pPr>
            <a:r>
              <a:rPr sz="2775" b="1">
                <a:solidFill>
                  <a:srgbClr val="1F2428"/>
                </a:solidFill>
              </a:rPr>
              <a:t>“Данные становятся “big”, когда привычная архитектура перестаёт выполнять обещания.”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6CBE09-DC73-4CFB-ACF1-B72A2962E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1428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4A1B6C-1DE1-45AF-B87F-E8F2BEAE6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25A1C"/>
                </a:solidFill>
              </a:defRPr>
            </a:pPr>
            <a:r>
              <a:rPr sz="1275" b="1">
                <a:solidFill>
                  <a:srgbClr val="E25A1C"/>
                </a:solidFill>
              </a:rPr>
              <a:t>ОБЪЁМ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F7EA0B-7829-4DB2-AE10-A4A9F5B63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СКОРОСТЬ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5FB361-AE4F-484C-B516-2211F0550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РАЗНООБРАЗИЕ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D9E6BA-5BF5-442B-B478-EA7B53724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СТОИМОСТЬ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4CF818-3839-4076-9DFB-6EF663496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СБОИ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E61886-53AF-46C2-9726-D994EF423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904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Сначала формулируем SLA и профиль нагрузки — потом выбираем движок.</a:t>
            </a:r>
          </a:p>
        </p:txBody>
      </p:sp>
    </p:spTree>
    <p:extLst>
      <p:ext uri="{BB962C8B-B14F-4D97-AF65-F5344CB8AC3E}">
        <p14:creationId xmlns:p14="http://schemas.microsoft.com/office/powerpoint/2010/main" val="20177550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6F8DB1-FB7E-4D38-BB78-8920D3B7D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ИСТОРИЯ BIG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E93E7A-D3B1-4AE8-9D6D-F09797B91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04B060-5C09-4895-AA8F-618AA00FA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17FD75-9EBF-4AF4-A854-0A4918513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3B5667-CD83-4286-963A-E366E8DCA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Big Data возник не в один день — термин догонял инженерную реальность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5DDF49-0814-4DDF-846A-227380DE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AC6822-6EAB-4CAC-A3B2-26656BAD7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45CACC-0023-49CA-B233-FBAA77D98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1990-е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A68B11-9C84-4011-9D01-B3E3E8D2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Цифровые следы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6F0A68-79BE-4AD3-9AD6-2C373A9AF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Web, логи, транзакции и сенсоры растут быстрее прежней инфраструктуры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EB07E3-CD66-4F56-BBE7-F22A8708D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1D6D0E-C424-4E64-85A9-EEA9F81F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1998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CFD030-382E-4EAB-B728-2649E11D9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John Mashey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A9A3A5-8969-4BA4-946D-7C9529DE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Доклад “Big Data … and the Next Wave of InfraStress” популяризирует термин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666405-485F-4E35-BB07-17888B94D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2DB03F-1802-451A-951F-D71E3AA0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2001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3787A4-4446-46D4-921D-696DB21C3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Doug Laney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111348-F3F3-4FEF-8B87-80BCBDDDF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Volume, velocity, variety описывают три независимых давления на data management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5C1EFD-4F68-4D12-B262-268839CA9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4AE058-44DA-48C0-AF68-8C17BCA6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E25A1C"/>
                </a:solidFill>
              </a:defRPr>
            </a:pPr>
            <a:r>
              <a:rPr sz="2175" b="1">
                <a:solidFill>
                  <a:srgbClr val="E25A1C"/>
                </a:solidFill>
              </a:rPr>
              <a:t>2010-е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185615-A86B-4094-A249-7663436B8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Платформенный термин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70E5A5-33E0-404E-B686-EE8B6366A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Big Data объединяет storage, compute, analytics и governance</a:t>
            </a:r>
          </a:p>
        </p:txBody>
      </p:sp>
    </p:spTree>
    <p:extLst>
      <p:ext uri="{BB962C8B-B14F-4D97-AF65-F5344CB8AC3E}">
        <p14:creationId xmlns:p14="http://schemas.microsoft.com/office/powerpoint/2010/main" val="176222927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CF4563A-06ED-42CB-8172-9D0C3B8BE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3V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A377C3-12D4-4B95-9A9D-6F42C7C7E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91213A-35D1-49FF-A19D-90AE6B6D2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A3B84B-6CCC-4A1F-8CC9-293F3E113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CE7102-3422-41AE-BC79-7F2E1FBB9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3V — диагностическая модель давления, а не определение по порогу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4765A2-C6C2-4EF1-A73B-2785A1DC0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076450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FED"/>
                </a:solidFill>
              </a:defRPr>
            </a:pPr>
            <a:r>
              <a:rPr sz="1650" b="1">
                <a:solidFill>
                  <a:srgbClr val="2F6FED"/>
                </a:solidFill>
              </a:rPr>
              <a:t>Сигнал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B12B0D-104F-404A-A13D-D79E3E139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76450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FED"/>
                </a:solidFill>
              </a:defRPr>
            </a:pPr>
            <a:r>
              <a:rPr sz="1650" b="1">
                <a:solidFill>
                  <a:srgbClr val="2F6FED"/>
                </a:solidFill>
              </a:rPr>
              <a:t>Что ломается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11CAFF-B61D-48FB-A6A7-953875D63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076450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FED"/>
                </a:solidFill>
              </a:defRPr>
            </a:pPr>
            <a:r>
              <a:rPr sz="1650" b="1">
                <a:solidFill>
                  <a:srgbClr val="2F6FED"/>
                </a:solidFill>
              </a:rPr>
              <a:t>Арх. ответ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24A3C2-B081-4F1F-8CC2-7694B0530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076450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Вопрос архитектора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665007-8211-4710-A297-3FDD7484E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990B6C-958C-4E4A-85F3-C236E375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6860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байты / строки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415262-2CAD-4B99-BAA7-941D5B385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6860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один узел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486EBD-64B9-4DD4-9BD6-B2DFAD17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6860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C80919-5234-4670-9A17-624EF63F1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6860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Где предел scale-up?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968B35-5B9A-46D0-9070-5DCAAF429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5BBAA8-F796-45F5-9065-20DC94C2F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Velocity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C88CE7-286D-4B24-893B-33ED34D70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3718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события / сек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000B48-CF3E-40BB-98BC-B7061C8D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718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batch SLA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FE97AF-E724-4441-8F71-3CD8AF7B1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718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streaming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7E203F-5581-425E-AF83-A2FC79CF8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3718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Какова цена задержки?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461919-4137-41E1-A876-59801330B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6EB7BC-259A-494D-8A2F-C4D1F52BB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Variety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20FF43-A334-474D-9E3C-9EC032FC6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0576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форматы / схемы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C714A3-45C9-44EB-A5B4-3D815C7AA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0576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жёсткая модель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AE8094-CB5B-46E0-A2CA-B69C7F31E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0576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schema + contracts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451373-80F6-4468-8DBD-078667F77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576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Кто владеет изменением?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656BBD-D182-4FAE-802D-145423887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28882E-981A-4EA6-8309-5BDE813C3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Итог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536A679-286D-498A-ABED-590EB1E2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7434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профиль нагрузки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57580B-C15A-4A46-8B05-A5AB2E8D8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7434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обещания системы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2F95548-06FE-4E24-AF4E-C8C43293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7434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масштабируемая архитектура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4904D8A-8D27-49DA-894B-18C898B89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434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Как измерим успех?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427A340-53EE-439C-85C3-61CD85E40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6335199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7D2211-DE57-4DCE-9996-1DBE5C649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3V → 6V → 10V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4FD838-1C3A-4335-921F-0D54D52F2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A31488-59BE-4BB9-8708-BF78A6BE3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46E465-20C0-4426-97FB-2C0564FD7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F57BCD-4C0C-4559-BC91-803E6719D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После 3V появились десятки V — единого канона 6V или 10V нет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B4555A-D44F-406F-B09D-2185F151F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Volume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92CB57-1DF5-4C4B-8B7B-85C69A055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20193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масштаб данных и стоимость хранения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C89ED0-D0CC-4D19-9EBD-3CD297C8C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02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Velocity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2E31AC-27E3-4F10-A425-7AE9D8940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0193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скорость поступления и допустимая задержка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A3D724-F922-4245-9B58-046AB03F6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Variety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B2A503-75FD-4775-8625-74DBBE24D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29337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форматы, источники и эволюция schema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1E702F-7227-4ED1-96B1-E47BA9CE8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Veracity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D79259-7A53-42D0-97B7-FC54A1337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9337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качество, происхождение и доверие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CB83C9-457F-46C3-B658-E5E77FB59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Value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288964-ABEF-472A-895B-1514D4D5E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38481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измеримый эффект относительно стоимости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F61951-DD90-4601-9A2D-F5FBF515A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290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Variability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09D992-7C09-47D0-A7EF-9DF9BC9F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8481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скачки нагрузки и изменение смысла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9ED08E-97CA-4A6B-94E3-92B92471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Visualization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A129CF-F1EC-4C08-B683-202E03EAF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47625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способ сделать вывод воспринимаемым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184B0C-0DDF-43DD-9951-09B94DF5F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434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Vulnerability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0CC809-EF7B-4223-9C6E-35263EA27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7625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privacy, security и риск утечки</a:t>
            </a:r>
          </a:p>
        </p:txBody>
      </p:sp>
    </p:spTree>
    <p:extLst>
      <p:ext uri="{BB962C8B-B14F-4D97-AF65-F5344CB8AC3E}">
        <p14:creationId xmlns:p14="http://schemas.microsoft.com/office/powerpoint/2010/main" val="203372426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EB2DD9-8528-4C90-8929-5C428920B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ПОЧЕМУ BIG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1FCAD8-CAF8-4729-B79E-AAA972F9B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A36AB1-B395-4E91-98C8-5F4BAEB02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173432-C206-4E4E-8235-0D91A377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C2A32E-77F6-47A1-B3FD-160D1F24A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Big Data родился из разрыва между ростом данных и возможностями одного узла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7C4DCD-B2FF-4061-AE9B-316D1AB3C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0C56EF-3DAB-4475-9894-C0217B26B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0764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Источники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BCE768-9256-4892-A699-67D15DF3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9550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Web, mobile, telemetry и дешёвые сенсоры создают непрерывные цифровые следы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55EB7B-5396-496A-9C9A-8BB812607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5272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3DB700-753D-43C8-AC37-19C848C18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8012C2-435E-4BFA-92BD-A5A6A051E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0480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Экономика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313D24-228F-4A52-8818-EF1BFE44B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6705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Commodity-машины дешевле вертикального масштабирования, но чаще отказывают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FF29BD-16EE-4929-A5C6-EAEED4A4A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72427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18BAF4-1B25-430A-B13A-CEFE6F230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95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57855B-A673-46BB-A5E8-D44924A57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0195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Workload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D8053D-7626-4471-9147-C7F0C8AD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3860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ETL, поиск, ML и ad hoc analytics требуют разных паттернов доступа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602B56-CCC8-4008-BD08-03DBC254D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69582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6BBD99-3DBB-4B8A-AC1E-5CEF1CC88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9110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734B48-3676-4A15-BCCA-5AF20F66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9911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Обещание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51218B-5EB3-4C15-B8FA-77FA74B0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01015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Сохранить throughput и fault tolerance при росте объёма и числа узлов</a:t>
            </a:r>
          </a:p>
        </p:txBody>
      </p:sp>
    </p:spTree>
    <p:extLst>
      <p:ext uri="{BB962C8B-B14F-4D97-AF65-F5344CB8AC3E}">
        <p14:creationId xmlns:p14="http://schemas.microsoft.com/office/powerpoint/2010/main" val="189272815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70BB32-BF30-435E-9904-172CC519B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ОТ ХРАНЕНИЯ К COMPUTE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245FFF-E3EE-476A-8148-D3A58B84B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192DFC-97B8-4E89-AFCA-D1C2999AA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F5811C-7F40-4458-BA7C-38473317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76D2EA-AE3D-46F6-A13A-AA3C915D7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Google превратил ненадёжный кластер в программируемую платформу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854377-B808-4495-915D-988BB92CF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60EA6B-176F-431A-A204-EE41F8B5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E3ECAC-B723-4A6B-B64C-7347C6DE1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2003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E12054-C327-47B9-8D63-59332A557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Google File System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D1B9E8-1938-4438-B3B6-728A634A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Блоки, репликация и перенос compute ближе к данным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CC554F-E51B-4BA0-A743-BA64B87E7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1B1795-E352-4593-960D-6F8624F9F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2004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9C0328-6854-4A27-811D-A00D4B891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MapReduce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8CCF2C-AACD-4D83-ADE4-0FD5D316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Partitioning, scheduling, shuffle и retry становятся обязанностью runtime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3CD3CA-5F11-42DA-9CF8-710EBBFBC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FBCE83-EDF6-4158-ADD7-0FC77175D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2006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B1D59E-170E-4B5A-9BF1-3584C26FB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Apache Hadoop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400910-9F77-42D5-BD23-789E410F0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Open-source реализация HDFS + MapReduce переносит модель в индустрию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A77704-E975-4A63-BAC6-C6804B7A7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3007B9-DAF5-4532-8850-EC2D43E0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E25A1C"/>
                </a:solidFill>
              </a:defRPr>
            </a:pPr>
            <a:r>
              <a:rPr sz="2175" b="1">
                <a:solidFill>
                  <a:srgbClr val="E25A1C"/>
                </a:solidFill>
              </a:rPr>
              <a:t>Вывод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4B30DF-04B3-498A-9C64-4708E43B4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Сбой — часть протокола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261882-F7B3-455D-9381-9BFC9202E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Вычисление проектируют так, чтобы task можно было безопасно повторить</a:t>
            </a:r>
          </a:p>
        </p:txBody>
      </p:sp>
    </p:spTree>
    <p:extLst>
      <p:ext uri="{BB962C8B-B14F-4D97-AF65-F5344CB8AC3E}">
        <p14:creationId xmlns:p14="http://schemas.microsoft.com/office/powerpoint/2010/main" val="182882989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52CAEE-65EA-4A13-AE57-80B1D29AE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MAPREDUCE · НА ПАЛЬЦАХ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2E3D16-7EBA-4467-947E-AF8A6B588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B102E5-25FA-4213-8996-5BC338AC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FCB837-0AB7-4BBB-BDA0-41155CEDF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0B11E3-79FA-4D72-9FDA-9D0E981D2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MapReduce — как почтовый центр: пометить, рассортировать, собрать итог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928F65-AD0A-48DE-9F40-7A62FDD07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F7FE25-3594-45F5-8842-6742E9F28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36677C-1757-447C-9FFD-1FE34E5F7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input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5FA70A-08AE-4FDB-BA4B-38E0A05FB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мешки писем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84E54D-600B-48BD-9E4C-B25CDED51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9B5BD1-AFDF-4F79-807F-EA5FB5AF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354DDC-B199-4085-ACC0-5CE6F97D7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32C24E-6D48-458B-A9AA-A5D91A974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поставить индекс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089A0A-F463-4A6D-ACE4-0EA542F95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2F1AAD-BC7D-4C38-A535-42DD517F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2F71BC-F939-465B-B8DA-C159DBD75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shuffle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BEEC7D-39A3-4562-B032-BD1954F1F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свести по адресу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EE62D7-53FC-4A07-A693-5EF5E34A1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1DFC71-2617-4C98-BF57-6730B69F4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E25A1C"/>
                </a:solidFill>
              </a:defRPr>
            </a:pPr>
            <a:r>
              <a:rPr sz="1875" b="1">
                <a:solidFill>
                  <a:srgbClr val="E25A1C"/>
                </a:solidFill>
              </a:rPr>
              <a:t>reduce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38C249-0673-4D0A-8E53-E461123B6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собрать доставку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1B3062-D99D-4F26-BE32-80724B2A5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Runtime делит работу, двигает группы по ключу и повторяет потерянные части.</a:t>
            </a:r>
          </a:p>
        </p:txBody>
      </p:sp>
    </p:spTree>
    <p:extLst>
      <p:ext uri="{BB962C8B-B14F-4D97-AF65-F5344CB8AC3E}">
        <p14:creationId xmlns:p14="http://schemas.microsoft.com/office/powerpoint/2010/main" val="157580735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289E61-9EC7-4959-BB1A-6B209EEF2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MAPREDUCE · ТЕХНИЧЕСКИ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0767B5-564E-4F4F-A522-DF1134DF0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1CCD93-C867-427F-8FC4-E3D6AF1B2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4A2F1D-C89A-4B71-99E9-DC005598C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D95A18-1AD2-4ED9-AF61-AC9447263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Один MapReduce job фиксирует конвейер вокруг одной shuffle-границы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09A4DB-F231-4839-846C-2EA0E962B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248025"/>
            <a:ext cx="704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465F69-D3D3-4983-8BB9-B78369EB2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F986F0-549F-4B6C-86BB-AAAE2BC3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3A1DB2-E978-47EC-B52C-2ED1E61F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63F4BA-3AA0-4E5D-8576-511F9A894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65DF85-D91A-4A4A-A36D-D1E086F15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Input splits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1D45AF-67E4-46B0-B5C2-D2AEBF409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блоки HDFS</a:t>
            </a:r>
          </a:p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локальность данных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0A485E-B946-435A-A4F3-0DDC1CA5E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B3651C-460B-437F-A5E7-232EAFB36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Map tasks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0DAED1-23E9-410E-A042-080F86775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parse / filter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локальный sort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0DE931-D1A5-4EFA-87DA-CA4188051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0BA9A2-04AD-4643-9C5A-56A381A00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Shuffle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C0378D-7138-4EAF-86F6-3EB2AE829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 / fetch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merge by key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EE71C4-415B-4C22-B014-3832A3421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3120AA-AF0B-4D79-9B47-09BA1C0B9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Reduce tasks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B456D5-CECF-4264-A664-1AFB1607E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aggregate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output в HDFS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FA79E0-31CC-4888-80D2-B8BFFF056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762500"/>
            <a:ext cx="1019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Сильная сторона — простой восстанавливаемый batch. Цена — materialization между цепочками jobs.</a:t>
            </a:r>
          </a:p>
        </p:txBody>
      </p:sp>
    </p:spTree>
    <p:extLst>
      <p:ext uri="{BB962C8B-B14F-4D97-AF65-F5344CB8AC3E}">
        <p14:creationId xmlns:p14="http://schemas.microsoft.com/office/powerpoint/2010/main" val="124390322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9BAC8E-AC19-4A53-ADCF-E27C84254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MAPREDUCE → SPARK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DBE791-CAC9-4C61-ACC3-EF0BC31F6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23B9CB-C598-4633-9ED9-320E610E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548E96-5E23-4776-914F-19611DE80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87625B-EF83-49DC-917B-6C907E263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Spark атаковал не Map и Reduce, а стоимость повторного использования данных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B12336-3D2C-484E-9D30-2AFE3A823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ЦЕПОЧКА MAPREDUCE JOBS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E9C483-B8DD-4CB1-A3A3-51C6A309B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job → materialize → job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33F927-E5D9-4702-A385-F010F3B8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8B8F6D-853C-4A43-BB7F-59FE5ACB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Надёжный one-pass batch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6335D8-F3D9-410E-A6E0-F73311174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1B9EA1-1A26-4EB5-AC6B-D6F333840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Простые retry boundaries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F248D6-8797-4BB8-86C0-5CA1EAAF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55F700-1EBD-47ED-9B19-7A334A5B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Итерации перечитывают и сериализуют данные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5B6312-B79A-4C56-B608-B474B3BB8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SPARK APPLICATION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2F3E0F-C834-4465-949C-5BCFC7A2F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DAG → stages → tasks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22C29E-AA18-486B-AEDE-A9E55567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128FF2-BF4C-411F-A30E-3CC9C818A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План виден целиком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EF9CEC-A47D-4BCB-A961-90BB80D9F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BFEF06-C6AA-4C1C-AB4E-7E224F9D2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Working set можно persist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E68966-BD58-40AD-A0F1-5FDCD7B0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BC72B4-317F-4249-A725-491809EC6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Lineage позволяет восстановить partition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317FD6-ABC8-4C03-9AF4-944C165AA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7077680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DE8182-FC2F-48AF-87CD-1A4BDE25D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ИСТОРИЯ SPARK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4E1774-8471-41F3-BD4B-9951EA94D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7BD46C-74E9-46C1-82BB-D1FFA3648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C4D06D-55E3-428F-8CEE-C4AF152D0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0C9E15-5456-4DDA-BF69-49D3692F0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Matei Zaharia и команда AMPLab начали Spark с боли iterative и interactive workloads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10AA6E-9BFA-4A0C-954F-A5A68B637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6F5710-86FE-470A-914F-869B8F240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38AC69-794F-472B-AFE1-EBC5550A0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2009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5482A2-3508-4644-8A2E-9E8D9956F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UC Berkeley AMPLab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81E9D8-9DD9-4D1B-BB1F-533A65C5F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Проект Matei Zaharia и исследовательской команды для cluster analytics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775444-CBD9-4734-8BA5-F597FC6B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D0D5A0-B859-4BDA-8776-EB694BE90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2010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664B06-C348-4755-B5F1-21859AD49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Working Sets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3D50AE-BED0-479D-ACB8-0C5C9FA3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HotCloud paper и open source: данные можно переиспользовать между operations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4E74D9-4CDD-4CDE-BE2B-A05F91504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E121C1-F61A-4CA2-87A3-7A2FD270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2012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C0FE5E-E11B-409F-8538-D8AED7648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RDD + lineage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02C82E-307E-446B-B737-2BF64568B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NSDI Best Paper формализует fault-tolerant distributed memory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806771-8503-4329-B223-E089AE95A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5C6116-520C-40A0-B609-F2491B0E7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E25A1C"/>
                </a:solidFill>
              </a:defRPr>
            </a:pPr>
            <a:r>
              <a:rPr sz="2175" b="1">
                <a:solidFill>
                  <a:srgbClr val="E25A1C"/>
                </a:solidFill>
              </a:rPr>
              <a:t>2013–14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E234E7-A4E0-4566-AAE5-FD305838D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Apache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501832-214B-4A01-A8BE-C64B8B09E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Incubator в 2013; top-level project в 2014; сообщество масштабирует engine</a:t>
            </a:r>
          </a:p>
        </p:txBody>
      </p:sp>
    </p:spTree>
    <p:extLst>
      <p:ext uri="{BB962C8B-B14F-4D97-AF65-F5344CB8AC3E}">
        <p14:creationId xmlns:p14="http://schemas.microsoft.com/office/powerpoint/2010/main" val="210309904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F4B4A2-1F93-440A-85EF-34487B869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ВЕРСИИ SPARK · 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F495C8-9E03-40DF-939E-DCEB1E0C5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859D2F-8E4B-440B-8646-6131969B3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B8B6A1-1FE8-4961-89A5-DC883823A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E49ABA-BC47-432C-A290-4407E88B7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0.x и 1.x превратили исследовательский RDD engine в платформу данных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A5C69B-E379-4EED-971F-736B5C01E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416C4E-5420-41B8-A7B3-6DE0E5E8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46E370-275D-4BE8-97CD-6E5EE4B01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0.7 · 2013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43CDE8-7D43-4531-BF79-F1B2FB50C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PySpark + Streaming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2C8DF6-439B-4685-830C-C2A12CDC4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Python API и alpha Spark Streaming расширяют аудиторию и workload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8913B0-C9D3-4895-8DE4-352303160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F167F8-E27A-4AC4-B0F3-3FF3D6D8C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0.8 · 2013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D409C8-83F8-48E5-8267-F2A1C6FF4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YARN + MLlib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79F15A-B62A-4128-840B-5DE7C013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Spark входит в Hadoop estate и получает ML library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7EAAA8-161B-4D22-AE9E-00652906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B28ADE-1E3B-4F35-9068-18B2B7774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1.0 · 2014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EBB5DE-0B1F-4940-B0E2-EF48E605C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Стабильный проект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A6664E-4BC3-410F-8F9D-A14B74079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API и ecosystem закрепляют Spark как самостоятельный engine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22F581-D95B-4B67-BEEA-EEC077F2A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4F8E62-4D76-47B6-8552-ACAA92568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E25A1C"/>
                </a:solidFill>
              </a:defRPr>
            </a:pPr>
            <a:r>
              <a:rPr sz="2175" b="1">
                <a:solidFill>
                  <a:srgbClr val="E25A1C"/>
                </a:solidFill>
              </a:rPr>
              <a:t>1.3 · 2015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936260-E235-4E2E-8BC2-B9E4B245F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DataFrame + Spark SQL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613661-47F7-482E-8E5F-CC4DB6D8D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Schema и Catalyst делают оптимизацию доступной Python API</a:t>
            </a:r>
          </a:p>
        </p:txBody>
      </p:sp>
    </p:spTree>
    <p:extLst>
      <p:ext uri="{BB962C8B-B14F-4D97-AF65-F5344CB8AC3E}">
        <p14:creationId xmlns:p14="http://schemas.microsoft.com/office/powerpoint/2010/main" val="179689265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7906B3-9A6F-435D-B398-57B992AB4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ВЕРСИИ SPARK · II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3BBD2B-A8A5-4B00-9A45-285266221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D14102-264A-4D2A-8C2C-CC9F6AA3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C40A53-04F4-4F5C-83DC-236F171E2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3029EB-2D28-4AF5-A89C-5AEA977C4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2.x–4.x сместили центр тяжести от RDD к SQL engine и PySpark UX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E72B9B-F6A6-4229-84DE-4A9FC181E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FE7D18-BE75-4871-B4DF-AF413C834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5D05CD-4D8C-4766-897F-8638BD041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2.0 · 2016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ABA25C-0BA7-47C3-9860-78626D970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Unified structured APIs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25BC1E-13FB-4C1C-9A7C-636333A2D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SparkSession, whole-stage codegen и experimental Structured Streaming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4A7D28-B151-4A92-91D5-42A97AC0D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38EC2F-4C11-4AC8-9E35-562F8EFB4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3.0 · 2020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2EFF71-4C07-4C61-ADC9-9C5D6D367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Adaptive execution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7AA657-2FE1-42DE-90BF-93C108C50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AQE, dynamic partition pruning, ANSI improvements и Python UX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8CBB7F-39B8-4F5D-BD9B-4EAE0C4C5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D405BD-773F-4C63-A689-50EA64B81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4.0 · 2025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29D157-094F-4BB8-AEDE-1CB64DE9C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SQL + Connect + Python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9A17BB-52F9-4683-B7BE-3F4A9623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ANSI default, VARIANT, Python Data Source API и mature Connect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AC0B31-E1D2-44A4-A913-5D45B92BA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23D543-A124-4C73-8498-8DDB64D33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E25A1C"/>
                </a:solidFill>
              </a:defRPr>
            </a:pPr>
            <a:r>
              <a:rPr sz="2175" b="1">
                <a:solidFill>
                  <a:srgbClr val="E25A1C"/>
                </a:solidFill>
              </a:rPr>
              <a:t>4.2 · 2026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1F2F9D-82C9-4A2D-9763-EB00D09BB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Data platform surface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936C88-742B-4C79-8F77-A05DFE4BE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CDC, geospatial, DSv2 transactions и Arrow IPC default</a:t>
            </a:r>
          </a:p>
        </p:txBody>
      </p:sp>
    </p:spTree>
    <p:extLst>
      <p:ext uri="{BB962C8B-B14F-4D97-AF65-F5344CB8AC3E}">
        <p14:creationId xmlns:p14="http://schemas.microsoft.com/office/powerpoint/2010/main" val="49645365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A234F10-BA62-4925-AC0B-A5AAB7498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ПОЧЕМУ SPARK ПОБЕДИЛ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A61207-AC00-4711-801E-1E26EE954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E51281-1A3A-43AB-8AAE-9F1CE1B7A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19DE36-DD73-4061-8124-1ED09AF40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0291E8-1150-43C1-B0A1-9EDC52B09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Победила комбинация модели выполнения, API и экосистемы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32FB22-F66E-4556-8DC4-32B38BCC8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023D19-2D45-471E-9172-F45F9C7D8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4F71AA-6375-408A-B685-85B9F8CC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002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DAG / lineage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B7B98B-AF0E-4B6C-B88D-D4FE85F7B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193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богаче fixed Map→Reduce и дешевле восстанавливает coarse-grained datasets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BBB055-BE30-46F3-A47E-FF1BBA8FC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53365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DB284B-31EC-4F2B-AE68-172949B0B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BD42DC-24A2-432E-AB00-227028A06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73D267-0258-475A-9196-1CFAF0E4F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813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DF / Catalyst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2AE9F5-B9AD-4148-A545-02DEA1A0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003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декларативный PySpark получает relational optimization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55CF53-D02D-4383-86E3-3792531E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1470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58B2B0-E51B-43AF-8945-48A097B01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3282F6-55FE-4E5B-8412-785080C34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D91FBC-A06F-47DC-8E6E-E704A28E5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62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Tungsten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177F10-897D-44C2-A9CB-C585AFFD5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5814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whole-stage codegen, меньше JVM overhead, эффективнее memory и CPU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4AC66F-DB02-4183-BDB7-80A564C22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9575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8214CE-55C3-427F-A487-0893CC001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312370-2769-4C74-B531-4E7B787E9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AC09CB-8084-4FA4-A077-686103CDA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434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Unified engine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314C13-9BC8-402F-97BA-439CA4A0E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3624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batch, SQL, streaming и ML используют общую execution model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72268D-BE9A-4B70-AC86-0D3290C0E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6A43B8-1DFA-485F-8126-093597C2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C1D39B-8D64-4023-9F12-9D7366ACB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1A6AFB-5D72-447C-86E6-E2FFD1C00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244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Open ecosystem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C648BB-C246-4FBE-9683-17FF8267B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435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Apache governance, Hadoop/cloud storage, YARN/Kubernetes и Python API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A2244E-759A-4259-90C8-AAA4731D9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65785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95427836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3FFB6F-27DC-4231-919A-600BA12F4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МЕНТАЛЬНАЯ МОДЕЛЬ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EE1A52-3207-4BD2-8CBC-FC01DD56B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60C279-6E23-4883-BE4F-D126723B2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F3D155-8392-4168-976E-1749BD20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112DD0-8C0F-438B-8C4C-05EDAAF27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Spark — compute engine, а не база данных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09041F-40C9-42CE-A7CD-8C7D58956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A37F"/>
                </a:solidFill>
              </a:defRPr>
            </a:pPr>
            <a:r>
              <a:rPr sz="1275" b="1">
                <a:solidFill>
                  <a:srgbClr val="10A37F"/>
                </a:solidFill>
              </a:rPr>
              <a:t>ENGINE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E11746-FF23-4DB7-84AC-484444C16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764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42318"/>
                </a:solidFill>
              </a:defRPr>
            </a:pPr>
            <a:r>
              <a:rPr sz="1275" b="1">
                <a:solidFill>
                  <a:srgbClr val="B42318"/>
                </a:solidFill>
              </a:rPr>
              <a:t>НЕ ENGINE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AC7D64-71FD-4799-A0CB-FFBA8F5DE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47875"/>
            <a:ext cx="190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A10755-75CE-45C3-9520-2AA92432F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B6F2C4-47E5-4AFA-869C-2D62675EB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8605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Планирует DAG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0F5EB9-9A1F-404F-B82D-9733D26D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CAFF2F-E58B-4912-A335-42DAC024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Распределяет задачи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D58699-C0F2-4C6E-A4AA-F17C2B68A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05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928368-F15C-4403-BB47-8E619AF20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1955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Выполняет трансформации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AB553A-6A0A-440D-B984-4AF6A3CD5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72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285061-2E7C-4C80-92B4-4FE1FEAC8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8630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Повторяет потерянные tasks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45E849-4D4D-4750-A85C-3BA24EB3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71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769E34-9299-456F-BC95-D5A413D4C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8605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Не владеет бизнес-данными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A19F03-1ED3-4D58-AD4F-4D0106B7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38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03B227-AC20-47BA-964F-6D40E4EAA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5280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Не заменяет каталог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D64804-1396-4574-A902-95C6B33B9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05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559066-D5B5-45FA-8C6C-DC88CFEC8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1955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Не гарантирует OLTP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0E1655-B6C3-4A91-B811-F3E214979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72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776C61-769D-40BA-94C9-86465AE9C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8630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Не выбирает SLA за вас</a:t>
            </a:r>
          </a:p>
        </p:txBody>
      </p:sp>
    </p:spTree>
    <p:extLst>
      <p:ext uri="{BB962C8B-B14F-4D97-AF65-F5344CB8AC3E}">
        <p14:creationId xmlns:p14="http://schemas.microsoft.com/office/powerpoint/2010/main" val="159087377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EF3048-1485-4773-9ED9-DD19ECA78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АРХИТЕКТУРНЫЙ ВЫБОР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D1B363-95A7-4F5A-A8D7-11795B91C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569BF2-AFC9-45F9-953E-6F08A4F3E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F04D1F-D5A6-4838-A5D8-9AC0FCA81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AB015E-326D-43E0-99C8-DE8CC59F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Иногда лучший Spark job — тот, который вы не запускаете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BD0807-5D5D-4E90-8818-C394FD42A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95500"/>
            <a:ext cx="895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02123"/>
                </a:solidFill>
              </a:defRPr>
            </a:pPr>
            <a:r>
              <a:rPr sz="2250" b="1">
                <a:solidFill>
                  <a:srgbClr val="202123"/>
                </a:solidFill>
              </a:rPr>
              <a:t>Данные и SLA действительно требуют распределённого вычисления?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E94522-85DB-4DA9-A64D-CF7FE158C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0"/>
            <a:ext cx="4762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FEEE8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95BEE0-749B-40C9-9165-DA99266D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5242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НЕТ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847E8F-9C71-45F5-A042-D97CD723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0005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02123"/>
                </a:solidFill>
              </a:defRPr>
            </a:pPr>
            <a:r>
              <a:rPr sz="2100" b="1">
                <a:solidFill>
                  <a:srgbClr val="202123"/>
                </a:solidFill>
              </a:rPr>
              <a:t>SQL в DWH / DuckDB / Python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EACF8E-EC14-43E6-9DD2-338789608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6725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Меньше инфраструктуры и быстрее обратная связь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A042A4-F72F-4DB9-A5CC-52F2AE8F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4762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9BC3E2-F4F0-4B26-80BF-6FD7B537B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242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ДА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2CA2E8-310A-4363-A70A-D6E2CD3BB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005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Spark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BB69CE-D494-4CF9-8428-7C6B6349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6725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D6D9DC"/>
                </a:solidFill>
              </a:defRPr>
            </a:pPr>
            <a:r>
              <a:rPr sz="1425" b="0">
                <a:solidFill>
                  <a:srgbClr val="D6D9DC"/>
                </a:solidFill>
              </a:rPr>
              <a:t>Когда нужны параллелизм, fault tolerance и единый batch API</a:t>
            </a:r>
          </a:p>
        </p:txBody>
      </p:sp>
    </p:spTree>
    <p:extLst>
      <p:ext uri="{BB962C8B-B14F-4D97-AF65-F5344CB8AC3E}">
        <p14:creationId xmlns:p14="http://schemas.microsoft.com/office/powerpoint/2010/main" val="16477462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F34DBB-8ED3-4014-873D-335C8A2FE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RUNTIME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50DF67-F3CF-4271-B657-9C38EA6F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575A02-7C34-4436-A157-82A974EC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571163-84D8-4843-9688-AB3157E6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B0997F-8783-4632-AB95-6DA673C42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Один Spark application — один driver и набор executors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5776ED-05AC-444D-983F-2A05AE5AE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248025"/>
            <a:ext cx="704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A5AB52-BA42-41DE-8070-0D4BF8594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469791-6B7B-443C-9DFE-02F16A02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3DB170-1CB7-4ED0-BD3D-974158615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C6D76D-0951-4BFF-873D-C2F98299C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ACDA08-D5FD-4D79-B192-656A083FB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Driver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F68348-F323-4349-84D9-2C728915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SparkSession</a:t>
            </a:r>
          </a:p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DAG + scheduling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496256-0A7E-41EF-B605-5E21BD349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7BEE5B-1079-446B-9856-F43C7AA6E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Executor 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E6A5E4-230F-405C-A0D6-6B128C04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 0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260A39-42B8-40C4-82E7-B63140271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1DB783-83BE-4B34-AC14-4ECE9F37D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Executor 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CEB4C3-7DC0-4AD5-8851-8C48C37DA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 1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 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EDD85D-C94E-4B27-8329-57453A165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B9AB59-2048-4402-9912-8BB2BFA37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Executor 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8039D8-CF7A-4C64-9C00-0D0ABFFB1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 2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 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0B67EA-FA94-4C65-8491-C34B139C5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762500"/>
            <a:ext cx="1019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Driver координирует. Executors считают. Данные движутся между ними только при необходимости.</a:t>
            </a:r>
          </a:p>
        </p:txBody>
      </p:sp>
    </p:spTree>
    <p:extLst>
      <p:ext uri="{BB962C8B-B14F-4D97-AF65-F5344CB8AC3E}">
        <p14:creationId xmlns:p14="http://schemas.microsoft.com/office/powerpoint/2010/main" val="176849702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6D6926-C3EA-4D33-A7E3-B7894929C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RUNTIME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7BBCFF-C93B-4251-A136-C4EC9DAF3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5F47E8-6040-44A5-A588-CCD32C4DE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CD7D9A-05F5-4F7E-9E6A-F8331777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89AC99-AE3D-439F-A7FA-7427DAE07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Cluster manager выдаёт ресурсы — Spark управляет вычислением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93C831-5DA6-4D60-805A-3400A5A9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CLUSTER MANAGER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DB2375-9C63-4546-86B5-4FA05374F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Кому дать CPU и memory?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B9B95C-ECD8-41BC-AB9B-519D63685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84EB26-E93B-43AC-9F89-1829EBE6C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Standalone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80C54F-5046-407F-A7D5-170B81DCE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22AA74-AAC0-4DEE-9AE9-37A10DAD0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Kubernetes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E3DCCB-75FB-4FC4-8529-DED764BE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7D8BFB-B369-4F43-B967-B537323E1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YARN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97B1AA-DE35-4B29-BE7A-9B69A4965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SPARK APPLICATION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A5B6D1-DB3D-4E0C-AFCD-F16E58860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Какие tasks выполнить?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D8982C-4C48-4CE0-93CE-E7D64A559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80930D-E03D-436D-AC6B-F6FBE5C52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Driver строит план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E63232-80A7-4D43-8D7A-9E0F7B932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F48E23-7C35-42A1-A3B3-B0C3940A8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Executors выполняют tasks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9335B0-921C-443F-917F-2E9ABC431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238666-790F-4C6B-8F8B-BF889EC67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Spark отслеживает прогресс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586BBC-76A3-4BAA-A65F-0A9793DB0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2966300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03DFA5-2DAA-4CEF-A456-2474D0518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API +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5BB709-C440-42AE-88AC-C2D2589AD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FDC305-1EB0-4D15-B2AD-751052554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7762F5-43C4-445A-984B-90D2C4924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72D839-2EB3-4515-895A-22A9DFB90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В PySpark работаем через DataFrame — но понимаем все уровни API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C1CEB7-D7E8-4E63-9FDF-999F379AE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SparkSession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6282D5-AA7C-484F-A891-6B55E2B1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09550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spark.read / spark.sql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00CE6D-4C32-4622-8D40-9E8B24E0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Главная точка входа PySpark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14B36D-6C45-4628-862B-A875AABDD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4D3F81-A62A-4A71-9231-DAA42164E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SparkContext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349A94-C2A0-4444-A99D-4473CD94C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99085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spark.sparkContext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E4FEA4-65BA-49B1-A187-AD62F7549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9085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Связь application с cluster runtime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60B229-E530-4C4E-9AAB-55E204849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FCEFD3-5449-4921-AAF1-D8CA81D7B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DataFrame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32E728-150F-402E-816D-E258BA0A9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88620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строки + schema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1A2FDC-9A50-42B6-ABB2-C34B4C0EF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8620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Основной оптимизируемый API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D447BB-0439-42CE-8D45-855DBFAB0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6C5049-7D95-4B52-A16D-63CB3A3EC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8155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RDD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E93793-A07F-4215-8F36-C9A395F22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78155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partitioned objects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C83403-CBC5-44BC-B00B-A2C9CAE0F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78155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Низкий уровень без Catalyst/schema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A4E2C4-F321-41A2-92DE-B051C6383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56284F-B992-4430-8DD7-6CA7C4A6B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Dataset[T]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81F15A-C991-4B1A-853A-F4D5B094C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567690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JVM typed API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EBFDA2-FD76-4E2B-B4E0-6FA769A29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67690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Scala/Java; отдельного API в Python нет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6385EE-795D-4E4D-AD8E-2142337EE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2996781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4C3015-BB3E-4F16-AEF4-60A69D4B4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SCHEDULER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43E6D7-D530-4A9D-8C4C-CEF3AE77B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CA5020-6888-4911-822D-C2FA66C79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7D2521-5749-4457-89C5-BFC1A8186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7279D8-F078-49E1-A2D2-5ACCADC8D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Driver назначает tasks — cluster manager лишь выделяет executors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AC145B-C65C-4094-B678-E42354FA9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248025"/>
            <a:ext cx="704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E06C7C-9C9B-436A-9821-6C3F6949A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3911F8-BFD7-4F1D-946D-EE56EF418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6CA30C-25E8-46B5-A1FF-470F1657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D33AE9-F2B3-423C-B4D7-419FE879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00A7A7-0E46-476D-9786-7BC6F04D1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Action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CAC7F0-9DBA-48C7-B7D0-D20AEA07B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Driver создаёт job</a:t>
            </a:r>
          </a:p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из DAG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ACB0E0-B47B-48B3-B4B9-1505B5035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869465-4A2E-4BAB-99A4-CF2219229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DAGScheduler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AE8F80-B27F-46F5-870F-92259971B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режет DAG на stages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по shuffle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6B6B12-FBFC-4913-8E37-FFFF4E0B3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C47529-4084-4756-83CB-E30EEBB97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TaskScheduler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A8CF48-947E-4675-8102-6408449A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создаёт TaskSet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и выбирает slots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384939-4C0D-4715-A843-51747810E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A3834A-3EF6-4F9B-B272-1CA5EDF2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Executors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230710-6B16-4D70-9F09-8BF5A14DA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одна task читает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одну partition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FC411B-C7D6-45B4-8395-84FE948CE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762500"/>
            <a:ext cx="1019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Назначение учитывает свободные executor slots и locality; status/retry возвращаются driver. FIFO/FAIR выбирает очередь между jobs.</a:t>
            </a:r>
          </a:p>
        </p:txBody>
      </p:sp>
    </p:spTree>
    <p:extLst>
      <p:ext uri="{BB962C8B-B14F-4D97-AF65-F5344CB8AC3E}">
        <p14:creationId xmlns:p14="http://schemas.microsoft.com/office/powerpoint/2010/main" val="62779246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5A504C6-8A1B-4C4A-9071-FF6724AED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ПАРАЛЛЕЛИЗМ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E9C582-D2EC-49F2-9177-A3A434C5D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80B350-B1E6-4FA3-A293-8577656A6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3FF32F-2535-4DA4-8D05-75E8F2B42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C7628B-ABCE-45C7-B435-FD0E3AA93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Partition — минимальная порция данных для одной task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F663DD-53ED-4418-8487-8605BCA57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015D0B-25E5-472C-BBB2-647ACCACB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00F9B2-019F-4DD4-9130-E69C02BF3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2769B9-4656-462B-9FFB-20BCBD60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0A5AAD-58E2-472D-B848-026B5749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62FBB4-D046-4450-A5A8-3C57FAC46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1A14D0-95B8-44BD-8087-05B2266E3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C06EBD-5379-433B-BEEF-DC2D8DEE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63404C-B8E9-4DB3-BA4C-90FFC01C1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A157AB-B735-48FA-9366-E1036FFF1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92CCE3-F0E3-4EB4-B705-9828D20AD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6DE42A-8F88-436E-A644-F97A1775E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40169F-51F5-4DEB-807A-35B92E7A1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CF6C5F-CA14-4417-AE51-8C0FFE85F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6DE74D-1AB4-4547-A56B-CBC663361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208D75-62E4-4CD6-A1D8-1FEAE2769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FE01F9-E8BE-4FEB-BD25-85FBC6FA8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E6E68"/>
                </a:solidFill>
              </a:defRPr>
            </a:pPr>
            <a:r>
              <a:rPr sz="2250" b="0">
                <a:solidFill>
                  <a:srgbClr val="6E6E68"/>
                </a:solidFill>
              </a:rPr>
              <a:t>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4DC941-282B-48F1-A821-79D378035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62375"/>
            <a:ext cx="22479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00C643-9BC0-4C6F-8351-8EB06404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29075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Executor 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1CF283-0E83-41F6-8935-A890960B6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4325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E6E68"/>
                </a:solidFill>
              </a:defRPr>
            </a:pPr>
            <a:r>
              <a:rPr sz="2250" b="0">
                <a:solidFill>
                  <a:srgbClr val="6E6E68"/>
                </a:solidFill>
              </a:rPr>
              <a:t>↓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C03E3B-400B-4C5E-A42B-4D0F8966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62375"/>
            <a:ext cx="22479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D82192-7A0E-4265-9422-BA129F4A3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29075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Executor B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6CEDEB-7306-40DD-9BD2-8BF94A4DC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4325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E6E68"/>
                </a:solidFill>
              </a:defRPr>
            </a:pPr>
            <a:r>
              <a:rPr sz="2250" b="0">
                <a:solidFill>
                  <a:srgbClr val="6E6E68"/>
                </a:solidFill>
              </a:rPr>
              <a:t>↓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2DACD9-1424-4540-8611-504413D3A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62375"/>
            <a:ext cx="22479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CCB0151-DCA8-44DA-AD4E-803B5DA9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029075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Executor C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871127-C4B1-4F8E-BED1-6822F48D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4325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E6E68"/>
                </a:solidFill>
              </a:defRPr>
            </a:pPr>
            <a:r>
              <a:rPr sz="2250" b="0">
                <a:solidFill>
                  <a:srgbClr val="6E6E68"/>
                </a:solidFill>
              </a:rPr>
              <a:t>↓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A29D6B1-0BCA-47C5-82E1-515D2EF99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762375"/>
            <a:ext cx="22479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8554CC-CF89-479D-AACE-7512FA430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029075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Executor 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323973-E12E-4CE2-AA05-AB82A83B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91125"/>
            <a:ext cx="10325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Слишком мало partitions → недогруз. Слишком много → overhead и мелкие файлы.</a:t>
            </a:r>
          </a:p>
        </p:txBody>
      </p:sp>
    </p:spTree>
    <p:extLst>
      <p:ext uri="{BB962C8B-B14F-4D97-AF65-F5344CB8AC3E}">
        <p14:creationId xmlns:p14="http://schemas.microsoft.com/office/powerpoint/2010/main" val="145834243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F2FC07-5D90-4A19-82FD-10B464AB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DATAFRAME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4DB6DF-328C-4C7B-A58B-A89CBCDB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A292F8-28E4-46F0-A49F-8FCFD63A8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939677-B283-4FA3-A67D-98A5321D0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881E88-2396-4EE4-A006-44EF0DA01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DataFrame — декларативный контракт, а не цикл по строкам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25E7E3-D05D-4941-92B2-77E5F237F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F2428"/>
                </a:solidFill>
              </a:defRPr>
            </a:pPr>
            <a:r>
              <a:rPr sz="2775" b="1">
                <a:solidFill>
                  <a:srgbClr val="1F2428"/>
                </a:solidFill>
              </a:rPr>
              <a:t>“Вы описываете результат. Catalyst выбирает физический способ его получить.”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6397D2-3196-4E3F-A255-16261A92F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1428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3765D2-F008-4E18-9038-1A77A1040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25A1C"/>
                </a:solidFill>
              </a:defRPr>
            </a:pPr>
            <a:r>
              <a:rPr sz="1275" b="1">
                <a:solidFill>
                  <a:srgbClr val="E25A1C"/>
                </a:solidFill>
              </a:rPr>
              <a:t>SCHEMA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F68694-052D-4331-BCD3-25C8BA88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ABBA2B-54F4-4B9F-B263-BED86775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LOGICAL PLAN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6DCB5F-8603-4C0E-A400-CBE5D0BE7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OPTIMIZER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E67ABC-0673-4EBC-942F-B6B030E83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PHYSICAL PLAN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DBBBF3-7FE8-4451-BB5A-31DC01EF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904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Чем больше логики видно Catalyst, тем больше свободы для оптимизации.</a:t>
            </a:r>
          </a:p>
        </p:txBody>
      </p:sp>
    </p:spTree>
    <p:extLst>
      <p:ext uri="{BB962C8B-B14F-4D97-AF65-F5344CB8AC3E}">
        <p14:creationId xmlns:p14="http://schemas.microsoft.com/office/powerpoint/2010/main" val="104862095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F8D42B-38DB-4097-AD87-235C587C4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LAZY 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9E081F-9CA6-4E03-9783-397A9F62B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F7C2ED-57ED-48B6-9F53-7EAA4C3E4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5CE06E-4002-4683-AD15-C41798370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B3B144-DC01-4923-84C8-2F84B93CA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Transformations строят план — action запускает работу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6DE203-A154-4495-A525-ABFB081C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5D19FB-76B0-49B2-9E2A-3134CFF9E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97011E-8FEC-4F99-8C6D-A9255A2BF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read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0D3FE1-FCEA-413C-9D58-2E0DC940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ленивый источник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5BFB03-5C49-4B0D-9C10-758DBD637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5BAC81-54CA-4204-BF12-8825FF167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1AD5E7-A831-4E66-B60A-5718D8DCD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filter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066245-A6A6-4D44-A5DA-291083337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transformation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406AF0-1581-4549-A954-8EA3C35D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A7D839-8837-4C27-8AA6-6C9F8536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649141-F899-4FB8-B466-377E88D3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groupBy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263A56-C4FF-45F6-9B85-FE6BA1041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transformation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636481-82E3-4CD9-B683-01C94662C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2B9E04-7ECD-4369-8B4D-5A0CCDB2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E25A1C"/>
                </a:solidFill>
              </a:defRPr>
            </a:pPr>
            <a:r>
              <a:rPr sz="1875" b="1">
                <a:solidFill>
                  <a:srgbClr val="E25A1C"/>
                </a:solidFill>
              </a:rPr>
              <a:t>write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E3D7D1-23D9-4553-9162-94E69805A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action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A90F73-3D11-412B-95EB-0B124FCA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До action Spark может переписать и сократить план.</a:t>
            </a:r>
          </a:p>
        </p:txBody>
      </p:sp>
    </p:spTree>
    <p:extLst>
      <p:ext uri="{BB962C8B-B14F-4D97-AF65-F5344CB8AC3E}">
        <p14:creationId xmlns:p14="http://schemas.microsoft.com/office/powerpoint/2010/main" val="152020694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107B11B-5DF5-4C64-9C96-9419713AE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LAZY 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216CCF-691F-4E48-A635-A0B7846A2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31254E-22FD-417C-9F13-D775279B1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510F10-8AE2-484F-8550-EF960A40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4A425A-D346-4EBE-8651-A3277FD82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Lazy evaluation даёт optimizer увидеть весь pipeline до запуска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66870B-3BC7-4F5B-A5C1-6301A3FA1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КОД НАПИСАН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E30A65-8275-4DCF-B33D-338BF46F3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8956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1B1167-9685-40A3-902E-E1F890259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6576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D79566-4587-42E5-A914-D3097CC78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4196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3F1800-4060-4BC4-AEDA-4F565D257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03CD97-3DEA-4229-BDD5-AF9577041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95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read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C6F2CB-F935-44DD-8AAE-5ED6A179C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495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источник объявлен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3F63E1-02C3-4879-A02C-674BC8ED0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A85201-DDF2-4490-B035-6593C9C6C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57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select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F81475-8431-4894-8DA5-9E93EE4B1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257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лишние columns видны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942807-63A9-41B1-84D5-19AF0A1BE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48FC4F-BE46-42DB-A01B-0DAD774E6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19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filter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D63BD9-0409-472F-B1C9-DF978EF7F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019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условие записано позже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28FB17-2E87-43CB-B640-6091FD486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7BD551-2CBF-42C4-BCD7-55C847C58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81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25A1C"/>
                </a:solidFill>
              </a:defRPr>
            </a:pPr>
            <a:r>
              <a:rPr sz="1500" b="1">
                <a:solidFill>
                  <a:srgbClr val="E25A1C"/>
                </a:solidFill>
              </a:rPr>
              <a:t>groupBy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06F5B1-7AC6-48BF-8809-A21B7DBD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781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результат не вычислен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819476-35C0-4C95-B8D5-2670FB73E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812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ПЛАН К ACTION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B9B96E-BF61-4DC6-AB77-96A1BF443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8956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↓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E6692E-117A-414F-9739-8133D1424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576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83E93B-8141-41CE-B14A-FD79E0CA2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4196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↓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F79D1E-A2A5-4850-8EA4-1AC9DA93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43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F9F18C-6219-40CA-AD3F-146655346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95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Prune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F1826A-F7F8-4A39-BB04-7FFE12A27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495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читать нужные columns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8605E51-5C7A-4CBA-87BA-9FD02E68A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05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F3333B-EB9E-4A2D-90EC-45B8B3D28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57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Pushdown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0333B4-9AC0-46B6-B3D6-7F425251C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57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filter ближе к source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F6AE3E4-2BB2-4D23-B771-3D51680E0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67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73DA864-2BD9-4176-BBD4-D2AF694F3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19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Choose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C48466A-B68B-4DD0-B818-BD45167E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019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join/aggregate strategy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294707B-5747-43A7-890C-C9C77597A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29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059157B-71CD-443E-9B55-65DA1631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781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25A1C"/>
                </a:solidFill>
              </a:defRPr>
            </a:pPr>
            <a:r>
              <a:rPr sz="1500" b="1">
                <a:solidFill>
                  <a:srgbClr val="E25A1C"/>
                </a:solidFill>
              </a:rPr>
              <a:t>Execute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F7659B1-E8CF-4366-8615-8C65AF43A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781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action создаёт новый job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085E19D-903F-4302-88AD-E8AE9CB7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952625"/>
            <a:ext cx="190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D884BB1-D01E-4EA4-B947-822BFC101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19750"/>
            <a:ext cx="10363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E25A1C"/>
                </a:solidFill>
              </a:defRPr>
            </a:pPr>
            <a:r>
              <a:rPr sz="1500" b="1">
                <a:solidFill>
                  <a:srgbClr val="E25A1C"/>
                </a:solidFill>
              </a:rPr>
              <a:t>Lazy ≠ cached: каждый action запускает job и по умолчанию заново проходит lineage.</a:t>
            </a:r>
          </a:p>
        </p:txBody>
      </p:sp>
    </p:spTree>
    <p:extLst>
      <p:ext uri="{BB962C8B-B14F-4D97-AF65-F5344CB8AC3E}">
        <p14:creationId xmlns:p14="http://schemas.microsoft.com/office/powerpoint/2010/main" val="142920176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F6300CE-B349-4FD7-A540-0B5E3B136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CACHE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9527AC-52A5-4BEC-81F9-F5E987E39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3223D6-F99F-4C8A-A0B1-8C9C10039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0E2E3F-763C-44D3-B978-1D93900B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2A8BD3-CEE5-429F-88A6-373CF79DF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Два actions без persist повторяют lineage; cache меняет второй проход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9944C9-C940-48D5-BAD9-66C56A9A4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БЕЗ CACHE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A7DF45-DB5F-4A75-A620-EF050E581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62890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99469A-28F8-4237-9895-911464569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3840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47447F-DC8B-499B-B3BD-0CE062F5B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384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source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E57F88-3E2C-40AC-90F0-12816DF09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62890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5EBBC1-DDDB-431A-9638-D334815F9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43840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0E834F-B7F5-4119-975B-E137C8F01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6384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transform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37F1E7-D85C-4121-BEB9-4A0E52682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62890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29E41E-3BCB-4A4D-A5A7-F4DBDF39C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43840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51167A-6601-4A7D-A726-472F3FE76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6384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count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9D3195-5C7F-4609-B69B-DEC085C2D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2890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5C9433-EF77-400C-A833-ACD0BE27B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3840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45047A-098A-4A22-AA50-55094A781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6384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transform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41A33A-4A23-45DD-801D-783B4798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3840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40DA55-34C4-46D3-A9E7-71DE824C2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6384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write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2A7B04-C091-4467-99B9-DCF2D7C19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575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count = job 1; write = job 2; общий upstream вычисляется снова.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87E56F-C2C4-40ED-A1BB-2D690CA1B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25A1C"/>
                </a:solidFill>
              </a:defRPr>
            </a:pPr>
            <a:r>
              <a:rPr sz="1275" b="1">
                <a:solidFill>
                  <a:srgbClr val="E25A1C"/>
                </a:solidFill>
              </a:rPr>
              <a:t>CACHE / PERSIST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2CDC0B-F9F0-4534-A9D0-3DE8147B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624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0D44C8-8D98-485E-91AE-E5B065489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F4A6C6-8EEC-4F59-8689-0A547A37D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7197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source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366305-79B6-4A0B-AEAB-F7D3F65AC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3624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C0E341F-DFA5-4397-BB25-35CBFE8B9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17195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A46D2C-1FCC-4577-BD59-838229213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37197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transform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09623E6-95D4-4569-9E28-D22BBBBE1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3624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519000-661A-413A-A457-3AF7BC0C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17195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1AB6DDA-71E1-45DC-9DB9-02612144E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37197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fill cache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B3FEA9-D14B-42E4-8CEF-ED60C50D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624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E04C86-651E-4E3D-98ED-E30D34359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17195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12B2843-CA09-4982-A358-932B50A4B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37197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RAM/disk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035AD64-68CA-4E8B-8F84-C46963A19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17195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C2CC7DF-AC06-4ECD-8A85-CF31F20D8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37197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reuse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D459C54-6090-4F83-A1FF-B46735C42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911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cache() ленив; первый action заполняет blocks, следующий читает их.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8D0A521-AE1E-464C-B39F-2FC1A8856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10250"/>
            <a:ext cx="10363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E25A1C"/>
                </a:solidFill>
              </a:defRPr>
            </a:pPr>
            <a:r>
              <a:rPr sz="1500" b="1">
                <a:solidFill>
                  <a:srgbClr val="E25A1C"/>
                </a:solidFill>
              </a:rPr>
              <a:t>Persist только при reuse: выигрыш повторного compute должен окупить storage, eviction и serialization.</a:t>
            </a:r>
          </a:p>
        </p:txBody>
      </p:sp>
    </p:spTree>
    <p:extLst>
      <p:ext uri="{BB962C8B-B14F-4D97-AF65-F5344CB8AC3E}">
        <p14:creationId xmlns:p14="http://schemas.microsoft.com/office/powerpoint/2010/main" val="950300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9D93D0-95E0-41D5-B65A-9831831E3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EXECUTION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1AA370-5753-4FB5-AB83-6FC24EDEC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86BB9A-CFCF-47B6-8059-53896E387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500D28-7758-41C1-A615-78878F9A0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23FF3B-C950-4CB0-A0A0-43FC69DE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Один action создаёт job, stages и tasks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096B33-0DEF-497E-84DA-71E4BADEA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Action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D8C758-34C4-471A-89AA-C35FA750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09550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write.parquet(…)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A38556-FCFA-4FFA-8A64-2736A6511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Точка запуска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9064F8-8787-49D4-940E-F0B7002D4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AA7C85-030A-46FC-8ECC-4C766BC50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Job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9ECECB-0A6D-4919-890D-BB58DCB0C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99085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весь DAG для action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B637E2-2C9F-4F24-8030-AAF9E832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9085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Единица пользовательского результата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E4E399-465F-44F2-9B52-8D95A861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7DBCF5-FDB3-48A8-8BD7-8F2FE062B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Stage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AB5A85-F881-471C-8DFD-0EA2C577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88620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цепочка без shuffle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216CA5-1AD0-4991-A291-79610F2D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8620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Граница передачи данных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1F89EC-2808-4B72-9302-489088CDD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1924E1-3845-4645-915B-362D6E0AF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8155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Task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5DD409-1E03-4C82-8A84-4EE2D8EF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78155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stage × partition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378260-6D4B-4D4C-BFF7-338E0F7FA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78155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Единица исполнения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983B27-0357-4605-81AC-DE1398FC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6753843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16510B-E445-4ED0-B66E-A3FC8801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EXECUTION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F25DD7-A028-4A6C-AAD5-A3C0E0B19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9F77E5-A88F-44B5-B6BB-80117F51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38E6DB-5375-4694-8905-E01DF62A0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ABD6CE-E780-4E88-8F34-4B3A7ACE3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Shuffle появляется, когда строки меняют владельца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F7C2A4-2A18-40A3-AA93-77DDC9E52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31F6F3-F59E-40B8-BD3E-8A5DA5B28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02123"/>
                </a:solidFill>
              </a:defRPr>
            </a:pPr>
            <a:r>
              <a:rPr sz="1425" b="1">
                <a:solidFill>
                  <a:srgbClr val="202123"/>
                </a:solidFill>
              </a:rPr>
              <a:t>p0: A,A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AAB161-72BF-4A89-A28A-81A5F3252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5A0B9A-7024-45A9-AF6F-F0F0F7659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337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02123"/>
                </a:solidFill>
              </a:defRPr>
            </a:pPr>
            <a:r>
              <a:rPr sz="1425" b="1">
                <a:solidFill>
                  <a:srgbClr val="202123"/>
                </a:solidFill>
              </a:rPr>
              <a:t>p1: B,C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50AC87-DD0F-49EE-8C88-00482581B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0B255E-4C6D-47B6-98A7-BAC9AA504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02123"/>
                </a:solidFill>
              </a:defRPr>
            </a:pPr>
            <a:r>
              <a:rPr sz="1425" b="1">
                <a:solidFill>
                  <a:srgbClr val="202123"/>
                </a:solidFill>
              </a:rPr>
              <a:t>p2: A,C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871EF4-7E37-4B7B-BC6C-FE23DD578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E34AEE-7A47-4FA5-A9B3-1CF18DFA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053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02123"/>
                </a:solidFill>
              </a:defRPr>
            </a:pPr>
            <a:r>
              <a:rPr sz="1425" b="1">
                <a:solidFill>
                  <a:srgbClr val="202123"/>
                </a:solidFill>
              </a:rPr>
              <a:t>p3: B,B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C7E425-EA6D-49FB-9E0F-17856E1FB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813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E25A1C"/>
                </a:solidFill>
              </a:defRPr>
            </a:pPr>
            <a:r>
              <a:rPr sz="2850" b="1">
                <a:solidFill>
                  <a:srgbClr val="E25A1C"/>
                </a:solidFill>
              </a:rPr>
              <a:t>SHUFFLE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951F37-58C0-4C83-B51E-26287DE37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619500"/>
            <a:ext cx="4286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groupBy  ·  join  ·  distinct  ·  repartition  ·  orderBy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05867F-6C30-47A2-8494-3E3079EE5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1526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E49DDE-FF06-4FD5-8C78-A5B4E8C6E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2479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A: A,A,A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0DD971-76EE-4394-98A6-FC2B4D731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242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F64C64-E775-46B0-AE04-66460D8FD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195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B: B,B,B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098491-FEE5-4D7E-80E2-DB047950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958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D2AC4B-0951-4E46-BEA7-F08F4ECCE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9911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C: C,C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A65F80-0B74-497D-A639-BFDD80B7B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67350"/>
            <a:ext cx="933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B42318"/>
                </a:solidFill>
              </a:defRPr>
            </a:pPr>
            <a:r>
              <a:rPr sz="1650" b="1">
                <a:solidFill>
                  <a:srgbClr val="B42318"/>
                </a:solidFill>
              </a:rPr>
              <a:t>Shuffle = сеть + сериализация + disk spill + новая stage.</a:t>
            </a:r>
          </a:p>
        </p:txBody>
      </p:sp>
    </p:spTree>
    <p:extLst>
      <p:ext uri="{BB962C8B-B14F-4D97-AF65-F5344CB8AC3E}">
        <p14:creationId xmlns:p14="http://schemas.microsoft.com/office/powerpoint/2010/main" val="1844739448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0915DA-2955-4FF7-A71B-A023C2EFC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СКВОЗНОЙ КЕЙС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C0DD15-B17B-46CC-88E7-B52F512FE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BDC26C-7FD7-4B9E-89F6-D2AD17ABE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11F447-10E1-4A90-B916-BC6BD11E5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36F5F8-6669-4F65-9A98-A01E79647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Контракт пайплайна: события → дневная выручка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CAA887-9C57-4EFD-97EB-FB8820C1D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323850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FA3013-4E1C-4C46-8296-38B8C1A66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24125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4C5CD4-2786-4269-B12C-C42AB560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43250"/>
            <a:ext cx="27051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events/*.json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event_id, customer_id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event_ts, amount, country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E7D074-2F46-4EDF-B953-90BCC8FE2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09800"/>
            <a:ext cx="323850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13B5AB-9BF9-4B78-8328-FD25A7839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24125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C632BC-4980-41C1-8412-D75E22E5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43250"/>
            <a:ext cx="27051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daily_revenue/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event_date, country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orders, revenue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47034B-115C-496B-8F68-0E70F54B9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09800"/>
            <a:ext cx="323850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FE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C82687-7A80-42D5-BCBF-CAFDD89B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24125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CONSTRAINTS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47F506-18C7-43D1-8A06-801147E4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43250"/>
            <a:ext cx="27051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явная schema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валидные ключи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идемпотентная запись</a:t>
            </a:r>
          </a:p>
        </p:txBody>
      </p:sp>
    </p:spTree>
    <p:extLst>
      <p:ext uri="{BB962C8B-B14F-4D97-AF65-F5344CB8AC3E}">
        <p14:creationId xmlns:p14="http://schemas.microsoft.com/office/powerpoint/2010/main" val="159961901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9A2879-BFE8-4964-B9E0-89269E2D6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PYSPARK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12B22C-8625-43F6-8F5C-E28AB8304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4227BC-EFF3-434A-B42A-EA83B52C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535226-39EB-4844-96E6-333489DB4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FD8950-230F-4DBD-AFCE-F2045069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Явная schema делает контракт проверяемым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03ACF2-BFD2-4812-801F-0A6EB5BBF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7191375" cy="371475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AF1729-6B78-4E9B-B5DA-BD66A728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666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EVENT_SCHEMA = StructType([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StructField("event_id", StringType(), False),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StructField("customer_id", StringType(), False),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StructField("event_ts", TimestampType(), False),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StructField("amount", DecimalType(18, 2), False),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StructField("country", StringType(), True),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])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events = spark.read.schema(EVENT_SCHEMA).json(input_path)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C79AE0-D950-484F-99A6-7AD7C47BC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526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WHY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83E3D7-168D-497F-A50B-2D090D75B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47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559481-3528-464E-A355-78DC1787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76225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Нет полного scan для inferSchema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759368-0B78-49B3-A458-5E29D995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67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4BDBB2-25DB-4D3B-BEB1-FAF0D0E26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58140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Nullability — часть контракта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E6D9F2-3252-4248-98A0-40253DFFF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486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5B40AD-E1FC-4374-B06C-672F28C11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40055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Типы стабильны между запусками</a:t>
            </a:r>
          </a:p>
        </p:txBody>
      </p:sp>
    </p:spTree>
    <p:extLst>
      <p:ext uri="{BB962C8B-B14F-4D97-AF65-F5344CB8AC3E}">
        <p14:creationId xmlns:p14="http://schemas.microsoft.com/office/powerpoint/2010/main" val="130978917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DA43A8-1DEC-4DE8-ACE0-B6863AAB1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PYSPARK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43B901-95FC-488B-96AA-32C1E8B5C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EA8F1C-7405-43C8-AE9F-56AA4C073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BB18DE-1004-4565-B1A2-C340380D9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C455B1-0069-44BD-9105-822C020E8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Built-in expressions сохраняют оптимизации Catalyst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A72E5D-5894-469F-9FC2-CD4B01D2E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7191375" cy="371475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9581E5-B9E7-4681-BC9B-FA14CE021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666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clean = (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events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.filter(F.col("event_id").isNotNull())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.filter(F.col("amount") &gt; 0)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.withColumn("event_date", F.to_date("event_ts"))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.withColumn("country", F.coalesce("country", F.lit("UNKNOWN")))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.dropDuplicates(["event_id"])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9BEA4C-1B3A-4262-BDCD-6C16C954A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526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WHY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72945C-22A4-4897-85DC-823F362B2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47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0818D2-6E95-4801-A964-924186C1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76225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Операции видны optimizer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DFDAE0-8044-4153-80C5-B35B90176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67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69BCCD-B634-4E49-A1BE-F1088F16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58140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Нет построчного Python callback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AFB3CF-C387-4566-A3AF-EA92E94F6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486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538C6C-0977-40C7-BE77-F215009D8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40055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Логика читается как data contract</a:t>
            </a:r>
          </a:p>
        </p:txBody>
      </p:sp>
    </p:spTree>
    <p:extLst>
      <p:ext uri="{BB962C8B-B14F-4D97-AF65-F5344CB8AC3E}">
        <p14:creationId xmlns:p14="http://schemas.microsoft.com/office/powerpoint/2010/main" val="68993444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F61C99-E8B1-462B-9465-45C5BE870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PYSPARK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6C60CE-C365-42A4-B3ED-12EEC955A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C9C985-0050-41C7-94B5-ABA7DEACF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0B7B3E-32CA-42D6-8AE5-C964C7453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0A4317-6AA6-48B7-8C04-871E7523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Join и aggregation — место, где рождается стоимость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A64736-CEA2-4396-B3FB-3BC654F5A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7191375" cy="371475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DF7995-28E1-471C-A854-CC492F76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666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result = (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clean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.join(F.broadcast(countries), "country", "left")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.groupBy("event_date", "country_name")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.agg(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    F.count("*").alias("orders"),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    F.sum("amount").alias("revenue"),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1BECA4-D437-4E75-B5B3-AE2A69514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526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WHY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0A1334-698F-4D84-AA4A-B0C2C5D5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47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874356-DEF2-4F7C-9AC3-6975F6E56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76225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Размер стороны join важнее синтаксиса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C04928-DB3F-4646-A96D-29F6FA7DC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67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170F70-A7FE-404E-A2C9-1B073A3CE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58140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groupBy почти всегда означает shuffle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3508C1-9B8B-48D2-9214-C6769C9D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486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511A46-B72E-47EA-9C00-12D1C0E81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40055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Broadcast устраняет shuffle большой стороны</a:t>
            </a:r>
          </a:p>
        </p:txBody>
      </p:sp>
    </p:spTree>
    <p:extLst>
      <p:ext uri="{BB962C8B-B14F-4D97-AF65-F5344CB8AC3E}">
        <p14:creationId xmlns:p14="http://schemas.microsoft.com/office/powerpoint/2010/main" val="153380828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AA6165-FF17-4DD2-AC9C-EE28C885A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ПЛАН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4F5680-492B-48BF-ABDA-D4DA52697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F23A57-55A4-443F-A883-1E851F94C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8C60F4-D17D-47E3-B2A4-10F0DD94F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CD20A1-FB24-457D-98D3-E845A8FA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Сначала читаем план — потом тратим кластер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23B8DE-3551-4E20-803C-BBD70A75A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76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25A1C"/>
                </a:solidFill>
              </a:defRPr>
            </a:pPr>
            <a:r>
              <a:rPr sz="3150" b="1">
                <a:solidFill>
                  <a:srgbClr val="E25A1C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C27084-DD80-4AE3-99C8-FBACF7246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02123"/>
                </a:solidFill>
              </a:defRPr>
            </a:pPr>
            <a:r>
              <a:rPr sz="1575" b="1">
                <a:solidFill>
                  <a:srgbClr val="202123"/>
                </a:solidFill>
              </a:rPr>
              <a:t>explain('formatted')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9C4F2B-52F9-4F16-8B27-E841A7A3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6E844B-E284-48A0-8797-EA5CF3A4B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Получить physical plan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0A3DC0-34B4-4029-975C-0844386EC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133600"/>
            <a:ext cx="76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25A1C"/>
                </a:solidFill>
              </a:defRPr>
            </a:pPr>
            <a:r>
              <a:rPr sz="3150" b="1">
                <a:solidFill>
                  <a:srgbClr val="E25A1C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8BE78F-F136-4CF1-A759-0D48834A2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02123"/>
                </a:solidFill>
              </a:defRPr>
            </a:pPr>
            <a:r>
              <a:rPr sz="1575" b="1">
                <a:solidFill>
                  <a:srgbClr val="202123"/>
                </a:solidFill>
              </a:rPr>
              <a:t>Найти Exchange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8E7C46-BE9E-4943-BE89-295BC277F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A299D6-673C-4981-A261-34753C8E9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Увидеть shuffle boundaries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5D279B-AC00-4A30-AAC3-ADFFDFADC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133600"/>
            <a:ext cx="76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25A1C"/>
                </a:solidFill>
              </a:defRPr>
            </a:pPr>
            <a:r>
              <a:rPr sz="3150" b="1">
                <a:solidFill>
                  <a:srgbClr val="E25A1C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C7DFFC-3767-4736-8B53-0FA2809F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02123"/>
                </a:solidFill>
              </a:defRPr>
            </a:pPr>
            <a:r>
              <a:rPr sz="1575" b="1">
                <a:solidFill>
                  <a:srgbClr val="202123"/>
                </a:solidFill>
              </a:rPr>
              <a:t>Проверить Join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5DC561-1F55-47F1-8D8F-E3E455B90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75B9D9-7B7A-4960-87EF-A50D51E1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BroadcastHash или SortMerge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B95FEF-B243-40D9-898B-552BB0DFC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33600"/>
            <a:ext cx="76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25A1C"/>
                </a:solidFill>
              </a:defRPr>
            </a:pPr>
            <a:r>
              <a:rPr sz="3150" b="1">
                <a:solidFill>
                  <a:srgbClr val="E25A1C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8C712D-A58C-40F6-BE2E-C9C458A68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02123"/>
                </a:solidFill>
              </a:defRPr>
            </a:pPr>
            <a:r>
              <a:rPr sz="1575" b="1">
                <a:solidFill>
                  <a:srgbClr val="202123"/>
                </a:solidFill>
              </a:rPr>
              <a:t>Сверить partitions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128617-299A-46A9-8CE0-3F72EDDD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D7EE17-0BDA-446A-A54E-41DE85A92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Оценить parallelism</a:t>
            </a:r>
          </a:p>
        </p:txBody>
      </p:sp>
    </p:spTree>
    <p:extLst>
      <p:ext uri="{BB962C8B-B14F-4D97-AF65-F5344CB8AC3E}">
        <p14:creationId xmlns:p14="http://schemas.microsoft.com/office/powerpoint/2010/main" val="208241579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86B536-F1DC-41EF-80D4-E7A848352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ПЛАН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67C1D1-7482-4CE0-9793-07E301455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FBBD63-B7B5-48BD-A39C-707EB2700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208D55-3121-4708-8EE9-751E0C0B6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FB31C2-9372-4E96-8358-367C80DA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Exchange в physical plan — сигнал перераспределения данных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9507A4-7D45-4DD8-9781-A4481682E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7239000" cy="3571875"/>
          </a:xfrm>
          <a:prstGeom xmlns:a="http://schemas.openxmlformats.org/drawingml/2006/main" prst="roundRect">
            <a:avLst>
              <a:gd name="adj" fmla="val 2133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AB0405-0DFA-4FA5-981A-B44B666A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67437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== Physical Plan ==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AdaptiveSparkPlan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+- HashAggregate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+- Exchange hashpartitioning(event_date, country_name, 8)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  +- HashAggregate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     +- BroadcastHashJoin [country], [country], LeftOuter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        :- Filter (amount &gt; 0)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        +- BroadcastExchange HashedRelationBroadcastMode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487C21-B012-4377-9886-B90D3E40C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669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Exchange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A7645C-3A6D-4DFC-A482-045F7127B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099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BroadcastHashJoin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E7AD89-2236-4803-9433-3CA9FB331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528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8 partitions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D6B75D-9707-45A7-B82B-D3A15FDB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648200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План подтверждает один shuffle для aggregation и broadcast маленького справочника.</a:t>
            </a:r>
          </a:p>
        </p:txBody>
      </p:sp>
    </p:spTree>
    <p:extLst>
      <p:ext uri="{BB962C8B-B14F-4D97-AF65-F5344CB8AC3E}">
        <p14:creationId xmlns:p14="http://schemas.microsoft.com/office/powerpoint/2010/main" val="1891960843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341963-93C7-402B-B1B6-10C4E5F8B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ЗАПИСЬ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F56614-19A0-4C0D-B6B1-32989C403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DE06BC-B54E-4869-9918-A55A62267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00A21C-7888-4AA5-9158-15C43E947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46D2AF-BF6A-426D-8BC9-79DB7C978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Action материализует план — формат сохраняет будущие возможности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29023C-7284-4BB6-AF5B-05F9C7A13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980E3E-DE74-4361-A3C9-68637953C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5EF2D8-55AD-4827-B366-43E96C1F2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plan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DA95C9-876C-4C3D-89B9-51A5CEB7E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оптимизирован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809DBD-5116-4254-A965-5EBE36A48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41720F-B0C2-4AAF-9C0B-676BAB012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E889ED-6F21-4F09-BCDB-8DC4E625A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tasks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566991-CB65-43DA-83B3-20642D535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выполнены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C0A9CF-8E1E-450C-9961-71F0CB029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611350-EC58-4330-91EF-D863E2EFA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CF01AC-20CC-46E1-8404-8690D3976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Parquet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3EBED9-F6FE-4DF9-9257-235203AE2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columnar + schema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3C281E-22A2-413A-ACEF-5AD03C41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D77A58-06D0-4871-BB1D-0F346F05A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E25A1C"/>
                </a:solidFill>
              </a:defRPr>
            </a:pPr>
            <a:r>
              <a:rPr sz="1875" b="1">
                <a:solidFill>
                  <a:srgbClr val="E25A1C"/>
                </a:solidFill>
              </a:rPr>
              <a:t>catalog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471B56-FF19-4246-85C8-C0F906968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данные доступны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4009D7-F466-4C70-95F3-7506122EF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Пишите partitioned output только по реально используемым фильтрам.</a:t>
            </a:r>
          </a:p>
        </p:txBody>
      </p:sp>
    </p:spTree>
    <p:extLst>
      <p:ext uri="{BB962C8B-B14F-4D97-AF65-F5344CB8AC3E}">
        <p14:creationId xmlns:p14="http://schemas.microsoft.com/office/powerpoint/2010/main" val="1278044545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0F48FE-6702-4BF5-BFA2-0FA485780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НАБЛЮДАЕМОСТЬ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14E08B-F95E-4C46-87B4-EE6EF629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4E9676-2C72-43C3-85F9-5F9D37087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C3A36E-2648-4589-872D-E88EB981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B0E6AD-B22A-4C69-B1FD-F9FE839D2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Spark UI превращает “медленно” в проверяемую гипотезу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D3530D-24C3-4645-8143-B8E0F2976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23812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1CE1D4-B1C3-4510-988A-6E6432BC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86050"/>
            <a:ext cx="1885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F6FED"/>
                </a:solidFill>
              </a:defRPr>
            </a:pPr>
            <a:r>
              <a:rPr sz="2025" b="1">
                <a:solidFill>
                  <a:srgbClr val="2F6FED"/>
                </a:solidFill>
              </a:rPr>
              <a:t>Jobs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694204-4D06-4F5F-8FA5-C0D766312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29000"/>
            <a:ext cx="18859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Какая action и где упала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EFA94C-09D0-4BB5-AC75-53BAD349D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05050"/>
            <a:ext cx="23812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7A63B5-58E9-478F-BDAA-D408D587E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86050"/>
            <a:ext cx="1885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F6FED"/>
                </a:solidFill>
              </a:defRPr>
            </a:pPr>
            <a:r>
              <a:rPr sz="2025" b="1">
                <a:solidFill>
                  <a:srgbClr val="2F6FED"/>
                </a:solidFill>
              </a:rPr>
              <a:t>Stages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148389-9572-487A-AD3A-771B51E90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429000"/>
            <a:ext cx="18859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Shuffle, skew, spill и stragglers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E455BE-F4E8-481E-9237-310B687D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05050"/>
            <a:ext cx="23812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AFE895-45C8-4528-9287-A884443DB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86050"/>
            <a:ext cx="1885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E25A1C"/>
                </a:solidFill>
              </a:defRPr>
            </a:pPr>
            <a:r>
              <a:rPr sz="2025" b="1">
                <a:solidFill>
                  <a:srgbClr val="E25A1C"/>
                </a:solidFill>
              </a:rPr>
              <a:t>SQL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25771E-1FEB-4F4D-BD44-CCCC5B8B5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29000"/>
            <a:ext cx="18859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План и метрики операторов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B7BCB8-222B-4FC1-BFEB-11E1ED6B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05050"/>
            <a:ext cx="23812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8B6B15-A6C3-4153-8985-E834CB112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686050"/>
            <a:ext cx="1885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F6FED"/>
                </a:solidFill>
              </a:defRPr>
            </a:pPr>
            <a:r>
              <a:rPr sz="2025" b="1">
                <a:solidFill>
                  <a:srgbClr val="2F6FED"/>
                </a:solidFill>
              </a:rPr>
              <a:t>Executors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0C011D-5495-40D5-8082-CC7B4AE09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429000"/>
            <a:ext cx="18859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Memory, GC, input и failed tasks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2915BD-3C48-467C-ACA6-D966F6635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91125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Начните со Stage с максимальной длительностью — затем сравните tasks.</a:t>
            </a:r>
          </a:p>
        </p:txBody>
      </p:sp>
    </p:spTree>
    <p:extLst>
      <p:ext uri="{BB962C8B-B14F-4D97-AF65-F5344CB8AC3E}">
        <p14:creationId xmlns:p14="http://schemas.microsoft.com/office/powerpoint/2010/main" val="56505836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BB3650-3F1B-4A17-B51C-6EC3057B4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ИНЖЕНЕРНЫЙ МЕТОД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F54E81-16C1-4F7F-B78A-8B4E306DC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A13703-C2F5-4643-96AC-7667E8625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4BBC52-D90C-4EC5-8AE9-4D86F4A56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FBE099-C0CF-4983-8009-8A0810158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Хорошая диагностика связывает код, план и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0C7E60-5688-4D9A-BB38-A00735733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2362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E25A1C"/>
                </a:solidFill>
              </a:defRPr>
            </a:pPr>
            <a:r>
              <a:rPr sz="1950" b="1">
                <a:solidFill>
                  <a:srgbClr val="E25A1C"/>
                </a:solidFill>
              </a:rPr>
              <a:t>Код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9A6D65-4334-47D6-A58A-18C91D56A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02123"/>
                </a:solidFill>
              </a:defRPr>
            </a:pPr>
            <a:r>
              <a:rPr sz="1800" b="1">
                <a:solidFill>
                  <a:srgbClr val="202123"/>
                </a:solidFill>
              </a:rPr>
              <a:t>groupBy + join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6D8198-0492-43BA-800A-BDEACE554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D38B98-1197-42BE-8107-9B7131E1E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Что мы попросили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48283A-F467-40A2-8E5D-5173E17AC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133600"/>
            <a:ext cx="2362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E25A1C"/>
                </a:solidFill>
              </a:defRPr>
            </a:pPr>
            <a:r>
              <a:rPr sz="1950" b="1">
                <a:solidFill>
                  <a:srgbClr val="E25A1C"/>
                </a:solidFill>
              </a:rPr>
              <a:t>План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166102-C2FA-4F55-A7AB-87C12EC1B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02123"/>
                </a:solidFill>
              </a:defRPr>
            </a:pPr>
            <a:r>
              <a:rPr sz="1800" b="1">
                <a:solidFill>
                  <a:srgbClr val="202123"/>
                </a:solidFill>
              </a:rPr>
              <a:t>Exchange + join strategy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749213-3805-40D5-AE8E-181DEDA7D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60BCA7-D492-48FB-A3EA-39ED1558F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Что выбрал optimizer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900306-EF17-443A-9895-FA580605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133600"/>
            <a:ext cx="2362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E25A1C"/>
                </a:solidFill>
              </a:defRPr>
            </a:pPr>
            <a:r>
              <a:rPr sz="1950" b="1">
                <a:solidFill>
                  <a:srgbClr val="E25A1C"/>
                </a:solidFill>
              </a:rPr>
              <a:t>UI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B1449E-E8EB-4779-BB75-CCA4A48F4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02123"/>
                </a:solidFill>
              </a:defRPr>
            </a:pPr>
            <a:r>
              <a:rPr sz="1800" b="1">
                <a:solidFill>
                  <a:srgbClr val="202123"/>
                </a:solidFill>
              </a:rPr>
              <a:t>shuffle read + task time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0E29F8-6D8F-4273-A2B2-C3C633485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0C27EB-8E2A-4EC4-ACC3-C6F6D7DA5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Что произошло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5182B5-FCC9-40E7-AD0B-E79ECFF5E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33600"/>
            <a:ext cx="2362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E25A1C"/>
                </a:solidFill>
              </a:defRPr>
            </a:pPr>
            <a:r>
              <a:rPr sz="1950" b="1">
                <a:solidFill>
                  <a:srgbClr val="E25A1C"/>
                </a:solidFill>
              </a:rPr>
              <a:t>Изменение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1CA0F9-9BB2-4C54-AE2E-6938719FA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02123"/>
                </a:solidFill>
              </a:defRPr>
            </a:pPr>
            <a:r>
              <a:rPr sz="1800" b="1">
                <a:solidFill>
                  <a:srgbClr val="202123"/>
                </a:solidFill>
              </a:rPr>
              <a:t>broadcast / repartition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24DCAC-D7FF-4B22-999A-F23B6D6AC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773F76-664B-4498-A7B3-A5EC41319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Как проверим эффект</a:t>
            </a:r>
          </a:p>
        </p:txBody>
      </p:sp>
    </p:spTree>
    <p:extLst>
      <p:ext uri="{BB962C8B-B14F-4D97-AF65-F5344CB8AC3E}">
        <p14:creationId xmlns:p14="http://schemas.microsoft.com/office/powerpoint/2010/main" val="202025271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C2C5BB-61EE-4C5B-A4B6-72A784167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CORE · 60 МИН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382539-A92E-4B46-9374-99FF25182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F525F7-BEF3-44FA-A56D-AEE018825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ED8499-88E9-4486-83C4-5B0FEAD13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23D98E-CF89-47B6-8F32-38CACB1E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Выходной билет: объясните Spark без магии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A8C78D-8F3C-4439-A5DF-A7185BA31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E25A1C"/>
                </a:solidFill>
              </a:defRPr>
            </a:pPr>
            <a:r>
              <a:rPr sz="2325" b="1">
                <a:solidFill>
                  <a:srgbClr val="E25A1C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988861-B647-45DC-9DBB-E7A438FD1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143125"/>
            <a:ext cx="4286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Почему transformations не запускают вычисление?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4E3FAF-6A97-4D0C-A809-079FB4AD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43125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E25A1C"/>
                </a:solidFill>
              </a:defRPr>
            </a:pPr>
            <a:r>
              <a:rPr sz="2325" b="1">
                <a:solidFill>
                  <a:srgbClr val="E25A1C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69B496-C2B6-4865-843E-C8D7A0A0D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143125"/>
            <a:ext cx="4286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Что создаёт границу stage?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23A143-B9A2-4128-A661-DC95E052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E25A1C"/>
                </a:solidFill>
              </a:defRPr>
            </a:pPr>
            <a:r>
              <a:rPr sz="2325" b="1">
                <a:solidFill>
                  <a:srgbClr val="E25A1C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17767B-05AA-4BDF-AA40-E61CC12DD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714750"/>
            <a:ext cx="4286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Где увидеть фактическую join strategy?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12A5EC-8F76-4E12-8E20-00413D1A0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1475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E25A1C"/>
                </a:solidFill>
              </a:defRPr>
            </a:pPr>
            <a:r>
              <a:rPr sz="2325" b="1">
                <a:solidFill>
                  <a:srgbClr val="E25A1C"/>
                </a:solidFill>
              </a:rPr>
              <a:t>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088BF6-4BD3-4921-A3F1-9B97FBA57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714750"/>
            <a:ext cx="4286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Когда Spark — лишняя сложность?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A4BF66-AFFD-4398-B8F6-1A438AD2D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381625"/>
            <a:ext cx="10001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D2239F-E9AE-4AFD-B764-A0E02D41D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534025"/>
            <a:ext cx="942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Практика: запустить pipeline, сохранить explain и найти evidence в Spark UI.</a:t>
            </a:r>
          </a:p>
        </p:txBody>
      </p:sp>
    </p:spTree>
    <p:extLst>
      <p:ext uri="{BB962C8B-B14F-4D97-AF65-F5344CB8AC3E}">
        <p14:creationId xmlns:p14="http://schemas.microsoft.com/office/powerpoint/2010/main" val="144555938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0BF217-104E-4B61-8B7E-450E1967B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FDB5FD-A75B-4701-AF0D-AC6A3D631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25A1C"/>
                </a:solidFill>
              </a:defRPr>
            </a:pPr>
            <a:r>
              <a:rPr sz="1275" b="1">
                <a:solidFill>
                  <a:srgbClr val="E25A1C"/>
                </a:solidFill>
              </a:rPr>
              <a:t>DEEP DIVE · +30 МИН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34D662-8E7A-453F-B8C2-8ABCD6897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571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D493D6-2F69-4495-9F72-B403E6E09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9525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От API к физике выполнения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DDF8D3-D6B9-4FA9-AE07-A62D2D1C4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8096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6D9DC"/>
                </a:solidFill>
              </a:defRPr>
            </a:pPr>
            <a:r>
              <a:rPr sz="1875" b="0">
                <a:solidFill>
                  <a:srgbClr val="D6D9DC"/>
                </a:solidFill>
              </a:rPr>
              <a:t>Spark vs MapReduce на principal-уровне, затем Catalyst, shuffle, Python/JVM boundary, AQE и skew</a:t>
            </a:r>
          </a:p>
        </p:txBody>
      </p:sp>
    </p:spTree>
    <p:extLst>
      <p:ext uri="{BB962C8B-B14F-4D97-AF65-F5344CB8AC3E}">
        <p14:creationId xmlns:p14="http://schemas.microsoft.com/office/powerpoint/2010/main" val="1622506527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E57A04-F91C-45FA-BA26-8679DDFB2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SPARK vs MAPREDUCE · 4 УРОВНЯ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66B906-C6FF-47E3-B12F-1E98EFF8D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7C7BD9-B1C3-4E25-9EB0-0EAD08E6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B556E1-4EBC-4B5F-B2A6-8C8253A79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41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C7E79-4AAF-4A4D-872B-CDBCE0212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Одна разница — четыре глубины объяснения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928FEB-5B41-46C9-A320-0C68EDEF8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Обыватель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DB5DB0-6276-4DE5-ADA6-4CF26208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09550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MapReduce убирает стол после каждого блюда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D19F2E-016D-4EC6-A699-9B88994E6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Spark может оставить нужные продукты рядом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CA547B-0CD6-4C7D-BFF4-7042412FD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FCF864-751B-4B8D-8E35-79ABE6EB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Data Engineer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A39861-4E16-4C10-82BB-77BEFE535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99085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MR связывает jobs через materialized output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0DE646-C275-4F18-8125-2FDB99819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9085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Spark планирует DAG и переиспользует datasets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87CFFA-B7EB-4010-9A70-2D3CA12FD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883FFB-6F07-4D68-9844-164429276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Senior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087A32-F394-48FB-A377-B4232FA4F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88620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MR оптимизирует fixed map/shuffle/reduce job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17C4AE-F9E3-4E26-89E3-2F0ED57B3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8620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Spark делит DAG на stages по wide dependencies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83F737-AF28-4BF6-A0BE-9EEDCA15C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CEB39D-F3F8-4237-BBE8-606347F0E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8155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Principal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8FEB8F-D4CE-4C65-903B-B2C830BE5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78155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Durable boundaries упрощают recovery, но растят I/O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542F68-A788-4F85-B290-10B38FF0C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78155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Lineage, optimizer и runtime stats меняют cost model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6F3155-83F4-4649-9433-ED96C630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60798476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9F9EC67-40A1-40C0-AA97-45926D6AE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АРХИТЕКТУРА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E3E1B5-787D-4690-AC28-76F59399A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EC553C-B868-47B3-8C26-000A69BFE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DF2CE5-547E-4475-9B75-283B0F60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42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9E361A-7AA0-4AAC-9D98-8066B39EB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MapReduce оркестрирует job; Spark driver оркестрирует application DAG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BCC35B-BADD-4AB2-A71E-F57D9BF15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HADOOP MAPREDUCE ON YARN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F0C9E1-EC82-4004-A94A-6D3763DEF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8956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77E25F-5EAD-42DD-ACE3-07416C1CA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6576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02062F-8CD2-408C-9991-028399935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4196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CC190C-2FC6-4925-9B30-6F13BE131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FBB1E7-94DF-4AC8-BFA1-1F8B3976D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95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Client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83D469-9B4E-4FC8-B4AC-858227059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495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job config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35AFB5-D3F5-4460-89F1-D4A06C7A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5D70B1-6CE6-4899-BF59-85D837DB8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57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MRAppMaster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A63BDE-D0F3-4FC0-AE6A-7015FF995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257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map/reduce scheduling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49432B-9A2B-42C9-ABDC-CBCA7E5DF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86D053-C2FF-4F7F-AFCB-946075087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19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Map → Shuffle → Reduce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099F2B-6490-4D0C-ADC1-E407CDAD4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019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containers + retries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79BBB9-AECA-496A-A057-A7AA266B2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994F7E-2332-4675-A9E9-C3BEC256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81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25A1C"/>
                </a:solidFill>
              </a:defRPr>
            </a:pPr>
            <a:r>
              <a:rPr sz="1500" b="1">
                <a:solidFill>
                  <a:srgbClr val="E25A1C"/>
                </a:solidFill>
              </a:rPr>
              <a:t>HDFS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A6A373-06E0-4035-9BA3-238350783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781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input / durable output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423141-FDA5-49AF-8C33-240017BB5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812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SPARK APPLICATION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8B524F-22AD-4570-95FF-96121B052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8956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↓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55227C-7B46-4729-854E-89B25E478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576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EE2592-653A-451C-8697-E50ADB7E6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4196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↓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F51B0E-8666-4DF8-B540-FD92368F4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43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450E1B-2372-4C91-A370-D3BD19000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95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Driver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BBFDF0-5A42-4AD7-81C3-3E0D78C83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495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logical + physical plan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B9D2A0-8D2F-4876-886B-853F26B7E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05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2CE64B-4AF9-44D5-901E-8CF26B667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57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DAGScheduler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D105D0-6B5A-4675-A094-ED5F32150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57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jobs → stages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7B36B8-7AA8-4940-B834-AD7FA582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67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AC22080-A307-477F-B4B3-90936E5C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19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Executors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DB81E9E-F9F4-497E-AE2A-59C5AEE5A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019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tasks + cache + shuffle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60A81FA-7249-493B-8B7E-B72DDE3D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29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A9C830-49CC-49AC-9286-266F62C4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781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25A1C"/>
                </a:solidFill>
              </a:defRPr>
            </a:pPr>
            <a:r>
              <a:rPr sz="1500" b="1">
                <a:solidFill>
                  <a:srgbClr val="E25A1C"/>
                </a:solidFill>
              </a:rPr>
              <a:t>Storage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3CA3450-B089-42FB-B78F-1DB69E0AC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781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input / output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452775F-403E-4EB1-B7ED-48BACC22E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952625"/>
            <a:ext cx="190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757FC82-B356-4748-A466-ADBBAEBFA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19750"/>
            <a:ext cx="10363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E25A1C"/>
                </a:solidFill>
              </a:defRPr>
            </a:pPr>
            <a:r>
              <a:rPr sz="1500" b="1">
                <a:solidFill>
                  <a:srgbClr val="E25A1C"/>
                </a:solidFill>
              </a:rPr>
              <a:t>Cluster manager выдаёт ресурсы в обоих случаях; модель планирования и границы materialization различаются.</a:t>
            </a:r>
          </a:p>
        </p:txBody>
      </p:sp>
    </p:spTree>
    <p:extLst>
      <p:ext uri="{BB962C8B-B14F-4D97-AF65-F5344CB8AC3E}">
        <p14:creationId xmlns:p14="http://schemas.microsoft.com/office/powerpoint/2010/main" val="864771195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88329F5-1A76-4E95-B9BD-908E63B12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PIPELINE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8FE1F0-B613-46AC-A1DB-B4C7EC291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1F565E-D07A-4FA4-B013-277DA4F93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9B6143-A7FE-4CD8-ABBA-0F56EAA7E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43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E3D9B7-FF9F-46E0-96DD-B5925DB9E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На многошаговом пайплайне Spark убирает лишние durable boundaries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C60F2F-DB86-4C40-9DA3-C5803F999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3 MAPREDUCE JOBS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46A023-AEC9-4F14-B4D0-93563046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62890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713362-CEC4-4FC3-BB07-FD1AE9FD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3840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744711-5123-40B9-B60B-C427080AC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384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read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08ED6B-E1F7-4EA3-838F-D4EFE037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62890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9A5160-C841-469D-873B-B2F2E6953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43840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5DA2C6-80C7-4169-8A02-F6355F28C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6384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job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36293-DB27-4056-8303-EFD21434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62890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14AB9D-2928-4C39-BEE7-1FC12C014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43840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196EE8-D660-43AF-93BD-D3F5F7F3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6384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HDFS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1E71E5-8FCB-41A8-938B-64ABCCD4C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2890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DF6FA6-3641-4DE6-BA71-052AC90A8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3840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2C25DA-BA3C-45C1-82D5-295FA9BE8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6384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job 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1B9797-EAFE-4F8B-A801-290C3C404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2890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A1C20C-2C84-4A36-BBE9-8EFE4E5A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3840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DB0C55-1681-40BA-B496-376BA6B5B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6384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HDFS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33247E-A842-41A3-9699-16F2809E6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2890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66AA6D-A9E4-4593-BA6C-624D489C2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3840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00F990-9E48-4420-AC6B-CDD03216D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384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job 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42BA8C-FCD9-4D4D-905B-DCAB3F288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43840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C17457-89B7-49FE-8E71-B79B46014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6384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write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3A957B-2A44-441B-81A4-E08F3F22F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575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Каждый job завершает контракт durable output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E498CB-DBE2-49C8-9DA1-4122FB05E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25A1C"/>
                </a:solidFill>
              </a:defRPr>
            </a:pPr>
            <a:r>
              <a:rPr sz="1275" b="1">
                <a:solidFill>
                  <a:srgbClr val="E25A1C"/>
                </a:solidFill>
              </a:rPr>
              <a:t>1 SPARK DAG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D6AE36A-21C7-4566-A44D-AD2A28985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624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D5C9E4-BCB4-4ACE-84A5-7F07ABC03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B44D0B4-C597-403F-980E-A5FA426E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7197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read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1676779-3685-40F2-BE87-42705EA5A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3624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0AC128C-9FBF-4FC5-AB09-1CDBCCA2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17195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B70FA39-40E4-4C94-B279-89BD8815F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37197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stage 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1E31ABC-8999-4F46-97E2-9FDAE45AB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3624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1C1B827-E248-4378-9379-38D0633B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17195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B281414-F794-45C8-9209-FE65A6E96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37197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shuffle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7D4FF8E-D1FE-45E2-812D-E2C94806B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624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8E51024-A3A3-4D78-809E-2AA81BBE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17195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74CA574-F7AB-4595-B5EF-F6052428B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37197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stage 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27C224E-F56A-4800-A125-635F586A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3624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2847EA7-4B10-4C74-BF8C-893752DAB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17195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5D8E0E2-7509-4A31-AFC8-41A24C41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37197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shuffle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F17F0BF-B2D9-4319-BB6E-84F134DB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624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90BD249-314A-49FD-BD72-F08D62396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17195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98D28B7-351F-4FF4-B164-4F8658FF3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37197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stage 3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BA9AE0B-B35D-415B-AD08-5F277F991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17195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B280121-AC61-436E-87A1-9578B861B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37197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write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779EE1C-6319-4FC6-BC3D-64436ADEB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911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Materialization — только где её требует wide dependency или контракт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617C986-5438-46B3-B64A-E1D1D81DD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10250"/>
            <a:ext cx="10363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E25A1C"/>
                </a:solidFill>
              </a:defRPr>
            </a:pPr>
            <a:r>
              <a:rPr sz="1500" b="1">
                <a:solidFill>
                  <a:srgbClr val="E25A1C"/>
                </a:solidFill>
              </a:rPr>
              <a:t>Разница максимальна при итерациях и reuse; минимальна в одном I/O-bound scan → aggregate → write.</a:t>
            </a:r>
          </a:p>
        </p:txBody>
      </p:sp>
    </p:spTree>
    <p:extLst>
      <p:ext uri="{BB962C8B-B14F-4D97-AF65-F5344CB8AC3E}">
        <p14:creationId xmlns:p14="http://schemas.microsoft.com/office/powerpoint/2010/main" val="203053139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6A0FF5-B16D-4530-B4A9-3087B3F14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FAULT TOLERANCE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35AB6B-9D74-4418-B916-4C4D3C709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BF3358-1996-412B-8F8B-6DBA470B9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80E8E2-227B-4612-93B2-9E0DD115E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44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231393-FE76-4084-A34D-8B031D176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Оба engine повторяют tasks — различается цена восстановления промежуточного состояния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47668C-0FB8-49FF-A919-B05DD0DD9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MAPREDUCE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0CE6F1-4A23-4A8E-8B06-28A8B29D5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Recovery через materialized boundaries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391943-447E-438C-8A96-FAE5AC9A0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2CBF23-9D2C-41AB-88C3-AD67E5603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Map output можно пересчитать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797205-B009-4020-8BB0-03B89317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E4F8E2-2EA0-4187-8722-74749494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Job output обычно durable в HDFS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765F53-4DB9-430D-BF5D-9AB097088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41B6F6-9FB3-494C-B405-E22D58DA4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Простая локализация сбоя, больше I/O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51518A-90C4-423F-9379-9F300D4FD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SPARK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6B5567-10DA-4A9D-912A-6D3FC1DA5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Recovery через lineage + recompute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D657E1-C4A7-4272-A1EA-0E6C74CB6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EF07A1-112A-478A-9C6C-63FF6C33E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Потерянная partition строится заново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B4EA96-8522-4D20-829D-4477013D4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F2FECD-657C-4CC6-B5F6-A2DA29A2E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Shuffle files и executor cache не равны durable storage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6EC0F3-D7DE-4A25-9BB1-F294799B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0EA5FE-EF0E-4EE5-ADEA-F92B938C2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Длинный lineage иногда требует checkpoint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1DA88C-C713-4447-8808-8AD71F53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03123241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D690226-20B3-4380-AA22-A4BC730CA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МАТРИЦА · EXECUTION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92A938-630F-4F36-B8A5-15A8EC93A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125024-F068-4869-8BAD-6B94E8803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4ED4CA-DD13-4CB7-BE82-734E05D8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45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0300C9-B922-45C7-9F8E-30174C739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Spark — не просто “MapReduce в RAM”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696A8F-60BC-4A8F-8E4E-C905B81C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00250"/>
            <a:ext cx="217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F6FED"/>
                </a:solidFill>
              </a:defRPr>
            </a:pPr>
            <a:r>
              <a:rPr sz="1425" b="1">
                <a:solidFill>
                  <a:srgbClr val="2F6FED"/>
                </a:solidFill>
              </a:rPr>
              <a:t>MapReduce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E35C8B-86AB-47E6-BFA1-F2C7E178C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000250"/>
            <a:ext cx="217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F6FED"/>
                </a:solidFill>
              </a:defRPr>
            </a:pPr>
            <a:r>
              <a:rPr sz="1425" b="1">
                <a:solidFill>
                  <a:srgbClr val="2F6FED"/>
                </a:solidFill>
              </a:rPr>
              <a:t>Spark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772DCD-243C-4672-B0AC-1C41A3C69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00250"/>
            <a:ext cx="3314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E25A1C"/>
                </a:solidFill>
              </a:defRPr>
            </a:pPr>
            <a:r>
              <a:rPr sz="1425" b="1">
                <a:solidFill>
                  <a:srgbClr val="E25A1C"/>
                </a:solidFill>
              </a:rPr>
              <a:t>Архитектурное следствие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250C15-814A-41A4-8119-113C7D97A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10668000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56E6F8-C0B4-44C8-AC15-37996A92C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02123"/>
                </a:solidFill>
              </a:defRPr>
            </a:pPr>
            <a:r>
              <a:rPr sz="1275" b="1">
                <a:solidFill>
                  <a:srgbClr val="202123"/>
                </a:solidFill>
              </a:rPr>
              <a:t>Граф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797659-9843-41B5-A767-5B1A4D1CB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56222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fixed map → shuffle → reduce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F7EC0A-680D-4D9B-9D17-14C947F9A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56222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arbitrary DAG → stages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EB0D1B-78E1-421C-A68E-F071C8D4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562225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123"/>
                </a:solidFill>
              </a:defRPr>
            </a:pPr>
            <a:r>
              <a:rPr sz="1125" b="0">
                <a:solidFill>
                  <a:srgbClr val="202123"/>
                </a:solidFill>
              </a:rPr>
              <a:t>меньше jobs-обвязки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00D3D8-C400-436A-8860-B18D84FF1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B6ED07-8B00-46BD-A4A6-AA63CFABC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02123"/>
                </a:solidFill>
              </a:defRPr>
            </a:pPr>
            <a:r>
              <a:rPr sz="1275" b="1">
                <a:solidFill>
                  <a:srgbClr val="202123"/>
                </a:solidFill>
              </a:rPr>
              <a:t>Materialization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DD3D8B-94D2-4283-AB0F-CDFF48002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1467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между jobs обычно durable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6E6246-F96A-4410-A07C-615DE6408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11467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shuffle/persist по необходимости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510AB7-E42F-4A90-9AAC-261F961D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14675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123"/>
                </a:solidFill>
              </a:defRPr>
            </a:pPr>
            <a:r>
              <a:rPr sz="1125" b="0">
                <a:solidFill>
                  <a:srgbClr val="202123"/>
                </a:solidFill>
              </a:rPr>
              <a:t>разный I/O cost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0663E-BBFE-4F74-9207-EDA422A88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EEC985-E9BC-48ED-975D-CA4058470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10668000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40EB70-00F2-40EB-80ED-C374BE731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02123"/>
                </a:solidFill>
              </a:defRPr>
            </a:pPr>
            <a:r>
              <a:rPr sz="1275" b="1">
                <a:solidFill>
                  <a:srgbClr val="202123"/>
                </a:solidFill>
              </a:rPr>
              <a:t>Reuse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B02205-7994-4F9D-9BE0-C01EE942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6712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через external storage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C51629-800B-4940-97C4-265E665B2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6712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cache/persist + lineage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56AF7E-56BA-4457-93B0-DF71C93AB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667125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123"/>
                </a:solidFill>
              </a:defRPr>
            </a:pPr>
            <a:r>
              <a:rPr sz="1125" b="0">
                <a:solidFill>
                  <a:srgbClr val="202123"/>
                </a:solidFill>
              </a:rPr>
              <a:t>итерации дешевле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F8CFD8-41EF-44A9-8B06-6BB68AD5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ABC18A-948C-475C-B8A8-2F26BA819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02123"/>
                </a:solidFill>
              </a:defRPr>
            </a:pPr>
            <a:r>
              <a:rPr sz="1275" b="1">
                <a:solidFill>
                  <a:srgbClr val="202123"/>
                </a:solidFill>
              </a:rPr>
              <a:t>Оптимизация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9764B84-2897-4138-B96A-6F0E78155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21957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в основном внутри job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85E56D-D240-465D-84BB-5F833DF2B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21957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Catalyst + AQE для structured API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A2A2A0-A7B0-4B6C-B063-CA1C43882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219575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123"/>
                </a:solidFill>
              </a:defRPr>
            </a:pPr>
            <a:r>
              <a:rPr sz="1125" b="0">
                <a:solidFill>
                  <a:srgbClr val="202123"/>
                </a:solidFill>
              </a:rPr>
              <a:t>план может меняться runtime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B3AA54-045D-4212-898E-341B46792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3B53767-2761-42FD-BCE8-294CE0588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10668000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C89248D-4091-4A88-8610-63A92C491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02123"/>
                </a:solidFill>
              </a:defRPr>
            </a:pPr>
            <a:r>
              <a:rPr sz="1275" b="1">
                <a:solidFill>
                  <a:srgbClr val="202123"/>
                </a:solidFill>
              </a:rPr>
              <a:t>Fault tolerance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8F5521F-CE91-456A-8246-B924D6AB7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7202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retry + durable output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30E2F83-9EC4-4134-B7C1-4067D44DA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7202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retry + lineage recompute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75808D2-4F6A-4222-A770-EBE8F47C9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72025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123"/>
                </a:solidFill>
              </a:defRPr>
            </a:pPr>
            <a:r>
              <a:rPr sz="1125" b="0">
                <a:solidFill>
                  <a:srgbClr val="202123"/>
                </a:solidFill>
              </a:rPr>
              <a:t>разный recovery path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6A34F23-8C6A-4D80-8525-55312C60B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799A6D1-5B07-4F34-891F-5799157F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530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02123"/>
                </a:solidFill>
              </a:defRPr>
            </a:pPr>
            <a:r>
              <a:rPr sz="1275" b="1">
                <a:solidFill>
                  <a:srgbClr val="202123"/>
                </a:solidFill>
              </a:rPr>
              <a:t>API surface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16BD238-8642-47BE-BE82-0E61E725E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32447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key/value map и reduce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152E009-0B1C-4473-942C-F80BAE0D8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32447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DataFrame/SQL, RDD, streaming, ML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1A92C0F-7B62-43B9-B6E0-8D4FA8DE4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324475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123"/>
                </a:solidFill>
              </a:defRPr>
            </a:pPr>
            <a:r>
              <a:rPr sz="1125" b="0">
                <a:solidFill>
                  <a:srgbClr val="202123"/>
                </a:solidFill>
              </a:rPr>
              <a:t>выше productivity, больше engine magic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80A7DFD-CC8F-441E-BD20-15763747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38922981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8A10BF7-97A5-4B8D-B4BD-231E648F2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МАТРИЦА · WORKLOAD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C4305D-234E-473A-813A-C8DE009A1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53EFE8-7A4C-4118-8BD6-341198766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CC2D88-18F7-498F-A3F3-C5E5B748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46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22C0C7-C63F-445D-B804-AC26AD31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Разница важна не всегда: смотрим на число проходов, reuse и latency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458F18-9499-4A06-A6BE-CEC3CBE89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00250"/>
            <a:ext cx="217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F6FED"/>
                </a:solidFill>
              </a:defRPr>
            </a:pPr>
            <a:r>
              <a:rPr sz="1425" b="1">
                <a:solidFill>
                  <a:srgbClr val="2F6FED"/>
                </a:solidFill>
              </a:rPr>
              <a:t>MapReduce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8060A3-E719-43D8-98A2-1613F55B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000250"/>
            <a:ext cx="217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F6FED"/>
                </a:solidFill>
              </a:defRPr>
            </a:pPr>
            <a:r>
              <a:rPr sz="1425" b="1">
                <a:solidFill>
                  <a:srgbClr val="2F6FED"/>
                </a:solidFill>
              </a:rPr>
              <a:t>Spark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EE5D19-E82A-4155-8EB9-09743C290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00250"/>
            <a:ext cx="3314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E25A1C"/>
                </a:solidFill>
              </a:defRPr>
            </a:pPr>
            <a:r>
              <a:rPr sz="1425" b="1">
                <a:solidFill>
                  <a:srgbClr val="E25A1C"/>
                </a:solidFill>
              </a:rPr>
              <a:t>Вердикт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CE9936-7BEB-4FE0-9BBD-30D95C79A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10668000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4627F6-1298-4FBA-BE41-8404AD6EF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02123"/>
                </a:solidFill>
              </a:defRPr>
            </a:pPr>
            <a:r>
              <a:rPr sz="1275" b="1">
                <a:solidFill>
                  <a:srgbClr val="202123"/>
                </a:solidFill>
              </a:rPr>
              <a:t>One-pass scan/sort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4CB7FA-00A3-4592-834B-2B63B154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56222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сильно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DC04D1-D55A-48DA-AE26-392400C16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56222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сильно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F0A478-07FB-4637-8839-E2D9C8C9B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562225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123"/>
                </a:solidFill>
              </a:defRPr>
            </a:pPr>
            <a:r>
              <a:rPr sz="1125" b="0">
                <a:solidFill>
                  <a:srgbClr val="202123"/>
                </a:solidFill>
              </a:rPr>
              <a:t>часто паритет, I/O доминирует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168663-A7CD-4E96-8101-D3AE08A4A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C81F8A-79D6-4C13-B7EC-04C1ED0DB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02123"/>
                </a:solidFill>
              </a:defRPr>
            </a:pPr>
            <a:r>
              <a:rPr sz="1275" b="1">
                <a:solidFill>
                  <a:srgbClr val="202123"/>
                </a:solidFill>
              </a:rPr>
              <a:t>Multi-stage ETL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EE2F8A-241F-4742-BC01-291C88347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1467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работает, много boundaries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26126E-37B9-4C82-956A-7035A003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11467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DAG + SQL optimizer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5B8AF0-DDB1-4809-A49F-2C1F9C59B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14675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123"/>
                </a:solidFill>
              </a:defRPr>
            </a:pPr>
            <a:r>
              <a:rPr sz="1125" b="0">
                <a:solidFill>
                  <a:srgbClr val="202123"/>
                </a:solidFill>
              </a:rPr>
              <a:t>обычно Spark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7455D6-88A7-4C97-A99C-800DB22E3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BD14CA-1BBD-4B16-BAAE-1A750C95F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10668000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30E809-3997-4B63-B385-AD75D29A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02123"/>
                </a:solidFill>
              </a:defRPr>
            </a:pPr>
            <a:r>
              <a:rPr sz="1275" b="1">
                <a:solidFill>
                  <a:srgbClr val="202123"/>
                </a:solidFill>
              </a:rPr>
              <a:t>Iterative ML / graph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AE7BEF-A661-4F31-ACC7-FD2201966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6712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дорогой reread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EF436C-F5B1-4E9A-B87A-FEF6780E0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6712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persist working set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830DDC-DB0F-44F3-A6D7-79B51594A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667125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123"/>
                </a:solidFill>
              </a:defRPr>
            </a:pPr>
            <a:r>
              <a:rPr sz="1125" b="0">
                <a:solidFill>
                  <a:srgbClr val="202123"/>
                </a:solidFill>
              </a:rPr>
              <a:t>сильное преимущество Spark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706BEF-71DF-464A-ADA3-023A7AA96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DFA5B3-C13F-46E1-960B-0041D9CE8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02123"/>
                </a:solidFill>
              </a:defRPr>
            </a:pPr>
            <a:r>
              <a:rPr sz="1275" b="1">
                <a:solidFill>
                  <a:srgbClr val="202123"/>
                </a:solidFill>
              </a:rPr>
              <a:t>Interactive SQL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6B0D26-2CE0-4403-ABB1-916CA7992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21957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высокий startup + jobs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CAA19E-3AD4-47B0-BB81-828CF06DD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21957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reuse + optimizer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2D57227-7ED1-4734-A9C8-319B5F8BC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219575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123"/>
                </a:solidFill>
              </a:defRPr>
            </a:pPr>
            <a:r>
              <a:rPr sz="1125" b="0">
                <a:solidFill>
                  <a:srgbClr val="202123"/>
                </a:solidFill>
              </a:rPr>
              <a:t>Spark лучше, но DWH может быть лучше обоих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6EBD93-ED8B-4745-B6F4-0A5DB9F78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D920E2-C508-4381-9A8B-EB0F5F1D2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10668000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C42005E-24AC-4D05-8A90-64DBBD724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02123"/>
                </a:solidFill>
              </a:defRPr>
            </a:pPr>
            <a:r>
              <a:rPr sz="1275" b="1">
                <a:solidFill>
                  <a:srgbClr val="202123"/>
                </a:solidFill>
              </a:rPr>
              <a:t>Continuous streaming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84D81D7-BB25-490D-A94C-3F2081388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7202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не нативный fit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6E514CC-63F7-4C5B-A2B3-904470FA0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7202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Structured Streaming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821344-176B-4F41-99BA-41ADC6C50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72025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123"/>
                </a:solidFill>
              </a:defRPr>
            </a:pPr>
            <a:r>
              <a:rPr sz="1125" b="0">
                <a:solidFill>
                  <a:srgbClr val="202123"/>
                </a:solidFill>
              </a:rPr>
              <a:t>Spark, Flink или streaming DB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BBDEBF6-CCF5-4AD5-A04F-58B2BC395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C0D02FA-FC7A-4BF4-821F-52666C34A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530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02123"/>
                </a:solidFill>
              </a:defRPr>
            </a:pPr>
            <a:r>
              <a:rPr sz="1275" b="1">
                <a:solidFill>
                  <a:srgbClr val="202123"/>
                </a:solidFill>
              </a:rPr>
              <a:t>Tiny data / OLTP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009ADCA-17A5-42C1-A7F1-04A4E439E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32447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плохо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38824BE-197B-439B-952D-5076DD1A8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32447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плохо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2590C82-6371-4329-B408-CF30777C8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324475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123"/>
                </a:solidFill>
              </a:defRPr>
            </a:pPr>
            <a:r>
              <a:rPr sz="1125" b="0">
                <a:solidFill>
                  <a:srgbClr val="202123"/>
                </a:solidFill>
              </a:rPr>
              <a:t>не использовать distributed batch engine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4FDF2CC-F156-4BC2-8AF1-708A2807D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350277437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29E68B-F9EA-4895-BC48-B57338EA4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КОГДА РАЗНИЦА ЕСТЬ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43FC7A-7C8D-4E3D-8F9A-63899BBF8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7A9FDA-8B39-4666-A822-D10489F0C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E02272-D770-406B-880A-CDDAC9950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47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26F6E5-142F-4860-960A-6EB3A6942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Выбирайте по доминирующей стоимости, а не по названию технологии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72DFE1-D50E-4665-A418-AD36BA7B2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РАЗНИЦА ВЕЛИКА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1EE3D9-0ED3-4301-AC6D-40502AAA1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Reuse + много stages + tight SLA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C3CBE6-B713-4D75-91B4-63425C68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165B10-FC27-47E3-A8E9-088AE790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PageRank, gradient iterations, feature engineering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AD5197-64A9-47D5-A097-58E181B40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F52612-F294-4DA5-BFBA-3D59E91C4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Ad hoc исследования над одним working set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FE1686-D62C-4835-A9D0-4EEB86BA9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266231-ED86-4E18-B2F1-86BEF8721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SQL-пайплайн с несколькими joins и aggregations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516A00-D9FF-416C-82E1-4F56547AE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РАЗНИЦА МАЛА ИЛИ ОБА ПЛОХИ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63AD0E-25A2-4975-AB7B-C68019863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One-pass I/O или другой workload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A8455C-3B44-4CA5-9304-F10E5D6BA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375B70-2B46-4EAD-A7D8-4D67D0882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Один полный scan и write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348A81-F605-4B45-B90C-5574180BC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CE39B2-C1B0-4519-8ABB-4C10DF7ED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Данные малы для одного узла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158217-CE09-4433-97AA-D76483FC1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22A955-B637-47D5-BA2C-3074E33A5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OLTP, point lookup, business orchestration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9A62C0-8467-49CB-8426-FEBC45281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9008538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7D5D6F-EB0A-4104-8293-17EBFC7F1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PRINCIPAL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C5217F-AE4C-4724-8785-B56C9604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B4FA84-C864-4663-9B28-48A0BA4CC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E32E2F-FE8A-4BE0-B600-E6439552D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48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AAB0CD-4FD6-4614-96CF-CD11A629D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Principal не спрашивает “что быстрее?” без cost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7C5B8A-18A4-472D-A2D7-87AB96F4C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C08AC6-54F6-4D95-9C83-DDE6AA8CD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7ABB37-6D94-476D-BCDF-BAACF1365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002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Workload graph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F3585B-B0DC-4790-8223-882EAD6DE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193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сколько passes, shuffles, joins, iterations и независимых outputs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B4371D-39A4-4F5D-B0FB-A086A06FE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53365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0D84A1-5FA7-4B0F-962D-546A748A9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F9903F-2EBC-4BA6-A6A2-4F5A13949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7DD797-3732-4D15-8F86-2636F210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813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Data physics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E13350-EA46-423B-AD23-91C743ECF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003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bytes scanned, cardinality, skew, compression, partitioning и locality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5B5CAA-ED1F-4C51-8354-F3BBA7F76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1470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B2DAA2-0600-4058-9B58-0515FE437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7DC733-9181-476B-9930-92BD17F8D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7F76FD-A61D-44BA-A1C3-82FD5BE4E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62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Recovery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0E38AE-BAAE-4C73-849D-738A830DD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5814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что можно recompute, что обязано быть durable, каков blast radius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D03559-35EB-4FB0-9A68-70683C523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9575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668AF6-6CCB-4ACC-BF47-A08E8E33B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3CB7E3-7340-4BA5-90D7-97F19C8CC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75ED34-15DE-4235-9C8E-4B577A6B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434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Platform fit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F30C35-321C-4E5A-940B-5F5CDE6A5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3624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security, catalog, lineage, autoscaling, skills и эксплуатационная зрелость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8C78DA-0982-49F3-9EE1-B54AB40B5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549E9C-EF6F-45E0-AA31-B488BBFC5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5D32AC-6462-41A0-9072-B260EAAD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42D101-46A9-40DD-B1F7-B88B8DAD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244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Evidence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E46682B-49AC-4A8F-BF17-947429815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435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сравнить end-to-end cost, p95 latency и operator toil на репрезентативных данных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90F41E2-0DE8-4E3B-9C52-9F70D05FA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65785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08074125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A625AA-C69C-4BB2-836A-E7BA09F40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SCHEDULER · INTERNALS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5607FC-8460-48E3-A708-979FDDD50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2E8AB1-7738-46E8-9E8B-FFCFB7E89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60AE5D-A2F6-4D2A-B122-F73449CB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49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EB9458-3A04-42EE-B0C8-C3A2679DD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От action до executor slot: границы ответственности scheduler stack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04642E-072A-48B4-B2F0-B77C778C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DAGScheduler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4A22F2-334C-4A0A-950D-AFE881F47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09550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Job → stages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66B16C-0B07-47E2-AAE3-0DDDA1A9F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ShuffleDependency задаёт 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D1D314-769C-48EF-96FC-F895A3F81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2D4094-4C90-460C-BA88-B08992A95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Stage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9B968C-C8AD-4770-9113-DD44B4468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99085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TaskSet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6D6E16-A3DC-41C1-9EB0-4E330FD63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9085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Одна task на output partition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A7072C-719D-4D1D-90C0-740A9D4A4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64F99F-5C06-427D-AD20-8C0D3ABF7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TaskScheduler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ECC513-9B3C-44DE-8CC1-57035A4CE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88620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locality + slots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86EEB2-D06E-44BD-A9FC-F31D40F0B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8620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FIFO/FAIR и resource offers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D03AEE-FC6E-46EC-9C76-321A359D9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71B37B-48D3-4553-822F-DE4D90641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8155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SchedulerBackend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B7156C-AE96-4BC7-A47A-47186B787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78155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launch / status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9D8674-118C-4CBF-B91F-6CE349D2A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78155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Связь driver с executors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7F46C3-5C05-491B-B6E5-C516C3D59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459BB5-1825-4708-9D90-C60E9ECFC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Recovery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9745FB-FF44-42E6-91A8-C068752D8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567690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retry / speculation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00ED30-E05C-4778-BB4F-3C1AA047B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67690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Повтор task или lineage partition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D844E7-8F8A-4989-8269-77A5B487A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22709865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04BE61-F1F5-42B3-84E9-9D3D8D5BE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CATALYST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E4C85F-27FA-4BB7-AF6A-C325231D3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F1D882-3ED9-40EC-A0E1-BEF89907A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5CB5AF-7652-409A-A849-2450C5827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50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9CAC5B-33A7-427F-A3A9-008701E5B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Один DataFrame проходит четыре слоя плана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D1A900-AE15-4267-B55C-532698E5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Parsed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E6DCC1-1EF5-45D4-BAB4-C6875B029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09550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что написал пользователь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AF956A-35C5-495E-BFAD-33BD8FB93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ещё без разрешённых колонок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508416-E624-4688-821A-B49021D85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93D9BC-519B-4D62-BC97-21544C8F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Analyzed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F1072D-3BD9-4239-BBDD-CA0987ACF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99085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колонки и типы разрешены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13066B-E17C-4AE9-98E5-3E071BBF4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9085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контракт проверен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C939A5-25D6-4FF8-A6F3-1D17CB92B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18E7BF-6CC4-4628-8C15-F7E6A7BB6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Optimized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1F9068-81C1-4DA4-B7F8-80AE26A8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88620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predicate pushdown, pruning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BEB722-63E5-450D-B00B-A0EAA8EF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8620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логика переписана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92DABE-FED7-4FCA-B8E3-94CDDD2DE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CF96E7-D9DC-402B-BBDD-E4E71A6EE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8155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Physical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4C9850-6FD6-4170-8AEA-A0390685D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781550"/>
            <a:ext cx="3629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join и exchange выбраны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B70127-4F0D-4EBF-9F00-04CC4D2C3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78155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можно выполнять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B5EA7D-D4DB-4A70-B493-E67BAB526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66051291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A38FB6-6181-4F6B-95FA-D2BF042E9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DAG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E5A9D0-7BB2-454B-AD22-0A762966E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9A6A40-B0A9-41A9-80D9-A19BCC4DA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0C961C-8CEE-4062-8BD6-D9E6507F4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51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BB0AA3-288F-457B-89CD-16EB9C2C3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Narrow dependency конвейеризуется; wide требует обмена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09A8C2-2BF1-4EEB-9ABD-71CAEFDC0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NARROW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F3AF99-C72B-4C1A-A949-C8DABF663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filter → select → withColumn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7ABB1-0766-4746-83F1-FA958875D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63A885-7F15-4324-83CB-95E19D63F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Одна input partition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0E7C87-F465-4744-A899-2267E940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3EDDD9-2341-4DE8-B96B-E85EE2A7C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Одна output partition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C0C8CB-C85F-4B6C-B254-788B0425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5234F9-16E2-49DC-872E-642BF3D1B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Обычно одна stage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E81114-A09A-4BE4-9C73-5E7EFFDDE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WIDE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749C56-ED48-4F18-940A-9B4A30FB2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groupBy → join → orderBy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58BFE0-AE6E-4792-A3D7-21D9E471F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21A762-BFD1-4622-95CC-9E29FD10D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Много input partitions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29E87F-B0B9-41EA-AEE8-1CD026C0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98E5B4-546F-45EF-8089-760C3580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Перераспределение по ключу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063B23-FC79-46B4-9EE4-CA7AF13B8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D45785-FACE-4AEC-9E5A-CBFFA02A3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Новая stage после shuffle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6FB8D6-A54C-4C9D-8C30-03BCC897A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383564109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00971C-0AA9-4682-82FE-3BDA616A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PYSPARK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C42162-D011-4094-A7B3-316A2A35B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6F3229-7834-4433-8847-29D9D253E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98C522-8EC0-4F40-8245-1B532BB57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52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750143-36EE-497C-9FAF-673AC3801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PySpark управляет JVM engine — граница становится дорогой построчно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A4F842-61F0-4FDB-8C97-85F539CFF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A37F"/>
                </a:solidFill>
              </a:defRPr>
            </a:pPr>
            <a:r>
              <a:rPr sz="1275" b="1">
                <a:solidFill>
                  <a:srgbClr val="10A37F"/>
                </a:solidFill>
              </a:rPr>
              <a:t>ENGINE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14B52A-9186-4329-B13D-6AF1F93E1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764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42318"/>
                </a:solidFill>
              </a:defRPr>
            </a:pPr>
            <a:r>
              <a:rPr sz="1275" b="1">
                <a:solidFill>
                  <a:srgbClr val="B42318"/>
                </a:solidFill>
              </a:rPr>
              <a:t>НЕ ENGINE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599DFA-8523-47D6-B26A-3A5F40D57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47875"/>
            <a:ext cx="190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AB15B9-2DCF-475D-9368-CBF871D77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20B22D-EA01-4708-B817-36AEA969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8605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DataFrame expressions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245F4A-36DD-421A-A783-50637022F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44E07C-76BC-445B-914F-0471CF6E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Arrow batch exchange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B9009C-9E33-4D12-823C-56C759DB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05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AE514B-17EB-4224-93AA-9FD87AE7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1955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Pandas UDF batch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1BFDCD-3071-4731-B912-6CE20DC04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72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40DBEC-D31B-4422-AC63-603DDF5FD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8630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Catalyst-visible logic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E524BC-C743-4CD4-BEE2-CE424FF7B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71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CB8323-81DC-4E87-94A5-B741EDFDE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8605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Обычный Python UDF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FA4BA4-147C-43DF-A44B-A6FF290A9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38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81DC19-CD9E-419A-A01C-7CE064B7C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5280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Row-by-row serialization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0168D3-D5A6-4B62-8827-52BA7CD51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05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31E03D-D54F-465A-914C-F1971C269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1955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Непрозрачная бизнес-логика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4664F0-5C0E-4F86-B342-3FC60118D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72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DCCBFE-08D1-49A1-96EF-5E95994DC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8630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Сложнее оптимизировать</a:t>
            </a:r>
          </a:p>
        </p:txBody>
      </p:sp>
    </p:spTree>
    <p:extLst>
      <p:ext uri="{BB962C8B-B14F-4D97-AF65-F5344CB8AC3E}">
        <p14:creationId xmlns:p14="http://schemas.microsoft.com/office/powerpoint/2010/main" val="624847048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E2EE0E-50CB-43D5-9848-831A3875F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SHUFFLE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E25DA4-5CC3-48CA-9DC4-37DAAC638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4E19FF-F053-4EEA-8009-49BB3D87C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CD0022-6D8E-4E8D-8A34-D63BDDA98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53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529910-F77A-449E-A127-D5FD45EC9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Shuffle — это сеть, файлы и синхронизация между stages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BD6740-CB4A-4A04-80DF-E733040E6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BAA629-DE34-47A1-930C-01F8A8CBC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02123"/>
                </a:solidFill>
              </a:defRPr>
            </a:pPr>
            <a:r>
              <a:rPr sz="1425" b="1">
                <a:solidFill>
                  <a:srgbClr val="202123"/>
                </a:solidFill>
              </a:rPr>
              <a:t>map output 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C54E8E-BEA7-4594-BAAE-4BC92F67F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20D9B2-2B52-402D-8712-2153374F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337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02123"/>
                </a:solidFill>
              </a:defRPr>
            </a:pPr>
            <a:r>
              <a:rPr sz="1425" b="1">
                <a:solidFill>
                  <a:srgbClr val="202123"/>
                </a:solidFill>
              </a:rPr>
              <a:t>map output 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A9DB10-58C5-442E-8739-C2A8C81E5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03BB6F-1FA8-4E2D-86B3-D05C8B43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02123"/>
                </a:solidFill>
              </a:defRPr>
            </a:pPr>
            <a:r>
              <a:rPr sz="1425" b="1">
                <a:solidFill>
                  <a:srgbClr val="202123"/>
                </a:solidFill>
              </a:rPr>
              <a:t>map output 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B33B46-C2DA-4E46-9C0E-BBA6E9DBA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81A164-558D-4EE4-A7FA-9F327B0F1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053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02123"/>
                </a:solidFill>
              </a:defRPr>
            </a:pPr>
            <a:r>
              <a:rPr sz="1425" b="1">
                <a:solidFill>
                  <a:srgbClr val="202123"/>
                </a:solidFill>
              </a:rPr>
              <a:t>map output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21BD6B-83ED-49B8-8678-4A46BBB52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813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E25A1C"/>
                </a:solidFill>
              </a:defRPr>
            </a:pPr>
            <a:r>
              <a:rPr sz="2850" b="1">
                <a:solidFill>
                  <a:srgbClr val="E25A1C"/>
                </a:solidFill>
              </a:rPr>
              <a:t>SHUFFLE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CEE42F-5AC3-4BB5-BD6C-61F789A45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619500"/>
            <a:ext cx="4286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serialize  ·  write  ·  fetch  ·  merge  ·  spill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A5B9A0-EC96-4372-9C75-87BDAD85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1526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3BA58C-168B-45AF-87AD-55775A266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2479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reduce 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A106DC-A6AA-4563-8484-8A3070A7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0670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2CF538-9C4D-4318-835D-1B44D05D9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1623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reduce 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7C7341-7F5A-456C-A451-9E55849FF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814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64AC3C-3657-4CB8-83E1-466FF614B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767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reduce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10B4B6-FC42-459F-8052-F2D10ADF5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958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438130-CE20-4421-B32C-DF0DC05BE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9911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reduce 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2855A4-9A38-4350-9F18-4A3AD9BE0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67350"/>
            <a:ext cx="933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B42318"/>
                </a:solidFill>
              </a:defRPr>
            </a:pPr>
            <a:r>
              <a:rPr sz="1650" b="1">
                <a:solidFill>
                  <a:srgbClr val="B42318"/>
                </a:solidFill>
              </a:rPr>
              <a:t>Оптимизация shuffle начинается с объёма данных и распределения ключей.</a:t>
            </a:r>
          </a:p>
        </p:txBody>
      </p:sp>
    </p:spTree>
    <p:extLst>
      <p:ext uri="{BB962C8B-B14F-4D97-AF65-F5344CB8AC3E}">
        <p14:creationId xmlns:p14="http://schemas.microsoft.com/office/powerpoint/2010/main" val="612556078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6F8713-ED12-4C79-9616-069127436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CACHE · INTERNALS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09B730-BA16-4E8A-9886-2E1757894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CCA2B8-7C89-4B09-9FF4-1DBCAFA5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48FB6A-CB9D-470F-85DE-2DA62A8F6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54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BA4DAB-C2BD-40F9-81CC-F8AFCD5C6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Cache хранит partitions как blocks на executors — не обрывая lineage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338B86-1C15-44E5-AB31-983B888E8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248025"/>
            <a:ext cx="704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982C3A-1BF6-431A-B4BD-1FAE6B4BA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8BFDA3-B68C-45F2-AB6D-1C647AFEE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CDAC86-20CF-401B-986A-3098F28A6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90B012-C8DE-4044-BCBA-B84A53DC0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77B4EE-675E-463A-B5AF-1751A4AE8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persist()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44E79C-B971-489E-B66D-E466EE36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только помечает</a:t>
            </a:r>
          </a:p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DataFrame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65352A-6145-4B57-871B-8E4CE3AF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C45427-7813-479B-99E9-6F8CB5EBA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First action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60AE9E-B223-4FE5-8C90-E81E53B1E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вычисляет каждую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693230-4CBA-46B0-AA2F-56445F249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EA902F-8601-45EE-8C8A-E83985F92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BlockManager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882283-7827-4983-9C05-8DD8A727A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memory / disk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на executors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98456F-B8E8-443C-A6C7-7DF8A66B3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4D2B7D-BEE8-440F-BB46-FD37DC939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Next action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04C1EF-DA29-44DA-B4DC-1BC8BCE2B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cache scan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или recompute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2AE2D9-D182-4C14-994E-E0E5719FF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762500"/>
            <a:ext cx="1019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Следующий plan показывает InMemoryTableScan. Default: MEMORY_AND_DISK_DESER; потерянный block recompute по lineage; unpersist() освобождает storage.</a:t>
            </a:r>
          </a:p>
        </p:txBody>
      </p:sp>
    </p:spTree>
    <p:extLst>
      <p:ext uri="{BB962C8B-B14F-4D97-AF65-F5344CB8AC3E}">
        <p14:creationId xmlns:p14="http://schemas.microsoft.com/office/powerpoint/2010/main" val="879537259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B19BBB-DEA5-44F0-A675-C5F9DED56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JOIN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B0023-6382-42BA-98E6-D873627FE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A0C37D-DA0C-435E-BE88-94205C844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C38664-FD5A-4CDF-9BCE-22B319245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55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B9F6C1-EA2C-4544-B32D-2E0BB435C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SortMergeJoin масштабируется, но сортирует обе стороны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FAFC91-C355-451A-9052-A7F858902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7239000" cy="3571875"/>
          </a:xfrm>
          <a:prstGeom xmlns:a="http://schemas.openxmlformats.org/drawingml/2006/main" prst="roundRect">
            <a:avLst>
              <a:gd name="adj" fmla="val 2133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2EF5AB-1B9A-4D69-9022-3B9E55342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67437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+- SortMergeJoin [customer_id], [customer_id], Inner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:- Sort [customer_id ASC]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:  +- Exchange hashpartitioning(customer_id, 200)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+- Sort [customer_id ASC]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  +- Exchange hashpartitioning(customer_id, 200)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C244D0-7F13-4D78-92B4-57A9417FB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669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2 × Exchange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2CCF47-8A37-483F-BBEF-6190DAC4D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099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2 × Sort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24CBB9-A4AA-4DCF-A85D-D38DCA656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528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200 partitions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EE4A3B-3E09-41BF-A221-C081ECD20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648200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Обе стороны перераспределяются по ключу: это устойчиво для больших таблиц, но дорого.</a:t>
            </a:r>
          </a:p>
        </p:txBody>
      </p:sp>
    </p:spTree>
    <p:extLst>
      <p:ext uri="{BB962C8B-B14F-4D97-AF65-F5344CB8AC3E}">
        <p14:creationId xmlns:p14="http://schemas.microsoft.com/office/powerpoint/2010/main" val="610930536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500E89-48CB-4071-A860-A06C7AECF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JOIN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93C668-7468-485B-838F-A39750D61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CDBBBD-148E-41C7-B39F-E9B8A08E1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BE468D-5610-4FD9-9171-EA07D7661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56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D8EAD5-E80C-49C1-9D37-26DAAB914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BroadcastHashJoin убирает shuffle большой стороны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D08157-CB00-453E-A43A-6AA55C39E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7239000" cy="3571875"/>
          </a:xfrm>
          <a:prstGeom xmlns:a="http://schemas.openxmlformats.org/drawingml/2006/main" prst="roundRect">
            <a:avLst>
              <a:gd name="adj" fmla="val 2133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D48AF4-B69B-4267-BF80-0FD1BDA70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67437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+- BroadcastHashJoin [country], [country], LeftOuter, BuildRight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:- FileScan parquet [event_id, country, amount]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+- BroadcastExchange HashedRelationBroadcastMode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  +- FileScan parquet [country, country_name]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2081FB-2947-4747-97D3-6C98F190E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669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BuildRight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66A4F9-68EE-41E8-9094-AAE79A75F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099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BroadcastExchange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3378E4-4343-47C8-9C97-601F75249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528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нет Exchange слева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334648-4A27-419F-901F-1016D7475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648200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Маленький справочник копируется на executors; большая таблица остаётся на месте.</a:t>
            </a:r>
          </a:p>
        </p:txBody>
      </p:sp>
    </p:spTree>
    <p:extLst>
      <p:ext uri="{BB962C8B-B14F-4D97-AF65-F5344CB8AC3E}">
        <p14:creationId xmlns:p14="http://schemas.microsoft.com/office/powerpoint/2010/main" val="2025097168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2E632F-CD06-4D4E-AD0A-AA731D29A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AQE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165F55-3658-4F63-BD90-3372209E4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5F4D8D-BA58-4330-BB7C-74337C741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723586-7E28-4F6A-9E67-F0F4315FD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57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D89FA8-16A9-4E9B-81A9-E2F8F6611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AQE меняет physical plan по фактической статистике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65A91D-3B81-4935-B2DB-86FFEC66B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9EE6A9-276F-4767-931F-D2ABA83C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6DD4E7-0088-47A5-AED5-DE3C7A892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initial plan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06A9CD-F678-4A83-8958-F10CCF0D5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оценки до запуска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9AF39A-102D-4CD1-8F96-EFA3CFC99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EEEFE6-3949-4039-96BA-7FCB24BFB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F5AE77-B419-40A7-A20F-63B4B6F16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runtime stats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150895-D76D-4FEC-B91C-25E05412D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размеры shuffle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23766C-E139-4C8C-82FF-856B2DDC8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8DEF8F-B4EC-4759-BB78-C4CA045AD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F65577-8449-41D4-AD15-B594671A8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plan update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E3A8EB-A55E-4034-8F3C-28DD9BEC9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join + partitions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D457C6-14DF-4D6E-81E5-316C64437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4718B7-9900-472E-948F-442383BE9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E25A1C"/>
                </a:solidFill>
              </a:defRPr>
            </a:pPr>
            <a:r>
              <a:rPr sz="1875" b="1">
                <a:solidFill>
                  <a:srgbClr val="E25A1C"/>
                </a:solidFill>
              </a:rPr>
              <a:t>final plan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C63009-3904-4DEC-A63F-182BCE50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адаптирован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828420-C4AD-4C50-89EB-EFC3D626F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AQE умеет coalesce partitions, менять join strategy и обрабатывать skewed partitions.</a:t>
            </a:r>
          </a:p>
        </p:txBody>
      </p:sp>
    </p:spTree>
    <p:extLst>
      <p:ext uri="{BB962C8B-B14F-4D97-AF65-F5344CB8AC3E}">
        <p14:creationId xmlns:p14="http://schemas.microsoft.com/office/powerpoint/2010/main" val="553254648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842AC3-928A-4F59-9C67-129099E17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АНТИПАТТЕРНЫ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A410B0-9BD1-46FB-90E4-8BFA7273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E86040-4DB3-4272-AAE2-E55B9192C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EF6881-191C-42C7-8721-E16AA5E6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58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B7D397-6316-40A3-821F-280F02CC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Skew и small files ломают масштабирование с разных сторон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C3B794-100C-4D7D-85BD-063584EA4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DATA SKEW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ACA9EE-B782-49D4-A02B-C96DA13F4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Одна task держит stage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C4E5C1-B289-4FEB-B417-9584FE3D3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9DC497-60C6-4369-B7A9-BCD3100BF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Горячий ключ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3F2B83-1F9F-41A7-876A-C790ADF85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6CABA6-89D3-49F3-A0F6-F987BCD93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Длинный хвост task time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771973-BCF5-4325-98B5-B04E2D914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5F6C39-EF56-4EF0-A9DD-6608E3D8D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Spill и OOM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C8A273-FEE9-4C9F-8ACD-1D34B85B2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SMALL FILES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12E31E-A3EF-4C4B-B632-6BF10274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Тысячи tasks делают мало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E9FC00-F7DF-474D-A588-6127F0EDB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8935EE-4E02-498C-832A-41868649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Overhead планирования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7669D0-7CFE-4B5A-9623-B3A9C011B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452707-315E-4DDF-8225-BFB94F43A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Metadata pressure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C9D82D-807D-4463-B656-A3F3EF937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D85535-BD85-4F37-8CA6-EE6F4C605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Медленный listing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7F19AC-7A1B-4CE4-B29A-10700E91B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935067615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311F8D8-D9D8-4F59-B827-30CAF002E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PRODUCTION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5E23DD-18F7-44D9-85C0-8B1ADE166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7FE42A-C07A-4146-94ED-AAC87E554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C41204-57DA-4B07-81F6-159AA336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59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6B9CC8-5115-4A3F-BC03-64C046BF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Production-ready Spark начинается до spark-submit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6E5441-52D9-4D33-B3F7-697403A27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3FE42E-59D6-4F31-AEFA-7852F8E2C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A4BCF0-DE6A-4D6B-8C95-955B45D4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002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Контракт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DB0421-60DD-48EB-9BA2-CBBADBCDA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193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schema · keys · nulls · idempotency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EE0A4E-2013-4C58-9DA7-74D60AEF2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53365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E95274-41E2-4A4C-9ACA-A64CFE8AC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B50FEA-DA9B-4D6B-A469-4C9E8AADF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DEAA4F-A007-4939-B3B3-DFD28D2E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813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План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0ADA20-1BBB-45E3-A339-0EB2BB53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003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explain · join strategy · exchanges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1E9672-E645-43B2-B3C0-187E1D4A6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1470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FCF684-0A0D-4848-82BD-EA6B244BA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554940-1F7E-4066-A0E3-FC0CD90FA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E4BA38-7839-47CA-B9AB-2D6F2CD44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62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Ресурсы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869406-AAA3-4ED2-9B93-64E069914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5814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partitions · memory · cores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1EEFF2-E236-4432-8681-6E07186F1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9575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EEF203-E44D-45B0-8264-DCB4F4FCF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197B88-0A8D-4BE7-8434-12895D1A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AA4E3D-AD3F-4AC6-8B4B-2A676D591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434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Evidence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7ADAAF-914C-4CDC-8782-857B2C4F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3624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UI · metrics · logs · output checks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9271721-C5E2-4BB0-8395-0CA399401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63DAA3-5CA9-4EA1-B485-FA2505245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1D4959-2167-4679-8322-E980F535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300842-1988-483F-8CCE-D058A26B1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244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Эксплуатация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AC1DFA-CF52-4C48-93CA-2A9477A3D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435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retry · alerts · ownership · runbook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94AD0B-9649-4FA4-B5A6-DA246C1D1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65785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848594251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615F22-7EC0-43C2-AA33-4D5A539F0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CF5BE5-92C6-45C9-8871-59D92DE9A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25A1C"/>
                </a:solidFill>
              </a:defRPr>
            </a:pPr>
            <a:r>
              <a:rPr sz="1275" b="1">
                <a:solidFill>
                  <a:srgbClr val="E25A1C"/>
                </a:solidFill>
              </a:rPr>
              <a:t>APPENDIX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B6495A-456F-4E47-997F-A491D5ECC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571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6783A1-07A5-49FF-A340-0009331C2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9525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Шпаргалки для практики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E0CE2E-E3A2-4186-AC85-4DB785783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8096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6D9DC"/>
                </a:solidFill>
              </a:defRPr>
            </a:pPr>
            <a:r>
              <a:rPr sz="1875" b="0">
                <a:solidFill>
                  <a:srgbClr val="D6D9DC"/>
                </a:solidFill>
              </a:rPr>
              <a:t>Термины, варианты запуска и инженерные решения</a:t>
            </a:r>
          </a:p>
        </p:txBody>
      </p:sp>
    </p:spTree>
    <p:extLst>
      <p:ext uri="{BB962C8B-B14F-4D97-AF65-F5344CB8AC3E}">
        <p14:creationId xmlns:p14="http://schemas.microsoft.com/office/powerpoint/2010/main" val="827297384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192DC8-9906-45BF-B2DB-BB1649C71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ШПАРГАЛКА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95160F-9B15-4F04-AADB-77C798A53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89D16A-72A0-44AE-8F7A-B8455F3BE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8005EE-BBFE-44EC-A478-91F6E108D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61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CD8DBE-0703-4715-B016-9F32BFF6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Минимальный словарь Spark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3C1F01-D0CE-479E-9346-F8075FAF4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Application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28F01A-DF42-4343-A970-3AFB6386D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20193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один запуск пользовательской программы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267735-7953-4C10-845E-049FDFC27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02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Driver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10A8B5-EBF9-4387-9DF2-64F00BBB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0193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координатор приложения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39D18F-F7CA-4685-A2D4-E8964E6E4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Executor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FBA114-4AFD-45A6-9447-A05A94331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29337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процесс, который выполняет tasks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5C3820-FF8E-4C0B-8467-FDB012D37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Job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040156-8FC4-4E6D-ACAB-C356CC526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9337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вычисление для одной action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951EC2-3277-4EEE-B287-CD77CFB28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Stage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D7ABD8-579A-4DD7-82B9-6FBDF2E61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38481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часть job между shuffle boundaries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4234C8-D8F3-4DA1-9307-1F0B1CC0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290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Task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A2B6E9-A35B-4E53-91DF-9FAE34E8B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8481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работа stage над одной partition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8AA787-C90E-4EB7-9F41-234152F86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Partition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E3C9D0-B51F-4D72-A0FB-1F88E7307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47625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порция данных для parallel work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965118-49C6-4C27-99FC-7A5FA183C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434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Exchange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27A91D-4F1D-416A-B31D-C8883BF3E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7625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узел physical plan с redistribution</a:t>
            </a:r>
          </a:p>
        </p:txBody>
      </p:sp>
    </p:spTree>
    <p:extLst>
      <p:ext uri="{BB962C8B-B14F-4D97-AF65-F5344CB8AC3E}">
        <p14:creationId xmlns:p14="http://schemas.microsoft.com/office/powerpoint/2010/main" val="16445958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1970C02-329C-4577-A73D-BD75343FE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DEPLOYMENT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421902-3C4B-49C9-8D1B-573C7D23D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2B36E6-D94D-48F4-8461-F33F4E40B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EE38C2-7734-47F3-94E4-367EF5B2F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62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C835F4-B8C7-406B-B705-6E31FE58D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Способ запуска меняет эксплуатацию, но не модель приложения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1D299E-D212-403A-92B6-6EA7E6417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076450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FED"/>
                </a:solidFill>
              </a:defRPr>
            </a:pPr>
            <a:r>
              <a:rPr sz="1650" b="1">
                <a:solidFill>
                  <a:srgbClr val="2F6FED"/>
                </a:solidFill>
              </a:rPr>
              <a:t>Local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DA05A5-FFF6-4CF3-92F9-47B8E82B7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76450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FED"/>
                </a:solidFill>
              </a:defRPr>
            </a:pPr>
            <a:r>
              <a:rPr sz="1650" b="1">
                <a:solidFill>
                  <a:srgbClr val="2F6FED"/>
                </a:solidFill>
              </a:rPr>
              <a:t>Standalone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46D079-6536-4D0E-A247-F35D29B19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076450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FED"/>
                </a:solidFill>
              </a:defRPr>
            </a:pPr>
            <a:r>
              <a:rPr sz="1650" b="1">
                <a:solidFill>
                  <a:srgbClr val="2F6FED"/>
                </a:solidFill>
              </a:rPr>
              <a:t>YARN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66EE54-025A-4601-A223-59935ACC0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076450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Kubernetes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3D96E8-0EB6-4336-80F7-14D903DC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Для чего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7FA0C2-6F68-4D69-AACD-DCDE9E8F7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6860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разработка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9FAF41-85C3-4FC1-AD71-F8845851C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6860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учебный кластер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705DDF-4437-4C7D-9567-AD1001AC3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6860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Hadoop estate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DE831A-29A5-4FDE-8648-A3D15A050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6860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cloud-native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99A3BF-0387-466F-911C-F0055F99E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2EF8A1-A85E-4636-B650-84F9708BB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Ресурсы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796FC8-FC57-4EDC-888C-E03F46A2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3718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один процесс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6F5C26-21D4-4857-B8AB-F5E3A08C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718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Spark master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C2E814-0CFD-4A4C-8A67-A5204166A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718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ResourceManager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A9159F-A5F9-4E60-A76D-9F36073D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3718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K8s scheduler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5F62F9-F8FE-488A-8B65-1C67E90E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16EE01-18C6-468D-8AA7-5FE5C5682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Изоляция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8B9C11-EBF4-4C93-8EE8-15F5D9E7E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0576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минимальная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804368-F4EC-4EE6-9435-84C6DB3DC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0576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процессы/hosts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BE37CD-7B12-4F65-B622-50CFCE8B8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0576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containers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D31DE4-197B-49FF-9C59-BF587255F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576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pods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585AB0-97CD-4DB4-A51C-8DA45EFC9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9ECBDC-E28A-4449-8C85-413D6D90B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Сложность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7C7472-A11C-40C5-AC47-A830DCFA2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7434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низкая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5843A3-A9C9-4AE6-9C3D-FF386C368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7434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средняя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AE6AE08-B723-4029-AD53-D7C88A8E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7434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средняя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6AAE91-CB51-4773-9873-EF033401A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434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выше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B954121-B3B8-49DC-A57A-8C85AD53F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465164627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B24F56-8514-4863-AFB2-D57EC5EE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CACHE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9DF73E-16BD-434F-9491-79F292570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BEF162-153B-4EBB-B72F-76B146590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3EBD98-3956-4029-A602-5FB5C0734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63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482342-6A3C-4F28-A0C6-38BDFF441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Cache оправдан только повторным использованием дорогого результата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9D4ADE-550F-4255-ABFB-A2573499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95500"/>
            <a:ext cx="895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02123"/>
                </a:solidFill>
              </a:defRPr>
            </a:pPr>
            <a:r>
              <a:rPr sz="2250" b="1">
                <a:solidFill>
                  <a:srgbClr val="202123"/>
                </a:solidFill>
              </a:rPr>
              <a:t>Этот DataFrame будет вычислен снова — и его пересчёт дорог?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01E607-2AB0-4F30-A243-4EBFDAE3A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0"/>
            <a:ext cx="4762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FEEE8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5C6965-5F61-45D3-B953-22E9B22FA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5242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НЕТ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861E88-4A22-45A9-B4E4-54CA04875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0005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02123"/>
                </a:solidFill>
              </a:defRPr>
            </a:pPr>
            <a:r>
              <a:rPr sz="2100" b="1">
                <a:solidFill>
                  <a:srgbClr val="202123"/>
                </a:solidFill>
              </a:rPr>
              <a:t>Не cache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2A5873-1198-4A1A-8B81-ACE37CC41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6725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Освободить executor memory для shuffle и execution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9BA19F-3A29-4099-B946-94ABD571B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4762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97FE8B-D73E-437E-8BB5-AA48DFEFF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242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ДА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F2AA25-7A02-4C89-BADF-BD60BD60F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005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persist + unpersist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71914E-7920-4E98-B789-4D46187D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6725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D6D9DC"/>
                </a:solidFill>
              </a:defRPr>
            </a:pPr>
            <a:r>
              <a:rPr sz="1425" b="0">
                <a:solidFill>
                  <a:srgbClr val="D6D9DC"/>
                </a:solidFill>
              </a:rPr>
              <a:t>Проверить storage level и фактический reuse в UI</a:t>
            </a:r>
          </a:p>
        </p:txBody>
      </p:sp>
    </p:spTree>
    <p:extLst>
      <p:ext uri="{BB962C8B-B14F-4D97-AF65-F5344CB8AC3E}">
        <p14:creationId xmlns:p14="http://schemas.microsoft.com/office/powerpoint/2010/main" val="1108780466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5B31F3-38E3-4409-AD2F-C289252A2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ДАЛЬШЕ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560DBA-20A7-406C-95DD-01B12EF86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8D0033-5905-4DA9-8BEB-35D5D981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B8410F-47AD-4EE3-AAED-E22D36190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64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A97559-A21B-45CF-ACA5-6ABD00FAA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Structured Streaming сохраняет ту же DataFrame-модель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FE79F4-B4EF-47B9-B251-57A80DFD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C40FDC-DC8A-4BC7-9490-96B9B3D55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FD24F2-6F90-4B82-8673-EA3B802E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source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357BFE-A500-4EC1-88D5-70BC24FA0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Kafka / files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219B57-F7CE-4775-B8CC-B6926C5B1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E6CAF6-96FD-4FDE-91BC-EE335CE7B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C4C272-D6EC-4943-B740-B270F28FA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DataFrame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8CB020-7395-4490-AE2A-6932D2820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transformations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993A3C-9FE5-4D4B-8A4E-A4D9EA1E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C8CCCC-F222-4F3E-8075-C940C62ED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8BF939-14C2-4C18-832C-90561E9D0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state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BCF336-24BF-48E3-BF5F-11D1045A1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watermark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782268-213F-4745-945C-14D14CE50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368DC5-7F3A-4B66-9B54-0E2D247DD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E25A1C"/>
                </a:solidFill>
              </a:defRPr>
            </a:pPr>
            <a:r>
              <a:rPr sz="1875" b="1">
                <a:solidFill>
                  <a:srgbClr val="E25A1C"/>
                </a:solidFill>
              </a:rPr>
              <a:t>sink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044247-0E51-4BD7-AF95-C5AD59D7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table / topic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CCD762-C22F-4E2D-BB23-850378ED1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Меняется режим исполнения; базовые понятия plan, partition и state остаются.</a:t>
            </a:r>
          </a:p>
        </p:txBody>
      </p:sp>
    </p:spTree>
    <p:extLst>
      <p:ext uri="{BB962C8B-B14F-4D97-AF65-F5344CB8AC3E}">
        <p14:creationId xmlns:p14="http://schemas.microsoft.com/office/powerpoint/2010/main" val="1920930390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20F3E2-206D-41E0-A188-384B91E94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ЧИТАТЬ ДАЛЬШЕ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FABECC-E969-4B47-ABA8-550425388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08D37A-3E48-4BC9-930D-E0328564E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A3E7D8-C13C-4467-B487-E33C7C488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65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F73281-D4CF-4D38-91C3-0AA46DEBC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История и архитектура: первоисточники и книги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6FB2B1-0512-4430-B2A4-F5C1FE49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EVIDENCE CHAIN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5AB760-DA53-4DFD-8475-BF2FC38D5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52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F24E40-322A-4C70-91E2-72BCB8A67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5448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3"/>
                </a:solidFill>
              </a:defRPr>
            </a:pPr>
            <a:r>
              <a:rPr sz="1650" b="0">
                <a:solidFill>
                  <a:srgbClr val="202123"/>
                </a:solidFill>
              </a:rPr>
              <a:t>Начать с Mashey и Laney: термин и исходные 3V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D39BD9-8374-4EEC-81DA-5BE06A7D8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19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C1CFBA-15DF-46D7-9EB5-02044139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33750"/>
            <a:ext cx="5448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3"/>
                </a:solidFill>
              </a:defRPr>
            </a:pPr>
            <a:r>
              <a:rPr sz="1650" b="0">
                <a:solidFill>
                  <a:srgbClr val="202123"/>
                </a:solidFill>
              </a:rPr>
              <a:t>Прочитать GFS и MapReduce как один архитектурный ответ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FEE566-8ADA-4F3F-AA94-EBEC51812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86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9EA4CC-C184-45D3-A052-9A93AF938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5448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3"/>
                </a:solidFill>
              </a:defRPr>
            </a:pPr>
            <a:r>
              <a:rPr sz="1650" b="0">
                <a:solidFill>
                  <a:srgbClr val="202123"/>
                </a:solidFill>
              </a:rPr>
              <a:t>Сравнить HotCloud 2010 и RDD paper 2012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9F3587-2AA3-40BF-BB1E-CEC645F6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52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EAFC29-F9D3-4188-BC16-86476A37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67250"/>
            <a:ext cx="5448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3"/>
                </a:solidFill>
              </a:defRPr>
            </a:pPr>
            <a:r>
              <a:rPr sz="1650" b="0">
                <a:solidFill>
                  <a:srgbClr val="202123"/>
                </a:solidFill>
              </a:rPr>
              <a:t>Закрепить модель систем и практику PySpark книгами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656071-CDA9-42D1-A943-17D544E26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03835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6FED"/>
                </a:solidFill>
              </a:defRPr>
            </a:pPr>
            <a:r>
              <a:rPr sz="1200" b="1">
                <a:solidFill>
                  <a:srgbClr val="2F6FED"/>
                </a:solidFill>
              </a:rPr>
              <a:t>МАТЕРИАЛЫ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2FCB5F-0689-498C-8EC3-8B41CB98F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6670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Big Data history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3E24CA-88C3-4EB4-A9AB-0E988611F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0003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E6E68"/>
                </a:solidFill>
              </a:defRPr>
            </a:pPr>
            <a:r>
              <a:rPr sz="1200" b="0">
                <a:solidFill>
                  <a:srgbClr val="6E6E68"/>
                </a:solidFill>
              </a:rPr>
              <a:t>web.stanford.edu/class/ee380/9798win/lect08.html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7C3A9F-949B-47B9-B44C-891A2CC0B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4099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Spark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3C2A6F-B9B7-4595-A965-388FA9A20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7433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E6E68"/>
                </a:solidFill>
              </a:defRPr>
            </a:pPr>
            <a:r>
              <a:rPr sz="1200" b="0">
                <a:solidFill>
                  <a:srgbClr val="6E6E68"/>
                </a:solidFill>
              </a:rPr>
              <a:t>spark.apache.org/research.html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7E86A0-18B8-4CB4-BF61-AD8304C41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1529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Learning Spark, 2nd ed.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D82876-9D20-43D8-B209-57D54BC41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862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E6E68"/>
                </a:solidFill>
              </a:defRPr>
            </a:pPr>
            <a:r>
              <a:rPr sz="1200" b="0">
                <a:solidFill>
                  <a:srgbClr val="6E6E68"/>
                </a:solidFill>
              </a:rPr>
              <a:t>oreilly.com/library/view/learning-spark-2nd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18784B-5101-4CA1-B31E-1558B9AE1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8958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Designing Data-Intensive Applications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9F5E1B-1A9A-4A5B-BFA7-79EBF6AC7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2292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E6E68"/>
                </a:solidFill>
              </a:defRPr>
            </a:pPr>
            <a:r>
              <a:rPr sz="1200" b="0">
                <a:solidFill>
                  <a:srgbClr val="6E6E68"/>
                </a:solidFill>
              </a:rPr>
              <a:t>dataintensive.net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868608-417D-4649-A8B5-92C3390DE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6388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Mining of Massive Datasets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7786A6-D392-4AFA-87E7-EE129179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9721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E6E68"/>
                </a:solidFill>
              </a:defRPr>
            </a:pPr>
            <a:r>
              <a:rPr sz="1200" b="0">
                <a:solidFill>
                  <a:srgbClr val="6E6E68"/>
                </a:solidFill>
              </a:rPr>
              <a:t>infolab.stanford.edu/~ullman/mmds/book.pdf</a:t>
            </a:r>
          </a:p>
        </p:txBody>
      </p:sp>
    </p:spTree>
    <p:extLst>
      <p:ext uri="{BB962C8B-B14F-4D97-AF65-F5344CB8AC3E}">
        <p14:creationId xmlns:p14="http://schemas.microsoft.com/office/powerpoint/2010/main" val="1126146022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1BDC61-A8BC-4CB6-A0BD-1266ECA07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ПРАКТИКА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39261C-E37F-4658-8A91-222385FD4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28B492-0E34-454D-B372-1ED8121BB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4D22E3-BDD7-4FD8-8A66-F2B3CCFBB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66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59E0E7-B602-4630-BF4A-3DB81C6F0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Следующий шаг — собрать собственную evidence chain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E40365-11BB-4D5B-A915-08523F109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EVIDENCE CHAIN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53C29-5EA2-4FE2-80C6-921F86233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52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831AB3-8A05-4C1C-9A8A-FC524C278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5448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3"/>
                </a:solidFill>
              </a:defRPr>
            </a:pPr>
            <a:r>
              <a:rPr sz="1650" b="0">
                <a:solidFill>
                  <a:srgbClr val="202123"/>
                </a:solidFill>
              </a:rPr>
              <a:t>Запустить core pipeline через mentor-lab.py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CCE2A5-4FFC-464B-8EAD-329674C81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19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53B4E9-429C-4360-B020-9656ED35B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33750"/>
            <a:ext cx="5448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3"/>
                </a:solidFill>
              </a:defRPr>
            </a:pPr>
            <a:r>
              <a:rPr sz="1650" b="0">
                <a:solidFill>
                  <a:srgbClr val="202123"/>
                </a:solidFill>
              </a:rPr>
              <a:t>Сохранить formatted explain до выполнения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8E20F0-ED83-4CB0-BEC2-F06D1960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86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7417EB-7374-4BF3-9016-82635298B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5448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3"/>
                </a:solidFill>
              </a:defRPr>
            </a:pPr>
            <a:r>
              <a:rPr sz="1650" b="0">
                <a:solidFill>
                  <a:srgbClr val="202123"/>
                </a:solidFill>
              </a:rPr>
              <a:t>Найти самый дорогой stage в Spark UI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5F4EAB-EF24-4125-9A12-DDCB98886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52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C97449-CCD9-4266-B0C7-F12CED549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67250"/>
            <a:ext cx="5448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3"/>
                </a:solidFill>
              </a:defRPr>
            </a:pPr>
            <a:r>
              <a:rPr sz="1650" b="0">
                <a:solidFill>
                  <a:srgbClr val="202123"/>
                </a:solidFill>
              </a:rPr>
              <a:t>Сформулировать одно изменение и критерий успеха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8B35D7-DC25-4AEB-813B-14EA94EDF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03835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6FED"/>
                </a:solidFill>
              </a:defRPr>
            </a:pPr>
            <a:r>
              <a:rPr sz="1200" b="1">
                <a:solidFill>
                  <a:srgbClr val="2F6FED"/>
                </a:solidFill>
              </a:rPr>
              <a:t>МАТЕРИАЛЫ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2B2B7B-76D2-4FD7-AF64-DDF29FACD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6670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Spark 4.2.0 docs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C4D27A-D176-4F41-A9C1-8971C46D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0003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E6E68"/>
                </a:solidFill>
              </a:defRPr>
            </a:pPr>
            <a:r>
              <a:rPr sz="1200" b="0">
                <a:solidFill>
                  <a:srgbClr val="6E6E68"/>
                </a:solidFill>
              </a:rPr>
              <a:t>spark.apache.org/docs/4.2.0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2D03E3-816E-497D-8BB9-DE61D3170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4099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Лаборатория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1D41A0-A0D5-4962-A667-6E4725696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7433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E6E68"/>
                </a:solidFill>
              </a:defRPr>
            </a:pPr>
            <a:r>
              <a:rPr sz="1200" b="0">
                <a:solidFill>
                  <a:srgbClr val="6E6E68"/>
                </a:solidFill>
              </a:rPr>
              <a:t>labs/spark/README.md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DDDBB0-E627-46E3-9125-59FF4F769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1529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Workbook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E98F44-DE2B-4920-9A30-68EE5B6E2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862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E6E68"/>
                </a:solidFill>
              </a:defRPr>
            </a:pPr>
            <a:r>
              <a:rPr sz="1200" b="0">
                <a:solidFill>
                  <a:srgbClr val="6E6E68"/>
                </a:solidFill>
              </a:rPr>
              <a:t>lessons/lesson-04/docs/student-workbook.md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DCE904-38CA-46A9-8305-BAA4A7E6F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8958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Домашнее задание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E58234-BB3A-486B-8449-777EBD684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2292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E6E68"/>
                </a:solidFill>
              </a:defRPr>
            </a:pPr>
            <a:r>
              <a:rPr sz="1200" b="0">
                <a:solidFill>
                  <a:srgbClr val="6E6E68"/>
                </a:solidFill>
              </a:rPr>
              <a:t>lessons/lesson-04/homework/assignment.md</a:t>
            </a:r>
          </a:p>
        </p:txBody>
      </p:sp>
    </p:spTree>
    <p:extLst>
      <p:ext uri="{BB962C8B-B14F-4D97-AF65-F5344CB8AC3E}">
        <p14:creationId xmlns:p14="http://schemas.microsoft.com/office/powerpoint/2010/main" val="136050707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2026-08-30T20:55:53.7210000Z</dcterms:created>
  <dcterms:modified xsi:type="dcterms:W3CDTF">2026-08-30T20:55:53.7210000Z</dcterms:modified>
</coreProperties>
</file>