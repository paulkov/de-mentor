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4d9bdc288e4117" /><Relationship Type="http://schemas.openxmlformats.org/officeDocument/2006/relationships/extended-properties" Target="/docProps/app.xml" Id="R22fc2e273ad54a65" /><Relationship Type="http://schemas.openxmlformats.org/officeDocument/2006/relationships/officeDocument" Target="/ppt/presentation.xml" Id="Rb8ebd3dd212c47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456623fc3b4255"/>
  </p:sldMasterIdLst>
  <p:notesMasterIdLst>
    <p:notesMasterId xmlns:r="http://schemas.openxmlformats.org/officeDocument/2006/relationships" r:id="R2bd83d984f5a4410"/>
  </p:notesMasterIdLst>
  <p:sldIdLst>
    <p:sldId xmlns:r="http://schemas.openxmlformats.org/officeDocument/2006/relationships" id="256" r:id="Rc8c99ba097234bfe"/>
    <p:sldId xmlns:r="http://schemas.openxmlformats.org/officeDocument/2006/relationships" id="257" r:id="R1bf2c05b1740418f"/>
    <p:sldId xmlns:r="http://schemas.openxmlformats.org/officeDocument/2006/relationships" id="258" r:id="R74eef9f9ae3b4003"/>
    <p:sldId xmlns:r="http://schemas.openxmlformats.org/officeDocument/2006/relationships" id="259" r:id="R1f738e8c40e64dbb"/>
    <p:sldId xmlns:r="http://schemas.openxmlformats.org/officeDocument/2006/relationships" id="260" r:id="R861893e64c90447a"/>
    <p:sldId xmlns:r="http://schemas.openxmlformats.org/officeDocument/2006/relationships" id="261" r:id="Rfa6e77bfda174474"/>
    <p:sldId xmlns:r="http://schemas.openxmlformats.org/officeDocument/2006/relationships" id="262" r:id="Ra2112fdc3fe0463c"/>
    <p:sldId xmlns:r="http://schemas.openxmlformats.org/officeDocument/2006/relationships" id="263" r:id="R587d3b226d114eaa"/>
    <p:sldId xmlns:r="http://schemas.openxmlformats.org/officeDocument/2006/relationships" id="264" r:id="R254f06037442486f"/>
    <p:sldId xmlns:r="http://schemas.openxmlformats.org/officeDocument/2006/relationships" id="265" r:id="R1c3abffe31e74b4f"/>
    <p:sldId xmlns:r="http://schemas.openxmlformats.org/officeDocument/2006/relationships" id="266" r:id="R417f291a3e524f00"/>
    <p:sldId xmlns:r="http://schemas.openxmlformats.org/officeDocument/2006/relationships" id="267" r:id="R04baa2fbcd0b437c"/>
    <p:sldId xmlns:r="http://schemas.openxmlformats.org/officeDocument/2006/relationships" id="268" r:id="Raca2312040874b0d"/>
    <p:sldId xmlns:r="http://schemas.openxmlformats.org/officeDocument/2006/relationships" id="269" r:id="Rd7a3d29bd4ea4817"/>
    <p:sldId xmlns:r="http://schemas.openxmlformats.org/officeDocument/2006/relationships" id="270" r:id="Rd24863a20709498c"/>
    <p:sldId xmlns:r="http://schemas.openxmlformats.org/officeDocument/2006/relationships" id="271" r:id="R699d4cd3fbd64ed3"/>
    <p:sldId xmlns:r="http://schemas.openxmlformats.org/officeDocument/2006/relationships" id="272" r:id="R4d8cbf019c4e41ae"/>
    <p:sldId xmlns:r="http://schemas.openxmlformats.org/officeDocument/2006/relationships" id="273" r:id="Rcb42a5b61a534d9c"/>
    <p:sldId xmlns:r="http://schemas.openxmlformats.org/officeDocument/2006/relationships" id="274" r:id="Ref9f00725da349f8"/>
    <p:sldId xmlns:r="http://schemas.openxmlformats.org/officeDocument/2006/relationships" id="275" r:id="R4052d7d235a04230"/>
    <p:sldId xmlns:r="http://schemas.openxmlformats.org/officeDocument/2006/relationships" id="276" r:id="R35872b34c0d24bdb"/>
    <p:sldId xmlns:r="http://schemas.openxmlformats.org/officeDocument/2006/relationships" id="277" r:id="R28d5a1b7dfe04a32"/>
    <p:sldId xmlns:r="http://schemas.openxmlformats.org/officeDocument/2006/relationships" id="278" r:id="R4dbfb5da7bb84b30"/>
    <p:sldId xmlns:r="http://schemas.openxmlformats.org/officeDocument/2006/relationships" id="279" r:id="Rff82959674a44690"/>
    <p:sldId xmlns:r="http://schemas.openxmlformats.org/officeDocument/2006/relationships" id="280" r:id="R7a76b4d92aa04fe8"/>
    <p:sldId xmlns:r="http://schemas.openxmlformats.org/officeDocument/2006/relationships" id="281" r:id="R3a834db5323643ef"/>
    <p:sldId xmlns:r="http://schemas.openxmlformats.org/officeDocument/2006/relationships" id="282" r:id="Rfbbf0472870d4a95"/>
    <p:sldId xmlns:r="http://schemas.openxmlformats.org/officeDocument/2006/relationships" id="283" r:id="R98d5f1efacd44529"/>
    <p:sldId xmlns:r="http://schemas.openxmlformats.org/officeDocument/2006/relationships" id="284" r:id="R28e3258cb2954c67"/>
    <p:sldId xmlns:r="http://schemas.openxmlformats.org/officeDocument/2006/relationships" id="285" r:id="R555a782c767b476c"/>
    <p:sldId xmlns:r="http://schemas.openxmlformats.org/officeDocument/2006/relationships" id="286" r:id="R92a3fea653b44e7d"/>
    <p:sldId xmlns:r="http://schemas.openxmlformats.org/officeDocument/2006/relationships" id="287" r:id="R251673d9418e42d8"/>
    <p:sldId xmlns:r="http://schemas.openxmlformats.org/officeDocument/2006/relationships" id="288" r:id="Ra7055177ee3f4e9a"/>
    <p:sldId xmlns:r="http://schemas.openxmlformats.org/officeDocument/2006/relationships" id="289" r:id="Rd30cebde0f3c438b"/>
    <p:sldId xmlns:r="http://schemas.openxmlformats.org/officeDocument/2006/relationships" id="290" r:id="Rf5aaa422df4640c2"/>
    <p:sldId xmlns:r="http://schemas.openxmlformats.org/officeDocument/2006/relationships" id="291" r:id="R67b4bbf5bb40475a"/>
    <p:sldId xmlns:r="http://schemas.openxmlformats.org/officeDocument/2006/relationships" id="292" r:id="Rf7edcd7093784178"/>
    <p:sldId xmlns:r="http://schemas.openxmlformats.org/officeDocument/2006/relationships" id="293" r:id="Ra0646be28a6b439f"/>
    <p:sldId xmlns:r="http://schemas.openxmlformats.org/officeDocument/2006/relationships" id="294" r:id="R8e37f617f90344ca"/>
    <p:sldId xmlns:r="http://schemas.openxmlformats.org/officeDocument/2006/relationships" id="295" r:id="R585250665d6c49b5"/>
    <p:sldId xmlns:r="http://schemas.openxmlformats.org/officeDocument/2006/relationships" id="296" r:id="Rddbb7c5fca7f467e"/>
    <p:sldId xmlns:r="http://schemas.openxmlformats.org/officeDocument/2006/relationships" id="297" r:id="R280cff3e857146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50602a515a400c" /><Relationship Type="http://schemas.openxmlformats.org/officeDocument/2006/relationships/slideMaster" Target="/ppt/slideMasters/slideMaster1.xml" Id="R20456623fc3b4255" /><Relationship Type="http://schemas.openxmlformats.org/officeDocument/2006/relationships/notesMaster" Target="/ppt/notesMasters/notesMaster1.xml" Id="R2bd83d984f5a4410" /><Relationship Type="http://schemas.openxmlformats.org/officeDocument/2006/relationships/presProps" Target="/ppt/presProps.xml" Id="Re1a68453f9274c92" /><Relationship Type="http://schemas.openxmlformats.org/officeDocument/2006/relationships/tableStyles" Target="/ppt/tableStyles.xml" Id="Rbf2123538b394bd6" /><Relationship Type="http://schemas.openxmlformats.org/officeDocument/2006/relationships/slide" Target="/ppt/slides/slide1.xml" Id="Rc8c99ba097234bfe" /><Relationship Type="http://schemas.openxmlformats.org/officeDocument/2006/relationships/slide" Target="/ppt/slides/slide2.xml" Id="R1bf2c05b1740418f" /><Relationship Type="http://schemas.openxmlformats.org/officeDocument/2006/relationships/slide" Target="/ppt/slides/slide3.xml" Id="R74eef9f9ae3b4003" /><Relationship Type="http://schemas.openxmlformats.org/officeDocument/2006/relationships/slide" Target="/ppt/slides/slide4.xml" Id="R1f738e8c40e64dbb" /><Relationship Type="http://schemas.openxmlformats.org/officeDocument/2006/relationships/slide" Target="/ppt/slides/slide5.xml" Id="R861893e64c90447a" /><Relationship Type="http://schemas.openxmlformats.org/officeDocument/2006/relationships/slide" Target="/ppt/slides/slide6.xml" Id="Rfa6e77bfda174474" /><Relationship Type="http://schemas.openxmlformats.org/officeDocument/2006/relationships/slide" Target="/ppt/slides/slide7.xml" Id="Ra2112fdc3fe0463c" /><Relationship Type="http://schemas.openxmlformats.org/officeDocument/2006/relationships/slide" Target="/ppt/slides/slide8.xml" Id="R587d3b226d114eaa" /><Relationship Type="http://schemas.openxmlformats.org/officeDocument/2006/relationships/slide" Target="/ppt/slides/slide9.xml" Id="R254f06037442486f" /><Relationship Type="http://schemas.openxmlformats.org/officeDocument/2006/relationships/slide" Target="/ppt/slides/slide10.xml" Id="R1c3abffe31e74b4f" /><Relationship Type="http://schemas.openxmlformats.org/officeDocument/2006/relationships/slide" Target="/ppt/slides/slide11.xml" Id="R417f291a3e524f00" /><Relationship Type="http://schemas.openxmlformats.org/officeDocument/2006/relationships/slide" Target="/ppt/slides/slide12.xml" Id="R04baa2fbcd0b437c" /><Relationship Type="http://schemas.openxmlformats.org/officeDocument/2006/relationships/slide" Target="/ppt/slides/slide13.xml" Id="Raca2312040874b0d" /><Relationship Type="http://schemas.openxmlformats.org/officeDocument/2006/relationships/slide" Target="/ppt/slides/slide14.xml" Id="Rd7a3d29bd4ea4817" /><Relationship Type="http://schemas.openxmlformats.org/officeDocument/2006/relationships/slide" Target="/ppt/slides/slide15.xml" Id="Rd24863a20709498c" /><Relationship Type="http://schemas.openxmlformats.org/officeDocument/2006/relationships/slide" Target="/ppt/slides/slide16.xml" Id="R699d4cd3fbd64ed3" /><Relationship Type="http://schemas.openxmlformats.org/officeDocument/2006/relationships/slide" Target="/ppt/slides/slide17.xml" Id="R4d8cbf019c4e41ae" /><Relationship Type="http://schemas.openxmlformats.org/officeDocument/2006/relationships/slide" Target="/ppt/slides/slide18.xml" Id="Rcb42a5b61a534d9c" /><Relationship Type="http://schemas.openxmlformats.org/officeDocument/2006/relationships/slide" Target="/ppt/slides/slide19.xml" Id="Ref9f00725da349f8" /><Relationship Type="http://schemas.openxmlformats.org/officeDocument/2006/relationships/slide" Target="/ppt/slides/slide20.xml" Id="R4052d7d235a04230" /><Relationship Type="http://schemas.openxmlformats.org/officeDocument/2006/relationships/slide" Target="/ppt/slides/slide21.xml" Id="R35872b34c0d24bdb" /><Relationship Type="http://schemas.openxmlformats.org/officeDocument/2006/relationships/slide" Target="/ppt/slides/slide22.xml" Id="R28d5a1b7dfe04a32" /><Relationship Type="http://schemas.openxmlformats.org/officeDocument/2006/relationships/slide" Target="/ppt/slides/slide23.xml" Id="R4dbfb5da7bb84b30" /><Relationship Type="http://schemas.openxmlformats.org/officeDocument/2006/relationships/slide" Target="/ppt/slides/slide24.xml" Id="Rff82959674a44690" /><Relationship Type="http://schemas.openxmlformats.org/officeDocument/2006/relationships/slide" Target="/ppt/slides/slide25.xml" Id="R7a76b4d92aa04fe8" /><Relationship Type="http://schemas.openxmlformats.org/officeDocument/2006/relationships/slide" Target="/ppt/slides/slide26.xml" Id="R3a834db5323643ef" /><Relationship Type="http://schemas.openxmlformats.org/officeDocument/2006/relationships/slide" Target="/ppt/slides/slide27.xml" Id="Rfbbf0472870d4a95" /><Relationship Type="http://schemas.openxmlformats.org/officeDocument/2006/relationships/slide" Target="/ppt/slides/slide28.xml" Id="R98d5f1efacd44529" /><Relationship Type="http://schemas.openxmlformats.org/officeDocument/2006/relationships/slide" Target="/ppt/slides/slide29.xml" Id="R28e3258cb2954c67" /><Relationship Type="http://schemas.openxmlformats.org/officeDocument/2006/relationships/slide" Target="/ppt/slides/slide30.xml" Id="R555a782c767b476c" /><Relationship Type="http://schemas.openxmlformats.org/officeDocument/2006/relationships/slide" Target="/ppt/slides/slide31.xml" Id="R92a3fea653b44e7d" /><Relationship Type="http://schemas.openxmlformats.org/officeDocument/2006/relationships/slide" Target="/ppt/slides/slide32.xml" Id="R251673d9418e42d8" /><Relationship Type="http://schemas.openxmlformats.org/officeDocument/2006/relationships/slide" Target="/ppt/slides/slide33.xml" Id="Ra7055177ee3f4e9a" /><Relationship Type="http://schemas.openxmlformats.org/officeDocument/2006/relationships/slide" Target="/ppt/slides/slide34.xml" Id="Rd30cebde0f3c438b" /><Relationship Type="http://schemas.openxmlformats.org/officeDocument/2006/relationships/slide" Target="/ppt/slides/slide35.xml" Id="Rf5aaa422df4640c2" /><Relationship Type="http://schemas.openxmlformats.org/officeDocument/2006/relationships/slide" Target="/ppt/slides/slide36.xml" Id="R67b4bbf5bb40475a" /><Relationship Type="http://schemas.openxmlformats.org/officeDocument/2006/relationships/slide" Target="/ppt/slides/slide37.xml" Id="Rf7edcd7093784178" /><Relationship Type="http://schemas.openxmlformats.org/officeDocument/2006/relationships/slide" Target="/ppt/slides/slide38.xml" Id="Ra0646be28a6b439f" /><Relationship Type="http://schemas.openxmlformats.org/officeDocument/2006/relationships/slide" Target="/ppt/slides/slide39.xml" Id="R8e37f617f90344ca" /><Relationship Type="http://schemas.openxmlformats.org/officeDocument/2006/relationships/slide" Target="/ppt/slides/slide40.xml" Id="R585250665d6c49b5" /><Relationship Type="http://schemas.openxmlformats.org/officeDocument/2006/relationships/slide" Target="/ppt/slides/slide41.xml" Id="Rddbb7c5fca7f467e" /><Relationship Type="http://schemas.openxmlformats.org/officeDocument/2006/relationships/slide" Target="/ppt/slides/slide42.xml" Id="R280cff3e857146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f84099363a45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459489a3b54667" /><Relationship Type="http://schemas.openxmlformats.org/officeDocument/2006/relationships/notesMaster" Target="/ppt/notesMasters/notesMaster1.xml" Id="R16537f512a324f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2207c8d1a54802" /><Relationship Type="http://schemas.openxmlformats.org/officeDocument/2006/relationships/notesMaster" Target="/ppt/notesMasters/notesMaster1.xml" Id="R78d587bf6bd546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d3235e9c0f49fc" /><Relationship Type="http://schemas.openxmlformats.org/officeDocument/2006/relationships/notesMaster" Target="/ppt/notesMasters/notesMaster1.xml" Id="R1571d607c0a849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e45f1097da4999" /><Relationship Type="http://schemas.openxmlformats.org/officeDocument/2006/relationships/notesMaster" Target="/ppt/notesMasters/notesMaster1.xml" Id="Re4d5e4ad379343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c5fca68d034885" /><Relationship Type="http://schemas.openxmlformats.org/officeDocument/2006/relationships/notesMaster" Target="/ppt/notesMasters/notesMaster1.xml" Id="R2fdfa71c449243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1160d0a563465d" /><Relationship Type="http://schemas.openxmlformats.org/officeDocument/2006/relationships/notesMaster" Target="/ppt/notesMasters/notesMaster1.xml" Id="R3e8b25e0e5a34a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cfd924a0d14537" /><Relationship Type="http://schemas.openxmlformats.org/officeDocument/2006/relationships/notesMaster" Target="/ppt/notesMasters/notesMaster1.xml" Id="R1059cb82bc714d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99f35de90e4ce9" /><Relationship Type="http://schemas.openxmlformats.org/officeDocument/2006/relationships/notesMaster" Target="/ppt/notesMasters/notesMaster1.xml" Id="R6bd0705bdbd946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228bbc7f6f4938" /><Relationship Type="http://schemas.openxmlformats.org/officeDocument/2006/relationships/notesMaster" Target="/ppt/notesMasters/notesMaster1.xml" Id="Rfedd58e0e4d149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335beeb3cc4333" /><Relationship Type="http://schemas.openxmlformats.org/officeDocument/2006/relationships/notesMaster" Target="/ppt/notesMasters/notesMaster1.xml" Id="R8ed540b1a8d144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86c6baaa174512" /><Relationship Type="http://schemas.openxmlformats.org/officeDocument/2006/relationships/notesMaster" Target="/ppt/notesMasters/notesMaster1.xml" Id="R2a9a234f43384d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66b95fc6dc4424" /><Relationship Type="http://schemas.openxmlformats.org/officeDocument/2006/relationships/notesMaster" Target="/ppt/notesMasters/notesMaster1.xml" Id="Rcdbc0d40864044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1b5f7a3aaa464a" /><Relationship Type="http://schemas.openxmlformats.org/officeDocument/2006/relationships/notesMaster" Target="/ppt/notesMasters/notesMaster1.xml" Id="Rf56d15435b7846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599c7a9d494b96" /><Relationship Type="http://schemas.openxmlformats.org/officeDocument/2006/relationships/notesMaster" Target="/ppt/notesMasters/notesMaster1.xml" Id="R0eb22a88632f46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de99eeb7484132" /><Relationship Type="http://schemas.openxmlformats.org/officeDocument/2006/relationships/notesMaster" Target="/ppt/notesMasters/notesMaster1.xml" Id="R92639ff12f0145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d8ca5635c449aa" /><Relationship Type="http://schemas.openxmlformats.org/officeDocument/2006/relationships/notesMaster" Target="/ppt/notesMasters/notesMaster1.xml" Id="Red59d26e845140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48d0e654e746b8" /><Relationship Type="http://schemas.openxmlformats.org/officeDocument/2006/relationships/notesMaster" Target="/ppt/notesMasters/notesMaster1.xml" Id="R050b3307682e45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097509dbd94bfc" /><Relationship Type="http://schemas.openxmlformats.org/officeDocument/2006/relationships/notesMaster" Target="/ppt/notesMasters/notesMaster1.xml" Id="R7f46fb9dfda343b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90ebc459e44729" /><Relationship Type="http://schemas.openxmlformats.org/officeDocument/2006/relationships/notesMaster" Target="/ppt/notesMasters/notesMaster1.xml" Id="R0ff23e80bd9f410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20c077dc6140e7" /><Relationship Type="http://schemas.openxmlformats.org/officeDocument/2006/relationships/notesMaster" Target="/ppt/notesMasters/notesMaster1.xml" Id="R092ccf4542314e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0d7c38e33c14fb5" /><Relationship Type="http://schemas.openxmlformats.org/officeDocument/2006/relationships/notesMaster" Target="/ppt/notesMasters/notesMaster1.xml" Id="R59364e8b51964c9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47945c896d84136" /><Relationship Type="http://schemas.openxmlformats.org/officeDocument/2006/relationships/notesMaster" Target="/ppt/notesMasters/notesMaster1.xml" Id="R0362411efc224d4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991d6115604326" /><Relationship Type="http://schemas.openxmlformats.org/officeDocument/2006/relationships/notesMaster" Target="/ppt/notesMasters/notesMaster1.xml" Id="R16d4cf4cafcf43c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94b1e90e62f4361" /><Relationship Type="http://schemas.openxmlformats.org/officeDocument/2006/relationships/notesMaster" Target="/ppt/notesMasters/notesMaster1.xml" Id="R693ad477f7ea4e6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574a510c2b543f3" /><Relationship Type="http://schemas.openxmlformats.org/officeDocument/2006/relationships/notesMaster" Target="/ppt/notesMasters/notesMaster1.xml" Id="R281e0ff8b93e453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a6649c5902f4c9c" /><Relationship Type="http://schemas.openxmlformats.org/officeDocument/2006/relationships/notesMaster" Target="/ppt/notesMasters/notesMaster1.xml" Id="R5906b2e8b1cb412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fa5ab110a3b4699" /><Relationship Type="http://schemas.openxmlformats.org/officeDocument/2006/relationships/notesMaster" Target="/ppt/notesMasters/notesMaster1.xml" Id="Re9fec813837e4b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9136d257b75481b" /><Relationship Type="http://schemas.openxmlformats.org/officeDocument/2006/relationships/notesMaster" Target="/ppt/notesMasters/notesMaster1.xml" Id="R8b97eb7a0b39497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24516996c444f0c" /><Relationship Type="http://schemas.openxmlformats.org/officeDocument/2006/relationships/notesMaster" Target="/ppt/notesMasters/notesMaster1.xml" Id="R7fcfc2ff4b46402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975b5323260488f" /><Relationship Type="http://schemas.openxmlformats.org/officeDocument/2006/relationships/notesMaster" Target="/ppt/notesMasters/notesMaster1.xml" Id="R8dc84b1e162d48f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8dde2a4d90f48b2" /><Relationship Type="http://schemas.openxmlformats.org/officeDocument/2006/relationships/notesMaster" Target="/ppt/notesMasters/notesMaster1.xml" Id="R29c70dd4c2dd400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790d8289a19495b" /><Relationship Type="http://schemas.openxmlformats.org/officeDocument/2006/relationships/notesMaster" Target="/ppt/notesMasters/notesMaster1.xml" Id="R2bb6e4348b564e3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1c33d09b0bf45b0" /><Relationship Type="http://schemas.openxmlformats.org/officeDocument/2006/relationships/notesMaster" Target="/ppt/notesMasters/notesMaster1.xml" Id="R7b57480b5684410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016358cd69c43f3" /><Relationship Type="http://schemas.openxmlformats.org/officeDocument/2006/relationships/notesMaster" Target="/ppt/notesMasters/notesMaster1.xml" Id="R64579ef0364a43f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50accf7817f4512" /><Relationship Type="http://schemas.openxmlformats.org/officeDocument/2006/relationships/notesMaster" Target="/ppt/notesMasters/notesMaster1.xml" Id="Rf79bc505875442b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21dff58ef2e429c" /><Relationship Type="http://schemas.openxmlformats.org/officeDocument/2006/relationships/notesMaster" Target="/ppt/notesMasters/notesMaster1.xml" Id="R0ee6ca62b454406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fb73d11fa6248a8" /><Relationship Type="http://schemas.openxmlformats.org/officeDocument/2006/relationships/notesMaster" Target="/ppt/notesMasters/notesMaster1.xml" Id="R85688371d7184c3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10d9618a5b648eb" /><Relationship Type="http://schemas.openxmlformats.org/officeDocument/2006/relationships/notesMaster" Target="/ppt/notesMasters/notesMaster1.xml" Id="Rdff22693260b438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ee7ac0c711148fb" /><Relationship Type="http://schemas.openxmlformats.org/officeDocument/2006/relationships/notesMaster" Target="/ppt/notesMasters/notesMaster1.xml" Id="Re74eaa3a90cf4b6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5d00de5a7e74828" /><Relationship Type="http://schemas.openxmlformats.org/officeDocument/2006/relationships/notesMaster" Target="/ppt/notesMasters/notesMaster1.xml" Id="R05df1069c3e8490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ffe0851a49f4a20" /><Relationship Type="http://schemas.openxmlformats.org/officeDocument/2006/relationships/notesMaster" Target="/ppt/notesMasters/notesMaster1.xml" Id="R50ede28c1faf4f9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86c3cfcbb794e60" /><Relationship Type="http://schemas.openxmlformats.org/officeDocument/2006/relationships/notesMaster" Target="/ppt/notesMasters/notesMaster1.xml" Id="R42b44b1b5fc245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1. Apache Spark:</a:t>
            </a:r>
          </a:p>
          <a:p xmlns:a="http://schemas.openxmlformats.org/drawingml/2006/main">
            <a:r>
              <a:t>от данных к плану выполнения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2. Локальный Python больше не укладывается в SLA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instructional synthesis.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3. После лекции вы сможете объяснить Spark через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4. Big Data — это ограничение workload, а не ярлык размера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instructional synthesis.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5. Распределённые системы сделали сбой штатным событием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https://research.google/pubs/the-google-file-system/</a:t>
            </a:r>
          </a:p>
          <a:p xmlns:a="http://schemas.openxmlformats.org/drawingml/2006/main">
            <a:r>
              <a:t>- https://research.google/pubs/mapreduce-simplified-data-processing-on-large-clusters/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6. MapReduce автоматизировал масштабирование — но оставил цену итераций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https://research.google/pubs/mapreduce-simplified-data-processing-on-large-clusters/</a:t>
            </a:r>
          </a:p>
          <a:p xmlns:a="http://schemas.openxmlformats.org/drawingml/2006/main">
            <a:r>
              <a:t>- https://spark.apache.org/history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7. Spark вырос из задачи ускорить повторные вычисления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https://spark.apache.org/history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8. Spark — compute engine, а не база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9. Иногда лучший Spark job — тот, который вы не запускаете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instructional synthesis.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10. Один Spark application — один driver и набор executors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11. Cluster manager выдаёт ресурсы — Spark управляет вычислением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12. Partition — минимальная порция данных для одной task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https://spark.apache.org/docs/4.2.0/rdd-programming-guide.html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13. DataFrame — декларативный контракт, а не цикл по строкам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https://spark.apache.org/docs/4.2.0/api/python/getting_started/quickstart_df.html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14. Transformations строят план — action запускает работу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https://spark.apache.org/docs/4.2.0/api/python/getting_started/quickstart_df.html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15. Один action создаёт job, stages и tasks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https://spark.apache.org/docs/4.2.0/job-scheduling.html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16. Shuffle появляется, когда строки меняют владельца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https://spark.apache.org/docs/4.2.0/rdd-programming-guide.html#shuffle-operations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17. Контракт пайплайна: события → дневная выручка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instructional synthesis.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18. Явная schema делает контракт проверяемым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https://spark.apache.org/docs/4.2.0/sql-data-sources.html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19. Built-in expressions сохраняют оптимизации Catalyst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https://spark.apache.org/docs/4.2.0/api/python/reference/pyspark.sql/functions.html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20. Join и aggregation — место, где рождается стоимость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https://spark.apache.org/docs/4.2.0/sql-performance-tuning.html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21. Сначала читаем план — потом тратим кластер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https://spark.apache.org/docs/4.2.0/api/python/reference/pyspark.sql/api/pyspark.sql.DataFrame.explain.html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22. Exchange в physical plan — сигнал перераспределения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https://spark.apache.org/docs/4.2.0/sql-performance-tuning.html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23. Action материализует план — формат сохраняет будущие возможности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https://spark.apache.org/docs/4.2.0/sql-data-sources-parquet.html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24. Spark UI превращает “медленно” в проверяемую гипотезу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https://spark.apache.org/docs/4.2.0/web-ui.html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25. Хорошая диагностика связывает код, план и runtime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https://spark.apache.org/docs/4.2.0/sql-performance-tuning.html</a:t>
            </a:r>
          </a:p>
          <a:p xmlns:a="http://schemas.openxmlformats.org/drawingml/2006/main">
            <a:r>
              <a:t>- https://spark.apache.org/docs/4.2.0/web-ui.html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26. Выходной билет: объясните Spark без магии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instructional synthesis.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27. От API к физике выполнения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instructional synthesis.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28. Один DataFrame проходит четыре слоя плана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https://spark.apache.org/docs/4.2.0/sql-ref-syntax-qry-explain.html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29. Narrow dependency конвейеризуется; wide требует обмена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https://spark.apache.org/docs/4.2.0/rdd-programming-guide.html#shuffle-operations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30. PySpark управляет JVM engine — граница становится дорогой построчно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https://spark.apache.org/docs/4.2.0/api/python/user_guide/udfandudtf.html</a:t>
            </a:r>
          </a:p>
          <a:p xmlns:a="http://schemas.openxmlformats.org/drawingml/2006/main">
            <a:r>
              <a:t>- https://spark.apache.org/docs/4.2.0/api/python/tutorial/sql/arrow_pandas.html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31. Shuffle — это сеть, файлы и синхронизация между stages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https://spark.apache.org/docs/4.2.0/rdd-programming-guide.html#shuffle-operations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32. SortMergeJoin масштабируется, но сортирует обе стороны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https://spark.apache.org/docs/4.2.0/sql-performance-tuning.html#optimizing-the-join-strategy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33. BroadcastHashJoin убирает shuffle большой стороны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https://spark.apache.org/docs/4.2.0/sql-performance-tuning.html#optimizing-the-join-strategy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34. AQE меняет physical plan по фактической статистике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https://spark.apache.org/docs/4.2.0/sql-performance-tuning.html#adaptive-query-execution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35. Skew и small files ломают масштабирование с разных сторон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https://spark.apache.org/docs/4.2.0/sql-performance-tuning.html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36. Production-ready Spark начинается до spark-submit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https://spark.apache.org/docs/4.2.0/configuration.html</a:t>
            </a:r>
          </a:p>
          <a:p xmlns:a="http://schemas.openxmlformats.org/drawingml/2006/main">
            <a:r>
              <a:t>- https://spark.apache.org/docs/4.2.0/monitoring.html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37. Шпаргалки для практики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instructional synthesis.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38. Минимальный словарь Spark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https://spark.apache.org/docs/4.2.0/cluster-overview.html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39. Способ запуска меняет эксплуатацию, но не модель приложения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https://spark.apache.org/docs/4.2.0/cluster-overview.html#cluster-manager-types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40. Cache оправдан только повторным использованием дорогого результата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https://spark.apache.org/docs/4.2.0/rdd-programming-guide.html#rdd-persistence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41. Structured Streaming сохраняет ту же DataFrame-модель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https://spark.apache.org/docs/4.2.0/streaming/index.html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42. Следующий шаг — собрать собственную evidence chain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Facilitator cue: ask learners to explain the slide in their own words before revealing the next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https://spark.apache.org/docs/4.2.0/</a:t>
            </a:r>
          </a:p>
          <a:p xmlns:a="http://schemas.openxmlformats.org/drawingml/2006/main">
            <a:r>
              <a:t>- https://spark.apache.org/docs/4.2.0/api/python/getting_started/install.html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848d3ba014c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fc3a6a8d224b7b" /><Relationship Type="http://schemas.openxmlformats.org/officeDocument/2006/relationships/slideLayout" Target="/ppt/slideLayouts/slideLayout1.xml" Id="Ra767518a01a14d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67518a01a14d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f266627074591" /><Relationship Type="http://schemas.openxmlformats.org/officeDocument/2006/relationships/notesSlide" Target="/ppt/notesSlides/notesSlide1.xml" Id="R658009f8e19d40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a303de8ee496e" /><Relationship Type="http://schemas.openxmlformats.org/officeDocument/2006/relationships/notesSlide" Target="/ppt/notesSlides/notesSlide2.xml" Id="R67ba87ed1b2a48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3b6a60f3441d4" /><Relationship Type="http://schemas.openxmlformats.org/officeDocument/2006/relationships/notesSlide" Target="/ppt/notesSlides/notesSlide3.xml" Id="R75e46f2e3db447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93f3dfe5c43ce" /><Relationship Type="http://schemas.openxmlformats.org/officeDocument/2006/relationships/notesSlide" Target="/ppt/notesSlides/notesSlide4.xml" Id="R8c910a3cc91947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c41a4be754365" /><Relationship Type="http://schemas.openxmlformats.org/officeDocument/2006/relationships/notesSlide" Target="/ppt/notesSlides/notesSlide5.xml" Id="R752c4af0e44a40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9020d8255476b" /><Relationship Type="http://schemas.openxmlformats.org/officeDocument/2006/relationships/notesSlide" Target="/ppt/notesSlides/notesSlide6.xml" Id="R2620aa16085a4c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7ac9544e7426c" /><Relationship Type="http://schemas.openxmlformats.org/officeDocument/2006/relationships/notesSlide" Target="/ppt/notesSlides/notesSlide7.xml" Id="Rf29a661ab5e94d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a5e9de8db4601" /><Relationship Type="http://schemas.openxmlformats.org/officeDocument/2006/relationships/notesSlide" Target="/ppt/notesSlides/notesSlide8.xml" Id="Rb06ef227c05340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1bd94a4024215" /><Relationship Type="http://schemas.openxmlformats.org/officeDocument/2006/relationships/notesSlide" Target="/ppt/notesSlides/notesSlide9.xml" Id="R93b975a5ded04d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e788d9ef64b8b" /><Relationship Type="http://schemas.openxmlformats.org/officeDocument/2006/relationships/notesSlide" Target="/ppt/notesSlides/notesSlide10.xml" Id="Rcf185faac0514c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9f14bcff84fe5" /><Relationship Type="http://schemas.openxmlformats.org/officeDocument/2006/relationships/notesSlide" Target="/ppt/notesSlides/notesSlide11.xml" Id="R8445cd67e6a140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3dbbf3f004c63" /><Relationship Type="http://schemas.openxmlformats.org/officeDocument/2006/relationships/notesSlide" Target="/ppt/notesSlides/notesSlide12.xml" Id="R4af9aba1b8b745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088a85a714d99" /><Relationship Type="http://schemas.openxmlformats.org/officeDocument/2006/relationships/notesSlide" Target="/ppt/notesSlides/notesSlide13.xml" Id="R46ce18da004141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4f5e50f3441b1" /><Relationship Type="http://schemas.openxmlformats.org/officeDocument/2006/relationships/notesSlide" Target="/ppt/notesSlides/notesSlide14.xml" Id="Rad1781473c9444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81bcb2e89410c" /><Relationship Type="http://schemas.openxmlformats.org/officeDocument/2006/relationships/notesSlide" Target="/ppt/notesSlides/notesSlide15.xml" Id="R6ac5d9e1b9eb43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ebd5c11f442b3" /><Relationship Type="http://schemas.openxmlformats.org/officeDocument/2006/relationships/notesSlide" Target="/ppt/notesSlides/notesSlide16.xml" Id="Raf9c7a6db4dc4e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8fa91f3d54fd9" /><Relationship Type="http://schemas.openxmlformats.org/officeDocument/2006/relationships/notesSlide" Target="/ppt/notesSlides/notesSlide17.xml" Id="R66ca8bc4934948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82c62ca5a498f" /><Relationship Type="http://schemas.openxmlformats.org/officeDocument/2006/relationships/notesSlide" Target="/ppt/notesSlides/notesSlide18.xml" Id="R51e6889f570c43c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bcea0fd4e46c4" /><Relationship Type="http://schemas.openxmlformats.org/officeDocument/2006/relationships/notesSlide" Target="/ppt/notesSlides/notesSlide19.xml" Id="R7c46de4843e041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3411f2fff4f6c" /><Relationship Type="http://schemas.openxmlformats.org/officeDocument/2006/relationships/notesSlide" Target="/ppt/notesSlides/notesSlide20.xml" Id="R3f49ebf89931443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345ef16e040da" /><Relationship Type="http://schemas.openxmlformats.org/officeDocument/2006/relationships/notesSlide" Target="/ppt/notesSlides/notesSlide21.xml" Id="R77bb3e023e0c43e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6d21035a64d45" /><Relationship Type="http://schemas.openxmlformats.org/officeDocument/2006/relationships/notesSlide" Target="/ppt/notesSlides/notesSlide22.xml" Id="Rff17314d69a44c2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9d6dd13b743b0" /><Relationship Type="http://schemas.openxmlformats.org/officeDocument/2006/relationships/notesSlide" Target="/ppt/notesSlides/notesSlide23.xml" Id="R5b16810f6a734e4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33e5df4c44a62" /><Relationship Type="http://schemas.openxmlformats.org/officeDocument/2006/relationships/notesSlide" Target="/ppt/notesSlides/notesSlide24.xml" Id="R0fd9024fd0c3454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724f40a794920" /><Relationship Type="http://schemas.openxmlformats.org/officeDocument/2006/relationships/notesSlide" Target="/ppt/notesSlides/notesSlide25.xml" Id="R352ac062affa419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3d7994d024526" /><Relationship Type="http://schemas.openxmlformats.org/officeDocument/2006/relationships/notesSlide" Target="/ppt/notesSlides/notesSlide26.xml" Id="R3602f9ede76045b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efc87a6774bbd" /><Relationship Type="http://schemas.openxmlformats.org/officeDocument/2006/relationships/notesSlide" Target="/ppt/notesSlides/notesSlide27.xml" Id="Rf9c7c2e1a03c4fd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8c1b02aa14d27" /><Relationship Type="http://schemas.openxmlformats.org/officeDocument/2006/relationships/notesSlide" Target="/ppt/notesSlides/notesSlide28.xml" Id="R849da2f7e2fb4c9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59e9e79ed4918" /><Relationship Type="http://schemas.openxmlformats.org/officeDocument/2006/relationships/notesSlide" Target="/ppt/notesSlides/notesSlide29.xml" Id="Rb462178ef5c3469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9643961284a31" /><Relationship Type="http://schemas.openxmlformats.org/officeDocument/2006/relationships/notesSlide" Target="/ppt/notesSlides/notesSlide30.xml" Id="R96770d17163e4fb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b1774e03e44ba" /><Relationship Type="http://schemas.openxmlformats.org/officeDocument/2006/relationships/notesSlide" Target="/ppt/notesSlides/notesSlide31.xml" Id="R93466bc11eeb4d0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96c36dd6e46f0" /><Relationship Type="http://schemas.openxmlformats.org/officeDocument/2006/relationships/notesSlide" Target="/ppt/notesSlides/notesSlide32.xml" Id="Rc2d36259a4904ec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43b7095d340ff" /><Relationship Type="http://schemas.openxmlformats.org/officeDocument/2006/relationships/notesSlide" Target="/ppt/notesSlides/notesSlide33.xml" Id="R9ba946e136f54c9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a08729f494b9b" /><Relationship Type="http://schemas.openxmlformats.org/officeDocument/2006/relationships/notesSlide" Target="/ppt/notesSlides/notesSlide34.xml" Id="R3267109a74b444b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8e88c3d25411a" /><Relationship Type="http://schemas.openxmlformats.org/officeDocument/2006/relationships/notesSlide" Target="/ppt/notesSlides/notesSlide35.xml" Id="Ra320691806d5416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c0120947d4908" /><Relationship Type="http://schemas.openxmlformats.org/officeDocument/2006/relationships/notesSlide" Target="/ppt/notesSlides/notesSlide36.xml" Id="R33e717732b2c4bd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67a7566e84684" /><Relationship Type="http://schemas.openxmlformats.org/officeDocument/2006/relationships/notesSlide" Target="/ppt/notesSlides/notesSlide37.xml" Id="Racd07918a2f24c7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f164ea34b4827" /><Relationship Type="http://schemas.openxmlformats.org/officeDocument/2006/relationships/notesSlide" Target="/ppt/notesSlides/notesSlide38.xml" Id="R700b7b7926aa448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e7bf36d8d4915" /><Relationship Type="http://schemas.openxmlformats.org/officeDocument/2006/relationships/notesSlide" Target="/ppt/notesSlides/notesSlide39.xml" Id="R13ec47a2e1e44df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bd2503cdd4e60" /><Relationship Type="http://schemas.openxmlformats.org/officeDocument/2006/relationships/notesSlide" Target="/ppt/notesSlides/notesSlide40.xml" Id="R99be2e2e552c464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4d2185e34422f" /><Relationship Type="http://schemas.openxmlformats.org/officeDocument/2006/relationships/notesSlide" Target="/ppt/notesSlides/notesSlide41.xml" Id="R4270efc2be57487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5d629b308404f" /><Relationship Type="http://schemas.openxmlformats.org/officeDocument/2006/relationships/notesSlide" Target="/ppt/notesSlides/notesSlide42.xml" Id="R094b49b6a48644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A78AB-685E-4F0D-9EAD-4F634AF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1C913-C5B6-4F03-AA89-ADA329C3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0470F-32D3-4872-8A4C-197688B7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LESSON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7FA80-3DC0-4CC2-8185-9397AF3A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28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Apache Spark: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от данных к плану выполнения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079DD-C1D5-4103-912A-26D66839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6D9DC"/>
                </a:solidFill>
              </a:defRPr>
            </a:pPr>
            <a:r>
              <a:rPr sz="1875" b="0">
                <a:solidFill>
                  <a:srgbClr val="D6D9DC"/>
                </a:solidFill>
              </a:rPr>
              <a:t>Практическое погружение в PySpark для начинающего Data Engineer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65B9F-EE33-471B-8322-F80E44ED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B61FC-E118-4712-803F-0E9E4012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D9DC"/>
                </a:solidFill>
              </a:defRPr>
            </a:pPr>
            <a:r>
              <a:rPr sz="1350" b="1">
                <a:solidFill>
                  <a:srgbClr val="D6D9DC"/>
                </a:solidFill>
              </a:rPr>
              <a:t>Core · 60 минут  |  Deep dive · +30 минут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861D1-8A38-4FC6-9A40-D6DF2B35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721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E25A1C"/>
                </a:solidFill>
              </a:defRPr>
            </a:pPr>
            <a:r>
              <a:rPr sz="2100" b="1">
                <a:solidFill>
                  <a:srgbClr val="E25A1C"/>
                </a:solidFill>
              </a:rPr>
              <a:t>PYSPARK</a:t>
            </a:r>
          </a:p>
        </p:txBody>
      </p:sp>
    </p:spTree>
    <p:extLst>
      <p:ext uri="{BB962C8B-B14F-4D97-AF65-F5344CB8AC3E}">
        <p14:creationId xmlns:p14="http://schemas.microsoft.com/office/powerpoint/2010/main" val="224206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5CDD28-F2BC-471A-AF29-FEAC568E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ЗАЧЕМ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88C3C-E236-4B7D-980E-A1B53586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E46C6-3B88-4430-BC18-48FEE1D0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6BB48-2061-4D6F-B998-66A1ED25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BC6C3-8D73-4100-A821-1CE8980F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Локальный Python больше не укладывается в SLA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53ED9-8D61-4366-A5E5-63D8BE85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2318"/>
                </a:solidFill>
              </a:defRPr>
            </a:pPr>
            <a:r>
              <a:rPr sz="2325" b="1">
                <a:solidFill>
                  <a:srgbClr val="B42318"/>
                </a:solidFill>
              </a:rPr>
              <a:t>120 ГБ событий · 18 минут до дедлайна · один процесс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5CDBA-DFAB-46CF-A41A-D56D4204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0ED7B-7D07-4071-84F1-B3800591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3"/>
                </a:solidFill>
              </a:defRPr>
            </a:pPr>
            <a:r>
              <a:rPr sz="1800" b="0">
                <a:solidFill>
                  <a:srgbClr val="202123"/>
                </a:solidFill>
              </a:rPr>
              <a:t>Память заканчивается раньше данных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7FDB5-3BB2-4D36-BF13-0965A2FB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63BFA-F526-4FE8-B658-65DF4BE1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3"/>
                </a:solidFill>
              </a:defRPr>
            </a:pPr>
            <a:r>
              <a:rPr sz="1800" b="0">
                <a:solidFill>
                  <a:srgbClr val="202123"/>
                </a:solidFill>
              </a:rPr>
              <a:t>Повторный запуск начинается с нуля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13DC6-2006-476A-B01F-B42C9910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73B6C-1D63-4139-85BF-BEAD0DED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630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3"/>
                </a:solidFill>
              </a:defRPr>
            </a:pPr>
            <a:r>
              <a:rPr sz="1800" b="0">
                <a:solidFill>
                  <a:srgbClr val="202123"/>
                </a:solidFill>
              </a:rPr>
              <a:t>Ускорение упирается в один CPU и один диск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DE10D-F1DD-490B-AFE3-E217B5F1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81200"/>
            <a:ext cx="36766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0C59F-6218-45ED-9AE9-00443F46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SLA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14D36-7B83-464C-A023-BC8E8318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276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25A1C"/>
                </a:solidFill>
              </a:defRPr>
            </a:pPr>
            <a:r>
              <a:rPr sz="4350" b="1">
                <a:solidFill>
                  <a:srgbClr val="E25A1C"/>
                </a:solidFill>
              </a:rPr>
              <a:t>18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34E2E-1C95-4A55-A6C4-14FA239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</a:defRPr>
            </a:pPr>
            <a:r>
              <a:rPr sz="1575" b="0">
                <a:solidFill>
                  <a:srgbClr val="E5E7EB"/>
                </a:solidFill>
              </a:rPr>
              <a:t>Нужен не “быстрый pandas”, а другая модель выполнения.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160853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0A656C-374F-4573-9BE1-406F1D16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КОНТРАКТ ЛЕКЦИИ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2205D-52FA-4B5D-848E-4EC6C68A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45C6D-38DC-4F92-BB2E-0CE6F523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03928-7EA5-4E27-A1BE-1872CB55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BAEC3-5B53-404D-A23F-17E9039F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После лекции вы сможете объяснить Spark через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0321E-91E5-4180-8D4B-A371BD7A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25A1C"/>
                </a:solidFill>
              </a:defRPr>
            </a:pPr>
            <a:r>
              <a:rPr sz="2625" b="1">
                <a:solidFill>
                  <a:srgbClr val="E25A1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DB680-B94D-4211-9F0F-0E8677C3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76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Модель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43776-EE79-46BA-8AA3-779AEC74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68"/>
                </a:solidFill>
              </a:defRPr>
            </a:pPr>
            <a:r>
              <a:rPr sz="1650" b="0">
                <a:solidFill>
                  <a:srgbClr val="6E6E68"/>
                </a:solidFill>
              </a:rPr>
              <a:t>Driver, executors, partitions, jobs и stages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74DE6-D033-48BE-85F7-CB383587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5272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5EF8A-46B2-4706-9BFA-C80FE492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25A1C"/>
                </a:solidFill>
              </a:defRPr>
            </a:pPr>
            <a:r>
              <a:rPr sz="2625" b="1">
                <a:solidFill>
                  <a:srgbClr val="E25A1C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DEE9D-4559-4217-BC98-5C7E869D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48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6E849-C296-4AAA-B0A3-F5130BAC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670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68"/>
                </a:solidFill>
              </a:defRPr>
            </a:pPr>
            <a:r>
              <a:rPr sz="1650" b="0">
                <a:solidFill>
                  <a:srgbClr val="6E6E68"/>
                </a:solidFill>
              </a:rPr>
              <a:t>DataFrame-пайплайн без Python UDF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68598-226D-4D8F-A454-B9B4CA2E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2427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3D332-5004-4208-92B6-CB208993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25A1C"/>
                </a:solidFill>
              </a:defRPr>
            </a:pPr>
            <a:r>
              <a:rPr sz="2625" b="1">
                <a:solidFill>
                  <a:srgbClr val="E25A1C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F3833-3D8F-437F-9A9D-5EADA66E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19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План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BD28B-4372-44B3-AF63-3777D9F6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38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68"/>
                </a:solidFill>
              </a:defRPr>
            </a:pPr>
            <a:r>
              <a:rPr sz="1650" b="0">
                <a:solidFill>
                  <a:srgbClr val="6E6E68"/>
                </a:solidFill>
              </a:rPr>
              <a:t>Exchange, join strategy и AQE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2D898-49E3-4CE5-9AB4-4F2AAD56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95825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A3635-E526-4077-8E89-8FE756B7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25A1C"/>
                </a:solidFill>
              </a:defRPr>
            </a:pPr>
            <a:r>
              <a:rPr sz="2625" b="1">
                <a:solidFill>
                  <a:srgbClr val="E25A1C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8D305-D2AF-4038-9C8F-25B64B64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Наблюдение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D18A9-7C73-49D9-BC90-87194490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101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68"/>
                </a:solidFill>
              </a:defRPr>
            </a:pPr>
            <a:r>
              <a:rPr sz="1650" b="0">
                <a:solidFill>
                  <a:srgbClr val="6E6E68"/>
                </a:solidFill>
              </a:rPr>
              <a:t>Spark UI: где искать shuffle и skew</a:t>
            </a:r>
          </a:p>
        </p:txBody>
      </p:sp>
    </p:spTree>
    <p:extLst>
      <p:ext uri="{BB962C8B-B14F-4D97-AF65-F5344CB8AC3E}">
        <p14:creationId xmlns:p14="http://schemas.microsoft.com/office/powerpoint/2010/main" val="6279273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C6F40-597C-43EB-846B-83F4C10A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4B0E2-1196-4085-97B6-E42672C8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A3D4B-7830-4CCB-BBA5-50EAAA3B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7EF21-8E62-4DE2-8884-80F934E5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E8F6A-754A-409C-A4BC-478C9139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Big Data — это ограничение workload, а не ярлык размера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2D36D-B7DA-46AF-8078-D097A0A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428"/>
                </a:solidFill>
              </a:defRPr>
            </a:pPr>
            <a:r>
              <a:rPr sz="2775" b="1">
                <a:solidFill>
                  <a:srgbClr val="1F2428"/>
                </a:solidFill>
              </a:rPr>
              <a:t>“Данные становятся “big”, когда привычная архитектура перестаёт выполнять обещания.”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2BDE9-670A-4B9C-B148-BE0596E7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9B7A9-58C1-4B31-B8A0-BF095AAA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5A1C"/>
                </a:solidFill>
              </a:defRPr>
            </a:pPr>
            <a:r>
              <a:rPr sz="1275" b="1">
                <a:solidFill>
                  <a:srgbClr val="E25A1C"/>
                </a:solidFill>
              </a:rPr>
              <a:t>ОБЪЁМ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C30BE-8008-4DDF-BDA8-D14A82D5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СКОРОСТЬ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22B1A-035B-4640-B614-0ED0C060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РАЗНООБРАЗИЕ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3FA78-6D09-4CF7-A09B-E9AA1323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СТОИМОСТЬ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3C453-52C6-4C15-A087-16D874F7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СБОИ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7696C-48D5-47CD-9075-366C55AE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68"/>
                </a:solidFill>
              </a:defRPr>
            </a:pPr>
            <a:r>
              <a:rPr sz="1650" b="0">
                <a:solidFill>
                  <a:srgbClr val="6E6E68"/>
                </a:solidFill>
              </a:rPr>
              <a:t>Сначала формулируем SLA и профиль нагрузки — потом выбираем движок.</a:t>
            </a:r>
          </a:p>
        </p:txBody>
      </p:sp>
    </p:spTree>
    <p:extLst>
      <p:ext uri="{BB962C8B-B14F-4D97-AF65-F5344CB8AC3E}">
        <p14:creationId xmlns:p14="http://schemas.microsoft.com/office/powerpoint/2010/main" val="602088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1E698-730E-4958-B633-A60799F7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ИСТОРИЯ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37F88-36CC-42B2-A648-93DFD6BE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FD4DC-FF4F-4BDE-AF9E-4F636B4D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4F080-0CE2-4BD6-A6CA-E4D1EB8F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104F6-F1EF-4EA2-9D2B-EDC224EC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Распределённые системы сделали сбой штатным событием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C9E5D-48FA-467E-BDCB-74F1ACC1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CBCCC-B731-4457-81CD-F7D65BE5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C6464-B7D7-4D77-8EDC-3874E1A8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FED"/>
                </a:solidFill>
              </a:defRPr>
            </a:pPr>
            <a:r>
              <a:rPr sz="2175" b="1">
                <a:solidFill>
                  <a:srgbClr val="2F6FED"/>
                </a:solidFill>
              </a:rPr>
              <a:t>2003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5AD62-974F-4773-BF42-31228A49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Google File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1C655-60FC-433C-BE04-DF990FEF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276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Данные разбиты на блоки, реплицированы и распределены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CBC2A-A49D-4093-9CC7-E353385F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F99EE-6BDD-4FA8-8C9B-8E6F9D43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5265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FED"/>
                </a:solidFill>
              </a:defRPr>
            </a:pPr>
            <a:r>
              <a:rPr sz="2175" b="1">
                <a:solidFill>
                  <a:srgbClr val="2F6FED"/>
                </a:solidFill>
              </a:rPr>
              <a:t>2004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1E803-2A15-4114-8075-3BF8E87C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MapReduce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AA56E-B992-4FBB-9C31-B6B025C1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276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Планирование, partitioning и retry стали частью 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A0CDB-7D0A-4ED3-AE7B-F2A5863B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42F94-9900-4F2A-9333-F9B86816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25A1C"/>
                </a:solidFill>
              </a:defRPr>
            </a:pPr>
            <a:r>
              <a:rPr sz="2175" b="1">
                <a:solidFill>
                  <a:srgbClr val="E25A1C"/>
                </a:solidFill>
              </a:rPr>
              <a:t>Вывод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4EEBE-BED9-42C7-BA6B-EF690C5D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81375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Не предотвращать каждый сбой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F1C21-DF5E-4474-A5BA-E1D076E0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95750"/>
            <a:ext cx="3276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Проектировать вычисление так, чтобы его можно было повторить</a:t>
            </a:r>
          </a:p>
        </p:txBody>
      </p:sp>
    </p:spTree>
    <p:extLst>
      <p:ext uri="{BB962C8B-B14F-4D97-AF65-F5344CB8AC3E}">
        <p14:creationId xmlns:p14="http://schemas.microsoft.com/office/powerpoint/2010/main" val="14191333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EFD2F-CD0D-4925-83CF-1B3E9A89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ИСТОРИЯ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E317D-7AAF-407B-9400-FDE065E3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645C3-545C-4509-B511-00A7BC9B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F1A10-CF4B-448E-9A41-639C43B9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7A802-D3F7-4FAD-9C72-72C9A26B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MapReduce автоматизировал масштабирование — но оставил цену итераций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17A2E-5260-4943-BCB1-C5416764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8"/>
                </a:solidFill>
              </a:defRPr>
            </a:pPr>
            <a:r>
              <a:rPr sz="1200" b="1">
                <a:solidFill>
                  <a:srgbClr val="6E6E68"/>
                </a:solidFill>
              </a:rPr>
              <a:t>MAPREDUCE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7F246-D4A5-44DD-9263-5EDDD43E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428"/>
                </a:solidFill>
              </a:defRPr>
            </a:pPr>
            <a:r>
              <a:rPr sz="2325" b="1">
                <a:solidFill>
                  <a:srgbClr val="1F2428"/>
                </a:solidFill>
              </a:rPr>
              <a:t>Map → disk → 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D47CA-76EB-4C5D-BC48-C85DD531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430E0-F558-43E3-B0C1-DFAE0254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Надёжный batch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1B30D-D95E-4F36-8C9D-6A45ED63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5B1A2-854C-4363-94DC-AAED0206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Явные границы фаз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2A5FE-09B7-4EF7-9B35-F7CECCB7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D011A-7436-4B73-BF3B-9C30B824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Много промежуточного I/O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5FC08-10C4-4314-B9C0-79809F00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SPARK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D3632-CFFE-4190-A27B-BB8941AC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428"/>
                </a:solidFill>
              </a:defRPr>
            </a:pPr>
            <a:r>
              <a:rPr sz="2325" b="1">
                <a:solidFill>
                  <a:srgbClr val="1F2428"/>
                </a:solidFill>
              </a:rPr>
              <a:t>DAG → оптимизированный план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A3AB7-7CE3-486D-AA91-C55BC291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E2A3C-EE30-4C76-B20D-9310AE4C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814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Переиспользование данных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7E061-2090-4FF2-893B-702B1FAE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D8E94-A959-4B02-9EDE-8E7B813B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7197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Несколько API на одном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CB874-A9F9-48B4-AFAF-B92D3458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9D69E-4DB4-4A34-B16F-C77DA4FE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625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Интерактивная разработка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9419B2-CF1B-4B3B-8227-C9706AC1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88612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1C63A2-47FE-4712-B8EE-D4F25652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ИСТОРИЯ 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3F2C9-B914-4DE1-A2E9-42AD76CB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E3797-369C-4A64-9BEB-5C371750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902B0-7371-4EBB-9690-BBCF4967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BC75A-91C5-4458-B3B0-D2ECB27B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Spark вырос из задачи ускорить повторные вычисления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94646-3722-4E52-B9B1-86792A48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C6BFF-8EF5-49EE-9A41-64DD3313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10721-D92D-41BF-A1BD-5590DFAE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FED"/>
                </a:solidFill>
              </a:defRPr>
            </a:pPr>
            <a:r>
              <a:rPr sz="2175" b="1">
                <a:solidFill>
                  <a:srgbClr val="2F6FED"/>
                </a:solidFill>
              </a:rPr>
              <a:t>2009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973DF-983F-46D4-8DD9-7E063DC0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UC Berkeley AMPLab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4D827-BA19-4323-A5D6-8CCC3F6E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45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Исследовательский проект для кластерной аналитики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62115-5D3F-4274-817E-66725E67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3387F-AC2C-46DB-A5AF-14F7408B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5265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FED"/>
                </a:solidFill>
              </a:defRPr>
            </a:pPr>
            <a:r>
              <a:rPr sz="2175" b="1">
                <a:solidFill>
                  <a:srgbClr val="2F6FED"/>
                </a:solidFill>
              </a:rPr>
              <a:t>2010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20BD5-4F66-4984-BD38-D9BA6824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813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Open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0861D-8908-41CE-8BBE-58B0D2D9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95750"/>
            <a:ext cx="245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Проект становится доступен сообществу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43917-FEC2-4419-96FA-D90F843F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7D943-5D7D-4E38-A665-2515A56C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5265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FED"/>
                </a:solidFill>
              </a:defRPr>
            </a:pPr>
            <a:r>
              <a:rPr sz="2175" b="1">
                <a:solidFill>
                  <a:srgbClr val="2F6FED"/>
                </a:solidFill>
              </a:rPr>
              <a:t>2013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984E8-FF06-4EA6-B3CF-7A69818A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813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Apache Software Foundation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86708-7328-4D2C-819A-607A5021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245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Spark переходит в Apache Incubator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05AF1-65E7-45DB-A0AE-0444A3BD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58CEA-6E66-487F-A1E9-6503E027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25A1C"/>
                </a:solidFill>
              </a:defRPr>
            </a:pPr>
            <a:r>
              <a:rPr sz="2175" b="1">
                <a:solidFill>
                  <a:srgbClr val="E25A1C"/>
                </a:solidFill>
              </a:rPr>
              <a:t>Сегодня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5B6B0-E702-421B-B6C7-2DA5DB33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Единый engine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41998-F320-4D71-9CAE-D4FDF734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45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SQL, batch, streaming и ML на общей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5890213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BA639-4998-4249-815C-BAA6A21B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МЕНТАЛЬНАЯ 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7C315-AC49-4065-889A-156F51A5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E1D19-24E9-4639-A291-4ED772CD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E88C9-52F7-4684-A43C-0158C977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CFD25-4B93-497F-A070-2AAB9688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Spark — compute engine, а не база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557E6-6F99-4C12-ABF1-AC6302E9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A37F"/>
                </a:solidFill>
              </a:defRPr>
            </a:pPr>
            <a:r>
              <a:rPr sz="1275" b="1">
                <a:solidFill>
                  <a:srgbClr val="10A37F"/>
                </a:solidFill>
              </a:rPr>
              <a:t>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0EB45-7576-40DA-A1FD-BA88CB3B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НЕ 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B0C29-A3A4-48A2-86C7-E536C4E8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478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CF470-7392-49AA-9A78-F0592247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006AC-3452-4900-94AE-5283C103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Планирует DAG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4DC7F-3875-414A-B664-5DBFA081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931FE-C56A-4342-982D-CFF2710F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Распределяет задачи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9454F-6A03-443B-9EF4-4091FD51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4B2AA-0DE5-4A71-B11D-681F1784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Выполняет трансформации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2503D-CDF0-48AA-A104-FCD28FAD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20B48-C26F-4F64-8A70-F1B22B0A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Повторяет потерянные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3885F-FE59-4E60-AC37-4E178DCF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032C8-0143-48DE-B059-63C6329E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Не владеет бизнес-данными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AB608-AFFD-4C33-937A-6AAA531F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6F10F-4C4D-40BF-B093-021C1B72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Не заменяет каталог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6A207-8ACF-43D0-8F3C-14A433DD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6B6D1-5FB8-47D2-BF26-27806C52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Не гарантирует OLTP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E4B9D5-EEE3-4B77-A13A-071A96DC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7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9B731-5146-4108-A2C5-3EFD7BE6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Не выбирает SLA за вас</a:t>
            </a:r>
          </a:p>
        </p:txBody>
      </p:sp>
    </p:spTree>
    <p:extLst>
      <p:ext uri="{BB962C8B-B14F-4D97-AF65-F5344CB8AC3E}">
        <p14:creationId xmlns:p14="http://schemas.microsoft.com/office/powerpoint/2010/main" val="1181529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66AB7-2353-4DEC-A3E8-70DF3726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АРХИТЕКТУРНЫЙ ВЫБОР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BFF3A-78C0-4F3B-81E4-9214E8C3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BFA79-BCC3-41EA-A31D-A658C0CE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E2524-5909-4446-8CD0-1716EB7C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554BB-6608-452F-A247-3AF9762B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Иногда лучший Spark job — тот, который вы не запускаете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9EE2F-DD71-40D9-ABA9-EDBD48BB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2123"/>
                </a:solidFill>
              </a:defRPr>
            </a:pPr>
            <a:r>
              <a:rPr sz="2250" b="1">
                <a:solidFill>
                  <a:srgbClr val="202123"/>
                </a:solidFill>
              </a:rPr>
              <a:t>Данные и SLA действительно требуют распределённого вычисления?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78612-5074-4EDA-90FD-AF7080EF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EEE8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46611-0FBB-40D0-8678-3635733A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24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8"/>
                </a:solidFill>
              </a:defRPr>
            </a:pPr>
            <a:r>
              <a:rPr sz="1200" b="1">
                <a:solidFill>
                  <a:srgbClr val="6E6E68"/>
                </a:solidFill>
              </a:rPr>
              <a:t>НЕТ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ED538-FBFA-4072-9409-C6C33C07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123"/>
                </a:solidFill>
              </a:defRPr>
            </a:pPr>
            <a:r>
              <a:rPr sz="2100" b="1">
                <a:solidFill>
                  <a:srgbClr val="202123"/>
                </a:solidFill>
              </a:rPr>
              <a:t>SQL в DWH / DuckDB / 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A5CAD-8E3F-4F43-94A6-28D3DFEA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672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Меньше инфраструктуры и быстрее обратная связь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B9037-B308-441E-8C3F-C50ECEEE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0A8BE-2DD0-4B2D-838D-61ACBF57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ДА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62096-CC13-4B70-8FBE-3C522553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A8A33-CE68-4AC9-A587-3314C581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D9DC"/>
                </a:solidFill>
              </a:defRPr>
            </a:pPr>
            <a:r>
              <a:rPr sz="1425" b="0">
                <a:solidFill>
                  <a:srgbClr val="D6D9DC"/>
                </a:solidFill>
              </a:rPr>
              <a:t>Когда нужны параллелизм, fault tolerance и единый batch API</a:t>
            </a:r>
          </a:p>
        </p:txBody>
      </p:sp>
    </p:spTree>
    <p:extLst>
      <p:ext uri="{BB962C8B-B14F-4D97-AF65-F5344CB8AC3E}">
        <p14:creationId xmlns:p14="http://schemas.microsoft.com/office/powerpoint/2010/main" val="20177041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14DCB-3397-4A19-B59B-BD950C12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2F329-2981-4866-9153-17B2F20F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7788E-7C1F-4DEA-9B06-29B311A2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B8FBE-DF51-4CB6-91DD-271046B5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C5A66-60A6-4565-82C1-7D032349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Один Spark application — один driver и набор executors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60034-4907-46D7-A243-F337814F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48025"/>
            <a:ext cx="704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8AA33-6BC7-44C2-8639-86CD7A85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908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25A1C"/>
                </a:solidFill>
              </a:defRPr>
            </a:pPr>
            <a:r>
              <a:rPr sz="255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01FA6-DBAC-44E2-99E9-0C63A056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908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25A1C"/>
                </a:solidFill>
              </a:defRPr>
            </a:pPr>
            <a:r>
              <a:rPr sz="255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662DF-C9C6-45CB-AA46-B04C3A37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908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25A1C"/>
                </a:solidFill>
              </a:defRPr>
            </a:pPr>
            <a:r>
              <a:rPr sz="255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231BE-BC6F-47B6-B5F3-AFC81D1B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A201E-E199-419E-B1C2-CBC090B3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25A1C"/>
                </a:solidFill>
              </a:defRPr>
            </a:pPr>
            <a:r>
              <a:rPr sz="1725" b="1">
                <a:solidFill>
                  <a:srgbClr val="E25A1C"/>
                </a:solidFill>
              </a:rPr>
              <a:t>Driver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81DB1-CA2D-44DB-B7A2-B864C664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733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SparkSession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DAG + scheduling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389FF-7900-462E-8AE3-E84C3BEF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33625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962E4-70AB-4560-8D55-CFD15717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FED"/>
                </a:solidFill>
              </a:defRPr>
            </a:pPr>
            <a:r>
              <a:rPr sz="1725" b="1">
                <a:solidFill>
                  <a:srgbClr val="2F6FED"/>
                </a:solidFill>
              </a:rPr>
              <a:t>Executor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B2C45-CF7A-4D5C-B853-D2E18D96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19450"/>
            <a:ext cx="1733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partition 0</a:t>
            </a:r>
          </a:p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partition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3345A-89B3-4791-AFCA-CB92FCCC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60F8A-7338-4BE3-9CA6-DCABBC3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FED"/>
                </a:solidFill>
              </a:defRPr>
            </a:pPr>
            <a:r>
              <a:rPr sz="1725" b="1">
                <a:solidFill>
                  <a:srgbClr val="2F6FED"/>
                </a:solidFill>
              </a:rPr>
              <a:t>Executor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F4569-F9C2-4DC1-B90D-34FC0390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19450"/>
            <a:ext cx="1733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partition 1</a:t>
            </a:r>
          </a:p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partition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E5E749-C02D-4D52-B9CD-1F8E6F67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33625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85756-C3DD-4CDF-81F9-8331892D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FED"/>
                </a:solidFill>
              </a:defRPr>
            </a:pPr>
            <a:r>
              <a:rPr sz="1725" b="1">
                <a:solidFill>
                  <a:srgbClr val="2F6FED"/>
                </a:solidFill>
              </a:rPr>
              <a:t>Executor 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45ED3-6676-4EC2-A680-82193FC0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19450"/>
            <a:ext cx="1733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partition 2</a:t>
            </a:r>
          </a:p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partition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B7DDF0-EE86-417C-9436-6ECE4DE1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E6E68"/>
                </a:solidFill>
              </a:defRPr>
            </a:pPr>
            <a:r>
              <a:rPr sz="1650" b="0">
                <a:solidFill>
                  <a:srgbClr val="6E6E68"/>
                </a:solidFill>
              </a:rPr>
              <a:t>Driver координирует. Executors считают. Данные движутся между ними только при необходимости.</a:t>
            </a:r>
          </a:p>
        </p:txBody>
      </p:sp>
    </p:spTree>
    <p:extLst>
      <p:ext uri="{BB962C8B-B14F-4D97-AF65-F5344CB8AC3E}">
        <p14:creationId xmlns:p14="http://schemas.microsoft.com/office/powerpoint/2010/main" val="20761592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61CB2-CA5B-4BB1-943B-A41BE88D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B175C-BB5C-444B-8F38-BD5CE454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226E3-25D5-4D38-91CE-0B9396B2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2A73E-A99D-4AE5-AE42-71CDAD0F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5FB42-EF72-418F-9569-09073617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Cluster manager выдаёт ресурсы — Spark управляет вычислением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5CD7D-0719-4D07-BEFA-6012A5B6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8"/>
                </a:solidFill>
              </a:defRPr>
            </a:pPr>
            <a:r>
              <a:rPr sz="1200" b="1">
                <a:solidFill>
                  <a:srgbClr val="6E6E68"/>
                </a:solidFill>
              </a:rPr>
              <a:t>CLUSTER 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9D430-6C52-40DC-91EC-BF8D5DD9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428"/>
                </a:solidFill>
              </a:defRPr>
            </a:pPr>
            <a:r>
              <a:rPr sz="2325" b="1">
                <a:solidFill>
                  <a:srgbClr val="1F2428"/>
                </a:solidFill>
              </a:rPr>
              <a:t>Кому дать CPU и memory?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92DB1-B1F0-4EC4-8B7D-86AF4CFD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DD9A9-6174-4ED4-8FD9-160BB9DD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Standalone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33CBF-F66B-4C6B-A515-6903678F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7428D-80D5-488E-B1CB-29529026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Kubernetes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E3C5A-CA7D-4495-BEC0-F0328B01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085BC-DFE1-4D5C-8E38-935AD3A5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YARN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1FD47-B660-413C-8619-7E734B20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SPARK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7BF13-635F-46A5-882B-D4E57D7D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428"/>
                </a:solidFill>
              </a:defRPr>
            </a:pPr>
            <a:r>
              <a:rPr sz="2325" b="1">
                <a:solidFill>
                  <a:srgbClr val="1F2428"/>
                </a:solidFill>
              </a:rPr>
              <a:t>Какие tasks выполнить?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16FD6-E7ED-4E32-90AD-05B879E1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6AA3C-F530-4844-A5DE-B593AE48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814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Driver строит план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06602-6C4A-4B91-BECD-B8A0865A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F14076-DC9B-4EF6-A19F-156A41AA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7197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Executors выполняют tasks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75138-92B1-4698-9135-6E99B9F1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0E8D3-BF86-41A2-B814-C1F79D81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625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Spark отслеживает прогресс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B20A8-66DC-4003-955C-97FAA854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15598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8AE5AB-010E-4674-BD13-0CE394B2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ПАРАЛЛЕЛИЗМ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04C7E-81C0-4E21-BDE8-4A1BDB7B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568F7-2399-4AFA-80A0-D3856AD6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BDF3E-AC0D-4CF3-ACA8-F2AD401A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F00D3-454C-4579-ACA0-8361353C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Partition — минимальная порция данных для одной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AE3B4-551D-4AB3-AC22-93C431DB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04AFB-BC2B-4D6E-BFF7-61C7056D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02D04-CEC2-4D12-920D-681F381D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2C8BD-2C07-4A95-BB0E-15258AA7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F7ACA-6722-4480-88D6-4C7F23AC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7CFF8-A1D2-4DA2-995D-A1C751AC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28D67-12EB-4CD8-BE5F-7971D87B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7E16D-51D3-4BBC-8524-3AF1477A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03280-2170-49F7-8303-AD1DAC5D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C7B68-870C-457B-ADB8-A2BE2941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66D6D-7D78-4D74-8EEF-AA797BD6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2F74E-D3AA-450E-967F-1C8705A2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58A37-D0CF-4D5D-9551-EBC016F1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C9DEF-8DE1-4961-90E8-4B7DBE50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33FFD-7C06-4B3F-A62F-AEFB112E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B4833-5040-4228-950B-3CC7F9E7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669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B9724F-DBA5-4F64-9F92-2B482E92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E6E68"/>
                </a:solidFill>
              </a:defRPr>
            </a:pPr>
            <a:r>
              <a:rPr sz="2250" b="0">
                <a:solidFill>
                  <a:srgbClr val="6E6E68"/>
                </a:solidFill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D41C6-036D-478D-B0D2-585AECF2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2247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C4E71-25E1-46F2-B3DF-1E1568AB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Executor 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86186C-E8E3-49D1-89B9-9340A070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E6E68"/>
                </a:solidFill>
              </a:defRPr>
            </a:pPr>
            <a:r>
              <a:rPr sz="2250" b="0">
                <a:solidFill>
                  <a:srgbClr val="6E6E68"/>
                </a:solidFill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D6CB54-B377-470F-91F0-38C52EA5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62375"/>
            <a:ext cx="2247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A6DFF-D92C-4307-B286-D0361CCB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2907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Executor 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6A6BA1-80AD-49FA-920F-79892654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E6E68"/>
                </a:solidFill>
              </a:defRPr>
            </a:pPr>
            <a:r>
              <a:rPr sz="2250" b="0">
                <a:solidFill>
                  <a:srgbClr val="6E6E68"/>
                </a:solidFill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775BBD-7737-4C14-86C5-1DE0ECF3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2375"/>
            <a:ext cx="2247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51919-004F-4AEA-9B28-1F97D061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2907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Executor 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89A61B-15D1-4976-AB92-FD6C4CD0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E6E68"/>
                </a:solidFill>
              </a:defRPr>
            </a:pPr>
            <a:r>
              <a:rPr sz="2250" b="0">
                <a:solidFill>
                  <a:srgbClr val="6E6E68"/>
                </a:solidFill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57D7CE-34ED-4306-A059-5F639B26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62375"/>
            <a:ext cx="2247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184D12-DF6E-4E82-B97B-E67A52E9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2907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Executor 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40675B-614F-4223-BB57-7727B870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25A1C"/>
                </a:solidFill>
              </a:defRPr>
            </a:pPr>
            <a:r>
              <a:rPr sz="1650" b="1">
                <a:solidFill>
                  <a:srgbClr val="E25A1C"/>
                </a:solidFill>
              </a:rPr>
              <a:t>Слишком мало partitions → недогруз. Слишком много → overhead и мелкие файлы.</a:t>
            </a:r>
          </a:p>
        </p:txBody>
      </p:sp>
    </p:spTree>
    <p:extLst>
      <p:ext uri="{BB962C8B-B14F-4D97-AF65-F5344CB8AC3E}">
        <p14:creationId xmlns:p14="http://schemas.microsoft.com/office/powerpoint/2010/main" val="19310944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61FC4-D369-4E24-8281-DA040AB1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DATAFRAME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AA195-DDA2-4811-A7BC-A46DACF8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D4B57-ABE8-4709-B058-7E3EFD81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FF918-2FAF-4A3E-8D9D-C1550154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CE6D4-2477-49A5-9165-6E02DA05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DataFrame — декларативный контракт, а не цикл по строкам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C822F-FEDC-4F63-8A83-EA246755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428"/>
                </a:solidFill>
              </a:defRPr>
            </a:pPr>
            <a:r>
              <a:rPr sz="2775" b="1">
                <a:solidFill>
                  <a:srgbClr val="1F2428"/>
                </a:solidFill>
              </a:rPr>
              <a:t>“Вы описываете результат. Catalyst выбирает физический способ его получить.”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B6921-29BD-4F41-971F-35D41FCF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F6BCB-D103-45CA-AF72-2969E038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5A1C"/>
                </a:solidFill>
              </a:defRPr>
            </a:pPr>
            <a:r>
              <a:rPr sz="1275" b="1">
                <a:solidFill>
                  <a:srgbClr val="E25A1C"/>
                </a:solidFill>
              </a:rPr>
              <a:t>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D5EED-EF70-45A7-8065-49FA178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5E437-AF41-4FF2-97D8-BE0CB3B0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LOGICAL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F7962-8A0E-4DD9-A316-B4CEFA87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OPTIMIZER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78EC7-E6EA-4EFB-BDD9-24DA88E3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6E68"/>
                </a:solidFill>
              </a:defRPr>
            </a:pPr>
            <a:r>
              <a:rPr sz="1275" b="1">
                <a:solidFill>
                  <a:srgbClr val="6E6E68"/>
                </a:solidFill>
              </a:rPr>
              <a:t>PHYSICAL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BAD14-1FC2-4FA5-A5BB-5B859B67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68"/>
                </a:solidFill>
              </a:defRPr>
            </a:pPr>
            <a:r>
              <a:rPr sz="1650" b="0">
                <a:solidFill>
                  <a:srgbClr val="6E6E68"/>
                </a:solidFill>
              </a:rPr>
              <a:t>Чем больше логики видно Catalyst, тем больше свободы для оптимизации.</a:t>
            </a:r>
          </a:p>
        </p:txBody>
      </p:sp>
    </p:spTree>
    <p:extLst>
      <p:ext uri="{BB962C8B-B14F-4D97-AF65-F5344CB8AC3E}">
        <p14:creationId xmlns:p14="http://schemas.microsoft.com/office/powerpoint/2010/main" val="13100541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6CC88-D0C0-4E18-AE0A-65EB9ED3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LAZY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C15FB-AC6D-48BC-8813-ECFDB50D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D23AF-775F-4439-A7D5-09689C66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3E800-AFD9-45E5-A3AD-04DC3FEF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C1447-ECFC-47B8-A55D-80BEC0C2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Transformations строят план — action запускает работу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8DBB3-CD40-4269-989E-AF9BF2E7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467C6-6E02-47BC-9559-F3B632F4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6DCE4-16F0-4651-AC58-F18A247E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20E98-D7BE-49AA-9F68-77C2887E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ленивый источник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3EBCD-0AAB-4E44-8C58-A95B9040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3EFAB-00FE-4700-B470-3AA07622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5E847-6D3F-4911-9525-B730DA7F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8811D-F852-465E-B33A-DD440F24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transformation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E0407-5B6B-4AF8-838A-688EFAEF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DA929-DD36-4572-AAED-699B3F11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0AE4D-5980-4F5E-A1F4-6739A11E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groupBy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73F8F-8F44-43A4-BFE0-9656C8B2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transformation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D598F-AB85-479C-B44E-93339CFB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A364A-8DAE-407D-8ADF-8A53DAC5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25A1C"/>
                </a:solidFill>
              </a:defRPr>
            </a:pPr>
            <a:r>
              <a:rPr sz="1875" b="1">
                <a:solidFill>
                  <a:srgbClr val="E25A1C"/>
                </a:solidFill>
              </a:rPr>
              <a:t>write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17631-60DE-472D-A1BD-BD917EDC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F2089-7221-41AD-BDE2-FDD7F930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25A1C"/>
                </a:solidFill>
              </a:defRPr>
            </a:pPr>
            <a:r>
              <a:rPr sz="1725" b="1">
                <a:solidFill>
                  <a:srgbClr val="E25A1C"/>
                </a:solidFill>
              </a:rPr>
              <a:t>До action Spark может переписать и сократить план.</a:t>
            </a:r>
          </a:p>
        </p:txBody>
      </p:sp>
    </p:spTree>
    <p:extLst>
      <p:ext uri="{BB962C8B-B14F-4D97-AF65-F5344CB8AC3E}">
        <p14:creationId xmlns:p14="http://schemas.microsoft.com/office/powerpoint/2010/main" val="4403351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C7DCB0-0282-4042-9161-95224C69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CC343-BF9F-4573-A84E-388C4A9F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3D993-D976-4FF9-9D61-10B4C278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E1266-C7A7-4DED-850A-1E171287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662D5-1D5E-45FF-943D-4F8A54CF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Один action создаёт job, stages и tasks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7DAD7-721C-48EE-B5C7-8BDB6661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ED"/>
                </a:solidFill>
              </a:defRPr>
            </a:pPr>
            <a:r>
              <a:rPr sz="1875" b="1">
                <a:solidFill>
                  <a:srgbClr val="2F6FED"/>
                </a:solidFill>
              </a:rPr>
              <a:t>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A2E61-BD64-4E9C-AB60-E8EA59C2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955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write.parquet(…)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E3644-1803-4701-ADCE-4B5877D0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Точка запуска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D16EA-1233-4684-B400-065D16A7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89A69-AD1F-4270-B336-A2DE9F3C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ED"/>
                </a:solidFill>
              </a:defRPr>
            </a:pPr>
            <a:r>
              <a:rPr sz="1875" b="1">
                <a:solidFill>
                  <a:srgbClr val="2F6FED"/>
                </a:solidFill>
              </a:rPr>
              <a:t>Job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97DAF-B72D-4CDB-BD9F-DBE1FE8D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весь DAG для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398A5-D52F-426E-98BC-14A8661C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Единица пользовательского результата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BEBEB-184B-4502-99D0-9A2F642A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13F8E-BF84-4B02-A453-8B3E6669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ED"/>
                </a:solidFill>
              </a:defRPr>
            </a:pPr>
            <a:r>
              <a:rPr sz="1875" b="1">
                <a:solidFill>
                  <a:srgbClr val="2F6FED"/>
                </a:solidFill>
              </a:rPr>
              <a:t>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57EF7-B2FB-40F6-A906-C34B84D6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862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цепочка без shuffle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F15FD-DB7B-45B7-8E6F-16EFB86E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Граница передачи данных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21DBC-053D-435C-A7F3-D428ADA7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CA69D-F7BB-405B-9E5A-59929D99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25A1C"/>
                </a:solidFill>
              </a:defRPr>
            </a:pPr>
            <a:r>
              <a:rPr sz="1875" b="1">
                <a:solidFill>
                  <a:srgbClr val="E25A1C"/>
                </a:solidFill>
              </a:rPr>
              <a:t>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2F3F1-F7E5-46D6-81AE-20142296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815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stage × partition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240B1-B57F-4476-8F50-CA9100C2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815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Единица исполнения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BE602-41FB-4E84-B666-41572B1A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961126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1BE807-0E39-456D-B650-14C530EC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D453E-9D06-4B93-B2F3-74191F74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910DC-7834-44FB-8F07-E97B65B5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D6AD8-6C5F-4E81-9FCB-EA42EB40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D3C71-E54E-4513-B814-947E40F3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Shuffle появляется, когда строки меняют владельца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5D3DF-BF3A-422A-B572-E4DD798E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DF9E5-223C-4295-92C5-C8F29B1A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3"/>
                </a:solidFill>
              </a:defRPr>
            </a:pPr>
            <a:r>
              <a:rPr sz="1425" b="1">
                <a:solidFill>
                  <a:srgbClr val="202123"/>
                </a:solidFill>
              </a:rPr>
              <a:t>p0: A,A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A7D2D-B8B8-42A8-BE49-CE534F2E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080C5-20EE-41D5-920E-58323FE9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3"/>
                </a:solidFill>
              </a:defRPr>
            </a:pPr>
            <a:r>
              <a:rPr sz="1425" b="1">
                <a:solidFill>
                  <a:srgbClr val="202123"/>
                </a:solidFill>
              </a:rPr>
              <a:t>p1: B,C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68BB4-8DEB-48BE-AFF5-09AF8723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84133-0890-4590-B087-B19BC658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3"/>
                </a:solidFill>
              </a:defRPr>
            </a:pPr>
            <a:r>
              <a:rPr sz="1425" b="1">
                <a:solidFill>
                  <a:srgbClr val="202123"/>
                </a:solidFill>
              </a:rPr>
              <a:t>p2: A,C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45C0D-2826-4AB1-8478-5115D0A2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E5803-D500-40F9-99DB-F0D0DD45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3"/>
                </a:solidFill>
              </a:defRPr>
            </a:pPr>
            <a:r>
              <a:rPr sz="1425" b="1">
                <a:solidFill>
                  <a:srgbClr val="202123"/>
                </a:solidFill>
              </a:rPr>
              <a:t>p3: B,B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B2F23-DCE0-4630-BFBB-3F7CBD48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25A1C"/>
                </a:solidFill>
              </a:defRPr>
            </a:pPr>
            <a:r>
              <a:rPr sz="2850" b="1">
                <a:solidFill>
                  <a:srgbClr val="E25A1C"/>
                </a:solidFill>
              </a:rPr>
              <a:t>SHUFFLE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5CD42-328D-4E58-A277-F4B49D65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195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groupBy  ·  join  ·  distinct  ·  repartition  ·  orderBy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6BBB9-B9D0-43A6-97D3-FA6307DD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84840-DC8D-4D96-A667-97E59AF0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A: A,A,A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0BB7B-9665-4D5D-8184-D8CD955A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242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C4BFF-F953-4D2B-B397-DEB52B3A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B: B,B,B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ECCCA-CC2B-41D7-8853-1C5F50B4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958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9943D-F977-490F-9051-29D2E302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C: C,C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9C64A-2D2E-473E-B0EC-A16B8F08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Shuffle = сеть + сериализация + disk spill + новая stage.</a:t>
            </a:r>
          </a:p>
        </p:txBody>
      </p:sp>
    </p:spTree>
    <p:extLst>
      <p:ext uri="{BB962C8B-B14F-4D97-AF65-F5344CB8AC3E}">
        <p14:creationId xmlns:p14="http://schemas.microsoft.com/office/powerpoint/2010/main" val="5029857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FC99B-37DD-45DE-A0B9-975AA9D9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СКВОЗНОЙ КЕЙС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CC16D-9631-4556-8034-F2DDF864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841E6-5C47-4D76-AEBA-49DA616A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CEBEC-ECE2-4ACF-9390-C22DE896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1F7BA-265A-4267-840F-71F0A9A0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Контракт пайплайна: события → дневная выручка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9637B-F5CA-4E73-9ADE-A5363FBB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3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77036-B0FF-4823-B9BF-E4E2EC6E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8"/>
                </a:solidFill>
              </a:defRPr>
            </a:pPr>
            <a:r>
              <a:rPr sz="1200" b="1">
                <a:solidFill>
                  <a:srgbClr val="6E6E68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93562-3964-4C59-9EF4-942CB6D6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705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events/*.json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event_id, customer_id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event_ts, amount, country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5C616-A79F-41F9-8F47-418817FE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323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262A7-71CE-411F-B101-4AD9F5C1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241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D5DB2-09F7-43F2-AA2A-B63F676A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2705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daily_revenue/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event_date, country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orders, revenue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DBADB-F9D3-4BF0-A1A9-C8FFFCF3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323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F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F1E8D-46A5-40FD-B539-0197E97F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241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8"/>
                </a:solidFill>
              </a:defRPr>
            </a:pPr>
            <a:r>
              <a:rPr sz="1200" b="1">
                <a:solidFill>
                  <a:srgbClr val="6E6E68"/>
                </a:solidFill>
              </a:rPr>
              <a:t>CONSTRAINTS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B1192-4E56-46EF-8CF9-BE37E03F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705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явная schema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валидные ключи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идемпотентная запись</a:t>
            </a:r>
          </a:p>
        </p:txBody>
      </p:sp>
    </p:spTree>
    <p:extLst>
      <p:ext uri="{BB962C8B-B14F-4D97-AF65-F5344CB8AC3E}">
        <p14:creationId xmlns:p14="http://schemas.microsoft.com/office/powerpoint/2010/main" val="15628478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7C9F4-B708-405C-9921-1E99D5BC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PYSPARK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2F7D0-FE44-41C2-82FD-D1C46229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11898-9159-44C1-8B62-8B0E37DC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5B8FC-5F36-49B6-B744-1D59177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90B23-DAB8-4B90-869C-1EC825B7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Явная schema делает контракт проверяемым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47970-31D4-4935-A497-2693BF75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1913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50615-D9B8-497F-9DE6-07D3D1CC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667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EVENT_SCHEMA = StructType([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StructField("event_id", StringType(), False),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StructField("customer_id", StringType(), False),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StructField("event_ts", TimestampType(), False),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StructField("amount", DecimalType(18, 2), False),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StructField("country", StringType(), True),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events = spark.read.schema(EVENT_SCHEMA).json(input_path)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6C9BB-1FF9-470A-8B23-11BF35A7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WHY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10059-DBA7-459B-BB5D-C623DE37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16AE2-A94F-49BD-BD39-A08A3C9C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62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Нет полного scan для inferSchema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EEC9C-545D-4ABB-937B-9E0BD9BC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3DF62-BD09-4FBF-BEE5-F1AFC8A0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8140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Nullability — часть контракта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6E67E-7679-4B13-A3CA-6AE4A15C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ADA14-202B-482A-AE76-ECCB17FC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005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Типы стабильны между запусками</a:t>
            </a:r>
          </a:p>
        </p:txBody>
      </p:sp>
    </p:spTree>
    <p:extLst>
      <p:ext uri="{BB962C8B-B14F-4D97-AF65-F5344CB8AC3E}">
        <p14:creationId xmlns:p14="http://schemas.microsoft.com/office/powerpoint/2010/main" val="2197984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149CA-EC9C-48C1-A5D7-3B26344B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PYSPARK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42C3B-AC1D-4A4B-90B4-C7BBEA01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AB5C6-F4A9-4542-AABC-63CEAF4B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4F322-D52E-40F7-8629-0791E7FD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2A058-3F72-4AF2-9D01-5373AA2E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Built-in expressions сохраняют оптимизации Catalyst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57F35-F8C6-49FE-B9D7-83102A4E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1913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D70FB-433F-421F-9BFB-C0D8BB1C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667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clean = (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events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.filter(F.col("event_id").isNotNull())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.filter(F.col("amount") &gt; 0)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.withColumn("event_date", F.to_date("event_ts"))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.withColumn("country", F.coalesce("country", F.lit("UNKNOWN")))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.dropDuplicates(["event_id"])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314F1-84AC-4054-8E2E-2EA0CCE7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WHY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88831-18FE-4F71-A3AF-9664D38E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A51E0-FB75-4C07-94EE-1B5B5D19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62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Операции видны optimizer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43EB4-23D1-4B8E-8C74-10F3FB9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E0A21-A252-4F73-A597-89F26AEE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8140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Нет построчного Python callback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685CC-630C-4D79-9443-D3E58D19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5F950-A4B7-4993-85D4-8D60E5F0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005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Логика читается как data contract</a:t>
            </a:r>
          </a:p>
        </p:txBody>
      </p:sp>
    </p:spTree>
    <p:extLst>
      <p:ext uri="{BB962C8B-B14F-4D97-AF65-F5344CB8AC3E}">
        <p14:creationId xmlns:p14="http://schemas.microsoft.com/office/powerpoint/2010/main" val="16321667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AE47B-DF88-42D1-85D7-D2A02143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PYSPARK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B4356-2EAB-42B1-9D99-D2DB6509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E348D-EA51-488C-9EF5-D86BF579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86BCC-1668-49FC-94B7-5E60193F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D025B-5233-451A-A03E-2AA89585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Join и aggregation — место, где рождается стоимость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07182-CFD3-47C1-A501-ADDA5180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1913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DE447-15ED-481C-BFEB-F398FD08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667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result = (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clean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.join(F.broadcast(countries), "country", "left")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.groupBy("event_date", "country_name")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.agg(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    F.count("*").alias("orders"),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    F.sum("amount").alias("revenue"),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4AF48-CD2C-4D25-BE30-E8BBFBC8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WHY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478EB-2090-4CDB-AF64-016FD8B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8F489-AE90-485B-AA7A-26CF5227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62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Размер стороны join важнее синтаксиса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80340-755E-4629-916A-4929D24A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6303E-2368-4179-9BF6-2D56D4AE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8140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groupBy почти всегда означает shuffle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2492D-577C-47F8-8610-BE020270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B1BCC-2AE8-490E-B304-35170E07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005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3"/>
                </a:solidFill>
              </a:defRPr>
            </a:pPr>
            <a:r>
              <a:rPr sz="1500" b="0">
                <a:solidFill>
                  <a:srgbClr val="202123"/>
                </a:solidFill>
              </a:rPr>
              <a:t>Broadcast устраняет shuffle большой стороны</a:t>
            </a:r>
          </a:p>
        </p:txBody>
      </p:sp>
    </p:spTree>
    <p:extLst>
      <p:ext uri="{BB962C8B-B14F-4D97-AF65-F5344CB8AC3E}">
        <p14:creationId xmlns:p14="http://schemas.microsoft.com/office/powerpoint/2010/main" val="4502814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697E3F-C88E-4FD6-95CB-E6A20BD3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ПЛАН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D9B22-750F-4A95-8D53-306341C7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33932-E6FD-4BE6-975C-E0243811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5ACE7-8184-4749-9EE9-960DBD90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A3C57-7805-4B87-99C7-908F834D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Сначала читаем план — потом тратим кластер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4B994-026B-483C-AA70-92F16489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5A1C"/>
                </a:solidFill>
              </a:defRPr>
            </a:pPr>
            <a:r>
              <a:rPr sz="3150" b="1">
                <a:solidFill>
                  <a:srgbClr val="E25A1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71333-9BB8-4424-B792-7FA7F0A3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3"/>
                </a:solidFill>
              </a:defRPr>
            </a:pPr>
            <a:r>
              <a:rPr sz="1575" b="1">
                <a:solidFill>
                  <a:srgbClr val="202123"/>
                </a:solidFill>
              </a:rPr>
              <a:t>explain('formatted')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0B1DD-26A3-4C69-B401-1AA427CC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5D06F-5793-4531-9F1E-E3090903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Получить physical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980AD-9F8E-47AF-A66C-E9E3A734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5A1C"/>
                </a:solidFill>
              </a:defRPr>
            </a:pPr>
            <a:r>
              <a:rPr sz="3150" b="1">
                <a:solidFill>
                  <a:srgbClr val="E25A1C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A0988-B322-404D-874D-91228972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3"/>
                </a:solidFill>
              </a:defRPr>
            </a:pPr>
            <a:r>
              <a:rPr sz="1575" b="1">
                <a:solidFill>
                  <a:srgbClr val="202123"/>
                </a:solidFill>
              </a:rPr>
              <a:t>Найти Exchange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BEE8B-6344-49D3-8F7F-642BBD82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83637-2456-4C15-88E1-6BE37DE3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Увидеть shuffle boundaries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3DB4B-3A66-4C6B-97EB-C1553B68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5A1C"/>
                </a:solidFill>
              </a:defRPr>
            </a:pPr>
            <a:r>
              <a:rPr sz="3150" b="1">
                <a:solidFill>
                  <a:srgbClr val="E25A1C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9E3EE-6E84-4D3C-BF79-44DC959E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3"/>
                </a:solidFill>
              </a:defRPr>
            </a:pPr>
            <a:r>
              <a:rPr sz="1575" b="1">
                <a:solidFill>
                  <a:srgbClr val="202123"/>
                </a:solidFill>
              </a:rPr>
              <a:t>Проверить Join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A0711-726A-4055-A50D-D94D7667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864B6-86FF-4314-B235-2F24C970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BroadcastHash или SortMerge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AB7193-385C-44D7-B35B-A4AB3E36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76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5A1C"/>
                </a:solidFill>
              </a:defRPr>
            </a:pPr>
            <a:r>
              <a:rPr sz="3150" b="1">
                <a:solidFill>
                  <a:srgbClr val="E25A1C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B34B1-2197-4926-AD5D-2C4AAD7D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3"/>
                </a:solidFill>
              </a:defRPr>
            </a:pPr>
            <a:r>
              <a:rPr sz="1575" b="1">
                <a:solidFill>
                  <a:srgbClr val="202123"/>
                </a:solidFill>
              </a:rPr>
              <a:t>Сверить partitions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1EAE1-365E-4BDF-8406-F0186C86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04923-66F9-43D2-8E86-B8B6868C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Оценить parallelism</a:t>
            </a:r>
          </a:p>
        </p:txBody>
      </p:sp>
    </p:spTree>
    <p:extLst>
      <p:ext uri="{BB962C8B-B14F-4D97-AF65-F5344CB8AC3E}">
        <p14:creationId xmlns:p14="http://schemas.microsoft.com/office/powerpoint/2010/main" val="12287949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64E4A-99DC-4AA7-A717-8D4CF181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ПЛАН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C0DA6-7F46-42D7-8920-708D7D01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D0340-BE9C-4AFD-B5AE-BFFB49E0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9142F-EE5B-4C53-8AB5-6CA9FBD3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7A1C-BE5C-44BC-BE88-86DED1A6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Exchange в physical plan — сигнал перераспределения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E16AD-6224-4F49-ABC1-07EB6001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2390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C0F91-11FB-408B-B816-8DE63EBB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67437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== Physical Plan ==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AdaptiveSparkPlan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+- HashAggregate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+- Exchange hashpartitioning(event_date, country_name, 8)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  +- HashAggregate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     +- BroadcastHashJoin [country], [country], LeftOuter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        :- Filter (amount &gt; 0)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        +- BroadcastExchange HashedRelationBroadcastMode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30610-D974-413B-9476-3D95A948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5A1C"/>
                </a:solidFill>
              </a:defRPr>
            </a:pPr>
            <a:r>
              <a:rPr sz="1800" b="1">
                <a:solidFill>
                  <a:srgbClr val="E25A1C"/>
                </a:solidFill>
              </a:rPr>
              <a:t>Exchange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95FF1-4149-4EDD-A99A-09292A8C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BroadcastHashJoin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31F16-55A0-4C6E-A531-6C5F39F9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8 partitions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15F8F-11FF-4334-851B-BD03547D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План подтверждает один shuffle для aggregation и broadcast маленького справочника.</a:t>
            </a:r>
          </a:p>
        </p:txBody>
      </p:sp>
    </p:spTree>
    <p:extLst>
      <p:ext uri="{BB962C8B-B14F-4D97-AF65-F5344CB8AC3E}">
        <p14:creationId xmlns:p14="http://schemas.microsoft.com/office/powerpoint/2010/main" val="14582415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DCC62-39E2-418E-852E-25977629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ЗАПИСЬ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EEFAA-38CD-402A-9C62-02C50F90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BEF88-F8B8-4A4F-8CE0-E586E81A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90FBB-778D-4083-9CC7-4494439B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F3225-1B7A-4D0A-B54C-8D813308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Action материализует план — формат сохраняет будущие возможности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8F575-47D0-47A0-9C3B-5D4E8946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3EE50-FE38-48A2-94AF-6AEC6568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CBD75-C513-4109-A727-AAC20A91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E30BF-927C-4D46-A6E3-E7895413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оптимизирован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9BD18-4F3D-44A2-86F5-4623D9F9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B52BC-5E88-434C-8701-1A1ABADC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5DBAF-1C13-428A-9725-2CBFDDE7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567F0-7381-4B60-8A3D-D338D2B0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выполнены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176EA-4EEB-4AC4-A591-DAF52FD8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E5276-2D6D-4706-8980-9920A615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5CCFE-E31B-4AB3-9D08-6E8DCE0E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Parquet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2D83DD-179E-44C8-88F8-E2616340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columnar + schema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B6D2A-7CD6-4906-B61C-40F4F51E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1070A-4C57-4453-8DB5-F308BEA3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25A1C"/>
                </a:solidFill>
              </a:defRPr>
            </a:pPr>
            <a:r>
              <a:rPr sz="1875" b="1">
                <a:solidFill>
                  <a:srgbClr val="E25A1C"/>
                </a:solidFill>
              </a:rPr>
              <a:t>catalog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4ED025-3399-4E57-970D-26C7644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данные доступны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3AD338-E399-4CCF-A2A5-5AC7E5B5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25A1C"/>
                </a:solidFill>
              </a:defRPr>
            </a:pPr>
            <a:r>
              <a:rPr sz="1725" b="1">
                <a:solidFill>
                  <a:srgbClr val="E25A1C"/>
                </a:solidFill>
              </a:rPr>
              <a:t>Пишите partitioned output только по реально используемым фильтрам.</a:t>
            </a:r>
          </a:p>
        </p:txBody>
      </p:sp>
    </p:spTree>
    <p:extLst>
      <p:ext uri="{BB962C8B-B14F-4D97-AF65-F5344CB8AC3E}">
        <p14:creationId xmlns:p14="http://schemas.microsoft.com/office/powerpoint/2010/main" val="11640301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3F6E2-3CB4-4DCF-ABB4-7B59F284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НАБЛЮДАЕМОСТЬ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D8251-E78C-4FC5-AF19-25C0CDA5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48D9E-E29F-4748-A951-A51681CC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349F6-3A93-4905-A284-D465DB6A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F67D3-DBA9-4DC6-9F37-2BC77790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Spark UI превращает “медленно” в проверяемую гипотезу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4CC64-E172-4F8D-BE4A-94A259F2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F6380-11F7-494A-845B-D4333909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6FED"/>
                </a:solidFill>
              </a:defRPr>
            </a:pPr>
            <a:r>
              <a:rPr sz="2025" b="1">
                <a:solidFill>
                  <a:srgbClr val="2F6FED"/>
                </a:solidFill>
              </a:rPr>
              <a:t>Jobs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7F53A-79FA-4A7B-87AE-8EB67172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1885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Какая action и где упала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2BC46-18AE-4976-8634-714BBBB0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CB942-1118-4FAA-8EDB-56B123A9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860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6FED"/>
                </a:solidFill>
              </a:defRPr>
            </a:pPr>
            <a:r>
              <a:rPr sz="2025" b="1">
                <a:solidFill>
                  <a:srgbClr val="2F6FED"/>
                </a:solidFill>
              </a:rPr>
              <a:t>Stages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DBEA1-EC23-4BA7-9A12-CCF2C695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1885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Shuffle, skew, spill и stragglers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3C8A4-7783-47A3-9788-3F18F17C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08F39-85FD-44EB-88BA-69B84B5F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25A1C"/>
                </a:solidFill>
              </a:defRPr>
            </a:pPr>
            <a:r>
              <a:rPr sz="2025" b="1">
                <a:solidFill>
                  <a:srgbClr val="E25A1C"/>
                </a:solidFill>
              </a:rPr>
              <a:t>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FDE1C-AD90-4896-B1A1-383C0AC7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1885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План и метрики операторов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2682C-A7BE-4742-8E29-4F3C9893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34C1F-F390-461E-A206-1FAD742D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6FED"/>
                </a:solidFill>
              </a:defRPr>
            </a:pPr>
            <a:r>
              <a:rPr sz="2025" b="1">
                <a:solidFill>
                  <a:srgbClr val="2F6FED"/>
                </a:solidFill>
              </a:rPr>
              <a:t>Executors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73CF7-2C62-4CE3-B871-1348555E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29000"/>
            <a:ext cx="1885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Memory, GC, input и failed tasks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23273-DCEF-4A96-BF13-2441394C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25A1C"/>
                </a:solidFill>
              </a:defRPr>
            </a:pPr>
            <a:r>
              <a:rPr sz="1650" b="1">
                <a:solidFill>
                  <a:srgbClr val="E25A1C"/>
                </a:solidFill>
              </a:rPr>
              <a:t>Начните со Stage с максимальной длительностью — затем сравните tasks.</a:t>
            </a:r>
          </a:p>
        </p:txBody>
      </p:sp>
    </p:spTree>
    <p:extLst>
      <p:ext uri="{BB962C8B-B14F-4D97-AF65-F5344CB8AC3E}">
        <p14:creationId xmlns:p14="http://schemas.microsoft.com/office/powerpoint/2010/main" val="16203276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F7617-742D-4648-B7AB-909B1CF8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ИНЖЕНЕРНЫЙ МЕТОД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B43D5-F706-43A5-88D0-CB326F55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2A4B4-C365-434F-9292-EF0BE6CA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DF7B5-37A6-406D-8C36-658AD355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C38DC-15AC-45A9-896F-E1DF60F9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Хорошая диагностика связывает код, план и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57DB9-4319-4873-A935-E50DB7EC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5A1C"/>
                </a:solidFill>
              </a:defRPr>
            </a:pPr>
            <a:r>
              <a:rPr sz="1950" b="1">
                <a:solidFill>
                  <a:srgbClr val="E25A1C"/>
                </a:solidFill>
              </a:rPr>
              <a:t>Код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D3E77-B542-444F-A7EE-C0B390D8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3"/>
                </a:solidFill>
              </a:defRPr>
            </a:pPr>
            <a:r>
              <a:rPr sz="1800" b="1">
                <a:solidFill>
                  <a:srgbClr val="202123"/>
                </a:solidFill>
              </a:rPr>
              <a:t>groupBy + join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7673B-14D6-46B4-AB66-33F67564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4763E-6DF0-4E90-80BB-EA570651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Что мы попросили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82E69-B8D3-4BBC-935C-AF904816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5A1C"/>
                </a:solidFill>
              </a:defRPr>
            </a:pPr>
            <a:r>
              <a:rPr sz="1950" b="1">
                <a:solidFill>
                  <a:srgbClr val="E25A1C"/>
                </a:solidFill>
              </a:rPr>
              <a:t>План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B9D93-6749-4D4D-85A8-F80ECA63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3"/>
                </a:solidFill>
              </a:defRPr>
            </a:pPr>
            <a:r>
              <a:rPr sz="1800" b="1">
                <a:solidFill>
                  <a:srgbClr val="202123"/>
                </a:solidFill>
              </a:rPr>
              <a:t>Exchange + join strategy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BECF9-3EA2-4065-BF94-28928A98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1114D-4D67-4DEB-B9E1-A6D55A80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Что выбрал optimizer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31F4E-FCB6-4AE9-B680-699AADEA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5A1C"/>
                </a:solidFill>
              </a:defRPr>
            </a:pPr>
            <a:r>
              <a:rPr sz="1950" b="1">
                <a:solidFill>
                  <a:srgbClr val="E25A1C"/>
                </a:solidFill>
              </a:rPr>
              <a:t>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EF51E-6673-4B69-8A1B-23025029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3"/>
                </a:solidFill>
              </a:defRPr>
            </a:pPr>
            <a:r>
              <a:rPr sz="1800" b="1">
                <a:solidFill>
                  <a:srgbClr val="202123"/>
                </a:solidFill>
              </a:rPr>
              <a:t>shuffle read + task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DD633-9EE9-4236-A0AE-6F1D4F58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3973F-30D4-4ED8-A95D-A097DDE0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Что произошло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DEB54-8312-47F6-A54D-7A71AAA7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5A1C"/>
                </a:solidFill>
              </a:defRPr>
            </a:pPr>
            <a:r>
              <a:rPr sz="1950" b="1">
                <a:solidFill>
                  <a:srgbClr val="E25A1C"/>
                </a:solidFill>
              </a:rPr>
              <a:t>Изменение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8A42F-A753-4783-B2FD-7F532211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3"/>
                </a:solidFill>
              </a:defRPr>
            </a:pPr>
            <a:r>
              <a:rPr sz="1800" b="1">
                <a:solidFill>
                  <a:srgbClr val="202123"/>
                </a:solidFill>
              </a:rPr>
              <a:t>broadcast / repartition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D714BD-7A12-4521-B1A2-38E25875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719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2EA2C-17F4-4E41-85F2-2938201D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529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Как проверим эффект</a:t>
            </a:r>
          </a:p>
        </p:txBody>
      </p:sp>
    </p:spTree>
    <p:extLst>
      <p:ext uri="{BB962C8B-B14F-4D97-AF65-F5344CB8AC3E}">
        <p14:creationId xmlns:p14="http://schemas.microsoft.com/office/powerpoint/2010/main" val="135364708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14C2E-4796-4745-A9A2-999E6FB9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CORE · 60 МИН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1C538-ACF5-4FC3-9EEB-E38E5BA6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4B70A-B037-4C67-93E9-54F56C2F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A76ED-F348-4ADC-BB80-88DC3903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7707E-AC9F-41C4-B06D-3EE33A12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Выходной билет: объясните Spark без магии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E9A60-C20A-4811-A0D7-95C1C29F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25A1C"/>
                </a:solidFill>
              </a:defRPr>
            </a:pPr>
            <a:r>
              <a:rPr sz="2325" b="1">
                <a:solidFill>
                  <a:srgbClr val="E25A1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16330-D96A-41A1-9CF3-16429937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43125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Почему transformations не запускают вычисление?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8959D-13C0-4ECE-84E0-4C140F89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25A1C"/>
                </a:solidFill>
              </a:defRPr>
            </a:pPr>
            <a:r>
              <a:rPr sz="2325" b="1">
                <a:solidFill>
                  <a:srgbClr val="E25A1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A3CAE-C787-4792-A663-56C2FD88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43125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Что создаёт границу stage?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10E78-8501-4B40-9B02-AD6FFEDD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25A1C"/>
                </a:solidFill>
              </a:defRPr>
            </a:pPr>
            <a:r>
              <a:rPr sz="2325" b="1">
                <a:solidFill>
                  <a:srgbClr val="E25A1C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5FE59-7C29-43A4-ABE2-BF9021D4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Где увидеть фактическую join strategy?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01BAA-0C71-4B79-808D-EE2E6DA1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25A1C"/>
                </a:solidFill>
              </a:defRPr>
            </a:pPr>
            <a:r>
              <a:rPr sz="2325" b="1">
                <a:solidFill>
                  <a:srgbClr val="E25A1C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D1122-0161-4A01-8D5A-FC5DEB1A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1475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3"/>
                </a:solidFill>
              </a:defRPr>
            </a:pPr>
            <a:r>
              <a:rPr sz="1725" b="1">
                <a:solidFill>
                  <a:srgbClr val="202123"/>
                </a:solidFill>
              </a:rPr>
              <a:t>Когда Spark — лишняя сложность?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EC998-22D4-461E-A727-C30FDE11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81625"/>
            <a:ext cx="1000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E0AC6-316E-4CA2-8E5A-4B22054A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3402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Практика: запустить pipeline, сохранить explain и найти evidence в Spark UI.</a:t>
            </a:r>
          </a:p>
        </p:txBody>
      </p:sp>
    </p:spTree>
    <p:extLst>
      <p:ext uri="{BB962C8B-B14F-4D97-AF65-F5344CB8AC3E}">
        <p14:creationId xmlns:p14="http://schemas.microsoft.com/office/powerpoint/2010/main" val="10933777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9DC05-C655-4365-815B-932FDBB0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CDA91-BB70-4649-83FE-8509BD7F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5A1C"/>
                </a:solidFill>
              </a:defRPr>
            </a:pPr>
            <a:r>
              <a:rPr sz="1275" b="1">
                <a:solidFill>
                  <a:srgbClr val="E25A1C"/>
                </a:solidFill>
              </a:rPr>
              <a:t>DEEP DIVE · +30 МИН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B69FF-D110-4973-9A5C-4C712A6A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571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42A09-061E-4E23-B9EC-E958A55F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9525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От API к физике выполнения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DE3DC-1147-4E4C-B02C-DE28002B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6D9DC"/>
                </a:solidFill>
              </a:defRPr>
            </a:pPr>
            <a:r>
              <a:rPr sz="1875" b="0">
                <a:solidFill>
                  <a:srgbClr val="D6D9DC"/>
                </a:solidFill>
              </a:rPr>
              <a:t>Разбираем Catalyst, shuffle, Python/JVM boundary, AQE и skew</a:t>
            </a:r>
          </a:p>
        </p:txBody>
      </p:sp>
    </p:spTree>
    <p:extLst>
      <p:ext uri="{BB962C8B-B14F-4D97-AF65-F5344CB8AC3E}">
        <p14:creationId xmlns:p14="http://schemas.microsoft.com/office/powerpoint/2010/main" val="5102766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474A6-9648-4F6F-9D34-E0ADAD66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CATALYST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BDA45-FF92-41B8-863E-BC986218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A362D-5734-48D2-83FC-63E15269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3C580-0841-4EF3-86E2-8C7B0EEE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2DDAA-4D24-4D86-937C-72FA8137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Один DataFrame проходит четыре слоя плана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8DEEE-589B-4FE9-AF78-91BD7B64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ED"/>
                </a:solidFill>
              </a:defRPr>
            </a:pPr>
            <a:r>
              <a:rPr sz="1875" b="1">
                <a:solidFill>
                  <a:srgbClr val="2F6FED"/>
                </a:solidFill>
              </a:rPr>
              <a:t>Parsed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8DD70-4234-4487-81C3-9A3C9486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955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что написал пользователь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0CA53-5B59-4011-A52D-DD310648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ещё без разрешённых колонок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42C65-8680-42AD-ADC5-0AF72E50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854A2-E3B8-4501-8BC4-FE913FB6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ED"/>
                </a:solidFill>
              </a:defRPr>
            </a:pPr>
            <a:r>
              <a:rPr sz="1875" b="1">
                <a:solidFill>
                  <a:srgbClr val="2F6FED"/>
                </a:solidFill>
              </a:rPr>
              <a:t>Analyzed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E939B-8AC7-4E8B-90EC-4ACF0D7A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колонки и типы разрешены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D6FD2-A699-49DE-A6DF-4386F014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контракт проверен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5E90E-2B79-4288-ADA9-5C06ABB3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776C5-B57C-4C81-9EB8-9A57804E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ED"/>
                </a:solidFill>
              </a:defRPr>
            </a:pPr>
            <a:r>
              <a:rPr sz="1875" b="1">
                <a:solidFill>
                  <a:srgbClr val="2F6FED"/>
                </a:solidFill>
              </a:rPr>
              <a:t>Optimized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B0304-EB7D-4879-9FA7-68BD6E6E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862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predicate pushdown, pruning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263FE-728B-4F80-9B93-38D374DD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логика переписана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05DC2-269D-4447-9B0D-3F48980C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1CFBA-B025-4320-9CF4-69D616A0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25A1C"/>
                </a:solidFill>
              </a:defRPr>
            </a:pPr>
            <a:r>
              <a:rPr sz="1875" b="1">
                <a:solidFill>
                  <a:srgbClr val="E25A1C"/>
                </a:solidFill>
              </a:rPr>
              <a:t>Physical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F1802-47C7-46CB-AC9E-0E73A804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815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join и exchange выбраны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E75DF-71A4-4A58-989D-3AFBF66B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815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можно выполнять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79CF5-BC9C-40EF-921C-87042D3A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392558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184C4-3652-49EF-AB06-EE8520AC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DAG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34CE9-6CAA-4F60-96C5-57F79D9B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5209A-6056-4AED-A798-CB32E535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B9F4D-2E18-4B29-8D01-0DDB97A2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9A0B6-DA41-488B-A31B-30EB0175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Narrow dependency конвейеризуется; wide требует обмена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D4CB2-7059-493B-AB76-AB988BB8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8"/>
                </a:solidFill>
              </a:defRPr>
            </a:pPr>
            <a:r>
              <a:rPr sz="1200" b="1">
                <a:solidFill>
                  <a:srgbClr val="6E6E68"/>
                </a:solidFill>
              </a:rPr>
              <a:t>NARROW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20B2D-DE18-4D71-8AAB-60394BA2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428"/>
                </a:solidFill>
              </a:defRPr>
            </a:pPr>
            <a:r>
              <a:rPr sz="2325" b="1">
                <a:solidFill>
                  <a:srgbClr val="1F2428"/>
                </a:solidFill>
              </a:rPr>
              <a:t>filter → select → withColumn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AE44D-6321-4191-BD19-2EE98504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A9268-80FE-4BAC-8DCB-ECD55EFA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Одна input partition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F0909-F004-40A1-A1B3-20EAA929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19240-5F94-48E4-959D-EC7DC703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Одна output partition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8163B-5647-47FF-B1E0-7AC6F84F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23970-F3D6-4B38-B290-62B91B4A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Обычно одна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6BC1E-162F-42EF-9884-6924E1C0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WIDE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B0640-34F5-438D-8E7A-B80FEDD3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428"/>
                </a:solidFill>
              </a:defRPr>
            </a:pPr>
            <a:r>
              <a:rPr sz="2325" b="1">
                <a:solidFill>
                  <a:srgbClr val="1F2428"/>
                </a:solidFill>
              </a:rPr>
              <a:t>groupBy → join → orderBy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30F78-15B9-4068-8A10-153F6B8C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919F4-ED5A-4E3F-8CED-01F50D32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814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Много input partitions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7D469-CC80-47EE-8F28-457BC99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77DC8-4411-4A4D-9305-78C7A870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7197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Перераспределение по ключу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E362B-EEA1-4523-8FB7-F1F9B96B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85D85-11C5-4F5E-84A7-C417F869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625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Новая stage после shuffle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B32CE-13D5-41A8-980F-EAA392F7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383180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227E20-91DF-44CA-A1CC-25E63D8C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PYSPARK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269C4-38FC-4B04-A0D5-E8E9D8EC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E2EC1-8F26-497C-A088-9F5816F4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15DDC-63B7-4FE8-B88F-652E6E39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98820-DF38-45E8-B5AE-1C27A0BC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PySpark управляет JVM engine — граница становится дорогой построчно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3F358-5765-4077-99C9-5E4D1438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A37F"/>
                </a:solidFill>
              </a:defRPr>
            </a:pPr>
            <a:r>
              <a:rPr sz="1275" b="1">
                <a:solidFill>
                  <a:srgbClr val="10A37F"/>
                </a:solidFill>
              </a:rPr>
              <a:t>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973EE-F958-4BF4-B965-EE3F650A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НЕ 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04D8D-354B-4BEA-B25C-7AD624C0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478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8DC2C-8DA4-4B18-94E9-8A65A6A5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CE4A0-1609-4AEE-9D2A-33807924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DataFrame expressions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5C198-A34A-49C8-9F39-B5CD6E98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52952-C18D-4FB1-B78A-6ADCA417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Arrow batch exchange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E989A-CEB6-4BC4-AAC0-4C3CE99D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8B6FF-8541-4577-B1ED-817EBF88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Pandas UDF batch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5F33C-A029-40D6-9FD2-FE9404C9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5A640A-B3FB-4AB5-B5ED-C9E2CBC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Catalyst-visible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C5A1F-DDB6-4308-911B-B8655057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60D79-6EBD-4B51-B39A-CD5E2069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Обычный Python UDF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75AA7-3CB8-4730-911D-4D7083FE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765B9-D1BA-447C-BD0C-C3964EB4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Row-by-row serialization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0010B-5A4A-4146-B73F-F97488F9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491E4-F8BB-4394-A409-4BDACF9F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Непрозрачная бизнес-логика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40D27-1C2D-4556-9FA4-E657AC1A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7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D464EE-DF3E-4D8E-818C-D545DD34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3"/>
                </a:solidFill>
              </a:defRPr>
            </a:pPr>
            <a:r>
              <a:rPr sz="1725" b="0">
                <a:solidFill>
                  <a:srgbClr val="202123"/>
                </a:solidFill>
              </a:rPr>
              <a:t>Сложнее оптимизировать</a:t>
            </a:r>
          </a:p>
        </p:txBody>
      </p:sp>
    </p:spTree>
    <p:extLst>
      <p:ext uri="{BB962C8B-B14F-4D97-AF65-F5344CB8AC3E}">
        <p14:creationId xmlns:p14="http://schemas.microsoft.com/office/powerpoint/2010/main" val="12117027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5FF25A-35AF-4723-BD3B-C5673198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SHUFFLE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DD669-04D5-43B9-ABB0-41FAC5A0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8FC3E-475D-4818-A8CB-0FE8C3F8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F6110-FBA0-4776-8C51-B3655D97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CDF7F-214A-4C7B-B692-89AE496B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Shuffle — это сеть, файлы и синхронизация между stages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E3667-689E-47CD-A8F4-37608196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4D3DA-5945-45B3-8ED7-B8B51DEB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3"/>
                </a:solidFill>
              </a:defRPr>
            </a:pPr>
            <a:r>
              <a:rPr sz="1425" b="1">
                <a:solidFill>
                  <a:srgbClr val="202123"/>
                </a:solidFill>
              </a:rPr>
              <a:t>map output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E937C-DB98-49C9-A629-9C0D5CC8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C2D57-0723-473E-82F9-52462098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3"/>
                </a:solidFill>
              </a:defRPr>
            </a:pPr>
            <a:r>
              <a:rPr sz="1425" b="1">
                <a:solidFill>
                  <a:srgbClr val="202123"/>
                </a:solidFill>
              </a:rPr>
              <a:t>map output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85C87-576B-47A6-A386-D607ABB8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46887-5866-4E51-B389-DD398AE2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3"/>
                </a:solidFill>
              </a:defRPr>
            </a:pPr>
            <a:r>
              <a:rPr sz="1425" b="1">
                <a:solidFill>
                  <a:srgbClr val="202123"/>
                </a:solidFill>
              </a:rPr>
              <a:t>map output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C1D11-5916-4E44-99FF-5639CC28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CDF72-9FFA-4C9B-9EDF-5E010760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3"/>
                </a:solidFill>
              </a:defRPr>
            </a:pPr>
            <a:r>
              <a:rPr sz="1425" b="1">
                <a:solidFill>
                  <a:srgbClr val="202123"/>
                </a:solidFill>
              </a:rPr>
              <a:t>map output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CE55B-44D2-476B-A761-A98CF17F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25A1C"/>
                </a:solidFill>
              </a:defRPr>
            </a:pPr>
            <a:r>
              <a:rPr sz="2850" b="1">
                <a:solidFill>
                  <a:srgbClr val="E25A1C"/>
                </a:solidFill>
              </a:rPr>
              <a:t>SHUFFLE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DF01F-C912-4ABA-80FD-9CEDD39E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195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serialize  ·  write  ·  fetch  ·  merge  ·  spill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72495-2173-4109-B695-DEEDE6D5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17EBA-98F2-4F34-83EB-6CA59C69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reduce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47EE4-5BE9-4D8F-8BB2-7B3DED21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670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3923A7-F599-4830-B193-87745C0F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reduce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A9F0E-0D08-4041-A83B-2E9D3954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814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FC6E4-B2F9-49A3-8408-ABA161B4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76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reduce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78798-2119-46A4-9378-4E2AE111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958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AE438-9982-4D56-A4AC-43ED2A4A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reduce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0A344-EC49-4545-872C-2FD7BEEF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Оптимизация shuffle начинается с объёма данных и распределения ключей.</a:t>
            </a:r>
          </a:p>
        </p:txBody>
      </p:sp>
    </p:spTree>
    <p:extLst>
      <p:ext uri="{BB962C8B-B14F-4D97-AF65-F5344CB8AC3E}">
        <p14:creationId xmlns:p14="http://schemas.microsoft.com/office/powerpoint/2010/main" val="206035374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E1D06-487E-4D83-B8C8-0B97CAC8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JOIN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F23E4-FF4D-42B7-B4AB-F956BA98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508FD-9FCC-47A4-ADD3-2BAC4212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6B6A5-FF36-4CAC-B7D0-8883EAC2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135CB-2B0A-49FB-A245-54721639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SortMergeJoin масштабируется, но сортирует обе стороны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47E7E-F7E0-4A95-8987-087FBDCA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2390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7FF34-82B4-4E2C-9867-9B77A821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67437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+- SortMergeJoin [customer_id], [customer_id], Inner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:- Sort [customer_id ASC]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:  +- Exchange hashpartitioning(customer_id, 200)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+- Sort [customer_id ASC]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  +- Exchange hashpartitioning(customer_id, 200)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405E3-0174-4117-A5C6-B24958BD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5A1C"/>
                </a:solidFill>
              </a:defRPr>
            </a:pPr>
            <a:r>
              <a:rPr sz="1800" b="1">
                <a:solidFill>
                  <a:srgbClr val="E25A1C"/>
                </a:solidFill>
              </a:rPr>
              <a:t>2 × Exchange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5BC07-99DC-4716-954A-E6BBFF25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2 × Sort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1178F-4A8B-4AB1-ABE8-AA5D90C3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200 partitions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18912-EF7E-4C49-BBFC-4AB7D945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Обе стороны перераспределяются по ключу: это устойчиво для больших таблиц, но дорого.</a:t>
            </a:r>
          </a:p>
        </p:txBody>
      </p:sp>
    </p:spTree>
    <p:extLst>
      <p:ext uri="{BB962C8B-B14F-4D97-AF65-F5344CB8AC3E}">
        <p14:creationId xmlns:p14="http://schemas.microsoft.com/office/powerpoint/2010/main" val="161060296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983B0-21F9-4D03-ADC7-C9883B08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JOIN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76B3C-078B-4256-AA85-4993AEC6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FAEC1-C7B9-43D1-A7B8-24CB2462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3D7D5-9216-47BB-B01F-E9B9CF3D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55F99-5367-418A-87B2-21DD6F57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BroadcastHashJoin убирает shuffle большой стороны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75BBE-0725-4655-8C97-3B56AB28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2390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1D51F-CACD-4486-A435-165A731E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67437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+- BroadcastHashJoin [country], [country], LeftOuter, BuildRight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:- FileScan parquet [event_id, country, amount]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+- BroadcastExchange HashedRelationBroadcastMode</a:t>
            </a:r>
          </a:p>
          <a:p xmlns:a="http://schemas.openxmlformats.org/drawingml/2006/main">
            <a:pPr algn="l">
              <a:defRPr sz="1275" b="0">
                <a:solidFill>
                  <a:srgbClr val="E6EDF3"/>
                </a:solidFill>
              </a:defRPr>
            </a:pPr>
            <a:r>
              <a:rPr sz="1275" b="0">
                <a:solidFill>
                  <a:srgbClr val="E6EDF3"/>
                </a:solidFill>
              </a:rPr>
              <a:t>      +- FileScan parquet [country, country_name]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48150-01DD-4426-B0DA-87F75B44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5A1C"/>
                </a:solidFill>
              </a:defRPr>
            </a:pPr>
            <a:r>
              <a:rPr sz="1800" b="1">
                <a:solidFill>
                  <a:srgbClr val="E25A1C"/>
                </a:solidFill>
              </a:rPr>
              <a:t>BuildRight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846E5-2C0E-45F7-9FAC-858E4333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BroadcastExchange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78A02-E9E1-43B4-820A-B28DA037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нет Exchange слева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DCA76-208A-4846-9FD1-7EC00BB0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68"/>
                </a:solidFill>
              </a:defRPr>
            </a:pPr>
            <a:r>
              <a:rPr sz="1500" b="0">
                <a:solidFill>
                  <a:srgbClr val="6E6E68"/>
                </a:solidFill>
              </a:rPr>
              <a:t>Маленький справочник копируется на executors; большая таблица остаётся на месте.</a:t>
            </a:r>
          </a:p>
        </p:txBody>
      </p:sp>
    </p:spTree>
    <p:extLst>
      <p:ext uri="{BB962C8B-B14F-4D97-AF65-F5344CB8AC3E}">
        <p14:creationId xmlns:p14="http://schemas.microsoft.com/office/powerpoint/2010/main" val="7860333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089E6-A610-4272-9790-588CC9A7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AQE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8E15C-EC82-464B-BC05-9EF08B7B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C09B5-0D91-4DD0-AE49-D4BCEBBD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E9BCB-146D-4AB7-A253-99423308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B271-AC00-4107-A4DB-7354623D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AQE меняет physical plan по фактической статистике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286E0-302E-457C-B2E7-36F97DF0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70754-5C9F-466A-8D7E-F1BA3B71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B0F54-233F-42BC-A512-65CACBED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initial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F030B-651E-462E-9D3D-21BE68F2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оценки до запуска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FCA57-CE85-4AC2-9F79-876C3ADB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23775-DEF3-4FCE-AD3C-AAA8BE08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263F0-1793-48D7-BCBF-02C95E44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runtime stats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93AC9-872B-4AE8-9700-40E27F8C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размеры shuffle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FAEB4-DD0D-4526-B902-CBFE6608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06E25-036E-47DF-A150-D146C5D5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B245B-4C49-4431-AEED-BFAF3454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plan update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03784-B0B6-4BE3-AE26-316C3F68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join + partitions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045A4-0266-45E2-8846-A65872DC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836EE-2088-448B-9CC4-66E24683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25A1C"/>
                </a:solidFill>
              </a:defRPr>
            </a:pPr>
            <a:r>
              <a:rPr sz="1875" b="1">
                <a:solidFill>
                  <a:srgbClr val="E25A1C"/>
                </a:solidFill>
              </a:rPr>
              <a:t>final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3CA34E-953C-4CB3-8845-E3F54C22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адаптирован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D525F-3F83-453C-BE53-644D34B4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25A1C"/>
                </a:solidFill>
              </a:defRPr>
            </a:pPr>
            <a:r>
              <a:rPr sz="1725" b="1">
                <a:solidFill>
                  <a:srgbClr val="E25A1C"/>
                </a:solidFill>
              </a:rPr>
              <a:t>AQE умеет coalesce partitions, менять join strategy и обрабатывать skewed partitions.</a:t>
            </a:r>
          </a:p>
        </p:txBody>
      </p:sp>
    </p:spTree>
    <p:extLst>
      <p:ext uri="{BB962C8B-B14F-4D97-AF65-F5344CB8AC3E}">
        <p14:creationId xmlns:p14="http://schemas.microsoft.com/office/powerpoint/2010/main" val="8068471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AD62B-907B-41E0-B1C9-B6F4B965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АНТИПАТТЕРНЫ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8A9CB-CC71-4353-BDF1-58F89F41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F462D-26D9-4D1A-9148-0091AB15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0D2B4-3A70-4B56-8711-09CF4CB3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5320D-D0E9-412B-804F-9AB4B555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Skew и small files ломают масштабирование с разных сторон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D3D2F-D4A6-4B97-A1BC-3C4FBFE3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8"/>
                </a:solidFill>
              </a:defRPr>
            </a:pPr>
            <a:r>
              <a:rPr sz="1200" b="1">
                <a:solidFill>
                  <a:srgbClr val="6E6E68"/>
                </a:solidFill>
              </a:rPr>
              <a:t>DATA SKEW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382DA-5EE9-41F0-8B51-608BCCDC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428"/>
                </a:solidFill>
              </a:defRPr>
            </a:pPr>
            <a:r>
              <a:rPr sz="2325" b="1">
                <a:solidFill>
                  <a:srgbClr val="1F2428"/>
                </a:solidFill>
              </a:rPr>
              <a:t>Одна task держит 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1BCFD-A5BA-4F99-A918-29E344CF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CC626-C4FD-4631-B6EC-E49AA72E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Горячий ключ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78365-CA73-47AE-B9A2-5C4DA1AE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C0522-DCE8-4275-A2C5-71C0C005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Длинный хвост task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0336B-FCB6-46B4-8E71-88E556BE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19A1F-9316-49F6-B9BD-FBBE6F48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Spill и OOM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D3C1F-589B-4C85-AE8A-51A77D9B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SMALL 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D4104-7602-4F32-AC94-4304CDCF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428"/>
                </a:solidFill>
              </a:defRPr>
            </a:pPr>
            <a:r>
              <a:rPr sz="2325" b="1">
                <a:solidFill>
                  <a:srgbClr val="1F2428"/>
                </a:solidFill>
              </a:rPr>
              <a:t>Тысячи tasks делают мало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4AED5-9972-4813-B149-DD3CC606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6D207-187C-4A30-828F-B4C1A7D5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814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Overhead планирования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1A163-10E2-4D17-B12F-DF872547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83B66-4326-48C2-8D13-24BCFFC1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7197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Metadata pressure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72D74-D51D-461D-882B-EDC4A671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87C99-0EBC-4E44-80A7-98137A3F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625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3"/>
                </a:solidFill>
              </a:defRPr>
            </a:pPr>
            <a:r>
              <a:rPr sz="1575" b="0">
                <a:solidFill>
                  <a:srgbClr val="202123"/>
                </a:solidFill>
              </a:rPr>
              <a:t>Медленный listing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E77A1-2CCF-4B05-82ED-B51652AF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836436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06FD5A-9010-41E1-9A2B-F9184CEE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B35CC-FF1E-4A66-A87B-B97F47FF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60210-4857-4D74-B46B-20B8DA9D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337DB-B158-4E98-B348-4FA96DD1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8D7EE-41A4-4AF4-B32E-A19BBBE9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Production-ready Spark начинается до spark-submit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39FE5-8314-4F61-B92A-1D127D95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97FAE-BC14-49E7-BE91-EED6BD5E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92121-DDDE-4191-9E31-58C439E3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Контракт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75470-7011-4ED4-B65B-9B8CD3AC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193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68"/>
                </a:solidFill>
              </a:defRPr>
            </a:pPr>
            <a:r>
              <a:rPr sz="1575" b="0">
                <a:solidFill>
                  <a:srgbClr val="6E6E68"/>
                </a:solidFill>
              </a:rPr>
              <a:t>schema · keys · nulls · idempotency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77D8D-F0C1-4571-98D2-7CAD4547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58027-589A-4497-B60A-C6F2D035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5C48D-2107-4865-8A95-8FE81A9D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C5093-2232-4082-8408-0ABFB64A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План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52E8D-B791-4C00-921D-AB2EF356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03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68"/>
                </a:solidFill>
              </a:defRPr>
            </a:pPr>
            <a:r>
              <a:rPr sz="1575" b="0">
                <a:solidFill>
                  <a:srgbClr val="6E6E68"/>
                </a:solidFill>
              </a:rPr>
              <a:t>explain · join strategy · exchanges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EC741-F6C3-4A1C-93DC-928C80A1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E9868-E40E-4B87-BCFE-A7AE991B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53B54-8560-4293-A548-694E8003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AE81F-7D30-44B0-9121-C3010336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Ресурсы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3B3B7-3941-4E94-AC67-27E03690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68"/>
                </a:solidFill>
              </a:defRPr>
            </a:pPr>
            <a:r>
              <a:rPr sz="1575" b="0">
                <a:solidFill>
                  <a:srgbClr val="6E6E68"/>
                </a:solidFill>
              </a:rPr>
              <a:t>partitions · memory · cores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47C16-2334-4B7C-9602-E3CE64A1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C4719-B0C0-4D55-BC00-E5B94176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36564-D2BD-4909-99B8-D2EAE028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38098D-F90E-48E5-95DB-3CAEB2D6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E7155-2070-4BB8-B446-960C51DE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68"/>
                </a:solidFill>
              </a:defRPr>
            </a:pPr>
            <a:r>
              <a:rPr sz="1575" b="0">
                <a:solidFill>
                  <a:srgbClr val="6E6E68"/>
                </a:solidFill>
              </a:rPr>
              <a:t>UI · metrics · logs · output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08DC6-FBCD-4446-AB18-D48C5C3B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D19BB8-0D42-4740-B804-A9471B6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FA3D6C-5315-42FF-8C5D-10496F81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031B6-D07C-4520-8673-345358F9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24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Эксплуатация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FB37C0-AE72-4579-8933-7F9CEB62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435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68"/>
                </a:solidFill>
              </a:defRPr>
            </a:pPr>
            <a:r>
              <a:rPr sz="1575" b="0">
                <a:solidFill>
                  <a:srgbClr val="6E6E68"/>
                </a:solidFill>
              </a:rPr>
              <a:t>retry · alerts · ownership · runbook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E336AC-5243-4E19-8257-D342EB03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578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509450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7A869-7E9C-450F-A95C-7FE208BA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99D11-B45C-4F13-AC5F-47361DF4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5A1C"/>
                </a:solidFill>
              </a:defRPr>
            </a:pPr>
            <a:r>
              <a:rPr sz="1275" b="1">
                <a:solidFill>
                  <a:srgbClr val="E25A1C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744E2-3FBC-46AC-833D-31208B32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571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0C26A-D741-4938-80EA-F75F5D66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9525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Шпаргалки для практики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66A7E-C37D-478A-AB4C-D3AF9963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6D9DC"/>
                </a:solidFill>
              </a:defRPr>
            </a:pPr>
            <a:r>
              <a:rPr sz="1875" b="0">
                <a:solidFill>
                  <a:srgbClr val="D6D9DC"/>
                </a:solidFill>
              </a:rPr>
              <a:t>Термины, варианты запуска и инженерные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116203584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5F5EE2-A8AD-4674-8269-1A71083C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ШПАРГАЛКА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232C7-DAD9-4ABD-91D1-B03C098D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B0704-B785-4BD3-A9A0-E0073850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2B375-8298-408A-B679-4EC47F90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59D44-1D9A-4E8F-BFFD-6F8E58F9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Минимальный словарь Spark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997F0-C6D7-4D26-A58A-173DCBEA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5E32D-E1E9-40B4-8F5C-C0BF1792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19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один запуск пользовательской программы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BB5D7-91CC-46FA-8B3C-6B0B362F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5A1C"/>
                </a:solidFill>
              </a:defRPr>
            </a:pPr>
            <a:r>
              <a:rPr sz="1800" b="1">
                <a:solidFill>
                  <a:srgbClr val="E25A1C"/>
                </a:solidFill>
              </a:rPr>
              <a:t>Driver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A57CD-7060-48AB-8788-FC6E66DB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19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координатор приложения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7CDA2-1A42-424A-BC88-14F36C2E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Executor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92A1F-A7EA-4AE0-86A6-8F0BF539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33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процесс, который выполняет tasks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608A8-F362-4399-9284-405770BB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5A1C"/>
                </a:solidFill>
              </a:defRPr>
            </a:pPr>
            <a:r>
              <a:rPr sz="1800" b="1">
                <a:solidFill>
                  <a:srgbClr val="E25A1C"/>
                </a:solidFill>
              </a:rPr>
              <a:t>Job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53EA3-EA19-43C2-A7DF-E5218791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33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вычисление для одной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D42CB-30F9-4BDB-BB1F-ED288996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2A0A4-BCE0-47C6-9AEC-7383BF5B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848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часть job между shuffle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CBED4-E54B-4682-83F0-6A1C0D8F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5A1C"/>
                </a:solidFill>
              </a:defRPr>
            </a:pPr>
            <a:r>
              <a:rPr sz="1800" b="1">
                <a:solidFill>
                  <a:srgbClr val="E25A1C"/>
                </a:solidFill>
              </a:rPr>
              <a:t>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8A2A0-7D16-44E4-8B11-31F831EB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48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работа stage над одной partition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28CA4-1A0F-4633-A1C5-20F61AA8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</a:defRPr>
            </a:pPr>
            <a:r>
              <a:rPr sz="1800" b="1">
                <a:solidFill>
                  <a:srgbClr val="2F6FED"/>
                </a:solidFill>
              </a:rPr>
              <a:t>Partition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9AB89-F594-4F53-A4EE-35E8A4D0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762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порция данных для parallel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706EC-7950-4B70-9E08-27D0E7AF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434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5A1C"/>
                </a:solidFill>
              </a:defRPr>
            </a:pPr>
            <a:r>
              <a:rPr sz="1800" b="1">
                <a:solidFill>
                  <a:srgbClr val="E25A1C"/>
                </a:solidFill>
              </a:rPr>
              <a:t>Exchange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A5DF0-A86D-404A-A7EE-B9335E26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узел physical plan с redistribution</a:t>
            </a:r>
          </a:p>
        </p:txBody>
      </p:sp>
    </p:spTree>
    <p:extLst>
      <p:ext uri="{BB962C8B-B14F-4D97-AF65-F5344CB8AC3E}">
        <p14:creationId xmlns:p14="http://schemas.microsoft.com/office/powerpoint/2010/main" val="23031043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AEE3A0-E5E6-4209-B2E7-FD9335D8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3199E-CFAE-460A-B6C2-ACE84CFB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864B7-387C-4C33-B7B1-5AC8C055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ACAB8-E1E8-4024-99ED-ECD40330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20023-6F6D-442E-9BE4-0DFD128E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Способ запуска меняет эксплуатацию, но не модель приложения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93DAB-BE2E-4287-99D0-27775CA5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764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07082-9FFE-41E8-BABA-ABC8EE17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764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Standalone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FCE5B-B73F-4221-85EE-79629D0A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764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YARN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FC0BE-4881-4B53-AFB2-6A9EC158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764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25A1C"/>
                </a:solidFill>
              </a:defRPr>
            </a:pPr>
            <a:r>
              <a:rPr sz="1650" b="1">
                <a:solidFill>
                  <a:srgbClr val="E25A1C"/>
                </a:solidFill>
              </a:rPr>
              <a:t>Kubernetes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4B300-6519-4FAF-8FAF-84DD04D9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</a:defRPr>
            </a:pPr>
            <a:r>
              <a:rPr sz="1500" b="1">
                <a:solidFill>
                  <a:srgbClr val="202123"/>
                </a:solidFill>
              </a:rPr>
              <a:t>Для чего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F2285-7FF0-4C44-9702-5453C7E4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860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разработка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5B68A-4A1B-4771-A6EB-34B35D5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860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учебный кластер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D1988-7D57-40FD-AFE6-6AEABDC1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Hadoop estate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9F5A3-FFBE-4BAB-B58A-33923C4F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cloud-native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90438-7859-47C9-A652-720D5C4F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A9D65-2AC7-47CE-8643-FB09865F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</a:defRPr>
            </a:pPr>
            <a:r>
              <a:rPr sz="1500" b="1">
                <a:solidFill>
                  <a:srgbClr val="202123"/>
                </a:solidFill>
              </a:rPr>
              <a:t>Ресурсы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5B3FB-1456-4616-BF25-F3A3C443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718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один процесс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9370D-ABE0-4DD7-89CB-1A20BA0C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Spark master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A0E87-C1DA-40EF-B05C-B4CBF472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718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ResourceManager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41E0C-8950-48DF-9DD9-797E5DAE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718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K8s scheduler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2CB59-E20A-4F7B-8DC6-DF99C033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0AC3B-E888-4BD7-B7CC-0A6B12EF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</a:defRPr>
            </a:pPr>
            <a:r>
              <a:rPr sz="1500" b="1">
                <a:solidFill>
                  <a:srgbClr val="202123"/>
                </a:solidFill>
              </a:rPr>
              <a:t>Изоляция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DE49EA-1CD3-4BB7-8DD6-BEFB22D7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576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минимальная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33FD5B-AF8E-4527-8464-E165AEA0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576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процессы/hosts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3E6D16-D982-4F87-A115-22D4D9DD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576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containers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0F6804-C666-42F7-B56A-CDDCDBCE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576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pods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AF69FE-CF55-4B9C-A308-8251B29E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2F57A9-A209-469E-880E-39D8F324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</a:defRPr>
            </a:pPr>
            <a:r>
              <a:rPr sz="1500" b="1">
                <a:solidFill>
                  <a:srgbClr val="202123"/>
                </a:solidFill>
              </a:rPr>
              <a:t>Сложность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59A7C3-4949-4DBF-82E6-5C71179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34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низкая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688FB9-70BD-4AA2-89CD-ED32F1D3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434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средняя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352D00-559F-4879-9471-901D9FC7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434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средняя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48E44E-1122-40C3-9650-9D12F8E3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434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выше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96E46E-2370-4144-8647-F76B9D07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1419159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F869D-01F1-48F8-BB41-A4221482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CACHE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20E2A-539B-4BE0-88F9-B7CC88B9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C4C02-5F47-4632-A977-E4D99C48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2F13C-0B5E-44E6-9249-D3D01595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2C3DB-E6BB-43EF-AA96-272C6D10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Cache оправдан только повторным использованием дорогого результата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E0350-5F5C-4CC7-887F-7C69470E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2123"/>
                </a:solidFill>
              </a:defRPr>
            </a:pPr>
            <a:r>
              <a:rPr sz="2250" b="1">
                <a:solidFill>
                  <a:srgbClr val="202123"/>
                </a:solidFill>
              </a:rPr>
              <a:t>Этот DataFrame будет вычислен снова — и его пересчёт дорог?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31BDA-73C4-4DB9-9DA5-C0740EF6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EEE8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028B9-FD9F-4382-A6B1-0BFCD7A0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24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68"/>
                </a:solidFill>
              </a:defRPr>
            </a:pPr>
            <a:r>
              <a:rPr sz="1200" b="1">
                <a:solidFill>
                  <a:srgbClr val="6E6E68"/>
                </a:solidFill>
              </a:rPr>
              <a:t>НЕТ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4CB57-9196-452A-B715-DA47A33F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123"/>
                </a:solidFill>
              </a:defRPr>
            </a:pPr>
            <a:r>
              <a:rPr sz="2100" b="1">
                <a:solidFill>
                  <a:srgbClr val="202123"/>
                </a:solidFill>
              </a:rPr>
              <a:t>Не cache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3D0AF-31C8-42F6-A6A9-874A6CB7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672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</a:defRPr>
            </a:pPr>
            <a:r>
              <a:rPr sz="1425" b="0">
                <a:solidFill>
                  <a:srgbClr val="6E6E68"/>
                </a:solidFill>
              </a:rPr>
              <a:t>Освободить executor memory для shuffle и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5C5B8-CC17-47D5-A893-E8FD0EB0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68FF4-0B10-4F52-BEF9-1CE94D17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ДА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D0DED-1FAB-49B2-9310-BF88DF1B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persist + unpersist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3C7B8-06B3-43F7-80A0-56D83E71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D9DC"/>
                </a:solidFill>
              </a:defRPr>
            </a:pPr>
            <a:r>
              <a:rPr sz="1425" b="0">
                <a:solidFill>
                  <a:srgbClr val="D6D9DC"/>
                </a:solidFill>
              </a:rPr>
              <a:t>Проверить storage level и фактический reuse в UI</a:t>
            </a:r>
          </a:p>
        </p:txBody>
      </p:sp>
    </p:spTree>
    <p:extLst>
      <p:ext uri="{BB962C8B-B14F-4D97-AF65-F5344CB8AC3E}">
        <p14:creationId xmlns:p14="http://schemas.microsoft.com/office/powerpoint/2010/main" val="91721166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8BA0C7-8901-4429-8244-952F7F69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ДАЛЬШЕ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16C7B-6E81-49CE-B959-1772CB10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8D195-D8D0-4922-B765-2F272750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A89E4-B99E-4083-BD8B-52CDB9F7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4DE84-FD38-420C-8501-2B64C064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Structured Streaming сохраняет ту же DataFrame-модель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309A1-A5D6-42C1-AF08-98131343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862DB-A386-424C-A8B3-C5DB3941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F66A5-5491-4502-8EE1-FFAE0B6D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F9704-1E63-4C76-9AC5-549B8DE8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Kafka / 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1B7DB-B9B4-4F21-ACF5-2A9A89B3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419D1-BA70-4DF2-975C-99DD1DE2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4C288-6423-4ECF-B608-E35313C0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DataFrame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151F7-469A-4638-99D7-948D1E4E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transformations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846E8-9EF8-440A-B6B1-3791C442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051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5A1C"/>
                </a:solidFill>
              </a:defRPr>
            </a:pPr>
            <a:r>
              <a:rPr sz="2700" b="1">
                <a:solidFill>
                  <a:srgbClr val="E25A1C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B1844-56CB-44A4-B1E2-FF0688AD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F7EB0-891C-4CD9-92F1-E9D61D9E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3"/>
                </a:solidFill>
              </a:defRPr>
            </a:pPr>
            <a:r>
              <a:rPr sz="1875" b="1">
                <a:solidFill>
                  <a:srgbClr val="202123"/>
                </a:solidFill>
              </a:rPr>
              <a:t>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22D1B-481B-440C-B1DA-F822AC0A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E6E68"/>
                </a:solidFill>
              </a:defRPr>
            </a:pPr>
            <a:r>
              <a:rPr sz="1350" b="0">
                <a:solidFill>
                  <a:srgbClr val="6E6E68"/>
                </a:solidFill>
              </a:rPr>
              <a:t>watermark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8AEB8-B5DD-46A9-A37A-AE1443A9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F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F9E09-1C23-49AF-A0E2-332C4CD2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76550"/>
            <a:ext cx="1771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25A1C"/>
                </a:solidFill>
              </a:defRPr>
            </a:pPr>
            <a:r>
              <a:rPr sz="1875" b="1">
                <a:solidFill>
                  <a:srgbClr val="E25A1C"/>
                </a:solidFill>
              </a:rPr>
              <a:t>sink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ACFE2-0CF2-482E-AB5E-22084471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76625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table / topic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61BFE6-78BD-4E73-A1D4-86A0F7C6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25A1C"/>
                </a:solidFill>
              </a:defRPr>
            </a:pPr>
            <a:r>
              <a:rPr sz="1725" b="1">
                <a:solidFill>
                  <a:srgbClr val="E25A1C"/>
                </a:solidFill>
              </a:rPr>
              <a:t>Меняется режим исполнения; базовые понятия plan, partition и state остаются.</a:t>
            </a:r>
          </a:p>
        </p:txBody>
      </p:sp>
    </p:spTree>
    <p:extLst>
      <p:ext uri="{BB962C8B-B14F-4D97-AF65-F5344CB8AC3E}">
        <p14:creationId xmlns:p14="http://schemas.microsoft.com/office/powerpoint/2010/main" val="63552675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0050F9-7186-4257-B95F-81698557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5A1C"/>
                </a:solidFill>
              </a:defRPr>
            </a:pPr>
            <a:r>
              <a:rPr sz="1050" b="1">
                <a:solidFill>
                  <a:srgbClr val="E25A1C"/>
                </a:solidFill>
              </a:rPr>
              <a:t>ПРАКТИКА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777FE-A304-49D8-91D5-0D66A3CA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DE /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32F37-79E3-44FB-B6E3-42B73F9D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ADC00-A38C-4AD7-A7A6-690FAA5F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68"/>
                </a:solidFill>
              </a:defRPr>
            </a:pPr>
            <a:r>
              <a:rPr sz="975" b="1">
                <a:solidFill>
                  <a:srgbClr val="6E6E68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A6582-0EBA-49B5-B459-463D4341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</a:defRPr>
            </a:pPr>
            <a:r>
              <a:rPr sz="2850" b="1">
                <a:solidFill>
                  <a:srgbClr val="202123"/>
                </a:solidFill>
              </a:rPr>
              <a:t>Следующий шаг — собрать собственную evidence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939DB-CA5B-4159-AF2D-C171D387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5A1C"/>
                </a:solidFill>
              </a:defRPr>
            </a:pPr>
            <a:r>
              <a:rPr sz="1200" b="1">
                <a:solidFill>
                  <a:srgbClr val="E25A1C"/>
                </a:solidFill>
              </a:rPr>
              <a:t>EVIDENCE CHAIN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E1425-95E6-4BAD-8A9C-40A810F6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2E0C5-8B60-46C9-9FDD-20195B73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5448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3"/>
                </a:solidFill>
              </a:defRPr>
            </a:pPr>
            <a:r>
              <a:rPr sz="1650" b="0">
                <a:solidFill>
                  <a:srgbClr val="202123"/>
                </a:solidFill>
              </a:rPr>
              <a:t>Запустить core pipeline через mentor-lab.py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B1B53-2C6D-45A6-A5EA-FCCF70A2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DB046-27A7-4245-8790-0E1FFE03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5448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3"/>
                </a:solidFill>
              </a:defRPr>
            </a:pPr>
            <a:r>
              <a:rPr sz="1650" b="0">
                <a:solidFill>
                  <a:srgbClr val="202123"/>
                </a:solidFill>
              </a:rPr>
              <a:t>Сохранить formatted explain до выполнения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3EC43-DC23-4433-B983-04E90A35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9A129-43FF-498A-A548-891A472A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5448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3"/>
                </a:solidFill>
              </a:defRPr>
            </a:pPr>
            <a:r>
              <a:rPr sz="1650" b="0">
                <a:solidFill>
                  <a:srgbClr val="202123"/>
                </a:solidFill>
              </a:rPr>
              <a:t>Найти самый дорогой stage в Spark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03729-198F-4DD5-87B0-F00B7E0B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C2785-F89F-4D64-B895-5D0DEACE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5448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3"/>
                </a:solidFill>
              </a:defRPr>
            </a:pPr>
            <a:r>
              <a:rPr sz="1650" b="0">
                <a:solidFill>
                  <a:srgbClr val="202123"/>
                </a:solidFill>
              </a:rPr>
              <a:t>Сформулировать одно изменение и критерий успеха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49BC5-4FF6-402F-A77F-68CD1A79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38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D"/>
                </a:solidFill>
              </a:defRPr>
            </a:pPr>
            <a:r>
              <a:rPr sz="1200" b="1">
                <a:solidFill>
                  <a:srgbClr val="2F6FED"/>
                </a:solidFill>
              </a:rPr>
              <a:t>МАТЕРИАЛЫ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B0FF6-CBE8-4E05-B598-DA1D7FCF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Spark 4.2.0 docs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3BA45-47B7-44EC-A7D8-0436F794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00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68"/>
                </a:solidFill>
              </a:defRPr>
            </a:pPr>
            <a:r>
              <a:rPr sz="1200" b="0">
                <a:solidFill>
                  <a:srgbClr val="6E6E68"/>
                </a:solidFill>
              </a:rPr>
              <a:t>spark.apache.org/docs/4.2.0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D5D5E-0D5A-4F27-BFF5-195FD184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099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Лаборатория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CB161-E130-4369-9DC5-4E3000EE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433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68"/>
                </a:solidFill>
              </a:defRPr>
            </a:pPr>
            <a:r>
              <a:rPr sz="1200" b="0">
                <a:solidFill>
                  <a:srgbClr val="6E6E68"/>
                </a:solidFill>
              </a:rPr>
              <a:t>labs/spark/README.md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60B90C-BD69-4A88-8423-96040BD0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529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Workbook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DE1D9-6A34-4BA4-BB02-C4B8D5B6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862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68"/>
                </a:solidFill>
              </a:defRPr>
            </a:pPr>
            <a:r>
              <a:rPr sz="1200" b="0">
                <a:solidFill>
                  <a:srgbClr val="6E6E68"/>
                </a:solidFill>
              </a:rPr>
              <a:t>lessons/lesson-04/docs/student-workbook.md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3B95CC-7306-4F7C-A75D-8EB9172B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958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3"/>
                </a:solidFill>
              </a:defRPr>
            </a:pPr>
            <a:r>
              <a:rPr sz="1650" b="1">
                <a:solidFill>
                  <a:srgbClr val="202123"/>
                </a:solidFill>
              </a:rPr>
              <a:t>Домашнее задание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ECF498-1393-4027-AA32-8E7BDC56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292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68"/>
                </a:solidFill>
              </a:defRPr>
            </a:pPr>
            <a:r>
              <a:rPr sz="1200" b="0">
                <a:solidFill>
                  <a:srgbClr val="6E6E68"/>
                </a:solidFill>
              </a:rPr>
              <a:t>lessons/lesson-04/homework/assignment.md</a:t>
            </a:r>
          </a:p>
        </p:txBody>
      </p:sp>
    </p:spTree>
    <p:extLst>
      <p:ext uri="{BB962C8B-B14F-4D97-AF65-F5344CB8AC3E}">
        <p14:creationId xmlns:p14="http://schemas.microsoft.com/office/powerpoint/2010/main" val="1692469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2026-08-30T13:48:45.3180000Z</dcterms:created>
  <dcterms:modified xsi:type="dcterms:W3CDTF">2026-08-30T13:48:45.3180000Z</dcterms:modified>
</coreProperties>
</file>