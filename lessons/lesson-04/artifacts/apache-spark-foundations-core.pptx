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6840507bf487f" /><Relationship Type="http://schemas.openxmlformats.org/officeDocument/2006/relationships/extended-properties" Target="/docProps/app.xml" Id="R7e80c15f5faa4757" /><Relationship Type="http://schemas.openxmlformats.org/officeDocument/2006/relationships/officeDocument" Target="/ppt/presentation.xml" Id="R09a7de29306848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469e8e85df4699"/>
  </p:sldMasterIdLst>
  <p:notesMasterIdLst>
    <p:notesMasterId xmlns:r="http://schemas.openxmlformats.org/officeDocument/2006/relationships" r:id="R5b34e05622c34bb9"/>
  </p:notesMasterIdLst>
  <p:sldIdLst>
    <p:sldId xmlns:r="http://schemas.openxmlformats.org/officeDocument/2006/relationships" id="256" r:id="Rf37ed8281d0b4aea"/>
    <p:sldId xmlns:r="http://schemas.openxmlformats.org/officeDocument/2006/relationships" id="257" r:id="R50676526df6f48df"/>
    <p:sldId xmlns:r="http://schemas.openxmlformats.org/officeDocument/2006/relationships" id="258" r:id="R7dd2c91d5f304692"/>
    <p:sldId xmlns:r="http://schemas.openxmlformats.org/officeDocument/2006/relationships" id="259" r:id="R7095e057a54f4a24"/>
    <p:sldId xmlns:r="http://schemas.openxmlformats.org/officeDocument/2006/relationships" id="260" r:id="Rb5730bf56cae4602"/>
    <p:sldId xmlns:r="http://schemas.openxmlformats.org/officeDocument/2006/relationships" id="261" r:id="Rb968dc3ca1de4f07"/>
    <p:sldId xmlns:r="http://schemas.openxmlformats.org/officeDocument/2006/relationships" id="262" r:id="R94d16850fc114046"/>
    <p:sldId xmlns:r="http://schemas.openxmlformats.org/officeDocument/2006/relationships" id="263" r:id="R299edebf258e41d3"/>
    <p:sldId xmlns:r="http://schemas.openxmlformats.org/officeDocument/2006/relationships" id="264" r:id="R6810506db3d14d88"/>
    <p:sldId xmlns:r="http://schemas.openxmlformats.org/officeDocument/2006/relationships" id="265" r:id="R2a016612a3da47ee"/>
    <p:sldId xmlns:r="http://schemas.openxmlformats.org/officeDocument/2006/relationships" id="266" r:id="R411a186016404f84"/>
    <p:sldId xmlns:r="http://schemas.openxmlformats.org/officeDocument/2006/relationships" id="267" r:id="Rd97858a0a8514000"/>
    <p:sldId xmlns:r="http://schemas.openxmlformats.org/officeDocument/2006/relationships" id="268" r:id="R0405097e4da14d70"/>
    <p:sldId xmlns:r="http://schemas.openxmlformats.org/officeDocument/2006/relationships" id="269" r:id="R6cd32caf0bc4477a"/>
    <p:sldId xmlns:r="http://schemas.openxmlformats.org/officeDocument/2006/relationships" id="270" r:id="R2876a5ec1ba24e2f"/>
    <p:sldId xmlns:r="http://schemas.openxmlformats.org/officeDocument/2006/relationships" id="271" r:id="Re4120686e0c24f5a"/>
    <p:sldId xmlns:r="http://schemas.openxmlformats.org/officeDocument/2006/relationships" id="272" r:id="R9590c5ee38764c23"/>
    <p:sldId xmlns:r="http://schemas.openxmlformats.org/officeDocument/2006/relationships" id="273" r:id="R1756e49464dc4caf"/>
    <p:sldId xmlns:r="http://schemas.openxmlformats.org/officeDocument/2006/relationships" id="274" r:id="Rfa8ae01fbafa4939"/>
    <p:sldId xmlns:r="http://schemas.openxmlformats.org/officeDocument/2006/relationships" id="275" r:id="Rdf9b401f44cb4f28"/>
    <p:sldId xmlns:r="http://schemas.openxmlformats.org/officeDocument/2006/relationships" id="276" r:id="Rf2ae1eb85f6945e2"/>
    <p:sldId xmlns:r="http://schemas.openxmlformats.org/officeDocument/2006/relationships" id="277" r:id="Rb059fa3b18754f4e"/>
    <p:sldId xmlns:r="http://schemas.openxmlformats.org/officeDocument/2006/relationships" id="278" r:id="R635e66196b8941d3"/>
    <p:sldId xmlns:r="http://schemas.openxmlformats.org/officeDocument/2006/relationships" id="279" r:id="R22304b2891a648b4"/>
    <p:sldId xmlns:r="http://schemas.openxmlformats.org/officeDocument/2006/relationships" id="280" r:id="R464ef3a3289e4271"/>
    <p:sldId xmlns:r="http://schemas.openxmlformats.org/officeDocument/2006/relationships" id="281" r:id="R3599c110b06b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1d4e6b3bb4b09" /><Relationship Type="http://schemas.openxmlformats.org/officeDocument/2006/relationships/slideMaster" Target="/ppt/slideMasters/slideMaster1.xml" Id="R68469e8e85df4699" /><Relationship Type="http://schemas.openxmlformats.org/officeDocument/2006/relationships/notesMaster" Target="/ppt/notesMasters/notesMaster1.xml" Id="R5b34e05622c34bb9" /><Relationship Type="http://schemas.openxmlformats.org/officeDocument/2006/relationships/presProps" Target="/ppt/presProps.xml" Id="R88deffb6ca0d43ef" /><Relationship Type="http://schemas.openxmlformats.org/officeDocument/2006/relationships/tableStyles" Target="/ppt/tableStyles.xml" Id="R8f54b162b6814191" /><Relationship Type="http://schemas.openxmlformats.org/officeDocument/2006/relationships/slide" Target="/ppt/slides/slide1.xml" Id="Rf37ed8281d0b4aea" /><Relationship Type="http://schemas.openxmlformats.org/officeDocument/2006/relationships/slide" Target="/ppt/slides/slide2.xml" Id="R50676526df6f48df" /><Relationship Type="http://schemas.openxmlformats.org/officeDocument/2006/relationships/slide" Target="/ppt/slides/slide3.xml" Id="R7dd2c91d5f304692" /><Relationship Type="http://schemas.openxmlformats.org/officeDocument/2006/relationships/slide" Target="/ppt/slides/slide4.xml" Id="R7095e057a54f4a24" /><Relationship Type="http://schemas.openxmlformats.org/officeDocument/2006/relationships/slide" Target="/ppt/slides/slide5.xml" Id="Rb5730bf56cae4602" /><Relationship Type="http://schemas.openxmlformats.org/officeDocument/2006/relationships/slide" Target="/ppt/slides/slide6.xml" Id="Rb968dc3ca1de4f07" /><Relationship Type="http://schemas.openxmlformats.org/officeDocument/2006/relationships/slide" Target="/ppt/slides/slide7.xml" Id="R94d16850fc114046" /><Relationship Type="http://schemas.openxmlformats.org/officeDocument/2006/relationships/slide" Target="/ppt/slides/slide8.xml" Id="R299edebf258e41d3" /><Relationship Type="http://schemas.openxmlformats.org/officeDocument/2006/relationships/slide" Target="/ppt/slides/slide9.xml" Id="R6810506db3d14d88" /><Relationship Type="http://schemas.openxmlformats.org/officeDocument/2006/relationships/slide" Target="/ppt/slides/slide10.xml" Id="R2a016612a3da47ee" /><Relationship Type="http://schemas.openxmlformats.org/officeDocument/2006/relationships/slide" Target="/ppt/slides/slide11.xml" Id="R411a186016404f84" /><Relationship Type="http://schemas.openxmlformats.org/officeDocument/2006/relationships/slide" Target="/ppt/slides/slide12.xml" Id="Rd97858a0a8514000" /><Relationship Type="http://schemas.openxmlformats.org/officeDocument/2006/relationships/slide" Target="/ppt/slides/slide13.xml" Id="R0405097e4da14d70" /><Relationship Type="http://schemas.openxmlformats.org/officeDocument/2006/relationships/slide" Target="/ppt/slides/slide14.xml" Id="R6cd32caf0bc4477a" /><Relationship Type="http://schemas.openxmlformats.org/officeDocument/2006/relationships/slide" Target="/ppt/slides/slide15.xml" Id="R2876a5ec1ba24e2f" /><Relationship Type="http://schemas.openxmlformats.org/officeDocument/2006/relationships/slide" Target="/ppt/slides/slide16.xml" Id="Re4120686e0c24f5a" /><Relationship Type="http://schemas.openxmlformats.org/officeDocument/2006/relationships/slide" Target="/ppt/slides/slide17.xml" Id="R9590c5ee38764c23" /><Relationship Type="http://schemas.openxmlformats.org/officeDocument/2006/relationships/slide" Target="/ppt/slides/slide18.xml" Id="R1756e49464dc4caf" /><Relationship Type="http://schemas.openxmlformats.org/officeDocument/2006/relationships/slide" Target="/ppt/slides/slide19.xml" Id="Rfa8ae01fbafa4939" /><Relationship Type="http://schemas.openxmlformats.org/officeDocument/2006/relationships/slide" Target="/ppt/slides/slide20.xml" Id="Rdf9b401f44cb4f28" /><Relationship Type="http://schemas.openxmlformats.org/officeDocument/2006/relationships/slide" Target="/ppt/slides/slide21.xml" Id="Rf2ae1eb85f6945e2" /><Relationship Type="http://schemas.openxmlformats.org/officeDocument/2006/relationships/slide" Target="/ppt/slides/slide22.xml" Id="Rb059fa3b18754f4e" /><Relationship Type="http://schemas.openxmlformats.org/officeDocument/2006/relationships/slide" Target="/ppt/slides/slide23.xml" Id="R635e66196b8941d3" /><Relationship Type="http://schemas.openxmlformats.org/officeDocument/2006/relationships/slide" Target="/ppt/slides/slide24.xml" Id="R22304b2891a648b4" /><Relationship Type="http://schemas.openxmlformats.org/officeDocument/2006/relationships/slide" Target="/ppt/slides/slide25.xml" Id="R464ef3a3289e4271" /><Relationship Type="http://schemas.openxmlformats.org/officeDocument/2006/relationships/slide" Target="/ppt/slides/slide26.xml" Id="R3599c110b06b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d9356183c4f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17f167a57f47a7" /><Relationship Type="http://schemas.openxmlformats.org/officeDocument/2006/relationships/notesMaster" Target="/ppt/notesMasters/notesMaster1.xml" Id="R535fda8ec89f46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82be9532a4bf2" /><Relationship Type="http://schemas.openxmlformats.org/officeDocument/2006/relationships/notesMaster" Target="/ppt/notesMasters/notesMaster1.xml" Id="R2d97f374ba1c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4f2b912bb4bc6" /><Relationship Type="http://schemas.openxmlformats.org/officeDocument/2006/relationships/notesMaster" Target="/ppt/notesMasters/notesMaster1.xml" Id="Rf2f8d7f4d5cd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dde52798e4985" /><Relationship Type="http://schemas.openxmlformats.org/officeDocument/2006/relationships/notesMaster" Target="/ppt/notesMasters/notesMaster1.xml" Id="R0d1b5a1b320e43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e7b9a17f84400" /><Relationship Type="http://schemas.openxmlformats.org/officeDocument/2006/relationships/notesMaster" Target="/ppt/notesMasters/notesMaster1.xml" Id="Rd94e4d21e3bc4d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1ce821b7c5496d" /><Relationship Type="http://schemas.openxmlformats.org/officeDocument/2006/relationships/notesMaster" Target="/ppt/notesMasters/notesMaster1.xml" Id="Rdde99cc21b45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5da5d463344ffa" /><Relationship Type="http://schemas.openxmlformats.org/officeDocument/2006/relationships/notesMaster" Target="/ppt/notesMasters/notesMaster1.xml" Id="Rb133d09bdbd542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f7f16be5734b41" /><Relationship Type="http://schemas.openxmlformats.org/officeDocument/2006/relationships/notesMaster" Target="/ppt/notesMasters/notesMaster1.xml" Id="Rdf0a096f216144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1e24ccfdbb480c" /><Relationship Type="http://schemas.openxmlformats.org/officeDocument/2006/relationships/notesMaster" Target="/ppt/notesMasters/notesMaster1.xml" Id="Rb77b8e0b2d7b4f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4f1e208c8941a8" /><Relationship Type="http://schemas.openxmlformats.org/officeDocument/2006/relationships/notesMaster" Target="/ppt/notesMasters/notesMaster1.xml" Id="R2e6a10e9f08c45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8738d8c5e448be" /><Relationship Type="http://schemas.openxmlformats.org/officeDocument/2006/relationships/notesMaster" Target="/ppt/notesMasters/notesMaster1.xml" Id="R5408626257a44b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9852e3e055472e" /><Relationship Type="http://schemas.openxmlformats.org/officeDocument/2006/relationships/notesMaster" Target="/ppt/notesMasters/notesMaster1.xml" Id="R5920b41feb0e48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cf8a3ba4c14f1b" /><Relationship Type="http://schemas.openxmlformats.org/officeDocument/2006/relationships/notesMaster" Target="/ppt/notesMasters/notesMaster1.xml" Id="R16adbaf0f31c41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936d64878243e1" /><Relationship Type="http://schemas.openxmlformats.org/officeDocument/2006/relationships/notesMaster" Target="/ppt/notesMasters/notesMaster1.xml" Id="Ra2a72db95df44d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34fde628a74f10" /><Relationship Type="http://schemas.openxmlformats.org/officeDocument/2006/relationships/notesMaster" Target="/ppt/notesMasters/notesMaster1.xml" Id="Rf8dfa18bea2645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10f3a6144b4e30" /><Relationship Type="http://schemas.openxmlformats.org/officeDocument/2006/relationships/notesMaster" Target="/ppt/notesMasters/notesMaster1.xml" Id="Rd74572e188644c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31d66bd3c84071" /><Relationship Type="http://schemas.openxmlformats.org/officeDocument/2006/relationships/notesMaster" Target="/ppt/notesMasters/notesMaster1.xml" Id="Re265340d617647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035978c79b45b0" /><Relationship Type="http://schemas.openxmlformats.org/officeDocument/2006/relationships/notesMaster" Target="/ppt/notesMasters/notesMaster1.xml" Id="Re50b777cf0b647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9708aaef27499d" /><Relationship Type="http://schemas.openxmlformats.org/officeDocument/2006/relationships/notesMaster" Target="/ppt/notesMasters/notesMaster1.xml" Id="Rd7d28ef85d5047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4f3f192fc04b97" /><Relationship Type="http://schemas.openxmlformats.org/officeDocument/2006/relationships/notesMaster" Target="/ppt/notesMasters/notesMaster1.xml" Id="R572cc6dc316940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dff27d331448f7" /><Relationship Type="http://schemas.openxmlformats.org/officeDocument/2006/relationships/notesMaster" Target="/ppt/notesMasters/notesMaster1.xml" Id="Rce14cf14df3545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0e020d809f4302" /><Relationship Type="http://schemas.openxmlformats.org/officeDocument/2006/relationships/notesMaster" Target="/ppt/notesMasters/notesMaster1.xml" Id="R313a4fb98f9747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50e9be9d244d6e" /><Relationship Type="http://schemas.openxmlformats.org/officeDocument/2006/relationships/notesMaster" Target="/ppt/notesMasters/notesMaster1.xml" Id="R27efe146e9c14d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4b1896c7d474d54" /><Relationship Type="http://schemas.openxmlformats.org/officeDocument/2006/relationships/notesMaster" Target="/ppt/notesMasters/notesMaster1.xml" Id="Re9e87d0bedda41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472263286a412e" /><Relationship Type="http://schemas.openxmlformats.org/officeDocument/2006/relationships/notesMaster" Target="/ppt/notesMasters/notesMaster1.xml" Id="R383b62bb22df420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7ec0e500a2483c" /><Relationship Type="http://schemas.openxmlformats.org/officeDocument/2006/relationships/notesMaster" Target="/ppt/notesMasters/notesMaster1.xml" Id="R8b47d769333a42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1. Apache Spark:</a:t>
            </a:r>
          </a:p>
          <a:p xmlns:a="http://schemas.openxmlformats.org/drawingml/2006/main">
            <a:r>
              <a:t>от данных к плану выполнения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2. Локальный Python больше не укладывается в SLA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3. После лекции вы сможете объяснить Spark через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4. Big Data — это ограничение workload, а не ярлык размера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5. Распределённые системы сделали сбой штатным событием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https://research.google/pubs/the-google-file-system/</a:t>
            </a:r>
          </a:p>
          <a:p xmlns:a="http://schemas.openxmlformats.org/drawingml/2006/main">
            <a:r>
              <a:t>- https://research.google/pubs/mapreduce-simplified-data-processing-on-large-clusters/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6. MapReduce автоматизировал масштабирование — но оставил цену итераций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https://research.google/pubs/mapreduce-simplified-data-processing-on-large-clusters/</a:t>
            </a:r>
          </a:p>
          <a:p xmlns:a="http://schemas.openxmlformats.org/drawingml/2006/main">
            <a:r>
              <a:t>- https://spark.apache.org/history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7. Spark вырос из задачи ускорить повторные вычисления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https://spark.apache.org/history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8. Spark — compute engine, а не база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9. Иногда лучший Spark job — тот, который вы не запускаете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10. Один Spark application — один driver и набор executors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11. Cluster manager выдаёт ресурсы — Spark управляет вычислением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12. Partition — минимальная порция данных для одной task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https://spark.apache.org/docs/4.2.0/rdd-programming-guide.html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13. DataFrame — декларативный контракт, а не цикл по строкам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14. Transformations строят план — action запускает работу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15. Один action создаёт job, stages и tasks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https://spark.apache.org/docs/4.2.0/job-scheduling.html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16. Shuffle появляется, когда строки меняют владельца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https://spark.apache.org/docs/4.2.0/rdd-programming-guide.html#shuffle-operations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17. Контракт пайплайна: события → дневная выручка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18. Явная schema делает контракт проверяемым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https://spark.apache.org/docs/4.2.0/sql-data-sources.html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19. Built-in expressions сохраняют оптимизации Catalyst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https://spark.apache.org/docs/4.2.0/api/python/reference/pyspark.sql/functions.html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20. Join и aggregation — место, где рождается стоимость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21. Сначала читаем план — потом тратим кластер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https://spark.apache.org/docs/4.2.0/api/python/reference/pyspark.sql/api/pyspark.sql.DataFrame.explain.html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22. Exchange в physical plan — сигнал перераспределения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23. Action материализует план — формат сохраняет будущие возможности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https://spark.apache.org/docs/4.2.0/sql-data-sources-parquet.html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24. Spark UI превращает “медленно” в проверяемую гипотезу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https://spark.apache.org/docs/4.2.0/web-ui.html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25. Хорошая диагностика связывает код, план и runtime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</a:t>
            </a:r>
          </a:p>
          <a:p xmlns:a="http://schemas.openxmlformats.org/drawingml/2006/main">
            <a:r>
              <a:t>- https://spark.apache.org/docs/4.2.0/web-ui.html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26. Выходной билет: объясните Spark без магии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5d56865e8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0634a681c0410b" /><Relationship Type="http://schemas.openxmlformats.org/officeDocument/2006/relationships/slideLayout" Target="/ppt/slideLayouts/slideLayout1.xml" Id="R2841df1050d648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41df1050d648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fd91e72434ce7" /><Relationship Type="http://schemas.openxmlformats.org/officeDocument/2006/relationships/notesSlide" Target="/ppt/notesSlides/notesSlide1.xml" Id="R924d11d8b41f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d597552594eb2" /><Relationship Type="http://schemas.openxmlformats.org/officeDocument/2006/relationships/notesSlide" Target="/ppt/notesSlides/notesSlide2.xml" Id="R51613a1bf09848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1759d41c64682" /><Relationship Type="http://schemas.openxmlformats.org/officeDocument/2006/relationships/notesSlide" Target="/ppt/notesSlides/notesSlide3.xml" Id="Rd81820c105f94c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5fdf6891042f5" /><Relationship Type="http://schemas.openxmlformats.org/officeDocument/2006/relationships/notesSlide" Target="/ppt/notesSlides/notesSlide4.xml" Id="Rc52c1c17d734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807d29d53403b" /><Relationship Type="http://schemas.openxmlformats.org/officeDocument/2006/relationships/notesSlide" Target="/ppt/notesSlides/notesSlide5.xml" Id="R73eec7e5d7944c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5edeb324489f" /><Relationship Type="http://schemas.openxmlformats.org/officeDocument/2006/relationships/notesSlide" Target="/ppt/notesSlides/notesSlide6.xml" Id="R54f45e07cca243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ccd28e6454de3" /><Relationship Type="http://schemas.openxmlformats.org/officeDocument/2006/relationships/notesSlide" Target="/ppt/notesSlides/notesSlide7.xml" Id="Rabf865df8b8442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f05653ff649fc" /><Relationship Type="http://schemas.openxmlformats.org/officeDocument/2006/relationships/notesSlide" Target="/ppt/notesSlides/notesSlide8.xml" Id="Rab96ef130f6845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288743d3e47c1" /><Relationship Type="http://schemas.openxmlformats.org/officeDocument/2006/relationships/notesSlide" Target="/ppt/notesSlides/notesSlide9.xml" Id="R2955d6f1f90946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6193a8f6c4179" /><Relationship Type="http://schemas.openxmlformats.org/officeDocument/2006/relationships/notesSlide" Target="/ppt/notesSlides/notesSlide10.xml" Id="R838209ad69b944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683ebab124b43" /><Relationship Type="http://schemas.openxmlformats.org/officeDocument/2006/relationships/notesSlide" Target="/ppt/notesSlides/notesSlide11.xml" Id="R4c3c1239b46c47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da2e8092f418c" /><Relationship Type="http://schemas.openxmlformats.org/officeDocument/2006/relationships/notesSlide" Target="/ppt/notesSlides/notesSlide12.xml" Id="Rf38632b601014d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187a00c164150" /><Relationship Type="http://schemas.openxmlformats.org/officeDocument/2006/relationships/notesSlide" Target="/ppt/notesSlides/notesSlide13.xml" Id="Rc9a34f9cdce348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2b7f4780b4b7e" /><Relationship Type="http://schemas.openxmlformats.org/officeDocument/2006/relationships/notesSlide" Target="/ppt/notesSlides/notesSlide14.xml" Id="Rbb552f6c482748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279868e4b441a" /><Relationship Type="http://schemas.openxmlformats.org/officeDocument/2006/relationships/notesSlide" Target="/ppt/notesSlides/notesSlide15.xml" Id="R7ac596e7f0c442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83f12ebd64ddd" /><Relationship Type="http://schemas.openxmlformats.org/officeDocument/2006/relationships/notesSlide" Target="/ppt/notesSlides/notesSlide16.xml" Id="Re5466b5b264d43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64d2692b74408" /><Relationship Type="http://schemas.openxmlformats.org/officeDocument/2006/relationships/notesSlide" Target="/ppt/notesSlides/notesSlide17.xml" Id="R99b58450011445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f4e263cba446c" /><Relationship Type="http://schemas.openxmlformats.org/officeDocument/2006/relationships/notesSlide" Target="/ppt/notesSlides/notesSlide18.xml" Id="R63c903d500914a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be0d450c94538" /><Relationship Type="http://schemas.openxmlformats.org/officeDocument/2006/relationships/notesSlide" Target="/ppt/notesSlides/notesSlide19.xml" Id="Rd3ab9a16e97245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929c90bcd4524" /><Relationship Type="http://schemas.openxmlformats.org/officeDocument/2006/relationships/notesSlide" Target="/ppt/notesSlides/notesSlide20.xml" Id="R9f25a3067e8f4c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70d3f09e6465c" /><Relationship Type="http://schemas.openxmlformats.org/officeDocument/2006/relationships/notesSlide" Target="/ppt/notesSlides/notesSlide21.xml" Id="R081d4885306a4d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5d0416869491d" /><Relationship Type="http://schemas.openxmlformats.org/officeDocument/2006/relationships/notesSlide" Target="/ppt/notesSlides/notesSlide22.xml" Id="R4afd3a6e6d0b45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332d6ac7b4988" /><Relationship Type="http://schemas.openxmlformats.org/officeDocument/2006/relationships/notesSlide" Target="/ppt/notesSlides/notesSlide23.xml" Id="R7daf00f06c8042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4e12753b347d4" /><Relationship Type="http://schemas.openxmlformats.org/officeDocument/2006/relationships/notesSlide" Target="/ppt/notesSlides/notesSlide24.xml" Id="R083907b5451d41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59d8856e24fc5" /><Relationship Type="http://schemas.openxmlformats.org/officeDocument/2006/relationships/notesSlide" Target="/ppt/notesSlides/notesSlide25.xml" Id="R56b53925eb2648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133d21f6c48f2" /><Relationship Type="http://schemas.openxmlformats.org/officeDocument/2006/relationships/notesSlide" Target="/ppt/notesSlides/notesSlide26.xml" Id="R47c4edbbeca74b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80914-CA94-41F0-8A7E-3C05AEC3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EE8BA-033C-4C54-B95E-9495F1F5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2032C-D31F-4628-BC3C-F80D5C6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LESSON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03547-807A-4E07-BC57-E2C55481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28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Apache Spark: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от данных к плану выполнения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8F33D-23E8-4DF2-B4D3-276F41B9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D9DC"/>
                </a:solidFill>
              </a:defRPr>
            </a:pPr>
            <a:r>
              <a:rPr sz="1875" b="0">
                <a:solidFill>
                  <a:srgbClr val="D6D9DC"/>
                </a:solidFill>
              </a:rPr>
              <a:t>Практическое погружение в PySpark для начинающего Data Engineer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26219-7F74-4045-9356-1FC27D78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5FAC1-0CD3-47D9-9FB0-E5906FD8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D9DC"/>
                </a:solidFill>
              </a:defRPr>
            </a:pPr>
            <a:r>
              <a:rPr sz="1350" b="1">
                <a:solidFill>
                  <a:srgbClr val="D6D9DC"/>
                </a:solidFill>
              </a:rPr>
              <a:t>Core · 60 минут  |  Deep dive · +30 минут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3C186-2BD1-4F69-9C80-76B6BE9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E25A1C"/>
                </a:solidFill>
              </a:defRPr>
            </a:pPr>
            <a:r>
              <a:rPr sz="2100" b="1">
                <a:solidFill>
                  <a:srgbClr val="E25A1C"/>
                </a:solidFill>
              </a:rPr>
              <a:t>PYSPARK</a:t>
            </a:r>
          </a:p>
        </p:txBody>
      </p:sp>
    </p:spTree>
    <p:extLst>
      <p:ext uri="{BB962C8B-B14F-4D97-AF65-F5344CB8AC3E}">
        <p14:creationId xmlns:p14="http://schemas.microsoft.com/office/powerpoint/2010/main" val="935722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F9B77-AC7D-40ED-A507-AD8335C9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ЗАЧЕМ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F7204-5FAD-4F8A-BCF8-9DBD09EB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CFC73-85A7-4021-B301-2D19E87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CB3C0-5EE0-4315-AEE5-C3CD9975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850BF-B223-4275-9805-A6737C4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Локальный Python больше не укладывается в SLA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5A3C5-7171-4D9A-A025-5A289EF5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</a:defRPr>
            </a:pPr>
            <a:r>
              <a:rPr sz="2325" b="1">
                <a:solidFill>
                  <a:srgbClr val="B42318"/>
                </a:solidFill>
              </a:rPr>
              <a:t>120 ГБ событий · 18 минут до дедлайна · один процесс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7A310-708B-4659-B1EA-A9278EDB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81FF-6DAB-4F34-8A97-ABCB74F2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3"/>
                </a:solidFill>
              </a:defRPr>
            </a:pPr>
            <a:r>
              <a:rPr sz="1800" b="0">
                <a:solidFill>
                  <a:srgbClr val="202123"/>
                </a:solidFill>
              </a:rPr>
              <a:t>Память заканчивается раньше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B1FFF-C3CD-4A75-9831-F86B4A78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CA2CE-E820-49C2-B295-34D8FE3A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3"/>
                </a:solidFill>
              </a:defRPr>
            </a:pPr>
            <a:r>
              <a:rPr sz="1800" b="0">
                <a:solidFill>
                  <a:srgbClr val="202123"/>
                </a:solidFill>
              </a:rPr>
              <a:t>Повторный запуск начинается с нуля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CE53B-5585-41EF-9371-1F436B8D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8504B-630A-4131-A19F-634698CF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3"/>
                </a:solidFill>
              </a:defRPr>
            </a:pPr>
            <a:r>
              <a:rPr sz="1800" b="0">
                <a:solidFill>
                  <a:srgbClr val="202123"/>
                </a:solidFill>
              </a:rPr>
              <a:t>Ускорение упирается в один CPU и один диск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07DE0-7363-48A6-9F12-0D4FA75B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36766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29839-9633-49D3-B0C4-51C7E216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C6CA0-8508-489B-8C34-24AB0B5D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276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25A1C"/>
                </a:solidFill>
              </a:defRPr>
            </a:pPr>
            <a:r>
              <a:rPr sz="4350" b="1">
                <a:solidFill>
                  <a:srgbClr val="E25A1C"/>
                </a:solidFill>
              </a:rPr>
              <a:t>18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FA6E4-1432-4999-8EC4-92E41758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Нужен не “быстрый pandas”, а другая модель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2038928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BB896-9F73-45D9-A44B-0B5F1CDA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КОНТРАКТ ЛЕКЦИИ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2676E-80E8-4781-894F-C7543BF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A104E-939F-4122-B505-BD5220E5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762C6-7236-4269-A558-D6A9F334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A8A5C-8C41-43C9-A301-DACD290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После лекции вы сможете объяснить Spark через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F09DE-57AD-4BAC-990F-01496E86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FFD91-AA48-4328-934E-5A5170F1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76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Модель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6AC52-F314-4CCB-8305-8D47814B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Driver, executors, partitions, jobs и stages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D45A2-32C0-4409-9A82-7E32D98D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527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C588B-BDB6-43DC-BD49-7C9C06B8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8FC9C-67CC-4967-902F-EF85D1CD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1E656-6B11-4E24-A302-8C8A95A4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DataFrame-пайплайн без Python UDF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30AEC-05C4-46AE-922C-2344050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2427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95B44-7AC5-4160-88DA-8DB1B4AD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CF1DA-1EAE-4455-B88E-904394E7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9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План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9FF2D-DA95-4EC8-8109-420EFA5B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Exchange, join strategy и AQE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3EFE3-7629-4942-AE6B-506D79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958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38E44-1A44-4019-8610-0C17624E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6D43E-3EE2-4683-A7D2-6AD2D7FA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Наблюдение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1D165-FABA-44A5-8FE3-43F3D5A7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01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Spark UI: где искать shuffle и skew</a:t>
            </a:r>
          </a:p>
        </p:txBody>
      </p:sp>
    </p:spTree>
    <p:extLst>
      <p:ext uri="{BB962C8B-B14F-4D97-AF65-F5344CB8AC3E}">
        <p14:creationId xmlns:p14="http://schemas.microsoft.com/office/powerpoint/2010/main" val="350875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E2520-254E-47AE-AAC3-8136E59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F18E4-CC5F-4BB5-85D4-098EE6FA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6A86C-7013-41AA-9CF5-34596624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40475-CACD-4497-ABAD-41EFF0C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4EC91-790B-44A9-90BA-1CA84F5A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Big Data — это ограничение workload, а не ярлык размера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5EDE8-D4A1-4642-859D-5EA4F571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428"/>
                </a:solidFill>
              </a:defRPr>
            </a:pPr>
            <a:r>
              <a:rPr sz="2775" b="1">
                <a:solidFill>
                  <a:srgbClr val="1F2428"/>
                </a:solidFill>
              </a:rPr>
              <a:t>“Данные становятся “big”, когда привычная архитектура перестаёт выполнять обещания.”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B39DD-102A-46D3-A8BB-28713900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27203-8096-42F3-9298-B617AA3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5A1C"/>
                </a:solidFill>
              </a:defRPr>
            </a:pPr>
            <a:r>
              <a:rPr sz="1275" b="1">
                <a:solidFill>
                  <a:srgbClr val="E25A1C"/>
                </a:solidFill>
              </a:rPr>
              <a:t>ОБЪЁМ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01E06-9D55-4D2D-B796-A087A1EA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СКОРОСТЬ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30911-07AE-4BDE-8937-9948CB35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РАЗНООБРАЗИЕ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946F2-A6F9-415E-A6B9-AF4663A3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СТОИМОСТЬ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EA3D5-1660-4047-97DF-3198F9B8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СБОИ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72D46-224B-4759-A496-361DE192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Сначала формулируем SLA и профиль нагрузки — потом выбираем движок.</a:t>
            </a:r>
          </a:p>
        </p:txBody>
      </p:sp>
    </p:spTree>
    <p:extLst>
      <p:ext uri="{BB962C8B-B14F-4D97-AF65-F5344CB8AC3E}">
        <p14:creationId xmlns:p14="http://schemas.microsoft.com/office/powerpoint/2010/main" val="951140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5C6CA-1AB9-41AF-9D95-B444398E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ИСТОРИЯ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33669-06A9-4936-8316-D6CCA4C1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7E44-0C7C-4D4A-94F2-4A335361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77424-FE45-460D-9BCD-04D95A2F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5110A-5743-423A-B6E0-3B09973E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Распределённые системы сделали сбой штатным событием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DDD43-7986-4524-99E5-B1EBB6D5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CBC01-3846-4574-AD5C-74210C7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21539-8134-4DE5-8AB5-7925E791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3A771-3867-4855-A3AF-FB0C9FA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Google File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0E620-4F11-459E-A927-50E311F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27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Данные разбиты на блоки, реплицированы и распределены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273D3-CDDB-4ACC-B176-FFC17E5F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03D23-1A47-4D0F-AEA9-F2DE7E79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5CE10-70F6-45E1-80D7-C1C12984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MapReduce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FB539-5E73-4375-91B7-A5726C9D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27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Планирование, partitioning и retry стали частью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296B1-BD4D-4098-8F23-CDAE1466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C86E8-C98D-4C1C-9103-466B1B7B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25A1C"/>
                </a:solidFill>
              </a:defRPr>
            </a:pPr>
            <a:r>
              <a:rPr sz="2175" b="1">
                <a:solidFill>
                  <a:srgbClr val="E25A1C"/>
                </a:solidFill>
              </a:rPr>
              <a:t>Вывод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5D045-82D7-4FAD-9999-0B8FE549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813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Не предотвращать каждый сбой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93B56-9E0A-4EC4-989B-ECA3DC66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327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Проектировать вычисление так, чтобы его можно было повторить</a:t>
            </a:r>
          </a:p>
        </p:txBody>
      </p:sp>
    </p:spTree>
    <p:extLst>
      <p:ext uri="{BB962C8B-B14F-4D97-AF65-F5344CB8AC3E}">
        <p14:creationId xmlns:p14="http://schemas.microsoft.com/office/powerpoint/2010/main" val="57618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84D8D-F957-4F93-BDEA-A272E85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ИСТОРИЯ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35A84-500B-4B42-9867-E407E253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16BBF-E537-4762-A81A-3807299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2ACDB-CC43-494B-BAC2-52A5A584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85D7C-E240-4652-9A24-5288964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MapReduce автоматизировал масштабирование — но оставил цену итераций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B73A4-6E9A-4356-9FA8-99EC7629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MAPREDUCE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F5914-6384-4AD2-BBDD-640188E3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Map → disk → 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67DBD-2A61-405E-B6C5-AE47AFB4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1BBAB-3CFE-4854-9AAA-0DCA525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Надёжный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B5C8D-FC5B-4320-8615-AF09C36C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564CD-A524-4C69-AF27-CD2367C3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Явные границы фаз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18E1A-1376-4BB0-8DE5-033E26B0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899EF-42C4-4DF8-A7EB-9EBCA16F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Много промежуточного 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DB2E9-4E8E-48D9-8545-61018CC2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SPARK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FB28F-2269-4CA3-A211-D539050F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DAG → оптимизированный план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75646-64CB-43E0-ABD1-E0BB4357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E65FF-9E50-4717-B390-414958B1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Переиспользование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EEA04-3555-43BC-8545-7259E511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54E54-B743-4AD0-91CD-91A30E2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Несколько API на одном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2F342-42FE-4736-93EC-43C55780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0B4D1-4145-42BF-BA1D-03B96F8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Интерактивная разработка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A018E-9937-4DD5-94BD-E52CC0ED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3958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B8767-D52C-4657-A5B5-20428145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ИСТОРИЯ 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76082-13C6-4CF6-861C-F1972824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320A-6697-42C2-A3D4-984E6FB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A9CA-3DF9-47A7-AA29-A9E615BF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49B30-FFC9-41D3-8E76-1B05345A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Spark вырос из задачи ускорить повторные вычисления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3955E-8B8B-411F-91E6-CD6D39A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A0388-2D9D-45AC-BEDC-9E22FBD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7C8A2-7893-4493-AF0E-9DC39FC5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138F5-AF1D-41DE-B4BE-1603C87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UC Berkeley AMPLab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1E0AB-DB41-416E-A3F6-E420F334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Исследовательский проект для кластерной аналитики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68514-A494-4378-9B56-D27D102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48867-3106-4C82-A56C-57CEDDB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A0AD2-C23C-4AA2-AED6-07A81E45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Open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B850B-C47B-4396-8EBB-A14952E0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Проект становится доступен сообществу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454CE-8A91-4C35-A408-7448221E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081BB-5CE8-41F6-9F6C-FB9E150F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09E16-1831-4E3C-9E2F-17C3518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Apache Software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0EE18-7D22-4428-925A-4641448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Spark переходит в Apache Incubator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89FB4-42D0-4747-BBAF-39C32D1B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0EAE3-34FF-4C7A-AACB-A6A54460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25A1C"/>
                </a:solidFill>
              </a:defRPr>
            </a:pPr>
            <a:r>
              <a:rPr sz="2175" b="1">
                <a:solidFill>
                  <a:srgbClr val="E25A1C"/>
                </a:solidFill>
              </a:rPr>
              <a:t>Сегодня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7C7A0-F908-4EAD-A98C-78C53ABA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Единый 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F8971-7840-43B1-BA1A-27E3750A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SQL, batch, streaming и ML на общей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419701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8ED33-F8B1-4CB6-B656-9F71DCB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МЕНТАЛЬНАЯ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19F3B-7BF0-45F7-92DA-50B74BCF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FCF69-253A-4905-9CD1-580B49CB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ABDC-01F8-4478-87F0-299EC228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32D71-CCB3-411E-B5A4-B656D026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Spark — compute engine, а не база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5D638-50D4-4F81-AABA-6120F588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A37F"/>
                </a:solidFill>
              </a:defRPr>
            </a:pPr>
            <a:r>
              <a:rPr sz="1275" b="1">
                <a:solidFill>
                  <a:srgbClr val="10A37F"/>
                </a:solidFill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4E6E2-E52A-4D5E-B0C8-2E793AA8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НЕ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02BF5-C583-4941-9430-7BF1AF16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95DFB-EB44-4A3B-935C-5DBAF6A8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B8D50-FFF1-47A0-B0DE-159B428D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Планирует DAG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A899A-93EE-4CF6-8053-8A20FEF1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87AAF-5721-44A6-ABFB-CDE1AAEE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Распределяет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40D09-A484-48E4-A0BB-1538BAC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941C8-AB61-4ACD-B109-19A4A58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Выполняет трансформации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E8DA1-5239-4506-B7F5-D03651D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00E4D-280B-4FF7-BCFC-887AC8A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Повторяет потерянные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0817F-1EF8-4758-B41C-7CB7E2B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2FF76-B7A3-4C76-8FF0-15445D6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владеет бизнес-данными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BDCA5-6E7D-40F9-B634-E4F1D7D4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816DB-0BF8-4A22-860D-404E140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заменяет каталог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08ABB-09C0-4547-AC29-22E0F486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51E18-1B3A-4137-931B-A95B9900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гарантирует OLTP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E7053-F6BE-4DF1-A2A8-C6A752F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85510-17FC-4CDE-ABFC-6025B44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выбирает SLA за вас</a:t>
            </a:r>
          </a:p>
        </p:txBody>
      </p:sp>
    </p:spTree>
    <p:extLst>
      <p:ext uri="{BB962C8B-B14F-4D97-AF65-F5344CB8AC3E}">
        <p14:creationId xmlns:p14="http://schemas.microsoft.com/office/powerpoint/2010/main" val="217127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6F782-4BAF-42FA-8609-8270632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АРХИТЕКТУРНЫЙ ВЫБОР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F917-B7AC-4F2A-AED1-DF30FBF8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68B61-8492-4EC0-B1D3-70635469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3D97F-0FAE-4BED-9F43-BD844151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4689E-33A8-48A6-89C7-5E72D60D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Иногда лучший Spark job — тот, который вы не запускаете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9D639-1D49-41F8-8314-3C78221E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123"/>
                </a:solidFill>
              </a:defRPr>
            </a:pPr>
            <a:r>
              <a:rPr sz="2250" b="1">
                <a:solidFill>
                  <a:srgbClr val="202123"/>
                </a:solidFill>
              </a:rPr>
              <a:t>Данные и SLA действительно требуют распределённого вычисления?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8D669-6273-461E-8FD9-78735CCC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F4A4D-65B5-4BCE-AAB2-9106A6B9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НЕТ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62FE1-5D6E-41DD-9E0B-4576592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123"/>
                </a:solidFill>
              </a:defRPr>
            </a:pPr>
            <a:r>
              <a:rPr sz="2100" b="1">
                <a:solidFill>
                  <a:srgbClr val="202123"/>
                </a:solidFill>
              </a:rPr>
              <a:t>SQL в DWH / DuckDB /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1777E-2173-4FDE-AEF4-E106380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Меньше инфраструктуры и быстрее обратная связь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E678A-BA37-4EA2-AAA6-6705AC85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06674-FF0A-455C-808A-9BB721BB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5E8E8-0602-4A57-B600-C777AE8D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CFEAD-C283-4AD7-9299-18003A9F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9DC"/>
                </a:solidFill>
              </a:defRPr>
            </a:pPr>
            <a:r>
              <a:rPr sz="1425" b="0">
                <a:solidFill>
                  <a:srgbClr val="D6D9DC"/>
                </a:solidFill>
              </a:rPr>
              <a:t>Когда нужны параллелизм, fault tolerance и единый batch API</a:t>
            </a:r>
          </a:p>
        </p:txBody>
      </p:sp>
    </p:spTree>
    <p:extLst>
      <p:ext uri="{BB962C8B-B14F-4D97-AF65-F5344CB8AC3E}">
        <p14:creationId xmlns:p14="http://schemas.microsoft.com/office/powerpoint/2010/main" val="2097064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A4603-0A66-4C4A-A01C-5CC739D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1F62D-3070-44B7-9E17-436E74DC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F4E21-DC77-416D-BD77-C99F1D7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83522-5826-47A0-9E28-D6E907A1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82C5D-3782-49BF-A54E-6C555F58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Один Spark application — один driver и набор executors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039D9-DA18-4FE1-8700-250AEA5A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48025"/>
            <a:ext cx="704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AE42B-6484-4821-A569-8E4F3CED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908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5A1C"/>
                </a:solidFill>
              </a:defRPr>
            </a:pPr>
            <a:r>
              <a:rPr sz="255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13922-72B9-4138-8BF6-F1F85980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5A1C"/>
                </a:solidFill>
              </a:defRPr>
            </a:pPr>
            <a:r>
              <a:rPr sz="255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863EB-B67E-4599-8BCE-6F972E9B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908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5A1C"/>
                </a:solidFill>
              </a:defRPr>
            </a:pPr>
            <a:r>
              <a:rPr sz="255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79312-F26E-414D-93B5-E53000A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02AB9-795C-4B16-9C60-E3502C7F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Driver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2136A-2C02-4E19-95F3-E1FEFA1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SparkSession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DAG + scheduling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A5425-DF54-4D0E-BA0F-FC5FF5EC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F400A-8C41-4B93-B223-7893C459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Executor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2ED8F-C99C-402C-BDB7-66B2A64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0</a:t>
            </a:r>
          </a:p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892C-978A-4554-A708-838CAE92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54A11-1E54-4584-8F79-81E705CB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Executor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56C29-6F36-4F13-AF68-03A38DC2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1</a:t>
            </a:r>
          </a:p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FD5E1-CB78-49FA-8907-351B6851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3FE7F-389A-438B-BF9B-F49254A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Executor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1C6E0-50C7-4EF4-B924-DEE59678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2</a:t>
            </a:r>
          </a:p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434DC-3BB0-4564-9A65-886FC146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Driver координирует. Executors считают. Данные движутся между ними только при необходимости.</a:t>
            </a:r>
          </a:p>
        </p:txBody>
      </p:sp>
    </p:spTree>
    <p:extLst>
      <p:ext uri="{BB962C8B-B14F-4D97-AF65-F5344CB8AC3E}">
        <p14:creationId xmlns:p14="http://schemas.microsoft.com/office/powerpoint/2010/main" val="1365156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43C6D-9B81-4950-9433-33155B6A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C4E27-42F6-4C37-8A23-1478B22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909AF-4EA7-4420-B79B-9BECE8B8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20C94-CB55-414F-AAB7-B14F1A6F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81A69-FCE7-4661-B7B8-8A1E7E0C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Cluster manager выдаёт ресурсы — Spark управляет вычислением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6015F-BFB0-43EC-BC19-6F2DC7D0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CLUSTER 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2BCC1-76B6-47E8-98A5-CB86B874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Кому дать CPU и memory?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55E5A-3DA3-4DDF-80F4-5ECEB22F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5F576-11A9-46B6-AE3D-9D7169A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Standalone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7A4F8-0D18-44DD-A5C4-021FFA00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FCE82-EF8A-4BB9-AF81-D80659DA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Kubernetes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E5860-41EE-4028-BFD7-ABE6608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90EC9-4AEF-43F3-870D-98098EF7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YARN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45520-1B8F-4215-A67D-CEF70539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SPARK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3A600-705B-40B5-90FB-8F5EC9A7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Какие tasks выполнить?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FFC9D-8658-47EB-BB86-135D4AD2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631E0-3AC2-4E93-97DF-6D2A0425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Driver строит план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F0EE3-5169-4416-A26C-55E0DA8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2BF22-D8FD-4B5A-84A2-C6F6A86E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Executors выполняют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8620B-26DB-43E6-AA1A-AAB46CE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DF491-7B66-49D8-8F62-04ED9B8A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Spark отслеживает прогресс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226D2-3AE1-4EA7-98EB-D7539F53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2202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3D0213-4784-4DEA-939A-0B575413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ПАРАЛЛЕЛИЗМ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B3235-B267-4ED6-84FF-8087947D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E5F6-DCD8-431F-9481-E126596F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5CFBF-31D0-45FD-98E3-8282580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90B41-D604-4CB1-82F7-BAC053D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Partition — минимальная порция данных для одной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BCD07-B5D7-4D05-8A19-256411C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51D9D-120B-4EDA-99AB-4C9F3261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74CBC-D761-4050-A04F-F686A7E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4AF10-EA4B-449B-B79D-CD14370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E0F66-69D8-4023-A380-396B2688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41539-8538-42ED-ACF9-D5BB5D1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2DE34-4B0F-4FEA-ACAB-18360EC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989F5-40FC-4F85-A892-1DDA1972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AC8DE-FF54-4054-8625-D44FA4D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87E9D-12ED-4419-830F-FF540A84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F77E1-C375-4930-99E5-0AB0B7E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DD129-D5A7-4E59-9BB4-877BD9A8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9AE11-7AE6-4838-B39A-82DB724F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4EE85-1FF3-41B8-9807-B7EAA3C7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FA43E-D91A-4A26-A8B4-7923EE43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BFBAA-0A52-49DE-B6F4-ABF91EA6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7E411-7F7B-47BD-91A5-30D1BB10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17271-6741-479A-B0F9-335D891D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4612D-90F6-4DBA-AB6F-B93A018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3A4DD-5417-4757-B570-DC739E3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3E78A-A5F6-495B-9657-A2919914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953D7-60D0-499F-B59B-0BBA8C96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CF182-91CE-4B8A-BFB7-EABCB968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4BB01-B8F2-4325-B612-20E29DEE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65CF8-8439-4E86-B499-CEDBAFE2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F4965-BFCE-4B2D-95D7-AC7B1E3D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B07A6A-A647-4D94-B1E1-5AE71B6A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3C9E60-D77C-4C6A-9764-7FE9E159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0D809F-EB3A-4641-9F9A-CA3311E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5A1C"/>
                </a:solidFill>
              </a:defRPr>
            </a:pPr>
            <a:r>
              <a:rPr sz="1650" b="1">
                <a:solidFill>
                  <a:srgbClr val="E25A1C"/>
                </a:solidFill>
              </a:rPr>
              <a:t>Слишком мало partitions → недогруз. Слишком много → overhead и мелкие файлы.</a:t>
            </a:r>
          </a:p>
        </p:txBody>
      </p:sp>
    </p:spTree>
    <p:extLst>
      <p:ext uri="{BB962C8B-B14F-4D97-AF65-F5344CB8AC3E}">
        <p14:creationId xmlns:p14="http://schemas.microsoft.com/office/powerpoint/2010/main" val="16844859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FC8F7-DD15-46DA-B7F8-44111D1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DATAFRAME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20F78-0C60-4654-8564-271E534A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3E31B-E524-4FA7-AE6C-654BA469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15027-149D-465E-85C8-77E17808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533A3-A1A9-4E95-8CD5-1BD9AD30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DataFrame — декларативный контракт, а не цикл по строкам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A226C-0007-4F8E-BE99-B86FDFC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428"/>
                </a:solidFill>
              </a:defRPr>
            </a:pPr>
            <a:r>
              <a:rPr sz="2775" b="1">
                <a:solidFill>
                  <a:srgbClr val="1F2428"/>
                </a:solidFill>
              </a:rPr>
              <a:t>“Вы описываете результат. Catalyst выбирает физический способ его получить.”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7009A-93F4-45C7-A0E0-D1D375EF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7F874-1CE3-4E15-9326-F37FF1ED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5A1C"/>
                </a:solidFill>
              </a:defRPr>
            </a:pPr>
            <a:r>
              <a:rPr sz="1275" b="1">
                <a:solidFill>
                  <a:srgbClr val="E25A1C"/>
                </a:solidFill>
              </a:rPr>
              <a:t>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477A5-920E-4DDE-8A85-4D6F2C7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05B78-D880-46E4-9DA3-A6D2C00E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LOGICAL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F52CF-7729-41F1-A698-BFBA9E54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OPTIMIZER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7D29D-3D0E-4458-935C-77146745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PHYSICAL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69E58-9BF7-46D5-B5B8-1DF753CF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Чем больше логики видно Catalyst, тем больше свободы для оптимизации.</a:t>
            </a:r>
          </a:p>
        </p:txBody>
      </p:sp>
    </p:spTree>
    <p:extLst>
      <p:ext uri="{BB962C8B-B14F-4D97-AF65-F5344CB8AC3E}">
        <p14:creationId xmlns:p14="http://schemas.microsoft.com/office/powerpoint/2010/main" val="17071491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A43B4-7C5A-4C65-9E27-98F02C69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LAZY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9F0CF-4F84-4D55-996D-E26DFDD0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059F6-D89A-48B4-9F58-30779395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A4122-1608-4478-8D5C-9DA50D0E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975C7-89E1-4089-8A3C-EB25DB1A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Transformations строят план — action запускает работу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C2061-66B1-406E-8BC0-617E96FA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EB11D-032C-4C20-8BFF-F9987546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DD7A6-64EF-4420-86CC-57906168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2FA52-31A0-4B46-9C0E-C863DFB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ленивый источник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16258-A736-4C4C-8998-D3C61369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009D4-CF6F-4763-BE3F-BF147CA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69443-031A-4D8C-9BE2-D55FD0FE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2DFD6-0075-46C5-8838-FC667876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transformation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AD7A0-3B33-4071-B299-A1CF8BF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89CA3-BCCD-4463-80E9-EF803AB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D90B2-8E6A-4FFA-ABD1-EEC3E0D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groupBy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654A8-10C4-4379-AC41-6A259416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transformation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705FC-D31E-407F-BD03-14D5157C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A7157-44CD-4139-B0D8-D4CB5DEC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write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5E00B-D219-4486-B3FD-1EEC349B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A8174-24A2-4874-BEB9-1353016A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До action Spark может переписать и сократить план.</a:t>
            </a:r>
          </a:p>
        </p:txBody>
      </p:sp>
    </p:spTree>
    <p:extLst>
      <p:ext uri="{BB962C8B-B14F-4D97-AF65-F5344CB8AC3E}">
        <p14:creationId xmlns:p14="http://schemas.microsoft.com/office/powerpoint/2010/main" val="8993439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A76D0-8608-4A0F-9693-21AC6781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5D7EC-E300-44C8-B674-131D0A45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5AEC7-8795-499D-8E72-69A696A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0096E-25C0-423C-A049-C4773E2C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F5CFA-7EC7-4AE2-BE33-0040C7A0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Один action создаёт job, stages и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5AE20-7014-4F8D-A868-186C2DD0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D7E9E-DC63-4583-881D-EA3C5F43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write.parquet(…)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B1FA5-CA7C-4323-B546-B9E1038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Точка запуска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F3E1A-8B6E-46B0-AC61-35BA443F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14A1B-F4EC-4ED7-B820-79698C18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EF079-33F1-4D1E-8D3B-D124668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весь DAG для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4F7BF-A140-4E18-BBFE-1A318C7C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Единица пользовательского результата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2F059-609C-472B-ABDE-CD14EA28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3B2ED-A711-4F7B-8222-71C3A19B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2E55B-5869-49C6-9997-1EE2C298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цепочка без shuffle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C8731-A667-481C-A2BA-8CBC41BB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Граница передачи данных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7C3FB-24AC-480D-8E61-A16B8F6E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06158-FD5C-4F2E-85A2-8D41DF2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E4D9A-C36D-4FB4-81D6-FEB49A05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815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stage × partition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A9304-83C2-45A1-BFC7-300CD1B8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Единица исполнения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C9082-008F-4507-85A9-27C5CA1C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8983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C76DC-CFB2-4BE4-B7EB-A2FB19CD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79C23-E6DA-4899-B539-353A61EE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65398-0CEF-44AD-9C5E-A67CBCE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46A4A-4D02-4BB5-B474-2BC92987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D793E-9D3F-4689-B176-5F4B32E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Shuffle появляется, когда строки меняют владельца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53C80-293A-4A0D-B411-09E6E7B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60740-6F3C-4BAC-93BE-6ABDD1B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p0: A,A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789B4-D30D-4A04-8B7A-FF41523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F99EB-387F-4648-A77D-70F6E9CA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p1: B,C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89450-0B62-473A-B0E8-0048A136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8A466-F872-4D48-B75D-486E5701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p2: A,C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92514-D6C5-4D63-BD26-695C7BF0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3EF1D-6F2F-4764-BD96-0E35819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p3: B,B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4C594-AFD0-4A42-9642-3E1168DB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25A1C"/>
                </a:solidFill>
              </a:defRPr>
            </a:pPr>
            <a:r>
              <a:rPr sz="2850" b="1">
                <a:solidFill>
                  <a:srgbClr val="E25A1C"/>
                </a:solidFill>
              </a:rPr>
              <a:t>SHUFFLE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01B94-23FD-4C3F-A6E0-1EEFC1AB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groupBy  ·  join  ·  distinct  ·  repartition  ·  orderBy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9871C-919F-42EB-BA27-EF6988CA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860AB-0893-4C06-A8AD-93F2B788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A: A,A,A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1D75D-8929-441E-9BE6-C69909BC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9EBA8-19BE-4A10-AF19-FDDF0AD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B: B,B,B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F42F6-A174-4956-871B-BA50D6EC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64A6C-0F01-4FDE-A0ED-81B9CC5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C: C,C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20420-0DCD-4742-91C2-FCE0C72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Shuffle = сеть + сериализация + disk spill + новая stage.</a:t>
            </a:r>
          </a:p>
        </p:txBody>
      </p:sp>
    </p:spTree>
    <p:extLst>
      <p:ext uri="{BB962C8B-B14F-4D97-AF65-F5344CB8AC3E}">
        <p14:creationId xmlns:p14="http://schemas.microsoft.com/office/powerpoint/2010/main" val="2037797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3F7CB-E09D-480E-B8CB-2BE9C116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СКВОЗНОЙ КЕЙС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37A9A-37EB-45C5-BE47-F189D329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0C768-8598-4784-9E9B-E234A5CB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51ACA-FE13-4076-8B9E-8972919D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CD62F-B466-4DDE-8239-47BFCFCC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Контракт пайплайна: события → дневная выручка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3EC3D-C2C8-45AA-B1DB-5271194F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0EC69-B848-4BE0-AF18-D41972CD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1FF72-4112-4684-845F-8872FDD0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05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events/*.json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event_id, customer_id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event_ts, amount, country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CC16B-426E-4E00-9BA5-58D6EE3A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6A54B-83AC-407F-9BE1-75B0C0F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4217D-261E-46EE-91E1-C38467B0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705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daily_revenue/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event_date, country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orders,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A0EC-1C3C-4C33-8028-FC0C3299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3DDA4-EBD2-4549-972A-7D7CF7D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CONSTRAINTS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BC946-43E1-4852-BFAA-1AB3F4E0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705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явная schema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валидные ключи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идемпотентная запись</a:t>
            </a:r>
          </a:p>
        </p:txBody>
      </p:sp>
    </p:spTree>
    <p:extLst>
      <p:ext uri="{BB962C8B-B14F-4D97-AF65-F5344CB8AC3E}">
        <p14:creationId xmlns:p14="http://schemas.microsoft.com/office/powerpoint/2010/main" val="13847371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75EE8-ED56-4B56-A10F-36A92F0B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8C0D3-CCA4-415B-9CB9-8E99A33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56810-0D49-4887-B728-ED6E849E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2AD52-9A63-40EB-A604-7906898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D0B9E-1D0A-44DB-9F1E-7065DDAA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Явная schema делает контракт проверяемым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09A1C-BE34-45B2-8B66-C69ADD24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1913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9DC16-00CF-4836-B62B-D5A2FDEA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EVENT_SCHEMA = StructType([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StructField("event_id", StringType(),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StructField("customer_id", StringType(),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StructField("event_ts", TimestampType(),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StructField("amount", DecimalType(18, 2),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StructField("country", StringType(), True),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events = spark.read.schema(EVENT_SCHEMA).json(input_path)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5BB15-F06B-406D-AD46-0336C477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WHY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0B254-C5DF-4CCC-8B7A-689DDB8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99025-DDA5-4AC0-A78A-F94DD0E9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Нет полного scan для inferSchema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66C0F-45B0-469B-9E7D-86DA69D1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61769-9C5E-45C9-A6EB-7C78E54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Nullability — часть контракта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02FFE-E2DB-450F-8B3F-A0ACEA4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702EF-8991-4649-B12F-4B623FAE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Типы стабильны между запусками</a:t>
            </a:r>
          </a:p>
        </p:txBody>
      </p:sp>
    </p:spTree>
    <p:extLst>
      <p:ext uri="{BB962C8B-B14F-4D97-AF65-F5344CB8AC3E}">
        <p14:creationId xmlns:p14="http://schemas.microsoft.com/office/powerpoint/2010/main" val="10837913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83CAC-DCBD-46DB-B5D0-37529B4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D8B0B-8FE9-42FE-8AED-78699245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7D00C-368D-4383-9778-77DC7BEF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51379-6133-4B40-8DBC-9C932DE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5982B-281D-4212-A96E-CCD0BEC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Built-in expressions сохраняют оптимизации Catalyst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75906-3ACA-4923-874B-66AF7BC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1913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79D1D-1B7F-4CA9-A6BA-9DDB5F4A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clean = (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events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.filter(F.col("event_id").isNotNull())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.filter(F.col("amount") &gt; 0)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.withColumn("event_date", F.to_date("event_ts"))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.withColumn("country", F.coalesce("country", F.lit("UNKNOWN")))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.dropDuplicates(["event_id"])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E44A6-280C-4267-8DB3-2C94BA6C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WHY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FA753-B280-498E-A59E-46ECBB07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5EC8A-C454-47DA-8AA7-90CB4743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Операции видны optimizer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89F31-B34D-453B-AE17-40D9563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1E8F2-0225-4E9F-AC6B-DB28D93B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Нет построчного Python callback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3CA12-3BA7-45DC-91C1-1B14D072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3648D-3947-4326-BB75-00F7B5BE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Логика читается как data contract</a:t>
            </a:r>
          </a:p>
        </p:txBody>
      </p:sp>
    </p:spTree>
    <p:extLst>
      <p:ext uri="{BB962C8B-B14F-4D97-AF65-F5344CB8AC3E}">
        <p14:creationId xmlns:p14="http://schemas.microsoft.com/office/powerpoint/2010/main" val="6773057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2040C-EB37-4DCC-A955-D53D2DF8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FCC54-9B13-4619-8096-C96D9015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F8188-FE82-47FF-A0A2-6E50B6A2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D25C8-F133-4B0D-AAB2-F7E1512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1D1C9-7FD6-4BC4-B80C-E6301A13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Join и aggregation — место, где рождается стоимость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610F1-5B94-4342-AD5D-5972876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1913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07739-54D3-4AE6-B473-BB632088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result = (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clean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.join(F.broadcast(countries), "country", "left")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.groupBy("event_date", "country_name")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.agg(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F.count("*").alias("orders"),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F.sum("amount").alias("revenue"),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AEE8D-4F88-41D5-A11E-7D5F045E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WHY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4713F-3A3D-4CCC-9D52-DF1FCFC1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8E6C5-CE53-4D40-825D-A1877605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Размер стороны join важнее синтаксиса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3BA77-6A59-4E62-80A1-9366C7B3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8415A-BEAE-4EA3-AFA5-CFEE70A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groupBy почти всегда означает shuffle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C62BD-B933-44B7-8455-B81B4756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4BA1E-2647-4F75-974D-AF277A3B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Broadcast устраняет shuffle большой стороны</a:t>
            </a:r>
          </a:p>
        </p:txBody>
      </p:sp>
    </p:spTree>
    <p:extLst>
      <p:ext uri="{BB962C8B-B14F-4D97-AF65-F5344CB8AC3E}">
        <p14:creationId xmlns:p14="http://schemas.microsoft.com/office/powerpoint/2010/main" val="12451441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CAD70-D8A3-4B9D-A4EC-A1062020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6BAB6-AE55-4017-8448-A1212070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E83F7-98D8-4B95-AC8C-4757F0CC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273FD-59C5-4470-AB59-DCB7DF31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CA9EF-0887-4410-AF41-8940F76C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Сначала читаем план — потом тратим кластер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57FE8-1B19-44B3-A23F-99A32B0E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67804-C01E-45C8-A82A-246D573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explain('formatted')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4D993-ECDA-4C1E-B7ED-BC59A282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8FD83-0832-4DBC-8600-05B0C61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Получить physical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E03C4-FB4B-4FDC-B709-0F4C6DC1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79A63-A589-46B8-8E76-58E6C1EC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Найти 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57F9B-FA58-4D78-A026-ADF8EC1E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E1A3F-F831-4D0F-A187-8582583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Увидеть shuffle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D111C-8456-489C-84CD-4969B88D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D89A8-A271-4C0E-ADEA-5A76213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Проверить Join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F06ED-8525-4E56-A1B1-CB4E7DD1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D2469-3D22-4FF1-A4F0-D2C6643C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BroadcastHash или SortMerge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DDB91-50EF-4A1C-9127-E4FDF74F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F9456-5CB6-434D-8F8B-1625F893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Сверить partitions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01078-AFAF-4BA3-9626-738F921D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AC563-8ACA-4428-AFE6-9048E94A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Оценить parallelism</a:t>
            </a:r>
          </a:p>
        </p:txBody>
      </p:sp>
    </p:spTree>
    <p:extLst>
      <p:ext uri="{BB962C8B-B14F-4D97-AF65-F5344CB8AC3E}">
        <p14:creationId xmlns:p14="http://schemas.microsoft.com/office/powerpoint/2010/main" val="17372080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4E16C-00FA-416D-8F68-76DF811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EA7E4-BAB7-4E94-AC69-C344ABBF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CD060-E881-4601-913D-B2E27F07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E156F-4CA5-4E1D-A866-2A35E3D4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CD611-6C43-45E2-A9A2-DBB1B9AB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Exchange в physical plan — сигнал перераспределения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0CF4A-EC0A-4E3A-A7B1-7172F49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2390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EC8A6-3AF5-471C-AE37-3343C2B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67437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== Physical Plan ==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AdaptiveSparkPlan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+- HashAggregate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+- Exchange hashpartitioning(event_date, country_name, 8)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+- HashAggregate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 +- BroadcastHashJoin [country], [country], LeftOuter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    :- Filter (amount &gt; 0)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    +- BroadcastExchange HashedRelationBroadcastMode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FD279-117F-4448-9757-13832469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Exchange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BDFA9-F459-4A29-9BE3-842F2A52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BroadcastHashJoin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CBBF7-7A52-4B0C-A296-E25AA2D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8 partitions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9FD8F-46F7-4D7C-837A-06ADEB7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План подтверждает один shuffle для aggregation и broadcast маленького справочника.</a:t>
            </a:r>
          </a:p>
        </p:txBody>
      </p:sp>
    </p:spTree>
    <p:extLst>
      <p:ext uri="{BB962C8B-B14F-4D97-AF65-F5344CB8AC3E}">
        <p14:creationId xmlns:p14="http://schemas.microsoft.com/office/powerpoint/2010/main" val="720128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AB39D-8C43-424B-8B28-15255ADA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ЗАПИСЬ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35134-5A5C-4F3E-9F34-A1C225E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582A7-8B82-49C8-B65D-ACEE5141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AA3DA-0F30-4C0D-9254-07A38C2E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A39A4-7585-4922-8B7B-D4FB3872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Action материализует план — формат сохраняет будущие возможности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59F90-08DC-4E2D-898F-BA8559D5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18B9F-5DBF-4D89-B399-863A723A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99DB5-222C-4FA4-B5CB-11AF0C9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2B913-635E-4A1B-A647-4DB99C8F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оптимизирован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2AA1B-101B-4E8C-90B2-85B4890D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D890A-07A5-4687-B545-B9BEA7C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E0181-8719-4D18-AF79-7248B32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61DFE-70D4-4D5F-9D78-B147FC58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выполнены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FDFD0-7CAD-432A-8274-6DC8E600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161C6-3C47-4D84-AE86-35BF3A5B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EC472-442F-4846-8AA9-54FF4E2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Parquet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551B7-8178-4316-88B1-92839C25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columnar + schema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34C7-A95C-4D1C-AB1D-231311C3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0CBC0-44CD-4F49-B4B6-FE41AD72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3349A-B6DC-423D-9FE9-6D070B0A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данные доступны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C9010-C8E9-4101-9BA5-57E2F06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Пишите partitioned output только по реально используемым фильтрам.</a:t>
            </a:r>
          </a:p>
        </p:txBody>
      </p:sp>
    </p:spTree>
    <p:extLst>
      <p:ext uri="{BB962C8B-B14F-4D97-AF65-F5344CB8AC3E}">
        <p14:creationId xmlns:p14="http://schemas.microsoft.com/office/powerpoint/2010/main" val="7295996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86A7A-483F-4362-AD61-80B34E5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НАБЛЮДАЕМОСТЬ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F1D2-11DB-48C5-87EA-35E0F8BB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F487E-B29F-48DA-B3D2-339DE0B5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A2B20-90B8-47F1-945C-E41B5CD7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78F63-F878-4194-B388-1BDBC79A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Spark UI превращает “медленно” в проверяемую гипотезу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37F63-C0FC-4704-837E-DF5549E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299D1-A06D-43F3-BBF7-3150D5F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6FED"/>
                </a:solidFill>
              </a:defRPr>
            </a:pPr>
            <a:r>
              <a:rPr sz="2025" b="1">
                <a:solidFill>
                  <a:srgbClr val="2F6FED"/>
                </a:solidFill>
              </a:rPr>
              <a:t>Jobs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4C347-922B-482A-A98F-9D4C6DCB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Какая action и где упала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D4430-735A-4DEE-9D13-7D4A4164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281F0-F454-4AC0-84C8-69F4F96B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6FED"/>
                </a:solidFill>
              </a:defRPr>
            </a:pPr>
            <a:r>
              <a:rPr sz="2025" b="1">
                <a:solidFill>
                  <a:srgbClr val="2F6FED"/>
                </a:solidFill>
              </a:rPr>
              <a:t>Stages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CEFE8-2148-4229-890E-9EEAB698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Shuffle, skew, spill и stragglers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8098E-2802-462C-805F-FB35AE0A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936CB-C790-464D-AAF0-BC4C9204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25A1C"/>
                </a:solidFill>
              </a:defRPr>
            </a:pPr>
            <a:r>
              <a:rPr sz="2025" b="1">
                <a:solidFill>
                  <a:srgbClr val="E25A1C"/>
                </a:solidFill>
              </a:rPr>
              <a:t>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C3814-DF33-4FB4-913C-58D70D5B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План и метрики операторов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0A296-B6E0-4878-9B2F-5AF83064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51F1D-2C3F-43ED-8F91-C47A13F9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6FED"/>
                </a:solidFill>
              </a:defRPr>
            </a:pPr>
            <a:r>
              <a:rPr sz="2025" b="1">
                <a:solidFill>
                  <a:srgbClr val="2F6FED"/>
                </a:solidFill>
              </a:rPr>
              <a:t>Executors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A3960-9981-4BA7-BDF0-0351EF2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Memory, GC, input и failed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2C292-DCFD-4757-94C3-45C7F6C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5A1C"/>
                </a:solidFill>
              </a:defRPr>
            </a:pPr>
            <a:r>
              <a:rPr sz="1650" b="1">
                <a:solidFill>
                  <a:srgbClr val="E25A1C"/>
                </a:solidFill>
              </a:rPr>
              <a:t>Начните со Stage с максимальной длительностью — затем сравните tasks.</a:t>
            </a:r>
          </a:p>
        </p:txBody>
      </p:sp>
    </p:spTree>
    <p:extLst>
      <p:ext uri="{BB962C8B-B14F-4D97-AF65-F5344CB8AC3E}">
        <p14:creationId xmlns:p14="http://schemas.microsoft.com/office/powerpoint/2010/main" val="21311277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1CA43-29FA-43D9-B14F-2CA5F7D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ИНЖЕНЕРНЫЙ МЕТОД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CE211-B0DF-4512-875A-647563A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5FC98-E839-40A0-AF22-A24EC6F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318A-CF6D-48E3-9E67-327404C8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9F6F3-D8AA-4543-B9F3-74DC4B0E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Хорошая диагностика связывает код, план и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5EBA2-C5C4-49CF-AC68-B49398FA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Код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45374-DF86-4757-87B7-F96AC5D6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groupBy + 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AF510-86E4-404E-BC70-AA3A95B3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FB353-2B8D-47B1-8981-D953154A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Что мы попросили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965AF-F0CC-43A9-801D-4F2E449A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A7716-EFCB-4C36-9A79-05F1EF0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Exchange + join 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D2B75-4819-4E4D-99B5-445E20EE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80EBA-9ADF-4639-88CA-827B83D7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Что выбрал optimizer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144F9-6FBF-4A06-BC66-763458C9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6A803-19B9-4D2F-BFB1-F3E0A94D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shuffle read + task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AA24F-0C21-4E75-B885-D51B4E21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E17E5-4410-4B14-BB0D-9181A147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Что произошло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E5E24-F8E5-4972-91B7-4BC5ED8A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Изменение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5643D-4755-481F-A70D-F4E207E1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broadcast / repartition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0B8ED-EBCB-4650-8701-FA6D7A66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93477-4054-44D3-B2B8-935DC22B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Как проверим эффект</a:t>
            </a:r>
          </a:p>
        </p:txBody>
      </p:sp>
    </p:spTree>
    <p:extLst>
      <p:ext uri="{BB962C8B-B14F-4D97-AF65-F5344CB8AC3E}">
        <p14:creationId xmlns:p14="http://schemas.microsoft.com/office/powerpoint/2010/main" val="4287351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6B182-CB28-423B-B90D-D87AA1B5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CORE · 60 МИН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36728-A6CC-4A12-B23E-2F8FB97F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3A572-EAD0-4315-91D7-F64008B2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49A17-7244-4E18-90B5-4798E56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6E0F5-5085-49E5-8A04-71C1E717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Выходной билет: объясните Spark без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29F9F-686C-4ED8-AEEE-85551334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213E0-75A8-4682-B2A1-57DF145B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4312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Почему transformations не запускают вычисление?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8CE59-1423-44CF-94F8-29A9A4FF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EEAD8-CFF1-4411-87C2-9D87B464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4312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Что создаёт границу stage?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A1B82-BF75-4374-927C-A409683A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D1547-38E7-432F-A3D4-0DD0F4AF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Где увидеть фактическую join strategy?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12E16-E573-48A8-BCE9-45989E40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FD99C-B542-4089-AA78-8D0F900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147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Когда Spark — лишняя сложность?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AB912-03DB-4D8E-8F5F-16F78DF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000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60479-0326-4FBC-AB80-D337E78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Практика: запустить pipeline, сохранить explain и найти evidence в Spark UI.</a:t>
            </a:r>
          </a:p>
        </p:txBody>
      </p:sp>
    </p:spTree>
    <p:extLst>
      <p:ext uri="{BB962C8B-B14F-4D97-AF65-F5344CB8AC3E}">
        <p14:creationId xmlns:p14="http://schemas.microsoft.com/office/powerpoint/2010/main" val="1231640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2026-08-30T13:48:50.4940000Z</dcterms:created>
  <dcterms:modified xsi:type="dcterms:W3CDTF">2026-08-30T13:48:50.4940000Z</dcterms:modified>
</coreProperties>
</file>