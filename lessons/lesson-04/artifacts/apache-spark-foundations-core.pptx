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379e006242e4c3c" /><Relationship Type="http://schemas.openxmlformats.org/officeDocument/2006/relationships/extended-properties" Target="/docProps/app.xml" Id="Ra249aead89264d6b" /><Relationship Type="http://schemas.openxmlformats.org/officeDocument/2006/relationships/officeDocument" Target="/ppt/presentation.xml" Id="R132434befd2f47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14fae8a92634af8"/>
  </p:sldMasterIdLst>
  <p:notesMasterIdLst>
    <p:notesMasterId xmlns:r="http://schemas.openxmlformats.org/officeDocument/2006/relationships" r:id="R1bc1c19a8e5040b0"/>
  </p:notesMasterIdLst>
  <p:sldIdLst>
    <p:sldId xmlns:r="http://schemas.openxmlformats.org/officeDocument/2006/relationships" id="256" r:id="R89e9316f7a0e4ee0"/>
    <p:sldId xmlns:r="http://schemas.openxmlformats.org/officeDocument/2006/relationships" id="257" r:id="R3b740ed581ce47a2"/>
    <p:sldId xmlns:r="http://schemas.openxmlformats.org/officeDocument/2006/relationships" id="258" r:id="R8dbbae5a38ff44c5"/>
    <p:sldId xmlns:r="http://schemas.openxmlformats.org/officeDocument/2006/relationships" id="259" r:id="R5443dec0e28a4d3d"/>
    <p:sldId xmlns:r="http://schemas.openxmlformats.org/officeDocument/2006/relationships" id="260" r:id="R242ff2222a9843b6"/>
    <p:sldId xmlns:r="http://schemas.openxmlformats.org/officeDocument/2006/relationships" id="261" r:id="R280381a6c8484b4b"/>
    <p:sldId xmlns:r="http://schemas.openxmlformats.org/officeDocument/2006/relationships" id="262" r:id="R471a2ad4c1744216"/>
    <p:sldId xmlns:r="http://schemas.openxmlformats.org/officeDocument/2006/relationships" id="263" r:id="Re1fc02d02b744c09"/>
    <p:sldId xmlns:r="http://schemas.openxmlformats.org/officeDocument/2006/relationships" id="264" r:id="R401c6b9af5304684"/>
    <p:sldId xmlns:r="http://schemas.openxmlformats.org/officeDocument/2006/relationships" id="265" r:id="Rc1a847ed39f643f4"/>
    <p:sldId xmlns:r="http://schemas.openxmlformats.org/officeDocument/2006/relationships" id="266" r:id="Rb135dbb5ec914155"/>
    <p:sldId xmlns:r="http://schemas.openxmlformats.org/officeDocument/2006/relationships" id="267" r:id="R75875ae759a442c2"/>
    <p:sldId xmlns:r="http://schemas.openxmlformats.org/officeDocument/2006/relationships" id="268" r:id="Rbf39bd1322844905"/>
    <p:sldId xmlns:r="http://schemas.openxmlformats.org/officeDocument/2006/relationships" id="269" r:id="R386081928d30463f"/>
    <p:sldId xmlns:r="http://schemas.openxmlformats.org/officeDocument/2006/relationships" id="270" r:id="R26ce44f849e34f53"/>
    <p:sldId xmlns:r="http://schemas.openxmlformats.org/officeDocument/2006/relationships" id="271" r:id="Rf22588a5d6e04994"/>
    <p:sldId xmlns:r="http://schemas.openxmlformats.org/officeDocument/2006/relationships" id="272" r:id="Rd3d940435c1f4d83"/>
    <p:sldId xmlns:r="http://schemas.openxmlformats.org/officeDocument/2006/relationships" id="273" r:id="R2117e4b17907467e"/>
    <p:sldId xmlns:r="http://schemas.openxmlformats.org/officeDocument/2006/relationships" id="274" r:id="Re34d6b27d71042dc"/>
    <p:sldId xmlns:r="http://schemas.openxmlformats.org/officeDocument/2006/relationships" id="275" r:id="R4a12cbbddc1c4b1d"/>
    <p:sldId xmlns:r="http://schemas.openxmlformats.org/officeDocument/2006/relationships" id="276" r:id="R873a0ffbab9d422c"/>
    <p:sldId xmlns:r="http://schemas.openxmlformats.org/officeDocument/2006/relationships" id="277" r:id="R242282137e334a0c"/>
    <p:sldId xmlns:r="http://schemas.openxmlformats.org/officeDocument/2006/relationships" id="278" r:id="R73e6b69b9a304354"/>
    <p:sldId xmlns:r="http://schemas.openxmlformats.org/officeDocument/2006/relationships" id="279" r:id="R1aaa0eeb37994efa"/>
    <p:sldId xmlns:r="http://schemas.openxmlformats.org/officeDocument/2006/relationships" id="280" r:id="Rbd8585fa824a4ff4"/>
    <p:sldId xmlns:r="http://schemas.openxmlformats.org/officeDocument/2006/relationships" id="281" r:id="Ra2edac85b1e34409"/>
    <p:sldId xmlns:r="http://schemas.openxmlformats.org/officeDocument/2006/relationships" id="282" r:id="R573d398d326241d6"/>
    <p:sldId xmlns:r="http://schemas.openxmlformats.org/officeDocument/2006/relationships" id="283" r:id="Rc55bcaa2350b47e3"/>
    <p:sldId xmlns:r="http://schemas.openxmlformats.org/officeDocument/2006/relationships" id="284" r:id="R02854b7f6afa4250"/>
    <p:sldId xmlns:r="http://schemas.openxmlformats.org/officeDocument/2006/relationships" id="285" r:id="Rce4874db8aee45f3"/>
    <p:sldId xmlns:r="http://schemas.openxmlformats.org/officeDocument/2006/relationships" id="286" r:id="Ref7937cac8464656"/>
    <p:sldId xmlns:r="http://schemas.openxmlformats.org/officeDocument/2006/relationships" id="287" r:id="Re3107c0f414f4099"/>
    <p:sldId xmlns:r="http://schemas.openxmlformats.org/officeDocument/2006/relationships" id="288" r:id="R1d841106aee14fbd"/>
    <p:sldId xmlns:r="http://schemas.openxmlformats.org/officeDocument/2006/relationships" id="289" r:id="R8d799c7e8f6c48dd"/>
    <p:sldId xmlns:r="http://schemas.openxmlformats.org/officeDocument/2006/relationships" id="290" r:id="Raa5801bf3b45400c"/>
    <p:sldId xmlns:r="http://schemas.openxmlformats.org/officeDocument/2006/relationships" id="291" r:id="R331692a4bf0d42dd"/>
    <p:sldId xmlns:r="http://schemas.openxmlformats.org/officeDocument/2006/relationships" id="292" r:id="R31a926e5b05247dc"/>
    <p:sldId xmlns:r="http://schemas.openxmlformats.org/officeDocument/2006/relationships" id="293" r:id="R99f116d8561749d9"/>
    <p:sldId xmlns:r="http://schemas.openxmlformats.org/officeDocument/2006/relationships" id="294" r:id="Ra19bb49218164e7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37b1482fd8e4766" /><Relationship Type="http://schemas.openxmlformats.org/officeDocument/2006/relationships/slideMaster" Target="/ppt/slideMasters/slideMaster1.xml" Id="R214fae8a92634af8" /><Relationship Type="http://schemas.openxmlformats.org/officeDocument/2006/relationships/notesMaster" Target="/ppt/notesMasters/notesMaster1.xml" Id="R1bc1c19a8e5040b0" /><Relationship Type="http://schemas.openxmlformats.org/officeDocument/2006/relationships/presProps" Target="/ppt/presProps.xml" Id="R66b9f65806774720" /><Relationship Type="http://schemas.openxmlformats.org/officeDocument/2006/relationships/tableStyles" Target="/ppt/tableStyles.xml" Id="R475b13908da24987" /><Relationship Type="http://schemas.openxmlformats.org/officeDocument/2006/relationships/slide" Target="/ppt/slides/slide1.xml" Id="R89e9316f7a0e4ee0" /><Relationship Type="http://schemas.openxmlformats.org/officeDocument/2006/relationships/slide" Target="/ppt/slides/slide2.xml" Id="R3b740ed581ce47a2" /><Relationship Type="http://schemas.openxmlformats.org/officeDocument/2006/relationships/slide" Target="/ppt/slides/slide3.xml" Id="R8dbbae5a38ff44c5" /><Relationship Type="http://schemas.openxmlformats.org/officeDocument/2006/relationships/slide" Target="/ppt/slides/slide4.xml" Id="R5443dec0e28a4d3d" /><Relationship Type="http://schemas.openxmlformats.org/officeDocument/2006/relationships/slide" Target="/ppt/slides/slide5.xml" Id="R242ff2222a9843b6" /><Relationship Type="http://schemas.openxmlformats.org/officeDocument/2006/relationships/slide" Target="/ppt/slides/slide6.xml" Id="R280381a6c8484b4b" /><Relationship Type="http://schemas.openxmlformats.org/officeDocument/2006/relationships/slide" Target="/ppt/slides/slide7.xml" Id="R471a2ad4c1744216" /><Relationship Type="http://schemas.openxmlformats.org/officeDocument/2006/relationships/slide" Target="/ppt/slides/slide8.xml" Id="Re1fc02d02b744c09" /><Relationship Type="http://schemas.openxmlformats.org/officeDocument/2006/relationships/slide" Target="/ppt/slides/slide9.xml" Id="R401c6b9af5304684" /><Relationship Type="http://schemas.openxmlformats.org/officeDocument/2006/relationships/slide" Target="/ppt/slides/slide10.xml" Id="Rc1a847ed39f643f4" /><Relationship Type="http://schemas.openxmlformats.org/officeDocument/2006/relationships/slide" Target="/ppt/slides/slide11.xml" Id="Rb135dbb5ec914155" /><Relationship Type="http://schemas.openxmlformats.org/officeDocument/2006/relationships/slide" Target="/ppt/slides/slide12.xml" Id="R75875ae759a442c2" /><Relationship Type="http://schemas.openxmlformats.org/officeDocument/2006/relationships/slide" Target="/ppt/slides/slide13.xml" Id="Rbf39bd1322844905" /><Relationship Type="http://schemas.openxmlformats.org/officeDocument/2006/relationships/slide" Target="/ppt/slides/slide14.xml" Id="R386081928d30463f" /><Relationship Type="http://schemas.openxmlformats.org/officeDocument/2006/relationships/slide" Target="/ppt/slides/slide15.xml" Id="R26ce44f849e34f53" /><Relationship Type="http://schemas.openxmlformats.org/officeDocument/2006/relationships/slide" Target="/ppt/slides/slide16.xml" Id="Rf22588a5d6e04994" /><Relationship Type="http://schemas.openxmlformats.org/officeDocument/2006/relationships/slide" Target="/ppt/slides/slide17.xml" Id="Rd3d940435c1f4d83" /><Relationship Type="http://schemas.openxmlformats.org/officeDocument/2006/relationships/slide" Target="/ppt/slides/slide18.xml" Id="R2117e4b17907467e" /><Relationship Type="http://schemas.openxmlformats.org/officeDocument/2006/relationships/slide" Target="/ppt/slides/slide19.xml" Id="Re34d6b27d71042dc" /><Relationship Type="http://schemas.openxmlformats.org/officeDocument/2006/relationships/slide" Target="/ppt/slides/slide20.xml" Id="R4a12cbbddc1c4b1d" /><Relationship Type="http://schemas.openxmlformats.org/officeDocument/2006/relationships/slide" Target="/ppt/slides/slide21.xml" Id="R873a0ffbab9d422c" /><Relationship Type="http://schemas.openxmlformats.org/officeDocument/2006/relationships/slide" Target="/ppt/slides/slide22.xml" Id="R242282137e334a0c" /><Relationship Type="http://schemas.openxmlformats.org/officeDocument/2006/relationships/slide" Target="/ppt/slides/slide23.xml" Id="R73e6b69b9a304354" /><Relationship Type="http://schemas.openxmlformats.org/officeDocument/2006/relationships/slide" Target="/ppt/slides/slide24.xml" Id="R1aaa0eeb37994efa" /><Relationship Type="http://schemas.openxmlformats.org/officeDocument/2006/relationships/slide" Target="/ppt/slides/slide25.xml" Id="Rbd8585fa824a4ff4" /><Relationship Type="http://schemas.openxmlformats.org/officeDocument/2006/relationships/slide" Target="/ppt/slides/slide26.xml" Id="Ra2edac85b1e34409" /><Relationship Type="http://schemas.openxmlformats.org/officeDocument/2006/relationships/slide" Target="/ppt/slides/slide27.xml" Id="R573d398d326241d6" /><Relationship Type="http://schemas.openxmlformats.org/officeDocument/2006/relationships/slide" Target="/ppt/slides/slide28.xml" Id="Rc55bcaa2350b47e3" /><Relationship Type="http://schemas.openxmlformats.org/officeDocument/2006/relationships/slide" Target="/ppt/slides/slide29.xml" Id="R02854b7f6afa4250" /><Relationship Type="http://schemas.openxmlformats.org/officeDocument/2006/relationships/slide" Target="/ppt/slides/slide30.xml" Id="Rce4874db8aee45f3" /><Relationship Type="http://schemas.openxmlformats.org/officeDocument/2006/relationships/slide" Target="/ppt/slides/slide31.xml" Id="Ref7937cac8464656" /><Relationship Type="http://schemas.openxmlformats.org/officeDocument/2006/relationships/slide" Target="/ppt/slides/slide32.xml" Id="Re3107c0f414f4099" /><Relationship Type="http://schemas.openxmlformats.org/officeDocument/2006/relationships/slide" Target="/ppt/slides/slide33.xml" Id="R1d841106aee14fbd" /><Relationship Type="http://schemas.openxmlformats.org/officeDocument/2006/relationships/slide" Target="/ppt/slides/slide34.xml" Id="R8d799c7e8f6c48dd" /><Relationship Type="http://schemas.openxmlformats.org/officeDocument/2006/relationships/slide" Target="/ppt/slides/slide35.xml" Id="Raa5801bf3b45400c" /><Relationship Type="http://schemas.openxmlformats.org/officeDocument/2006/relationships/slide" Target="/ppt/slides/slide36.xml" Id="R331692a4bf0d42dd" /><Relationship Type="http://schemas.openxmlformats.org/officeDocument/2006/relationships/slide" Target="/ppt/slides/slide37.xml" Id="R31a926e5b05247dc" /><Relationship Type="http://schemas.openxmlformats.org/officeDocument/2006/relationships/slide" Target="/ppt/slides/slide38.xml" Id="R99f116d8561749d9" /><Relationship Type="http://schemas.openxmlformats.org/officeDocument/2006/relationships/slide" Target="/ppt/slides/slide39.xml" Id="Ra19bb49218164e7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8072ba2e1e748a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262deed9054095" /><Relationship Type="http://schemas.openxmlformats.org/officeDocument/2006/relationships/notesMaster" Target="/ppt/notesMasters/notesMaster1.xml" Id="R47e55be87f49487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05bfe108ea34a3a" /><Relationship Type="http://schemas.openxmlformats.org/officeDocument/2006/relationships/notesMaster" Target="/ppt/notesMasters/notesMaster1.xml" Id="Rd58c473c28ed417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af9d72776f4379" /><Relationship Type="http://schemas.openxmlformats.org/officeDocument/2006/relationships/notesMaster" Target="/ppt/notesMasters/notesMaster1.xml" Id="R66d83f49fe1b440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fd0af303e2f4bc4" /><Relationship Type="http://schemas.openxmlformats.org/officeDocument/2006/relationships/notesMaster" Target="/ppt/notesMasters/notesMaster1.xml" Id="Ref88ff8c59d1472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1e77bbdbb54dd3" /><Relationship Type="http://schemas.openxmlformats.org/officeDocument/2006/relationships/notesMaster" Target="/ppt/notesMasters/notesMaster1.xml" Id="R1f71fbadad27443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b89ce97ab634dc2" /><Relationship Type="http://schemas.openxmlformats.org/officeDocument/2006/relationships/notesMaster" Target="/ppt/notesMasters/notesMaster1.xml" Id="R47abcb5aebe34d4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abbab003713427c" /><Relationship Type="http://schemas.openxmlformats.org/officeDocument/2006/relationships/notesMaster" Target="/ppt/notesMasters/notesMaster1.xml" Id="R02fc8ecc73d44f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4690ac533cd4d14" /><Relationship Type="http://schemas.openxmlformats.org/officeDocument/2006/relationships/notesMaster" Target="/ppt/notesMasters/notesMaster1.xml" Id="Rcec9158d5f27412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a0c1c883f264e16" /><Relationship Type="http://schemas.openxmlformats.org/officeDocument/2006/relationships/notesMaster" Target="/ppt/notesMasters/notesMaster1.xml" Id="R3254981a189243e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7a72f30e5564f94" /><Relationship Type="http://schemas.openxmlformats.org/officeDocument/2006/relationships/notesMaster" Target="/ppt/notesMasters/notesMaster1.xml" Id="R2d9937d0a9be436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964370d63094054" /><Relationship Type="http://schemas.openxmlformats.org/officeDocument/2006/relationships/notesMaster" Target="/ppt/notesMasters/notesMaster1.xml" Id="R2fbfa451061d4b5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8503721b7eb4e8d" /><Relationship Type="http://schemas.openxmlformats.org/officeDocument/2006/relationships/notesMaster" Target="/ppt/notesMasters/notesMaster1.xml" Id="Re2f4c967eff945e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9080d5aef1c4f4a" /><Relationship Type="http://schemas.openxmlformats.org/officeDocument/2006/relationships/notesMaster" Target="/ppt/notesMasters/notesMaster1.xml" Id="Rc8d26fa0bef649c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c10ff5f2add4064" /><Relationship Type="http://schemas.openxmlformats.org/officeDocument/2006/relationships/notesMaster" Target="/ppt/notesMasters/notesMaster1.xml" Id="R3b83e7f56512406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30b504537e4412d" /><Relationship Type="http://schemas.openxmlformats.org/officeDocument/2006/relationships/notesMaster" Target="/ppt/notesMasters/notesMaster1.xml" Id="R7e75eea85be6461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48e188cd2e644ad" /><Relationship Type="http://schemas.openxmlformats.org/officeDocument/2006/relationships/notesMaster" Target="/ppt/notesMasters/notesMaster1.xml" Id="Rf3ce3b31b092450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adb6db420f3477e" /><Relationship Type="http://schemas.openxmlformats.org/officeDocument/2006/relationships/notesMaster" Target="/ppt/notesMasters/notesMaster1.xml" Id="Rb4ed4f2a3a7441d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de30c9434e94bc7" /><Relationship Type="http://schemas.openxmlformats.org/officeDocument/2006/relationships/notesMaster" Target="/ppt/notesMasters/notesMaster1.xml" Id="R9647c6c062d54a6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db9e23764034293" /><Relationship Type="http://schemas.openxmlformats.org/officeDocument/2006/relationships/notesMaster" Target="/ppt/notesMasters/notesMaster1.xml" Id="R7e1f625575c0416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ce643de2d0d42a4" /><Relationship Type="http://schemas.openxmlformats.org/officeDocument/2006/relationships/notesMaster" Target="/ppt/notesMasters/notesMaster1.xml" Id="R12eb30a1ddf64cf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4c77bdf63bc4f3c" /><Relationship Type="http://schemas.openxmlformats.org/officeDocument/2006/relationships/notesMaster" Target="/ppt/notesMasters/notesMaster1.xml" Id="R52dcf9c8f205487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9ced7b139e94bb2" /><Relationship Type="http://schemas.openxmlformats.org/officeDocument/2006/relationships/notesMaster" Target="/ppt/notesMasters/notesMaster1.xml" Id="R7a45150729d94a6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dd32876e5e148ee" /><Relationship Type="http://schemas.openxmlformats.org/officeDocument/2006/relationships/notesMaster" Target="/ppt/notesMasters/notesMaster1.xml" Id="Rae7fd9de47544b5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16dcc37f2b74342" /><Relationship Type="http://schemas.openxmlformats.org/officeDocument/2006/relationships/notesMaster" Target="/ppt/notesMasters/notesMaster1.xml" Id="R266931f360e844a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5ce33aca57a43ce" /><Relationship Type="http://schemas.openxmlformats.org/officeDocument/2006/relationships/notesMaster" Target="/ppt/notesMasters/notesMaster1.xml" Id="Rb91122cf415241b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b385605ed0646a1" /><Relationship Type="http://schemas.openxmlformats.org/officeDocument/2006/relationships/notesMaster" Target="/ppt/notesMasters/notesMaster1.xml" Id="R249c62f19105485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1577e228b6b428a" /><Relationship Type="http://schemas.openxmlformats.org/officeDocument/2006/relationships/notesMaster" Target="/ppt/notesMasters/notesMaster1.xml" Id="R271510905170437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b71bc336b7a438b" /><Relationship Type="http://schemas.openxmlformats.org/officeDocument/2006/relationships/notesMaster" Target="/ppt/notesMasters/notesMaster1.xml" Id="Rfd28fb012715430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108ee76bb854ec9" /><Relationship Type="http://schemas.openxmlformats.org/officeDocument/2006/relationships/notesMaster" Target="/ppt/notesMasters/notesMaster1.xml" Id="Refb26711316c4e1d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00acc8d21be4df9" /><Relationship Type="http://schemas.openxmlformats.org/officeDocument/2006/relationships/notesMaster" Target="/ppt/notesMasters/notesMaster1.xml" Id="Rfbffedf88f9242d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7fdc92c999a4679" /><Relationship Type="http://schemas.openxmlformats.org/officeDocument/2006/relationships/notesMaster" Target="/ppt/notesMasters/notesMaster1.xml" Id="R6e5ed93c15a8445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d913034b3b94f85" /><Relationship Type="http://schemas.openxmlformats.org/officeDocument/2006/relationships/notesMaster" Target="/ppt/notesMasters/notesMaster1.xml" Id="Rec3196ccf8644d6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2e67adac5164d48" /><Relationship Type="http://schemas.openxmlformats.org/officeDocument/2006/relationships/notesMaster" Target="/ppt/notesMasters/notesMaster1.xml" Id="Rea7a0b6606b84a1a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04eb41690df46f0" /><Relationship Type="http://schemas.openxmlformats.org/officeDocument/2006/relationships/notesMaster" Target="/ppt/notesMasters/notesMaster1.xml" Id="Ra9e63e658fc14cbd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73bac79838c448f1" /><Relationship Type="http://schemas.openxmlformats.org/officeDocument/2006/relationships/notesMaster" Target="/ppt/notesMasters/notesMaster1.xml" Id="Rd87f3a021c0a4d9d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a2a497d09ddf4dad" /><Relationship Type="http://schemas.openxmlformats.org/officeDocument/2006/relationships/notesMaster" Target="/ppt/notesMasters/notesMaster1.xml" Id="Rcdb808ac97374436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9e52a5e07920440b" /><Relationship Type="http://schemas.openxmlformats.org/officeDocument/2006/relationships/notesMaster" Target="/ppt/notesMasters/notesMaster1.xml" Id="Rc680d04a0d6e43ca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6b43731cca524d9f" /><Relationship Type="http://schemas.openxmlformats.org/officeDocument/2006/relationships/notesMaster" Target="/ppt/notesMasters/notesMaster1.xml" Id="Ra52e1db7a41a4fe5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b5f9c4f3be04952" /><Relationship Type="http://schemas.openxmlformats.org/officeDocument/2006/relationships/notesMaster" Target="/ppt/notesMasters/notesMaster1.xml" Id="R455414600e05405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1. Apache Spark:</a:t>
            </a:r>
          </a:p>
          <a:p xmlns:a="http://schemas.openxmlformats.org/drawingml/2006/main">
            <a:r>
              <a:t>от данных к плану выполнения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2. Локальный Python больше не укладывается в SLA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instructional synthesis.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3. После лекции вы сможете объяснить Spark через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4. Big Data — это ограничение workload, а не ярлык размера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https://www.nist.gov/publications/nist-big-data-interoperability-framework-volume-1-definitions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5. Big Data возник не в один день — термин догонял инженерную реальность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https://web.stanford.edu/class/ee380/9798win/lect08.html</a:t>
            </a:r>
          </a:p>
          <a:p xmlns:a="http://schemas.openxmlformats.org/drawingml/2006/main">
            <a:r>
              <a:t>- https://web.archive.org/web/20180206012552/http://blogs.gartner.com/doug-laney/files/2012/01/ad949-3D-Data-Management-Controlling-Data-Volume-Velocity-and-Variety.pdf</a:t>
            </a:r>
          </a:p>
          <a:p xmlns:a="http://schemas.openxmlformats.org/drawingml/2006/main">
            <a:r>
              <a:t>- https://www.nist.gov/publications/nist-big-data-interoperability-framework-volume-1-definitions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6. 3V — диагностическая модель давления, а не определение по порогу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https://web.archive.org/web/20180206012552/http://blogs.gartner.com/doug-laney/files/2012/01/ad949-3D-Data-Management-Controlling-Data-Volume-Velocity-and-Variety.pdf</a:t>
            </a:r>
          </a:p>
          <a:p xmlns:a="http://schemas.openxmlformats.org/drawingml/2006/main">
            <a:r>
              <a:t>- https://www.nist.gov/publications/nist-big-data-interoperability-framework-volume-1-definitions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7. После 3V появились десятки V — единого канона 6V или 10V нет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https://web.archive.org/web/20180206012552/http://blogs.gartner.com/doug-laney/files/2012/01/ad949-3D-Data-Management-Controlling-Data-Volume-Velocity-and-Variety.pdf</a:t>
            </a:r>
          </a:p>
          <a:p xmlns:a="http://schemas.openxmlformats.org/drawingml/2006/main">
            <a:r>
              <a:t>- https://www.nist.gov/publications/nist-big-data-interoperability-framework-volume-1-definitions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8. Big Data родился из разрыва между ростом данных и возможностями одного узла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https://web.stanford.edu/class/ee380/9798win/lect08.html</a:t>
            </a:r>
          </a:p>
          <a:p xmlns:a="http://schemas.openxmlformats.org/drawingml/2006/main">
            <a:r>
              <a:t>- https://research.google/pubs/the-google-file-system/</a:t>
            </a:r>
          </a:p>
          <a:p xmlns:a="http://schemas.openxmlformats.org/drawingml/2006/main">
            <a:r>
              <a:t>- https://www.nist.gov/publications/nist-big-data-interoperability-framework-volume-1-definitions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9. Google превратил ненадёжный кластер в программируемую платформу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https://research.google/pubs/the-google-file-system/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- https://hadoop.apache.org/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10. MapReduce — как почтовый центр: пометить, рассортировать, собрать итог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11. Один MapReduce job фиксирует конвейер вокруг одной shuffle-границы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- https://hadoop.apache.org/docs/stable/hadoop-mapreduce-client/hadoop-mapreduce-client-core/MapReduceTutorial.html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12. Spark атаковал не Map и Reduce, а стоимость повторного использования данных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- https://www.usenix.org/conference/hotcloud-10/spark-cluster-computing-working-sets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13. Matei Zaharia и команда AMPLab начали Spark с боли iterative и interactive workloads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https://spark.apache.org/history</a:t>
            </a:r>
          </a:p>
          <a:p xmlns:a="http://schemas.openxmlformats.org/drawingml/2006/main">
            <a:r>
              <a:t>- https://www.usenix.org/conference/hotcloud-10/spark-cluster-computing-working-sets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14. 0.x и 1.x превратили исследовательский RDD engine в платформу данных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https://spark.apache.org/news/</a:t>
            </a:r>
          </a:p>
          <a:p xmlns:a="http://schemas.openxmlformats.org/drawingml/2006/main">
            <a:r>
              <a:t>- https://spark.apache.org/releases/spark-release-1-3-0.html</a:t>
            </a:r>
          </a:p>
          <a:p xmlns:a="http://schemas.openxmlformats.org/drawingml/2006/main">
            <a:r>
              <a:t>- https://people.csail.mit.edu/matei/papers/2015/sigmod_spark_sql.pdf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15. 2.x–4.x сместили центр тяжести от RDD к SQL engine и PySpark UX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https://spark.apache.org/releases/spark-release-2-0-0.html</a:t>
            </a:r>
          </a:p>
          <a:p xmlns:a="http://schemas.openxmlformats.org/drawingml/2006/main">
            <a:r>
              <a:t>- https://spark.apache.org/releases/spark-release-3-0-0.html</a:t>
            </a:r>
          </a:p>
          <a:p xmlns:a="http://schemas.openxmlformats.org/drawingml/2006/main">
            <a:r>
              <a:t>- https://spark.apache.org/releases/spark-release-4-0-0.html</a:t>
            </a:r>
          </a:p>
          <a:p xmlns:a="http://schemas.openxmlformats.org/drawingml/2006/main">
            <a:r>
              <a:t>- https://spark.apache.org/releases/spark-release-4-2-0.html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16. Победила комбинация модели выполнения, API и экосистемы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- https://people.csail.mit.edu/matei/papers/2015/sigmod_spark_sql.pdf</a:t>
            </a:r>
          </a:p>
          <a:p xmlns:a="http://schemas.openxmlformats.org/drawingml/2006/main">
            <a:r>
              <a:t>- https://people.csail.mit.edu/matei/papers/2015/vldb_spark.pdf</a:t>
            </a:r>
          </a:p>
          <a:p xmlns:a="http://schemas.openxmlformats.org/drawingml/2006/main">
            <a:r>
              <a:t>- https://spark.apache.org/history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17. Spark — compute engine, а не база данных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18. Иногда лучший Spark job — тот, который вы не запускаете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instructional synthesis.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19. Один Spark application — один driver и набор executors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20. Cluster manager выдаёт ресурсы — Spark управляет вычислением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21. В PySpark работаем через DataFrame — но понимаем все уровни API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https://spark.apache.org/docs/4.2.0/api/python/reference/pyspark.sql/api/pyspark.sql.SparkSession.html</a:t>
            </a:r>
          </a:p>
          <a:p xmlns:a="http://schemas.openxmlformats.org/drawingml/2006/main">
            <a:r>
              <a:t>- https://spark.apache.org/docs/4.2.0/api/python/reference/api/pyspark.SparkContext.html</a:t>
            </a:r>
          </a:p>
          <a:p xmlns:a="http://schemas.openxmlformats.org/drawingml/2006/main">
            <a:r>
              <a:t>- https://spark.apache.org/docs/4.2.0/rdd-programming-guide.html</a:t>
            </a:r>
          </a:p>
          <a:p xmlns:a="http://schemas.openxmlformats.org/drawingml/2006/main">
            <a:r>
              <a:t>- https://spark.apache.org/docs/4.2.0/sql-programming-guide.html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22. Driver назначает tasks — cluster manager лишь выделяет executors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- https://spark.apache.org/docs/4.2.0/job-scheduling.html</a:t>
            </a:r>
          </a:p>
          <a:p xmlns:a="http://schemas.openxmlformats.org/drawingml/2006/main">
            <a:r>
              <a:t>- https://github.com/apache/spark/blob/v4.2.0/core/src/main/scala/org/apache/spark/scheduler/DAGScheduler.scala</a:t>
            </a:r>
          </a:p>
          <a:p xmlns:a="http://schemas.openxmlformats.org/drawingml/2006/main">
            <a:r>
              <a:t>- https://github.com/apache/spark/blob/v4.2.0/core/src/main/scala/org/apache/spark/scheduler/TaskSchedulerImpl.scala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23. Partition — минимальная порция данных для одной task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https://spark.apache.org/docs/4.2.0/rdd-programming-guide.html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24. DataFrame — декларативный контракт, а не цикл по строкам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https://spark.apache.org/docs/4.2.0/api/python/getting_started/quickstart_df.html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25. Transformations строят план — action запускает работу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https://spark.apache.org/docs/4.2.0/api/python/getting_started/quickstart_df.html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26. Lazy evaluation даёт optimizer увидеть весь pipeline до запуска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https://spark.apache.org/docs/4.2.0/rdd-programming-guide.html</a:t>
            </a:r>
          </a:p>
          <a:p xmlns:a="http://schemas.openxmlformats.org/drawingml/2006/main">
            <a:r>
              <a:t>- https://spark.apache.org/docs/4.2.0/sql-performance-tuning.html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27. Два actions без persist повторяют lineage; cache меняет второй проход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https://spark.apache.org/docs/4.2.0/rdd-programming-guide.html</a:t>
            </a:r>
          </a:p>
          <a:p xmlns:a="http://schemas.openxmlformats.org/drawingml/2006/main">
            <a:r>
              <a:t>- https://spark.apache.org/docs/4.2.0/api/python/reference/pyspark.sql/api/pyspark.sql.DataFrame.cache.html</a:t>
            </a:r>
          </a:p>
          <a:p xmlns:a="http://schemas.openxmlformats.org/drawingml/2006/main">
            <a:r>
              <a:t>- https://spark.apache.org/docs/4.2.0/api/python/reference/pyspark.sql/api/pyspark.sql.DataFrame.persist.html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28. Один action создаёт job, stages и tasks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https://spark.apache.org/docs/4.2.0/job-scheduling.html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29. Shuffle появляется, когда строки меняют владельца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https://spark.apache.org/docs/4.2.0/rdd-programming-guide.html#shuffle-operations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30. Контракт пайплайна: события → дневная выручка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instructional synthesis.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31. Явная schema делает контракт проверяемым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https://spark.apache.org/docs/4.2.0/sql-data-sources.html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32. Built-in expressions сохраняют оптимизации Catalyst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https://spark.apache.org/docs/4.2.0/api/python/reference/pyspark.sql/functions.html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33. Join и aggregation — место, где рождается стоимость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https://spark.apache.org/docs/4.2.0/sql-performance-tuning.html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34. Сначала читаем план — потом тратим кластер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https://spark.apache.org/docs/4.2.0/api/python/reference/pyspark.sql/api/pyspark.sql.DataFrame.explain.html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35. Exchange в physical plan — сигнал перераспределения данных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https://spark.apache.org/docs/4.2.0/sql-performance-tuning.html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36. Action материализует план — формат сохраняет будущие возможности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https://spark.apache.org/docs/4.2.0/sql-data-sources-parquet.html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37. Spark UI превращает “медленно” в проверяемую гипотезу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https://spark.apache.org/docs/4.2.0/web-ui.html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38. Хорошая диагностика связывает код, план и runtime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https://spark.apache.org/docs/4.2.0/sql-performance-tuning.html</a:t>
            </a:r>
          </a:p>
          <a:p xmlns:a="http://schemas.openxmlformats.org/drawingml/2006/main">
            <a:r>
              <a:t>- https://spark.apache.org/docs/4.2.0/web-ui.html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39. Выходной билет: объясните Spark без магии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instructional synthesis.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326c8a43d5429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5ee9b57e24346c6" /><Relationship Type="http://schemas.openxmlformats.org/officeDocument/2006/relationships/slideLayout" Target="/ppt/slideLayouts/slideLayout1.xml" Id="R1f913834f6c449f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f913834f6c449f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b98a9d41394a5e" /><Relationship Type="http://schemas.openxmlformats.org/officeDocument/2006/relationships/notesSlide" Target="/ppt/notesSlides/notesSlide1.xml" Id="R9924b483177b46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02568a9c284126" /><Relationship Type="http://schemas.openxmlformats.org/officeDocument/2006/relationships/notesSlide" Target="/ppt/notesSlides/notesSlide2.xml" Id="R2c68c3c24553436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94de009cf34e7e" /><Relationship Type="http://schemas.openxmlformats.org/officeDocument/2006/relationships/notesSlide" Target="/ppt/notesSlides/notesSlide3.xml" Id="R96fc3fc2b70c4d6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8fe9954f8b48a3" /><Relationship Type="http://schemas.openxmlformats.org/officeDocument/2006/relationships/notesSlide" Target="/ppt/notesSlides/notesSlide4.xml" Id="Ra54b0ecb6bd94a0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27a78ce45e45e4" /><Relationship Type="http://schemas.openxmlformats.org/officeDocument/2006/relationships/notesSlide" Target="/ppt/notesSlides/notesSlide5.xml" Id="R7baa7d0663c74ed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0e6e33598b43fa" /><Relationship Type="http://schemas.openxmlformats.org/officeDocument/2006/relationships/notesSlide" Target="/ppt/notesSlides/notesSlide6.xml" Id="R93c3e91005be495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95270c910d4cc0" /><Relationship Type="http://schemas.openxmlformats.org/officeDocument/2006/relationships/notesSlide" Target="/ppt/notesSlides/notesSlide7.xml" Id="Rd2e07cb7f03443f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d11720e21842eb" /><Relationship Type="http://schemas.openxmlformats.org/officeDocument/2006/relationships/notesSlide" Target="/ppt/notesSlides/notesSlide8.xml" Id="R718271f1291b471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ac8b23131941ad" /><Relationship Type="http://schemas.openxmlformats.org/officeDocument/2006/relationships/notesSlide" Target="/ppt/notesSlides/notesSlide9.xml" Id="R19d2fb84ea944bc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69b38328b643d7" /><Relationship Type="http://schemas.openxmlformats.org/officeDocument/2006/relationships/notesSlide" Target="/ppt/notesSlides/notesSlide10.xml" Id="Re4eaca738b834db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8da4dee3944aeb" /><Relationship Type="http://schemas.openxmlformats.org/officeDocument/2006/relationships/notesSlide" Target="/ppt/notesSlides/notesSlide11.xml" Id="R70cda2c04baf456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4b0d139be8483e" /><Relationship Type="http://schemas.openxmlformats.org/officeDocument/2006/relationships/notesSlide" Target="/ppt/notesSlides/notesSlide12.xml" Id="R70c38b6964d949c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0991e04d09454b" /><Relationship Type="http://schemas.openxmlformats.org/officeDocument/2006/relationships/notesSlide" Target="/ppt/notesSlides/notesSlide13.xml" Id="R53ef833ae1874dd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681fdb3b644718" /><Relationship Type="http://schemas.openxmlformats.org/officeDocument/2006/relationships/notesSlide" Target="/ppt/notesSlides/notesSlide14.xml" Id="R6b271f2619df4c6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bfc7b8e1e94380" /><Relationship Type="http://schemas.openxmlformats.org/officeDocument/2006/relationships/notesSlide" Target="/ppt/notesSlides/notesSlide15.xml" Id="Rd54341957daa4fb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99f5a0cecc45cd" /><Relationship Type="http://schemas.openxmlformats.org/officeDocument/2006/relationships/notesSlide" Target="/ppt/notesSlides/notesSlide16.xml" Id="R8b115c8592f74e5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51e0ec75104e2f" /><Relationship Type="http://schemas.openxmlformats.org/officeDocument/2006/relationships/notesSlide" Target="/ppt/notesSlides/notesSlide17.xml" Id="Re9a80c52738541a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dcf7edc1e542f6" /><Relationship Type="http://schemas.openxmlformats.org/officeDocument/2006/relationships/notesSlide" Target="/ppt/notesSlides/notesSlide18.xml" Id="R8a4e0317f24e409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2ae2d3f92c40fa" /><Relationship Type="http://schemas.openxmlformats.org/officeDocument/2006/relationships/notesSlide" Target="/ppt/notesSlides/notesSlide19.xml" Id="Rf4ed3a824bbb4ca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671ad377af4e80" /><Relationship Type="http://schemas.openxmlformats.org/officeDocument/2006/relationships/notesSlide" Target="/ppt/notesSlides/notesSlide20.xml" Id="Rc49275a79e294b7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fbbef5b71d443b" /><Relationship Type="http://schemas.openxmlformats.org/officeDocument/2006/relationships/notesSlide" Target="/ppt/notesSlides/notesSlide21.xml" Id="Rcd9305b06bfe413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51f483dd784721" /><Relationship Type="http://schemas.openxmlformats.org/officeDocument/2006/relationships/notesSlide" Target="/ppt/notesSlides/notesSlide22.xml" Id="Rb1d87c6ef560429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56e01abccf4993" /><Relationship Type="http://schemas.openxmlformats.org/officeDocument/2006/relationships/notesSlide" Target="/ppt/notesSlides/notesSlide23.xml" Id="R566adef20ff9439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e47e25cae5431d" /><Relationship Type="http://schemas.openxmlformats.org/officeDocument/2006/relationships/notesSlide" Target="/ppt/notesSlides/notesSlide24.xml" Id="R85287535ebcd4f7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79de62ed6f45d3" /><Relationship Type="http://schemas.openxmlformats.org/officeDocument/2006/relationships/notesSlide" Target="/ppt/notesSlides/notesSlide25.xml" Id="R309c9df22a34408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3bc2ce72644aa1" /><Relationship Type="http://schemas.openxmlformats.org/officeDocument/2006/relationships/notesSlide" Target="/ppt/notesSlides/notesSlide26.xml" Id="Rd92906cc7b03419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087c2911a84644" /><Relationship Type="http://schemas.openxmlformats.org/officeDocument/2006/relationships/notesSlide" Target="/ppt/notesSlides/notesSlide27.xml" Id="R0be87fba52994e0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b95ca469694a2d" /><Relationship Type="http://schemas.openxmlformats.org/officeDocument/2006/relationships/notesSlide" Target="/ppt/notesSlides/notesSlide28.xml" Id="R8ada2aaa51fc441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8cabfe0c3c44d6" /><Relationship Type="http://schemas.openxmlformats.org/officeDocument/2006/relationships/notesSlide" Target="/ppt/notesSlides/notesSlide29.xml" Id="Rd28db3dd4ebf480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0b1852985848aa" /><Relationship Type="http://schemas.openxmlformats.org/officeDocument/2006/relationships/notesSlide" Target="/ppt/notesSlides/notesSlide30.xml" Id="Rb9673a1cc5ec419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dde29c31dc4e31" /><Relationship Type="http://schemas.openxmlformats.org/officeDocument/2006/relationships/notesSlide" Target="/ppt/notesSlides/notesSlide31.xml" Id="Red731b8b5146499f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7e9dc114b24f7d" /><Relationship Type="http://schemas.openxmlformats.org/officeDocument/2006/relationships/notesSlide" Target="/ppt/notesSlides/notesSlide32.xml" Id="R1e7243c0778048e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96fbb2ffa74fc4" /><Relationship Type="http://schemas.openxmlformats.org/officeDocument/2006/relationships/notesSlide" Target="/ppt/notesSlides/notesSlide33.xml" Id="R7d04600711d740a9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09abffbf304edb" /><Relationship Type="http://schemas.openxmlformats.org/officeDocument/2006/relationships/notesSlide" Target="/ppt/notesSlides/notesSlide34.xml" Id="Rffd03ce79a36401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8f0424fc5847d3" /><Relationship Type="http://schemas.openxmlformats.org/officeDocument/2006/relationships/notesSlide" Target="/ppt/notesSlides/notesSlide35.xml" Id="R379b3d2b62f047a6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1d1f8b020a4834" /><Relationship Type="http://schemas.openxmlformats.org/officeDocument/2006/relationships/notesSlide" Target="/ppt/notesSlides/notesSlide36.xml" Id="R7b78572a8ec2478c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3a139d0ef45fd" /><Relationship Type="http://schemas.openxmlformats.org/officeDocument/2006/relationships/notesSlide" Target="/ppt/notesSlides/notesSlide37.xml" Id="R5bc868c4dbe442e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e2d31578a84dc8" /><Relationship Type="http://schemas.openxmlformats.org/officeDocument/2006/relationships/notesSlide" Target="/ppt/notesSlides/notesSlide38.xml" Id="R9b6e07bca01f4508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79cd98f0234892" /><Relationship Type="http://schemas.openxmlformats.org/officeDocument/2006/relationships/notesSlide" Target="/ppt/notesSlides/notesSlide39.xml" Id="R331f63729b464a3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4941EB-2575-4AF4-8AD1-B7444FAB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BFACA0-138B-4A2E-9F0C-9D4C19BC2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1081C5-F5E7-4483-A972-883A0660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LESSON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C3B143-D03F-4859-9AEB-2679AB2D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8286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</a:defRPr>
            </a:pPr>
            <a:r>
              <a:rPr sz="4650" b="1">
                <a:solidFill>
                  <a:srgbClr val="FFFFFF"/>
                </a:solidFill>
              </a:rPr>
              <a:t>Apache Spark:</a:t>
            </a:r>
          </a:p>
          <a:p xmlns:a="http://schemas.openxmlformats.org/drawingml/2006/main">
            <a:pPr algn="l">
              <a:defRPr sz="4650" b="1">
                <a:solidFill>
                  <a:srgbClr val="FFFFFF"/>
                </a:solidFill>
              </a:defRPr>
            </a:pPr>
            <a:r>
              <a:rPr sz="4650" b="1">
                <a:solidFill>
                  <a:srgbClr val="FFFFFF"/>
                </a:solidFill>
              </a:rPr>
              <a:t>от данных к плану выполнения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C231FD-4ACD-466A-A9FD-9E10FDDD0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71950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6D9DC"/>
                </a:solidFill>
              </a:defRPr>
            </a:pPr>
            <a:r>
              <a:rPr sz="1875" b="0">
                <a:solidFill>
                  <a:srgbClr val="D6D9DC"/>
                </a:solidFill>
              </a:rPr>
              <a:t>Практическое погружение в PySpark для начинающего Data Engineer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2A4B43-1DC2-4BF3-B759-0F24AA8C1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4B5926-E98E-49C2-9676-8804F4A64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6D9DC"/>
                </a:solidFill>
              </a:defRPr>
            </a:pPr>
            <a:r>
              <a:rPr sz="1350" b="1">
                <a:solidFill>
                  <a:srgbClr val="D6D9DC"/>
                </a:solidFill>
              </a:rPr>
              <a:t>Core · 60 минут  |  Deep dive · +30 минут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6BC82F-F340-4800-B824-D5DC8E0C2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37210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2100" b="1">
                <a:solidFill>
                  <a:srgbClr val="E25A1C"/>
                </a:solidFill>
              </a:defRPr>
            </a:pPr>
            <a:r>
              <a:rPr sz="2100" b="1">
                <a:solidFill>
                  <a:srgbClr val="E25A1C"/>
                </a:solidFill>
              </a:rPr>
              <a:t>PYSPARK</a:t>
            </a:r>
          </a:p>
        </p:txBody>
      </p:sp>
    </p:spTree>
    <p:extLst>
      <p:ext uri="{BB962C8B-B14F-4D97-AF65-F5344CB8AC3E}">
        <p14:creationId xmlns:p14="http://schemas.microsoft.com/office/powerpoint/2010/main" val="5202086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C613DF-E28B-4019-8BEF-5DEA7A88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ЗАЧЕМ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C974C5-EA4E-4ADA-879B-949C39FC1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6E82EE-CE31-455C-9D4A-42C764D5C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15B382-A86E-4DC5-B052-CF8FDDA36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986FB5-F297-4CB2-BD3F-D424DCA25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Локальный Python больше не укладывается в SLA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7250BA-381C-40F9-A279-E952A9C6D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42318"/>
                </a:solidFill>
              </a:defRPr>
            </a:pPr>
            <a:r>
              <a:rPr sz="2325" b="1">
                <a:solidFill>
                  <a:srgbClr val="B42318"/>
                </a:solidFill>
              </a:rPr>
              <a:t>120 ГБ событий · 18 минут до дедлайна · один процесс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B6DE2E-2BC5-4E6D-9D2A-68C9F3DC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43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6D793D-30C6-4213-BCA5-B0B03F6DB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6305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3"/>
                </a:solidFill>
              </a:defRPr>
            </a:pPr>
            <a:r>
              <a:rPr sz="1800" b="0">
                <a:solidFill>
                  <a:srgbClr val="202123"/>
                </a:solidFill>
              </a:rPr>
              <a:t>Память заканчивается раньше данных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6DD2CA-84FD-4E53-A791-3663A6538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055937-BC7C-4706-B926-5ED8864F7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43300"/>
            <a:ext cx="6305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3"/>
                </a:solidFill>
              </a:defRPr>
            </a:pPr>
            <a:r>
              <a:rPr sz="1800" b="0">
                <a:solidFill>
                  <a:srgbClr val="202123"/>
                </a:solidFill>
              </a:rPr>
              <a:t>Повторный запуск начинается с нуля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9F1192-B38E-4268-B356-E700C569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14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938562-5958-4303-9675-90E07E5D8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6305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3"/>
                </a:solidFill>
              </a:defRPr>
            </a:pPr>
            <a:r>
              <a:rPr sz="1800" b="0">
                <a:solidFill>
                  <a:srgbClr val="202123"/>
                </a:solidFill>
              </a:rPr>
              <a:t>Ускорение упирается в один CPU и один диск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366B02-3C86-4C35-9FFD-F25BAF0A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81200"/>
            <a:ext cx="3676650" cy="321945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149FD7-D6CF-4DE4-90BD-E94CA3468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33625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SLA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71AD25-315C-49B1-840D-4A508EBE0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095625"/>
            <a:ext cx="2762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E25A1C"/>
                </a:solidFill>
              </a:defRPr>
            </a:pPr>
            <a:r>
              <a:rPr sz="4350" b="1">
                <a:solidFill>
                  <a:srgbClr val="E25A1C"/>
                </a:solidFill>
              </a:rPr>
              <a:t>18 min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1B4FF1-655C-462E-AAA0-D082FDA3E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95750"/>
            <a:ext cx="285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5E7EB"/>
                </a:solidFill>
              </a:defRPr>
            </a:pPr>
            <a:r>
              <a:rPr sz="1575" b="0">
                <a:solidFill>
                  <a:srgbClr val="E5E7EB"/>
                </a:solidFill>
              </a:rPr>
              <a:t>Нужен не “быстрый pandas”, а другая модель выполнения.</a:t>
            </a:r>
          </a:p>
        </p:txBody>
      </p:sp>
    </p:spTree>
    <p:extLst>
      <p:ext uri="{BB962C8B-B14F-4D97-AF65-F5344CB8AC3E}">
        <p14:creationId xmlns:p14="http://schemas.microsoft.com/office/powerpoint/2010/main" val="21309482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BF5091-AB91-4265-A7A4-3D8C10328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КОНТРАКТ ЛЕКЦИИ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FC7C82-862D-4E2A-8AF4-DC9732217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E8B15F-5D22-4150-97A1-BC98FF7A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32C002-14A0-4DA5-8580-EC56C883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143599-CF7E-44E3-90B5-26526F18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После лекции вы сможете объяснить Spark через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14EBE5-47DF-46C6-AA10-C010D068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A8136D-2BB2-4306-B97B-FD8378A2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764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Модель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07B7A6-9463-4967-ACD8-1314FECE0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9550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Driver, executors, partitions, jobs и stages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01C435-20A8-441C-8468-06D35233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527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4CC633-2173-4812-8846-B2323AFF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EF96AC-8041-40BF-AE05-378A3343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0480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Код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E77B2C-2BD1-4DAB-8EE3-A2703213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670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DataFrame-пайплайн без Python UDF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F04EA3-7FAB-4F52-9960-FAD24111F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72427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70F578-EC93-4819-A9C3-EB40BED83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95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E61C8E-2DCE-49BD-BE78-BE5CC11C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0195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План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E8DC1B-0F1F-47D8-A0BB-EF9A9C1D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3860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Exchange, join strategy и AQE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E65EB9-AEE3-4A9A-AF12-9B207CBBD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6958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41036B-96A6-44D9-BA9C-92871BE0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9110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D05ACB-7F47-4C1C-823A-7F0DC8210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9911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Наблюдение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699AD9-E7BF-42F4-A04C-85464E16C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0101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Spark UI: где искать shuffle и skew</a:t>
            </a:r>
          </a:p>
        </p:txBody>
      </p:sp>
    </p:spTree>
    <p:extLst>
      <p:ext uri="{BB962C8B-B14F-4D97-AF65-F5344CB8AC3E}">
        <p14:creationId xmlns:p14="http://schemas.microsoft.com/office/powerpoint/2010/main" val="4099151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CED590-B20A-4C4B-9800-E85D6C6CD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BIG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56144-D9E3-4A32-ADB1-292D46876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624352-4B81-4673-AFC3-31246E1E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4F9E24-F52D-43CE-9958-6ADF2126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BD94BD-C64C-439A-8A2A-477ABCCE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Big Data — это ограничение workload, а не ярлык размера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5A21A0-0F25-4047-9862-86255A647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F2428"/>
                </a:solidFill>
              </a:defRPr>
            </a:pPr>
            <a:r>
              <a:rPr sz="2775" b="1">
                <a:solidFill>
                  <a:srgbClr val="1F2428"/>
                </a:solidFill>
              </a:rPr>
              <a:t>“Данные становятся “big”, когда привычная архитектура перестаёт выполнять обещания.”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144E9E-F8C1-44DF-9664-62B5AA328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1428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FF4C35-2EB8-4DA3-A6DD-BD82AC75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25A1C"/>
                </a:solidFill>
              </a:defRPr>
            </a:pPr>
            <a:r>
              <a:rPr sz="1275" b="1">
                <a:solidFill>
                  <a:srgbClr val="E25A1C"/>
                </a:solidFill>
              </a:rPr>
              <a:t>ОБЪЁМ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F9B56A-C71A-4214-A4DA-D37960466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СКОРОСТЬ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A8ECEB-7DC2-4186-A1B0-3295B4E7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РАЗНООБРАЗИЕ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790DA9-5C5B-4EE5-AADF-51E4368FB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СТОИМОСТЬ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6588D0-4455-4F32-986E-E3A62EEB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СБОИ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686E25-1E35-4A9D-99FD-82B9CA065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Сначала формулируем SLA и профиль нагрузки — потом выбираем движок.</a:t>
            </a:r>
          </a:p>
        </p:txBody>
      </p:sp>
    </p:spTree>
    <p:extLst>
      <p:ext uri="{BB962C8B-B14F-4D97-AF65-F5344CB8AC3E}">
        <p14:creationId xmlns:p14="http://schemas.microsoft.com/office/powerpoint/2010/main" val="18721984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FA0065-FAC2-4530-914A-3890ADA4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ИСТОРИЯ BIG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66A1C3-7FAC-4F3B-B7B4-23835A40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2789CB-39E9-4F18-8C1C-CF1E0524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4063E4-E4AD-45E0-9D26-A3E94AF7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9E1CED-A6D4-49C5-A4AA-4FB217E16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Big Data возник не в один день — термин догонял инженерную реальность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67F698-ACF5-4B51-A742-5C095D1BC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E2B64E-637E-44C5-B53F-8F66254A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D4D18E-88C1-4119-A88A-6F6C7E67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1990-е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1FA4E1-FCA6-4E9F-95C1-EAFBC6698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Цифровые следы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EAC4EB-D171-4C66-A877-E8ECBBCC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Web, логи, транзакции и сенсоры растут быстрее прежней инфраструктуры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41C629-4267-4842-B3BD-286A1B68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F45F43-A395-4D8C-BEE4-2206BD57B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1998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64ACB9-551A-4D07-95D7-727F98884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John Mashey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6BA270-FAEB-4E51-B041-810102684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Доклад “Big Data … and the Next Wave of InfraStress” популяризирует термин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9E1E22-AB49-4D98-B694-17AB09D3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17072E-B559-4D4C-9D07-2A8EA8D5A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3A1AEB-D230-49B8-ACFC-B30C3D74D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Doug Laney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808BD7-AFA7-437E-A828-BB9E1C8D7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Volume, velocity, variety описывают три независимых давления на data management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F9DD04-D679-43B6-98CE-F6B2AC73A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D6E15C-A270-43B4-A3B2-C6C1363A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E25A1C"/>
                </a:solidFill>
              </a:defRPr>
            </a:pPr>
            <a:r>
              <a:rPr sz="2175" b="1">
                <a:solidFill>
                  <a:srgbClr val="E25A1C"/>
                </a:solidFill>
              </a:rPr>
              <a:t>2010-е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F70D9C-05A4-4F58-95D4-B9BD95226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Платформенный термин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C2F828-E2E5-4970-98AB-30B15A1B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Big Data объединяет storage, compute, analytics и governance</a:t>
            </a:r>
          </a:p>
        </p:txBody>
      </p:sp>
    </p:spTree>
    <p:extLst>
      <p:ext uri="{BB962C8B-B14F-4D97-AF65-F5344CB8AC3E}">
        <p14:creationId xmlns:p14="http://schemas.microsoft.com/office/powerpoint/2010/main" val="6935328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6CF225-86DC-4C1F-A2EC-2A3EA6EE2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3V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A5B91A-69B3-4CE2-A9D4-150128CEF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2527A5-3906-4984-9100-FCC405C29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EF167E-58EA-4945-A7F9-3286F0FED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7F2B5F-A382-4F55-AFF4-278E782A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3V — диагностическая модель давления, а не определение по порогу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24BC67-4739-4887-B1DD-F0D49B3F1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FED"/>
                </a:solidFill>
              </a:defRPr>
            </a:pPr>
            <a:r>
              <a:rPr sz="1650" b="1">
                <a:solidFill>
                  <a:srgbClr val="2F6FED"/>
                </a:solidFill>
              </a:rPr>
              <a:t>Сигнал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43E8B3-84EC-4751-909E-B03BB4D3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FED"/>
                </a:solidFill>
              </a:defRPr>
            </a:pPr>
            <a:r>
              <a:rPr sz="1650" b="1">
                <a:solidFill>
                  <a:srgbClr val="2F6FED"/>
                </a:solidFill>
              </a:rPr>
              <a:t>Что ломается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AE37EB-B217-432B-BFEB-090E5B234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FED"/>
                </a:solidFill>
              </a:defRPr>
            </a:pPr>
            <a:r>
              <a:rPr sz="1650" b="1">
                <a:solidFill>
                  <a:srgbClr val="2F6FED"/>
                </a:solidFill>
              </a:rPr>
              <a:t>Арх. ответ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056C2B-30CA-4952-8164-1194DCCB2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Вопрос архитектора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71823B-DD05-4EC3-882C-B3C4A139A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07107B-24E9-49B5-802B-EB5A5DE4C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байты / строки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8DCF42-BE56-4B2B-B984-B3EB2F7E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один узел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1C761E-4B92-47BE-AC50-B2523108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8A0BFA-398A-44FE-A92A-716A988D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Где предел scale-up?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07B99A-47B9-49F4-B09D-C89C3DE2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5B6B44-EDEF-4590-B398-46156EED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Velocity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C4FC45-02B6-4296-9BC0-BACF72E8C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события / сек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770D72-A4F3-4A24-A166-DBFCB4B7B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batch SLA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5C7FD8-8B7B-4B93-8ABF-66AE839E8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streaming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C5A020-04D3-48B1-8969-75D3F287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Какова цена задержки?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C07F3A-8EDB-4CF1-83F7-81A11D26D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3E759C-2763-44B8-AC45-8262E833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Variety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4B9DF0-E551-4202-9709-9A3B6336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форматы / схемы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D2695D-491F-46DF-862C-F139BE27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жёсткая модель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2A0F7F-6785-437C-B0BC-8583B5E94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schema + contracts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86725E-75E7-4323-92FD-857888540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Кто владеет изменением?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E57723-4EDA-48FB-936A-D305A1E38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41530C-4638-4BCC-92AD-C1FB6790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Итог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E13345-0E6C-4827-95D2-BB5CC439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профиль нагрузки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AED743-2479-4B5F-9F90-9677C2DD1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обещания системы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514F2B-7EC9-4D34-8DED-C210F3CE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масштабируемая архитектура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A41B04-8934-4F3F-9BF7-114A0AE6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Как измерим успех?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60B789-616A-4EFB-8E35-AFDD7B02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165343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E0D2D6-F897-45DA-B766-31370B2F2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3V → 6V → 10V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D0FA5D-D99C-46C4-A031-89973E76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632B4B-3A96-4AAE-BAD1-9D39467A2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E539DE-A627-4992-8486-F6D72772C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7ADAA5-7BD5-494A-AA9D-1489AD543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После 3V появились десятки V — единого канона 6V или 10V нет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D94E03-629C-420C-8587-183B7798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Volume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870465-AA6C-4E69-B58C-9F5E4412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0193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масштаб данных и стоимость хранения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12270D-5118-4224-8518-AD328CE4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Velocity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E203A7-0F7B-418E-A52C-4194589E2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0193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скорость поступления и допустимая задержка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8FC815-EF79-4B49-AAB4-3DC31579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Variety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6D3A2E-F608-4E7B-A146-81394E58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9337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форматы, источники и эволюция schema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72B8AC-EB94-4799-8FA4-780CED370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Veracity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2ECEB1-2325-4A8C-AF81-8DCEA8C7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9337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качество, происхождение и доверие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26B36B-FD4E-41A3-A623-EED61EDB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Value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29EC61-1A01-466F-AB58-61193BE67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8481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измеримый эффект относительно стоимости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C27D06-399A-4689-A2C8-6837F480B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Variability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ADEAE4-6E99-4B29-8A62-8DB9B6B22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8481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скачки нагрузки и изменение смысла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D70751-9D10-447D-8B1B-C58BF54E3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Visualization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C1CFB2-2F36-43F2-B008-623614CB7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7625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способ сделать вывод воспринимаемым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BC9EBA-0FA1-43D8-85B0-B162C8579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434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Vulnerability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47AEFC-C15A-406B-BD7A-3863D137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625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privacy, security и риск утечки</a:t>
            </a:r>
          </a:p>
        </p:txBody>
      </p:sp>
    </p:spTree>
    <p:extLst>
      <p:ext uri="{BB962C8B-B14F-4D97-AF65-F5344CB8AC3E}">
        <p14:creationId xmlns:p14="http://schemas.microsoft.com/office/powerpoint/2010/main" val="14563172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31A3D5-7D0E-4B84-B1BB-AE6D17706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ПОЧЕМУ BIG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D7DC43-4292-4D01-8894-996A57630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03865B-FC14-40BB-B9E2-09246078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4834FA-B214-4BAB-B9D7-75BE1AA05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EAE82B-DBE9-4EA1-B028-9692043D4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Big Data родился из разрыва между ростом данных и возможностями одного узла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F8777C-14D7-4F59-9D8A-7A907F742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88D11-4A9A-446F-9F15-5250B747E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764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Источники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62F44F-45F4-4710-B8EA-AFB66A375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9550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Web, mobile, telemetry и дешёвые сенсоры создают непрерывные цифровые следы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722E94-477E-4C24-9EB9-99E1CCA7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527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59EE56-B96C-4566-97E6-DF4490F0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0C16ED-D948-4026-8B5A-1ABB605D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0480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Экономика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59864F-9499-47B9-B139-94884273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670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Commodity-машины дешевле вертикального масштабирования, но чаще отказывают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23D21B-BFF9-4030-BD64-480AC533B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72427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2B1053-A012-4146-BFD8-6AC21F34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95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48A7FD-A1FA-4F37-8B8F-2ED2C94C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0195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Workload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7E76E2-7579-4FC8-9C92-569EF5EF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3860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ETL, поиск, ML и ad hoc analytics требуют разных паттернов доступа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A8C86B-19F4-4B97-AFDD-147D7173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6958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E01854-8E2B-4E68-A426-A790FEED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9110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73F8CA-77C7-45B2-B1D5-253523D4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9911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Обещание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28C25A-7245-430B-9C2E-A1EE0151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0101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Сохранить throughput и fault tolerance при росте объёма и числа узлов</a:t>
            </a:r>
          </a:p>
        </p:txBody>
      </p:sp>
    </p:spTree>
    <p:extLst>
      <p:ext uri="{BB962C8B-B14F-4D97-AF65-F5344CB8AC3E}">
        <p14:creationId xmlns:p14="http://schemas.microsoft.com/office/powerpoint/2010/main" val="205408940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71EA87-467D-4988-8912-8559E6E60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ОТ ХРАНЕНИЯ К COMPUTE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E4BD85-0791-4DDD-85E1-CB13E89B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E165EA-F5FF-4995-8A6E-A0B46BBB2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A486B7-A243-4727-A4A6-E6DA6A9C1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03D573-1443-46F0-AC87-A1B42E91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Google превратил ненадёжный кластер в программируемую платформу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E41EED-078C-4326-A29B-6C7B0197B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EB07D8-9A78-4337-8D97-4EFF5F19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E5A9F8-63A9-4FEC-AF17-F74BF39EF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400824-6352-4243-AE7C-401894135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Google File System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3F21E7-B337-4334-97B2-982FB8A8F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Блоки, репликация и перенос compute ближе к данным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165DF4-63FF-4BE6-AAAA-ACBF4A98D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E73923-FD1E-4415-91B0-55F45D5B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A5371D-424B-4A1E-A7F9-02EB4EFB0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MapReduce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C2D93B-CD16-4AED-848E-FFA9D517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Partitioning, scheduling, shuffle и retry становятся обязанностью runtime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FE7360-3628-4F2D-BC34-EF8F761D4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D6F9D0-96C7-4F7C-932C-A121D1EFD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2006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F18EE0-BAE9-4171-88BA-1853C02D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Apache Hadoop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938CC1-7083-42E4-ACD6-462570BDE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Open-source реализация HDFS + MapReduce переносит модель в индустрию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82A349-4FFD-4B3B-A846-80A8227E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C16206-1544-46E8-BFE1-91AD3CFB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E25A1C"/>
                </a:solidFill>
              </a:defRPr>
            </a:pPr>
            <a:r>
              <a:rPr sz="2175" b="1">
                <a:solidFill>
                  <a:srgbClr val="E25A1C"/>
                </a:solidFill>
              </a:rPr>
              <a:t>Вывод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B0FE9A-82D1-4675-8775-ADF0D5DE5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Сбой — часть протокола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3E346B-7DB7-4F33-AFC8-536079BE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Вычисление проектируют так, чтобы task можно было безопасно повторить</a:t>
            </a:r>
          </a:p>
        </p:txBody>
      </p:sp>
    </p:spTree>
    <p:extLst>
      <p:ext uri="{BB962C8B-B14F-4D97-AF65-F5344CB8AC3E}">
        <p14:creationId xmlns:p14="http://schemas.microsoft.com/office/powerpoint/2010/main" val="9584612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EAA12D-E08A-42E4-B1BC-09DA9229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MAPREDUCE · НА ПАЛЬЦАХ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662EB1-7F51-4933-BD39-2CEE26BE8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8BD321-192C-404D-B8CF-0838FA95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37AE5-4B74-4322-A187-60F21D1DF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9C465E-5139-4260-9A9E-7973D4CE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MapReduce — как почтовый центр: пометить, рассортировать, собрать итог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5164F-A368-42EE-8A58-8E5C33F6F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9F92B5-3609-4F98-9682-AF567BC4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787E6B-2F95-4FA3-B39A-19520B9F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CD1DCF-1703-46C7-99E5-607B5F3C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мешки писем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4AA6F0-D291-4AFA-89A8-5D6F1C875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84A80C-B394-4C7D-9CE0-A4078968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BD773C-BC81-46F9-9ABD-DA507ED60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F3A20B-2C47-47D6-92E2-3A2EF3D27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поставить индекс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8666A0-FF5E-4098-B371-32F2C18F5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942F8D-3632-4D3A-A796-6436AA9A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F37B32-0B94-4607-A33A-8FDEF158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shuffle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CA40BB-0710-4DDE-B25E-52CBAF61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свести по адресу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A0060D-10F2-4E3B-A07C-FF7707CC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81FAB2-CF5F-41C5-A395-9A77C1F7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E25A1C"/>
                </a:solidFill>
              </a:defRPr>
            </a:pPr>
            <a:r>
              <a:rPr sz="1875" b="1">
                <a:solidFill>
                  <a:srgbClr val="E25A1C"/>
                </a:solidFill>
              </a:rPr>
              <a:t>reduce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DBD3FC-EB01-49FD-8E08-E86333F7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собрать доставку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3108A0-C531-4933-8BB0-D17FE23C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Runtime делит работу, двигает группы по ключу и повторяет потерянные части.</a:t>
            </a:r>
          </a:p>
        </p:txBody>
      </p:sp>
    </p:spTree>
    <p:extLst>
      <p:ext uri="{BB962C8B-B14F-4D97-AF65-F5344CB8AC3E}">
        <p14:creationId xmlns:p14="http://schemas.microsoft.com/office/powerpoint/2010/main" val="14051164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FA7319-61E6-4943-A55F-5D0233D3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MAPREDUCE · ТЕХНИЧЕСКИ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85E54-84B2-4CE6-9AA4-3C8797ED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FA80E5-9BA6-4691-97FE-308183E87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8248D0-BD68-4C90-813E-C374A1DA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0BA877-C0BB-482F-B3FA-0451824C8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Один MapReduce job фиксирует конвейер вокруг одной shuffle-границы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BCDE29-AFC3-4757-A844-225CFF4F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48025"/>
            <a:ext cx="704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C03FF1-669D-4D74-B938-6A5A4AC3F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BA9D3D-3E22-4A56-9E62-594E4FEF3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E11023-41BA-4785-9679-E0B2A9888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5709B9-4519-4FE8-BA0B-51D2263B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1CEDDD-1ECC-4B0B-8382-8C19DC493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Input splits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F463C4-2B5C-47B7-A52C-61305B3AA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блоки HDFS</a:t>
            </a:r>
          </a:p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локальность данных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5C25E2-5A9A-46A9-AADF-0249B6BC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481DDE-C79E-400A-B66F-F6BAD203C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Map tasks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AD241F-E342-47E8-918A-6EC9F0DB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parse / filter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локальный sort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64813B-D4C4-4EAB-9369-2204AA436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B3613A-45EF-443A-9D22-1B182C7BB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Shuffle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AA8E4F-451D-4B14-9F7E-BFAE6563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/ fetch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merge by key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5BC7AE-E3CE-43BD-985C-17F51EDF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CED3F5-11B3-4E18-A28C-176FACFF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Reduce tasks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FAD2F7-82BB-4B28-B180-50991C15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aggregate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output в HDFS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CA1EB3-4C4D-4C55-A562-D14CFFBC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62500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Сильная сторона — простой восстанавливаемый batch. Цена — materialization между цепочками jobs.</a:t>
            </a:r>
          </a:p>
        </p:txBody>
      </p:sp>
    </p:spTree>
    <p:extLst>
      <p:ext uri="{BB962C8B-B14F-4D97-AF65-F5344CB8AC3E}">
        <p14:creationId xmlns:p14="http://schemas.microsoft.com/office/powerpoint/2010/main" val="172462159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25AF8D-D5FE-494C-8AA0-45D1B9281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MAPREDUCE → SPARK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EF9057-6164-43AC-BBA0-CAD081616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65C278-FD39-4F3F-9851-F2535F52F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FBF5EA-E251-41DE-A34E-D117CAC9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B69F65-6A3A-4D1A-B597-91F63445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Spark атаковал не Map и Reduce, а стоимость повторного использования данных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69B6FE-76DD-46AB-9623-D08FD33C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ЦЕПОЧКА MAPREDUCE JOBS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8ED6AD-4E7C-4082-8F8B-44F2A1C39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job → materialize → job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CB3DBE-EA25-4566-BF42-946A47901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237AB6-89E5-439B-B0A4-A9243622F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Надёжный one-pass batch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4E322F-385D-44C0-A5BD-B7C0BB1C6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24B6FF-5324-461E-B35B-3270274EC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Простые retry boundaries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01B02A-AD80-471A-9EA1-E981C47A5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940841-0143-4E42-A967-55CB4B3B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Итерации перечитывают и сериализуют данные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0F5BB1-7839-4C30-BD06-937F5B6C7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SPARK APPLICATION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150587-0A85-429F-82C6-9709EC3AF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DAG → stages → tasks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9D31A6-DE7F-41C0-B820-15635BA1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2403D5-9E32-4455-AF67-084BE7061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План виден целиком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FC679F-7BB6-41DB-8F61-85649520D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FA7D2C-1129-47F1-9914-E3AC17844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Working set можно persist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201D33-B9B8-4E81-A9B8-D975E6CB5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CE2B74-F35B-481C-A70F-8055546F5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Lineage позволяет восстановить partition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C538DA-9C3C-48F1-98D9-CBA108C7C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8821553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9BBF81-B124-4176-905C-A958B789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ИСТОРИЯ SPARK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DFEA61-87DC-4B8E-A323-B3ACA8BB5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05B743-74BE-4D35-9A1B-8A7E1383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20D2AE-5AAE-48A1-AEF0-A308783F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1AE5CB-4C5E-4578-A865-1A826178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Matei Zaharia и команда AMPLab начали Spark с боли iterative и interactive workloads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48AB40-1CE8-4506-A073-9527F49D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C6721D-CB20-4781-8760-A9732630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F0FF39-8508-4716-A119-5F0FDBB5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2009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85ABC1-F06E-4B26-B196-80E70AAD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UC Berkeley AMPLab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AF4E0D-35E4-4AC4-88CA-E39FC4D5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Проект Matei Zaharia и исследовательской команды для cluster analytics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E9D7CA-1F42-452A-A3CF-29000E8B5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A4BE38-6173-48DB-98BE-B6300771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B0787A-F875-47AF-8D31-6F3EBAAA0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Working Sets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5868FA-BE79-4EC0-9CE3-A7C41DFE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HotCloud paper и open source: данные можно переиспользовать между operations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2B67A8-CC3B-4FE4-B9EA-EFB365762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28FC12-A96B-4C13-B1DB-9AF47FB02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2012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2C44D8-DBC0-4F0E-B15C-D39464D63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RDD + lineage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B4F1E4-CD16-4834-BEEF-E02E7D453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NSDI Best Paper формализует fault-tolerant distributed memory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E8274F-F36F-4E11-9766-0691A8E0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1B6747-5729-4667-9308-F8E26C39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E25A1C"/>
                </a:solidFill>
              </a:defRPr>
            </a:pPr>
            <a:r>
              <a:rPr sz="2175" b="1">
                <a:solidFill>
                  <a:srgbClr val="E25A1C"/>
                </a:solidFill>
              </a:rPr>
              <a:t>2013–14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50905F-7AA9-48C4-BDCA-F8C44501A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Apache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EF8E5B-5EA8-47F9-822A-737E4FE9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Incubator в 2013; top-level project в 2014; сообщество масштабирует engine</a:t>
            </a:r>
          </a:p>
        </p:txBody>
      </p:sp>
    </p:spTree>
    <p:extLst>
      <p:ext uri="{BB962C8B-B14F-4D97-AF65-F5344CB8AC3E}">
        <p14:creationId xmlns:p14="http://schemas.microsoft.com/office/powerpoint/2010/main" val="160663448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948372-28A6-4958-AD68-C4BF5F8DF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ВЕРСИИ SPARK · 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D73C62-C411-4346-9D6C-7E0892B77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2A6104-9098-427F-9FEF-4E64DEB0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ED5AE4-50E5-4927-8798-354B88FA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06621-E496-4EB2-A5C8-5F98235EF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0.x и 1.x превратили исследовательский RDD engine в платформу данных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998265-1725-4A42-9D65-22B5153F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9585AF-F922-4D82-A87B-7189DC1D1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28C7DB-A4EF-40FC-AE3F-84AF991E5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0.7 · 2013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2E6DC0-F8DF-4268-B554-47849A408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PySpark + Streaming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7DB3F1-0F14-4B5B-BFC8-64D74399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Python API и alpha Spark Streaming расширяют аудиторию и workload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6B4E9E-8E96-4FDB-9ED8-E7183EF55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F59C33-C21F-4349-A198-462EF4D0C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0.8 · 2013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52FBC1-638A-401A-BE92-6A804054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YARN + MLlib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656D8F-F765-4820-8994-CBB43639B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Spark входит в Hadoop estate и получает ML library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F8CB12-5D7F-4F8D-A5E6-46D03448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F64AB0-834E-452C-A3E6-766D4A8C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1.0 · 2014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85B271-A19E-4AFA-BFD3-0026D2A6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Стабильный проект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647BFB-67CE-452A-B898-290EB267E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API и ecosystem закрепляют Spark как самостоятельный engine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B8C6DE-5A76-4CEE-9EFB-E3178D63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E9E411-340B-4FE0-8B51-50FA038D4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E25A1C"/>
                </a:solidFill>
              </a:defRPr>
            </a:pPr>
            <a:r>
              <a:rPr sz="2175" b="1">
                <a:solidFill>
                  <a:srgbClr val="E25A1C"/>
                </a:solidFill>
              </a:rPr>
              <a:t>1.3 · 2015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2A6D9B-A851-494C-A127-77B86791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DataFrame + Spark SQL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904249-F1EF-4D81-92C6-F9EFAF843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Schema и Catalyst делают оптимизацию доступной Python API</a:t>
            </a:r>
          </a:p>
        </p:txBody>
      </p:sp>
    </p:spTree>
    <p:extLst>
      <p:ext uri="{BB962C8B-B14F-4D97-AF65-F5344CB8AC3E}">
        <p14:creationId xmlns:p14="http://schemas.microsoft.com/office/powerpoint/2010/main" val="130072336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0C70DD-ADCF-459C-877A-A0133428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ВЕРСИИ SPARK · II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5AD3B5-F724-40FE-AC54-A1F6D9A6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7A36DE-CDC0-43F2-ABC0-96039BE0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707043-5E46-4E04-B7B6-5622CBDA4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6C1703-0BE4-45E5-8832-B9B157BF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2.x–4.x сместили центр тяжести от RDD к SQL engine и PySpark UX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35E938-21A6-48AA-804B-43DA252E8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A9813F-9C24-4877-8C95-91364FF0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0D77F1-D9D5-4EFB-AE83-125E1CF0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2.0 · 2016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80DE4F-8E52-4478-97CD-201F5BE7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Unified structured APIs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7D5BC9-1830-43DD-AF41-4DFDCDE39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SparkSession, whole-stage codegen и experimental Structured Streaming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3B8B70-5F3C-4300-ADE4-4BBFCC50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AD9446-AEEA-4D47-8319-01589902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3.0 · 2020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2FEF70-7AAC-42AB-B651-7616C6EA9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Adaptive execution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E1321F-FFA1-488C-8867-8BCD8BD5A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AQE, dynamic partition pruning, ANSI improvements и Python UX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5A2A79-E036-4B57-974F-4FB972267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D4ACD3-F046-45BB-BA90-DF8BC9991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4.0 · 2025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D6E90A-491C-44ED-919D-16C2CDB2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SQL + Connect + Python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206FEC-8AFA-4B8A-8D34-EAC8F0103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ANSI default, VARIANT, Python Data Source API и mature Connect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2BD7F1-959B-466D-846F-E9FFF312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037210-72D3-41F9-ACCC-C34B5A0CA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E25A1C"/>
                </a:solidFill>
              </a:defRPr>
            </a:pPr>
            <a:r>
              <a:rPr sz="2175" b="1">
                <a:solidFill>
                  <a:srgbClr val="E25A1C"/>
                </a:solidFill>
              </a:rPr>
              <a:t>4.2 · 2026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8A5239-BEC7-4E4E-A352-E098CCF2D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Data platform surface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E9B9E7-21C7-4AC3-9AD2-653634D29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CDC, geospatial, DSv2 transactions и Arrow IPC default</a:t>
            </a:r>
          </a:p>
        </p:txBody>
      </p:sp>
    </p:spTree>
    <p:extLst>
      <p:ext uri="{BB962C8B-B14F-4D97-AF65-F5344CB8AC3E}">
        <p14:creationId xmlns:p14="http://schemas.microsoft.com/office/powerpoint/2010/main" val="68396914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2B6D73-1228-43E3-9131-D8A6FF8C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ПОЧЕМУ SPARK ПОБЕДИЛ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66EF45-D37A-420D-ABC7-DA3BD61F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CE6C1A-1120-42D5-8B11-4483230C4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1AE2C0-2013-41A2-9614-7FAF16597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E7308B-134C-41ED-9B54-3F5641D0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Победила комбинация модели выполнения, API и экосистемы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CF0D33-4622-409F-BB06-BB63156AF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CBDF4-FCCB-4B45-9188-243CC7CF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1F5325-0510-47B5-9869-66316FFA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002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DAG / lineage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605674-FB4C-49F8-96D2-DACAE2C65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193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богаче fixed Map→Reduce и дешевле восстанавливает coarse-grained datasets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053529-0956-4221-95C2-DCC856341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336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55D31D-22BC-4AB5-96F6-B9E272EA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2D86F2-6785-49BC-B36F-AD3D135C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8C4F31-71A6-4D44-A766-3421661D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813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DF / Catalyst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5501DD-BA0E-4DAA-8D36-7D088253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003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декларативный PySpark получает relational optimization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034F35-D171-4EFC-A09D-5016BBACA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1470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E5C630-F2D3-4021-AE65-C8A23EF6D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B5433F-A6D0-4422-A541-AC74AA3B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A587A3-7C39-4C78-AC0A-94474C4DA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62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Tungsten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9CBA1E-4354-4A53-8541-C306102F6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814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whole-stage codegen, меньше JVM overhead, эффективнее memory и CPU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F873AE-A2DE-4CA5-A304-50C86EC5A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957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3ECFC3-D4E4-44D8-887E-A657EED1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B542EE-75C6-4977-AE61-50A05175A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AA5884-88A5-4B00-81AF-ED58E664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434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Unified engine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256E2B-FFC5-41F1-90F9-25CFF37C2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3624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batch, SQL, streaming и ML используют общую execution model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AC0C3F-EF44-4DEE-87AA-31D018B3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B61BBF-4779-4B9D-9B0F-9DFB6BE6F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FEC5A3-23A2-4B84-8C75-36554A86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077DF5-9F42-47CD-8DB3-C69DF9D0A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244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Open ecosystem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747E46-A594-4A91-B2A7-918ABABA9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435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Apache governance, Hadoop/cloud storage, YARN/Kubernetes и Python API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06D14D-1B73-4CC8-A360-99DF7226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6578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794517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506A41-367D-413C-9428-EBEA6E84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МЕНТАЛЬНАЯ МОДЕЛЬ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EF79F-D816-4180-A248-1643E45A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A99A02-F622-439F-AF4B-3F419B9A6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8068D6-EACF-4C3C-868F-16C760617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4DEAB5-1149-4192-BCF1-781394AA3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Spark — compute engine, а не база данных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DA197-6889-47E0-B206-475D685BA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A37F"/>
                </a:solidFill>
              </a:defRPr>
            </a:pPr>
            <a:r>
              <a:rPr sz="1275" b="1">
                <a:solidFill>
                  <a:srgbClr val="10A37F"/>
                </a:solidFill>
              </a:rPr>
              <a:t>ENGINE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6FA4B9-5C02-45D9-873C-77BEDEE7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764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42318"/>
                </a:solidFill>
              </a:defRPr>
            </a:pPr>
            <a:r>
              <a:rPr sz="1275" b="1">
                <a:solidFill>
                  <a:srgbClr val="B42318"/>
                </a:solidFill>
              </a:rPr>
              <a:t>НЕ ENGINE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2B7BB9-851B-4406-A103-DF94D200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47875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2B273E-BAAB-4548-9353-0B7A9D38F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7F251C-AB8D-460A-AA60-9B03B0757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860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Планирует DAG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083C82-C66B-4C2A-89D3-E2472557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4EA8F5-35EA-4D21-87EF-D8248B08E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Распределяет задачи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888B6E-E20D-4D00-A307-B8A1B5C81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7AADEB-7800-447D-8DA1-51914B306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195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Выполняет трансформации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F4111D-301F-4F40-A5DE-11B59815F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72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E1FEE3-3492-434F-848C-AD8E99040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863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Повторяет потерянные tasks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9AB1F7-AA7D-4D0A-B729-90433E292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71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605591-6374-48A9-AAFB-249973144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860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Не владеет бизнес-данными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504F56-CDF6-4AAB-8567-54C067CB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38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191455-2F4F-4B81-BD9C-ECC2D29F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528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Не заменяет каталог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B5D164-569E-4F30-AE1D-4E415FB9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05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4F0427-D4E8-4701-AC3F-7BDD7B65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195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Не гарантирует OLTP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208D8E-9030-4D43-B094-97D58893B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72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E72C40-CD89-4CBE-AACC-8D2AE8A2C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863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Не выбирает SLA за вас</a:t>
            </a:r>
          </a:p>
        </p:txBody>
      </p:sp>
    </p:spTree>
    <p:extLst>
      <p:ext uri="{BB962C8B-B14F-4D97-AF65-F5344CB8AC3E}">
        <p14:creationId xmlns:p14="http://schemas.microsoft.com/office/powerpoint/2010/main" val="25822295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4E6913-6C60-4DEC-9618-F60CCD40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АРХИТЕКТУРНЫЙ ВЫБОР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4AE54A-4328-4945-9801-1A43538D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07A5B6-2EDF-4684-BCC5-CD033D71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36D89-1785-4EC6-BD5B-FC34E77C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71D61E-F70C-42CF-979D-3A87E95E5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Иногда лучший Spark job — тот, который вы не запускаете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598BA3-9E77-48FE-B53E-5DF7ABFA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95500"/>
            <a:ext cx="895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02123"/>
                </a:solidFill>
              </a:defRPr>
            </a:pPr>
            <a:r>
              <a:rPr sz="2250" b="1">
                <a:solidFill>
                  <a:srgbClr val="202123"/>
                </a:solidFill>
              </a:rPr>
              <a:t>Данные и SLA действительно требуют распределённого вычисления?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6F7020-D2BC-4A12-8B98-ECE6709B6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0"/>
            <a:ext cx="4762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FEEE8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7F2DDD-64EA-44D1-8076-A684FEAAA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5242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НЕТ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CBD665-37F3-4424-8153-7A34015D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005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02123"/>
                </a:solidFill>
              </a:defRPr>
            </a:pPr>
            <a:r>
              <a:rPr sz="2100" b="1">
                <a:solidFill>
                  <a:srgbClr val="202123"/>
                </a:solidFill>
              </a:rPr>
              <a:t>SQL в DWH / DuckDB / Python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676FE1-39D4-47BF-8786-53BA121F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672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Меньше инфраструктуры и быстрее обратная связь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DC4FCA-1B97-4A55-AB0E-1FC62ACB4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4762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E7BBD1-131F-4B0A-AEA8-E5AF4E72A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242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ДА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2D7C54-176F-49CB-B1AA-CF040A3C2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005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Spark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7F2049-D567-41FE-9619-76A526E8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672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D6D9DC"/>
                </a:solidFill>
              </a:defRPr>
            </a:pPr>
            <a:r>
              <a:rPr sz="1425" b="0">
                <a:solidFill>
                  <a:srgbClr val="D6D9DC"/>
                </a:solidFill>
              </a:rPr>
              <a:t>Когда нужны параллелизм, fault tolerance и единый batch API</a:t>
            </a:r>
          </a:p>
        </p:txBody>
      </p:sp>
    </p:spTree>
    <p:extLst>
      <p:ext uri="{BB962C8B-B14F-4D97-AF65-F5344CB8AC3E}">
        <p14:creationId xmlns:p14="http://schemas.microsoft.com/office/powerpoint/2010/main" val="98262796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A73C0F-F691-4680-9FF4-BDA9F0455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RUNTIME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8DBAD2-139A-463E-999E-F7BC008D2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1D81FE-1FC9-4BAF-BC1E-F4F6AD8C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C842E6-8EB8-40DA-A7EE-2C21085FF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9584A3-EFC5-4FB0-A77A-BF643C05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Один Spark application — один driver и набор executors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484241-7F67-4436-8946-BA5D2E36E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48025"/>
            <a:ext cx="704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1CC769-CF35-4B1E-BECA-3A8532A8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8FC299-8416-440E-A6F4-F21E9E1F3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C1FC0A-EA60-4B15-9BF3-0584F70DC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05C868-B7C9-41FE-A600-DAD8B171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46A417-D24A-40FF-A7FA-BC44C3A3A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Driver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F4CB1E-7E74-4565-8806-9E70B257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SparkSession</a:t>
            </a:r>
          </a:p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DAG + scheduling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0A2032-7F29-4FD0-9EE1-FD1A9BB8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756212-0B3D-46B2-AF37-5D2EBD31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Executor 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CA4ABB-7BD9-41EF-95A5-506F21E7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0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CEBA67-8F37-471F-B3EC-28C2306D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0942A1-BCEF-4DA1-8746-11291BB64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Executor 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A1A2C2-B8DD-46A7-8040-CBDD03D7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1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DDB974-6721-4A63-A162-AAF1E926D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F0B086-7E37-4568-A5EE-65860478B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Executor 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5ED753-73B0-4514-86E3-330ADB73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2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52DAA4-B45D-4263-A7FC-4CE6B346F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62500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Driver координирует. Executors считают. Данные движутся между ними только при необходимости.</a:t>
            </a:r>
          </a:p>
        </p:txBody>
      </p:sp>
    </p:spTree>
    <p:extLst>
      <p:ext uri="{BB962C8B-B14F-4D97-AF65-F5344CB8AC3E}">
        <p14:creationId xmlns:p14="http://schemas.microsoft.com/office/powerpoint/2010/main" val="122378725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F4EE76-06E9-41F0-8D59-B31AA4B77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RUNTIME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A52DA7-6A6C-4BA2-B355-9F47779D0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F1F966-0794-465B-ADFB-B55EF417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3EC327-61A2-40A4-8DC8-86042C27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9AFED7-43FE-4CD8-A6CF-29EA72E2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Cluster manager выдаёт ресурсы — Spark управляет вычислением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BE8B4D-AEA2-4910-8DF6-C3296BB22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CLUSTER MANAGER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4A4A7D-12C1-4BB9-B225-D528AE940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Кому дать CPU и memory?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CBFC6F-C6C6-46A4-9FE4-2B316C86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45BF87-C059-4EB2-BB0B-DD5E98F6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Standalone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A21A8A-DACD-45BD-BFC1-48CC3180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75A838-D05B-495C-8DD1-0E2EC8EB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Kubernetes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B507E5-1174-47E7-8487-332A4E25B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D865E5-188C-412B-B9AD-2D7EE5059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YARN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255F7F-DE5F-45AF-8FCD-A65A53C69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SPARK APPLICATION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9CD84B-B533-49FF-B288-CAA16D67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Какие tasks выполнить?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ACD9E5-09CD-4658-9D1C-644999D1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EAF3FB-A67C-484A-89D9-7BC9EB29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Driver строит план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E86856-B5AE-4AA0-B676-BC059B454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E91571-540F-4B8E-80B3-02CE344A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Executors выполняют tasks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A7AB8D-B8FA-4421-9F07-5F4E466A8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6ABC1B-A516-4FE0-81F7-E6D504ED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Spark отслеживает прогресс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5FA6A4-1DD9-44FF-B957-E8D94F425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829321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53D45D-2F43-446E-B7F9-56EC4EFF4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API +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DC8992-FC33-4CB9-9B14-AF5BCA595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A1A97D-16C4-4730-9DB6-00BD76E31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06DD69-EEAB-4CBF-A824-A52DD2A39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0FBA0A-9E56-42A6-BDCC-055F5EA7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В PySpark работаем через DataFrame — но понимаем все уровни API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EC07F5-B5CF-4EDC-9461-153646CF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SparkSession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4EFA18-2BCC-4B31-ADEB-1A37B185C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09550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spark.read / spark.sql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A37A3A-0447-46DE-96FA-55795E14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Главная точка входа PySpark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BED9E5-3E47-45C3-8E63-7C71D0A1F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59E590-250E-4C76-B6A3-E3104A0E7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SparkContext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67F299-662E-41F1-80CD-E5F15E50A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99085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spark.sparkContext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4B69C4-9AAF-4A77-BE48-BD7083AC5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908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Связь application с cluster runtime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D2CE42-4415-40CD-B987-B5F35C97C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5F8A33-5B28-4E8B-8CBB-4B8AAAB2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DataFrame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FB91D8-F948-42C2-8CA9-17065DAB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88620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строки + schema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3ADFB0-0B02-4074-89C7-DCEEF165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862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Основной оптимизируемый API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767704-A441-49AF-BC84-86C7B968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0FF708-B715-4282-805E-4F37886E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RDD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89DDCB-1767-45BE-9567-721679D3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78155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partitioned objects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E043E9-95D9-4014-A49B-E7AF32292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815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Низкий уровень без Catalyst/schema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C20E1A-0C93-4905-BFA1-66DC0023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5A530D-72DB-4DFB-9C21-1289CCAEC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Dataset[T]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A77C99-8AE1-4ED1-9CF1-FFC37F6D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67690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JVM typed API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C5F7AB-F2C4-4E18-98D1-A471D6B03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6769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Scala/Java; отдельного API в Python нет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604A96-404F-4C22-9795-98940534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2798522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26BE29-DB96-4B4A-880F-73BBDA639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SCHEDULER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4D3B5C-6B43-471A-8F72-B0A69F33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1FB8A6-4FA3-4F95-8485-F7E6374DE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20EE96-9C70-43CB-9A11-582F49B1B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56D8FE-1777-4FD8-9D55-343BABA85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Driver назначает tasks — cluster manager лишь выделяет executors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BF96D1-106E-4D5F-A7C9-9E7DEED49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48025"/>
            <a:ext cx="704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FEF17D-A4F6-4006-9137-44671C34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476646-8EB7-4FED-B0C1-1697469F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39D2D7-9558-49F0-AE13-DC190CF4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3E3C7E-4B7D-4AEC-BE6D-DB6D9FCC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D61095-1910-4BA7-BA86-09286728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Action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27FE11-10EA-4D08-AE5A-9D3F7F3D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Driver создаёт job</a:t>
            </a:r>
          </a:p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из DAG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E82F32-D33F-4459-B9FA-D2B288D7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D889A1-5EC2-465B-9BC0-ADFBFE3A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DAGScheduler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0ACCC4-78C4-44DC-8882-CC74FC64A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режет DAG на stages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по shuffle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029536-86AB-4D89-A564-514909B5E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AF001D-8AF9-4832-B59C-AC65EFBA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TaskScheduler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E04A4A-65ED-47BC-AEC3-D7295DCA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создаёт TaskSet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и выбирает slots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7674FE-72DE-4B9B-BDA1-892AE2ECC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C61279-8BC7-4A2F-8896-38105BB9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Executors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9F0C2C-CCEC-4920-89F2-98A6633A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одна task читает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одну partition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884829-5571-4333-86CE-9FA12520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62500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Назначение учитывает свободные executor slots и locality; status/retry возвращаются driver. FIFO/FAIR выбирает очередь между jobs.</a:t>
            </a:r>
          </a:p>
        </p:txBody>
      </p:sp>
    </p:spTree>
    <p:extLst>
      <p:ext uri="{BB962C8B-B14F-4D97-AF65-F5344CB8AC3E}">
        <p14:creationId xmlns:p14="http://schemas.microsoft.com/office/powerpoint/2010/main" val="211579369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43CBFCB-D020-44C6-86D0-8ECE3A37F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ПАРАЛЛЕЛИЗМ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C2E9AC-6D42-4B44-BB4D-C1B2F2B99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BAD52D-7D17-40A2-BB29-9317E9F4F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368262-032C-46B6-96E3-9D66761AC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377FA2-0609-4BEE-844E-8FFAF32C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Partition — минимальная порция данных для одной task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9125E0-A2F3-4322-BBF5-9DF522A7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CDB782-165F-40C4-A105-52EF7C123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97C458-3FDE-4851-B847-3091EA93D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0F9491-3870-420F-A660-F77ADA2A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116DFE-1CD8-4655-BC07-FA29A549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AF93BE-2223-4CFE-A1D0-015FD553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CE3649-16CF-4C7D-8B0E-689BD3392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631A8F-3F75-4280-ACE8-8E8838D8B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582B91-BD6E-41EA-9EC1-E5B295233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3AC1DA-912A-44B0-B910-8D802E38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7E1EA5-2090-4D0E-9BEE-E8410C60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D1E28C-E1FD-41DA-A7A5-F483DDCE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CED926-A609-470F-B78F-E16336820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1E87B2-2086-48F2-B74C-F8D942865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706469-E186-4878-A25A-366BA7195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4A57C6-4F9D-4D21-9E0B-39408CE5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9AF73B-E501-4A68-8406-19886E7A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E6E68"/>
                </a:solidFill>
              </a:defRPr>
            </a:pPr>
            <a:r>
              <a:rPr sz="2250" b="0">
                <a:solidFill>
                  <a:srgbClr val="6E6E68"/>
                </a:solidFill>
              </a:rPr>
              <a:t>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B734B1-4AF8-49DE-A780-5FDE62BE4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62375"/>
            <a:ext cx="2247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0BDB20-AC7E-4611-A09E-B07A1807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29075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Executor 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DD37B0-C600-4565-8E8E-42C1D61B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4325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E6E68"/>
                </a:solidFill>
              </a:defRPr>
            </a:pPr>
            <a:r>
              <a:rPr sz="2250" b="0">
                <a:solidFill>
                  <a:srgbClr val="6E6E68"/>
                </a:solidFill>
              </a:rPr>
              <a:t>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9EC245-B02D-4B07-8376-2D4E5D0C1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62375"/>
            <a:ext cx="2247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4BE66D-6B21-49E6-B5F7-9332A400F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29075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Executor 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2C10FB-84A3-4574-99A5-5AF907FE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4325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E6E68"/>
                </a:solidFill>
              </a:defRPr>
            </a:pPr>
            <a:r>
              <a:rPr sz="2250" b="0">
                <a:solidFill>
                  <a:srgbClr val="6E6E68"/>
                </a:solidFill>
              </a:rPr>
              <a:t>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E1B4B2-1F51-4062-B028-506113F0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62375"/>
            <a:ext cx="2247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F842DC-4BD5-4B6E-B934-D1F2706CB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029075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Executor C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876B3BB-F3C0-4669-B909-99ECBF363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4325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E6E68"/>
                </a:solidFill>
              </a:defRPr>
            </a:pPr>
            <a:r>
              <a:rPr sz="2250" b="0">
                <a:solidFill>
                  <a:srgbClr val="6E6E68"/>
                </a:solidFill>
              </a:rPr>
              <a:t>↓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48670C-7E41-42B7-A2E7-A6231041D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762375"/>
            <a:ext cx="2247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AD492B-AD4D-464B-88B3-4265FE25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029075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Executor 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8EAE021-2DCB-4494-B6D2-49884C4E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91125"/>
            <a:ext cx="10325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Слишком мало partitions → недогруз. Слишком много → overhead и мелкие файлы.</a:t>
            </a:r>
          </a:p>
        </p:txBody>
      </p:sp>
    </p:spTree>
    <p:extLst>
      <p:ext uri="{BB962C8B-B14F-4D97-AF65-F5344CB8AC3E}">
        <p14:creationId xmlns:p14="http://schemas.microsoft.com/office/powerpoint/2010/main" val="5977731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7E3AB9-EF06-4BA5-A8ED-8813485DB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DATAFRAME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476737-1F85-4C0F-8A81-F0F616AD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218FD6-6DA7-4EFB-98C5-565A64AAA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7D42EB-0404-4F9A-8B04-76584295A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D5BFF1-0F80-49CB-B487-397DF0861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DataFrame — декларативный контракт, а не цикл по строкам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00894C-5BF3-4582-8B15-3A6696BFA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F2428"/>
                </a:solidFill>
              </a:defRPr>
            </a:pPr>
            <a:r>
              <a:rPr sz="2775" b="1">
                <a:solidFill>
                  <a:srgbClr val="1F2428"/>
                </a:solidFill>
              </a:rPr>
              <a:t>“Вы описываете результат. Catalyst выбирает физический способ его получить.”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BDD7C4-9FFC-4728-8248-748A97238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1428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B5E43F-DF97-42D4-AC35-9E665BB15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25A1C"/>
                </a:solidFill>
              </a:defRPr>
            </a:pPr>
            <a:r>
              <a:rPr sz="1275" b="1">
                <a:solidFill>
                  <a:srgbClr val="E25A1C"/>
                </a:solidFill>
              </a:rPr>
              <a:t>SCHEMA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F820D1-01B9-4203-8629-B8B18D4BC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FA3FF0-544F-47C3-983E-1B68C75AF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LOGICAL PLAN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0E0BAB-0B26-4E14-9FCA-C4FBC28BB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OPTIMIZER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9257A4-5070-4DD2-A448-572A7CA7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PHYSICAL PLAN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BDE1A6-4978-4362-A0CE-EFF3B1B41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Чем больше логики видно Catalyst, тем больше свободы для оптимизации.</a:t>
            </a:r>
          </a:p>
        </p:txBody>
      </p:sp>
    </p:spTree>
    <p:extLst>
      <p:ext uri="{BB962C8B-B14F-4D97-AF65-F5344CB8AC3E}">
        <p14:creationId xmlns:p14="http://schemas.microsoft.com/office/powerpoint/2010/main" val="146420744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6B290D-2C3A-4815-BA3C-2B596EB4E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LAZY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9DA478-70EB-4C8F-BD05-2FED3E07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8AFCCA-8C9A-4B1A-B299-23488AFEA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9AC3C9-1ACF-48D9-A116-A9663745D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00E836-7691-409D-9ACC-6382B8666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Transformations строят план — action запускает работу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019CA4-5B7E-4AAD-8D84-FCA8FC3E2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207019-05FE-4F86-94F9-6DB8F58C7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A768CC-95E6-4F65-82D6-C9D0069A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read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EB555A-D40A-4DA0-8931-E12CA9F16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ленивый источник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7B193C-EAF3-4739-A11C-DE332F965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257B91-05BC-4306-AC6C-C41DFB95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C47A86-463F-4586-9634-B559C75A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filter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32BA4B-9AC6-4F57-9705-9CE4226C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transformation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DF8C66-F6AC-441E-A323-5C394D00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D9D284-F9E7-4009-980F-567F1D6BC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751576-1934-4104-969F-92063D5B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groupBy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580C8E-5CA2-4D3D-871C-1C592045F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transformation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3B61FF-5D1B-4F55-B1C1-24AA7F9E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033442-98A2-42A5-9908-0CF561C6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E25A1C"/>
                </a:solidFill>
              </a:defRPr>
            </a:pPr>
            <a:r>
              <a:rPr sz="1875" b="1">
                <a:solidFill>
                  <a:srgbClr val="E25A1C"/>
                </a:solidFill>
              </a:rPr>
              <a:t>write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59E384-94B1-4402-8BFD-B1F7923E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action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64AB32-92A3-474D-85DB-BA48D8F3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До action Spark может переписать и сократить план.</a:t>
            </a:r>
          </a:p>
        </p:txBody>
      </p:sp>
    </p:spTree>
    <p:extLst>
      <p:ext uri="{BB962C8B-B14F-4D97-AF65-F5344CB8AC3E}">
        <p14:creationId xmlns:p14="http://schemas.microsoft.com/office/powerpoint/2010/main" val="97163081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E45E2EF-6A3F-4FA6-B1DA-7228FB175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LAZY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D83B4D-1A16-4D47-B043-3F75B3F7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DDFC79-6470-4B3B-B8E4-7EBF5D88A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4609EB-C4F3-4190-9AED-97BE97DD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BADE55-7DA4-4F66-9E2D-C348C460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Lazy evaluation даёт optimizer увидеть весь pipeline до запуска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CBDDE3-247F-4DF9-AFE6-18452B4B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КОД НАПИСАН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15A49E-5046-4768-8FE4-CF82273AA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895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A9F8AD-22FD-49AD-AD3D-4C8E4748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657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98C57C-FEE5-431F-ABAD-82F4E7A3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419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EEB54A-0A76-44F7-9EE8-BF28FE39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834B88-8C77-44F0-A4CE-4DE0F2B8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95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read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AAE3F1-D077-4941-BD7E-883F38C1A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495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источник объявлен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5A7832-0560-4AF4-85D2-CF044E799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299976-AE8C-4ADB-9286-6E2491F5E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57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select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109817-F70E-443F-9B07-7ABBE11A1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257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лишние columns видны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5DE542-FBB3-41EC-A1ED-D0B78886F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F54573-D0ED-4C2A-8A24-B9E02AFDE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19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filter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7D6674-220E-4796-882D-1271D31AA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019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условие записано позже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A82463-6110-4752-B036-58B697CD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FD1F8C-7C21-4489-BF54-33399098A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81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25A1C"/>
                </a:solidFill>
              </a:defRPr>
            </a:pPr>
            <a:r>
              <a:rPr sz="1500" b="1">
                <a:solidFill>
                  <a:srgbClr val="E25A1C"/>
                </a:solidFill>
              </a:rPr>
              <a:t>groupBy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2DEA52-3249-4A1E-8901-5D4D445E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781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результат не вычислен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E086E1-0E05-4DE4-B7CA-B51C618C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812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ПЛАН К ACTION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1E01C1-66D8-4B4B-A2D8-F85C39F67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95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51A16B-6175-42B8-8970-EB9DD43E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57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D87542-1BC7-4F1A-AA0F-BC968188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419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7DE510-95BA-4E6B-B97F-C0A6C089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43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82AA36-B52C-4DC3-97CE-5931FB20A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95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Prune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5A8C49-FCD3-4699-9A05-6192E87C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95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читать нужные columns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FBF40A-20B5-4D3A-A15D-38706073F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05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A3CB7E-CC1C-4D20-A256-150E64C7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57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Pushdown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8BF7F4-11E5-4D42-8FA6-05AAE82B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57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filter ближе к source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2AFF65-3884-4C7E-9344-17EFE788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639B729-5312-4E28-AF88-7FF640E2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19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Choose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64DC82-3566-4885-8F02-88BFDA109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019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join/aggregate strategy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04CB5A1-1CEF-4F5A-A1A1-FF9680B4B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29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7389A5-AB45-4168-93F6-6F5D6780A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781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25A1C"/>
                </a:solidFill>
              </a:defRPr>
            </a:pPr>
            <a:r>
              <a:rPr sz="1500" b="1">
                <a:solidFill>
                  <a:srgbClr val="E25A1C"/>
                </a:solidFill>
              </a:rPr>
              <a:t>Execute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0399793-F978-4572-A6BA-4A9596386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781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action создаёт новый job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E6B272-16EC-480A-A56A-8B6155C8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952625"/>
            <a:ext cx="190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0C32F21-133A-40AA-8486-845BE3433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19750"/>
            <a:ext cx="10363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E25A1C"/>
                </a:solidFill>
              </a:defRPr>
            </a:pPr>
            <a:r>
              <a:rPr sz="1500" b="1">
                <a:solidFill>
                  <a:srgbClr val="E25A1C"/>
                </a:solidFill>
              </a:rPr>
              <a:t>Lazy ≠ cached: каждый action запускает job и по умолчанию заново проходит lineage.</a:t>
            </a:r>
          </a:p>
        </p:txBody>
      </p:sp>
    </p:spTree>
    <p:extLst>
      <p:ext uri="{BB962C8B-B14F-4D97-AF65-F5344CB8AC3E}">
        <p14:creationId xmlns:p14="http://schemas.microsoft.com/office/powerpoint/2010/main" val="172769691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733AAAD-A46A-450F-8F20-6EBBA289B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CACHE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87EF9-7566-4EFA-A8F6-F66514CF9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CF80F2-ED72-4C59-8803-C97A5CF0A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45EFC1-74C0-4655-8F82-66BB8747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D72240-3291-4A64-9D77-825F924C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Два actions без persist повторяют lineage; cache меняет второй проход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AFBC2A-783B-4312-84B9-D87C96594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БЕЗ CACHE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33C34A-65D7-4AEA-AEAB-17A4495F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6289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5EFB49-1348-40FC-B569-CDE32E68F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1CF3B2-37A3-42F6-AEE1-0B8720FD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source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073231-8DE0-47D0-BA6B-2F5ECA1C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6289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81CDC6-0A0E-46E9-8209-7C25395E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13C0CB-0FD7-4204-BAD7-BCE9C6A0A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transform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D6F3F9-6BFB-4B2F-B492-D942778D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289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4939C4-CC5D-48CB-8274-10AA4E042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713ACA-17CD-4904-BF99-A980B702A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count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8C2AAB-69F1-470E-B929-9F27FC891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289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531BAA-CF3A-4ED7-A340-4496DC89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C58DCE-E709-43CF-9F4B-359DC73F1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transform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20BB2D-2A27-45B4-8A66-BD6A73EE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143F93-FFAE-4753-AA7D-3B7DCB8E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write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CAB26-AFD8-4B4F-A6B4-B774A4E0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count = job 1; write = job 2; общий upstream вычисляется снова.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D88660-8886-4BD0-9B9D-F23198B41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25A1C"/>
                </a:solidFill>
              </a:defRPr>
            </a:pPr>
            <a:r>
              <a:rPr sz="1275" b="1">
                <a:solidFill>
                  <a:srgbClr val="E25A1C"/>
                </a:solidFill>
              </a:rPr>
              <a:t>CACHE / PERSIST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5F96E7-F708-4476-9FEF-C336BEDE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624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EB5318-5E32-4B64-92C6-0ED2A11D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394ED4-6EA9-4463-87DB-4001C9812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source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5253CF-251A-40B5-A689-90319B9B0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624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4A70D4-1141-4E8D-B3F4-A1F11ADB8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3E41FE-39D4-455C-A8B9-2EF442FF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transform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8278A9-FBB0-43A5-809C-7383DB53E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624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4FB932-8D45-49E7-B1E8-A0B71E37C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BFBFB0-B701-4AD5-B0F4-AFD4A0C3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fill cache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076D19-FE9D-42B7-8ADD-732A9E8C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624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4754E6-4A2B-4805-BB71-1FAE5CF1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256886-AFA8-4E55-A4A9-F83CCEC59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RAM/disk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CF55F26-727C-4BD2-BED6-83357C18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C74DDC-4549-492E-BBDF-25736C8F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reuse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1F2070C-8D1F-4662-8D72-763D48CAA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911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cache() ленив; первый action заполняет blocks, следующий читает их.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4C83C4C-5B15-4292-A252-A69D83B9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10250"/>
            <a:ext cx="10363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E25A1C"/>
                </a:solidFill>
              </a:defRPr>
            </a:pPr>
            <a:r>
              <a:rPr sz="1500" b="1">
                <a:solidFill>
                  <a:srgbClr val="E25A1C"/>
                </a:solidFill>
              </a:rPr>
              <a:t>Persist только при reuse: выигрыш повторного compute должен окупить storage, eviction и serialization.</a:t>
            </a:r>
          </a:p>
        </p:txBody>
      </p:sp>
    </p:spTree>
    <p:extLst>
      <p:ext uri="{BB962C8B-B14F-4D97-AF65-F5344CB8AC3E}">
        <p14:creationId xmlns:p14="http://schemas.microsoft.com/office/powerpoint/2010/main" val="57035980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DF923E-77DD-45FB-80BA-B9F2DA0D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714942-7A53-4276-99B5-2B4CF4EC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1CF140-E718-4784-B9F2-AE1FD839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228C98-572F-45A4-A07A-AF948FB49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A77F11-715A-4726-8E3F-6A54D9544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Один action создаёт job, stages и tasks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96A768-944A-44A4-A271-F337457C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5C3F52-2E77-44E4-B3BE-3BE0EFB1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09550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write.parquet(…)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B3A100-10EF-42DD-ADBD-CAFF8512D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Точка запуска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A01948-7188-48CF-80ED-B2382C75D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7EF4E4-C5EE-413B-96D8-0D7770C98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Job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2E29A2-A1D2-4986-9D3C-1D7404991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99085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весь DAG для action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611F2A-2BC8-4EDD-BE18-43C284B0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908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Единица пользовательского результата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919BE6-88AC-4C50-A1FA-1855B9DD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A8826D-51EC-42C6-AE72-EE41E98A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Stage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5AECCE-C0A4-45E2-82DA-4A5EFFB6E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88620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цепочка без shuffle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74F260-7717-489F-99AB-C87AACFEC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862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Граница передачи данных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B9C3F4-DFD2-4D0E-B068-839CCC831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1A6543-819C-48FF-AB3E-28A762150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Task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BECAB3-B464-403C-B9F5-36EC9E36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78155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stage × partition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09278E-53C3-4C49-94D7-B0A2475CC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815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Единица исполнения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1DA3B-74F4-45EA-A8F4-2ED9996B4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8767646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9F4826-EBBB-41D0-902E-78F420D0D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C82CAD-DCAA-46EF-8A13-4EF10B896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0BA343-7B4A-41AE-BDAA-AF0B8C696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05E58D-3D0D-4BB6-B09F-FD54FA930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39BF42-B04B-4E82-B168-641235E80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Shuffle появляется, когда строки меняют владельца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434A8C-3557-45AF-8284-8C5BA2A0C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5F87E8-3F79-4DC9-BB30-AE520C7E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p0: A,A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7BBBAD-97ED-4C6C-8A2F-C4E44102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8528F1-6BCA-4E7C-83C6-EE0FC616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337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p1: B,C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195A17-0307-4171-9F54-259C32BE5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872AB2-A011-418E-A7FC-844025F11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p2: A,C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92C0DD-8A48-46E9-AEC2-26D1A1CE2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502D54-291F-4BF2-BB44-25FD8B8A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053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p3: B,B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56073A-8EE6-4BE9-8BA0-B91834ED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813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E25A1C"/>
                </a:solidFill>
              </a:defRPr>
            </a:pPr>
            <a:r>
              <a:rPr sz="2850" b="1">
                <a:solidFill>
                  <a:srgbClr val="E25A1C"/>
                </a:solidFill>
              </a:rPr>
              <a:t>SHUFFLE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BFB391-61CC-4CF7-A1F0-5AC36BC3F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619500"/>
            <a:ext cx="428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groupBy  ·  join  ·  distinct  ·  repartition  ·  orderBy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675342-C69C-4A66-B313-39627BD70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1526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68EACB-ED85-4898-BFB0-951F44A42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47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A: A,A,A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CD3849-476F-4261-99A2-0643CC2D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242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35ED40-D9D1-4F8F-B6D8-D07C0B306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195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B: B,B,B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D084D0-B633-453A-AC4B-CB998D63F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958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9210BC-2001-4D0D-93B8-58323F15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911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C: C,C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CB2D5E-98E3-4DAE-AFA9-94BEB68A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6735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42318"/>
                </a:solidFill>
              </a:defRPr>
            </a:pPr>
            <a:r>
              <a:rPr sz="1650" b="1">
                <a:solidFill>
                  <a:srgbClr val="B42318"/>
                </a:solidFill>
              </a:rPr>
              <a:t>Shuffle = сеть + сериализация + disk spill + новая stage.</a:t>
            </a:r>
          </a:p>
        </p:txBody>
      </p:sp>
    </p:spTree>
    <p:extLst>
      <p:ext uri="{BB962C8B-B14F-4D97-AF65-F5344CB8AC3E}">
        <p14:creationId xmlns:p14="http://schemas.microsoft.com/office/powerpoint/2010/main" val="9687704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6ED545-5723-4A72-894B-D6A453B7F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СКВОЗНОЙ КЕЙС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D10559-39F3-4C2F-A1C4-EDBBDC27E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021D5D-18C2-4274-AD7E-F6FE652C7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9CEAA4-B164-4B17-BB36-4A653B8E8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2071AC-5D83-46A1-83BA-7BDF0283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Контракт пайплайна: события → дневная выручка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47E9BB-0809-4FCD-BE8D-25566929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32385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E3AAE8-DA48-46F9-A630-42C126DAD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24125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950354-B3F3-4361-9363-E9D7905A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27051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events/*.json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event_id, customer_id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event_ts, amount, country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F66BA-4FB5-4334-A6F0-76A9D773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09800"/>
            <a:ext cx="32385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A4082C-5149-48E7-9359-84354C0F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24125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8D7E22-E132-4260-BDA3-F2498D09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43250"/>
            <a:ext cx="27051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daily_revenue/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event_date, country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orders, revenue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C957F2-71D4-436E-82B7-71D53716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09800"/>
            <a:ext cx="32385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FE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555B30-3259-4399-B1B9-08D69688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24125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CONSTRAINTS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FC17C5-85DD-4F11-BD31-AD591358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43250"/>
            <a:ext cx="27051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явная schema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валидные ключи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идемпотентная запись</a:t>
            </a:r>
          </a:p>
        </p:txBody>
      </p:sp>
    </p:spTree>
    <p:extLst>
      <p:ext uri="{BB962C8B-B14F-4D97-AF65-F5344CB8AC3E}">
        <p14:creationId xmlns:p14="http://schemas.microsoft.com/office/powerpoint/2010/main" val="90144738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049665-1EFC-4085-B6EC-BA653A83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PYSPARK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2C799C-F6E5-4F8D-908A-8CC6E4652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604340-5D64-40DE-9E8E-41C7DC291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BBA15E-C38E-4F9C-983C-66EAA13F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5000E2-8FCE-4A2F-ADD1-02E8942F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Явная schema делает контракт проверяемым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BDA005-72D5-446F-B2E2-87F58E1B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191375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1215E0-18DE-4072-9AC6-BCEC212D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666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EVENT_SCHEMA = StructType([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StructField("event_id", StringType(), False),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StructField("customer_id", StringType(), False),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StructField("event_ts", TimestampType(), False),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StructField("amount", DecimalType(18, 2), False),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StructField("country", StringType(), True),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])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events = spark.read.schema(EVENT_SCHEMA).json(input_path)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CB43DE-BA6C-411B-9B5B-B7D5DDC9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526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WHY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D7FB89-0547-4BC2-972F-8CDF4DF99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47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35B81C-11AD-4B19-A0DE-27543C78F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622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Нет полного scan для inferSchema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BBA5F0-05D0-46E7-A6D0-CB713E039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67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6CDB2B-85D0-4A18-A04F-2858F3C0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8140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Nullability — часть контракта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8CE4DA-C33A-41AD-85FA-D33FD742C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86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7761C9-97E5-4999-A36D-713BA8FC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005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Типы стабильны между запусками</a:t>
            </a:r>
          </a:p>
        </p:txBody>
      </p:sp>
    </p:spTree>
    <p:extLst>
      <p:ext uri="{BB962C8B-B14F-4D97-AF65-F5344CB8AC3E}">
        <p14:creationId xmlns:p14="http://schemas.microsoft.com/office/powerpoint/2010/main" val="87528781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9D67FC-ABEA-4935-B7EB-D44244A2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PYSPARK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D87249-C33A-4089-BEF8-491FBBC3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5AD3D5-E0D4-4CDB-B400-FCE257A87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929AE7-9772-435D-8BEB-CFC4C4D56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06CE2A-E393-482D-ADAD-CCE49CD1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Built-in expressions сохраняют оптимизации Catalyst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39E334-84A0-418F-8EFE-58732355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191375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517CC2-ADA3-4CE6-A6EE-A955C6196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666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clean = (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events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.filter(F.col("event_id").isNotNull())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.filter(F.col("amount") &gt; 0)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.withColumn("event_date", F.to_date("event_ts"))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.withColumn("country", F.coalesce("country", F.lit("UNKNOWN")))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.dropDuplicates(["event_id"])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B97BEF-FA52-4748-9A9D-3246F49BD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526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WHY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DA755F-D74A-4AEC-A3D3-ACC87FB8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47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A77EB8-C5D2-4CA8-8F4C-8FB908B80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622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Операции видны optimizer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BB676C-669C-4EF3-B008-D235297CF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67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DEDAE0-2A1F-479B-B747-A57F03B5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8140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Нет построчного Python callback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030777-0B46-40F0-88DB-A759E0AED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86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543B6C-95BD-4078-B905-69E20C2D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005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Логика читается как data contract</a:t>
            </a:r>
          </a:p>
        </p:txBody>
      </p:sp>
    </p:spTree>
    <p:extLst>
      <p:ext uri="{BB962C8B-B14F-4D97-AF65-F5344CB8AC3E}">
        <p14:creationId xmlns:p14="http://schemas.microsoft.com/office/powerpoint/2010/main" val="35271888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E2F9D8-79C0-408E-BDE3-163A5A7AD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PYSPARK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EBAE4A-3F38-48E2-96A8-30ECF5DD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74B5C6-C273-4637-B91E-D958F6095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0007CF-0677-459E-BDA0-8E1F3567D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A44183-610A-400A-B277-F7862E6BC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Join и aggregation — место, где рождается стоимость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E3FD17-851D-4324-95D3-211D618BD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191375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23BC29-5A1D-44D4-867F-42694C1B4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666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result = (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clean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.join(F.broadcast(countries), "country", "left")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.groupBy("event_date", "country_name")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.agg(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  F.count("*").alias("orders"),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  F.sum("amount").alias("revenue"),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DD066B-4FEE-4EBC-BA5E-ADB69EEEB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526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WHY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950F79-1537-4376-9D10-B6202AC1A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47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3FD798-4171-4F2F-BD0F-1AF622822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622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Размер стороны join важнее синтаксиса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99A5D5-F9F8-4B2D-B3A3-238BCB4A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67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0FC646-E540-4CB4-BDB8-9E498A964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8140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groupBy почти всегда означает shuffle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F482D1-0488-4E5D-9A19-8BFC002A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86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A67795-3796-44D4-9962-8A684F56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005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Broadcast устраняет shuffle большой стороны</a:t>
            </a:r>
          </a:p>
        </p:txBody>
      </p:sp>
    </p:spTree>
    <p:extLst>
      <p:ext uri="{BB962C8B-B14F-4D97-AF65-F5344CB8AC3E}">
        <p14:creationId xmlns:p14="http://schemas.microsoft.com/office/powerpoint/2010/main" val="71405826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230183-08AC-4D7F-8107-E2A6DA68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ПЛАН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6E143C-F135-4BB8-98A3-EA83F4292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9174F2-6310-4C8F-841A-97A8DDA70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23BFF9-1BA5-4BB0-BC53-01165428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D2D414-8F39-483F-B776-13593D700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Сначала читаем план — потом тратим кластер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FDD995-5518-47F4-A03A-4DC1421D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76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25A1C"/>
                </a:solidFill>
              </a:defRPr>
            </a:pPr>
            <a:r>
              <a:rPr sz="3150" b="1">
                <a:solidFill>
                  <a:srgbClr val="E25A1C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89C53-98B1-4CD6-AECD-C23E49FD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02123"/>
                </a:solidFill>
              </a:defRPr>
            </a:pPr>
            <a:r>
              <a:rPr sz="1575" b="1">
                <a:solidFill>
                  <a:srgbClr val="202123"/>
                </a:solidFill>
              </a:rPr>
              <a:t>explain('formatted')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8439DC-FF24-49FB-8390-9318CE8A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694729-6D7A-4365-BDB8-C83FD9078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Получить physical plan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FA9302-F0BE-4E30-920A-A903B06C2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133600"/>
            <a:ext cx="76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25A1C"/>
                </a:solidFill>
              </a:defRPr>
            </a:pPr>
            <a:r>
              <a:rPr sz="3150" b="1">
                <a:solidFill>
                  <a:srgbClr val="E25A1C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315E4B-3C2D-4FCB-80AE-D8754636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02123"/>
                </a:solidFill>
              </a:defRPr>
            </a:pPr>
            <a:r>
              <a:rPr sz="1575" b="1">
                <a:solidFill>
                  <a:srgbClr val="202123"/>
                </a:solidFill>
              </a:rPr>
              <a:t>Найти Exchange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B0A0A8-1712-4A72-A233-2B835FD1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1A6F07-40EC-4452-846F-230450B80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Увидеть shuffle boundaries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0031F5-116F-4B0F-80E6-CA6C5AAA2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33600"/>
            <a:ext cx="76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25A1C"/>
                </a:solidFill>
              </a:defRPr>
            </a:pPr>
            <a:r>
              <a:rPr sz="3150" b="1">
                <a:solidFill>
                  <a:srgbClr val="E25A1C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F98A6F-4C35-4400-9470-5257672ED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02123"/>
                </a:solidFill>
              </a:defRPr>
            </a:pPr>
            <a:r>
              <a:rPr sz="1575" b="1">
                <a:solidFill>
                  <a:srgbClr val="202123"/>
                </a:solidFill>
              </a:rPr>
              <a:t>Проверить Join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B2A46E-384B-483B-B13A-76702050C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DCE86C-6C90-44BE-98D1-CAF93880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BroadcastHash или SortMerge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86B6F5-140E-4B67-82E0-A76DC9712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33600"/>
            <a:ext cx="76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25A1C"/>
                </a:solidFill>
              </a:defRPr>
            </a:pPr>
            <a:r>
              <a:rPr sz="3150" b="1">
                <a:solidFill>
                  <a:srgbClr val="E25A1C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0B0A0D-A646-4FC5-A580-D4B1A58A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02123"/>
                </a:solidFill>
              </a:defRPr>
            </a:pPr>
            <a:r>
              <a:rPr sz="1575" b="1">
                <a:solidFill>
                  <a:srgbClr val="202123"/>
                </a:solidFill>
              </a:rPr>
              <a:t>Сверить partitions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36465E-A0A7-47C4-B453-F35FB0D1C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07A00B-DD45-466B-BD9B-A47D70E4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Оценить parallelism</a:t>
            </a:r>
          </a:p>
        </p:txBody>
      </p:sp>
    </p:spTree>
    <p:extLst>
      <p:ext uri="{BB962C8B-B14F-4D97-AF65-F5344CB8AC3E}">
        <p14:creationId xmlns:p14="http://schemas.microsoft.com/office/powerpoint/2010/main" val="73647927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ACB44E-303C-4BBB-8128-BFBB8F916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ПЛАН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F8AA50-08D5-46C2-BE9A-EA74D722F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BD1504-5D00-4027-98F5-69DEE9990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A7E92C-E2BC-46E7-BD28-C545BB0B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ADF67A-81EE-4C2D-8ED1-AFD51E880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Exchange в physical plan — сигнал перераспределения данных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421EDF-B76C-41EA-B50E-3DCD8661B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239000" cy="3571875"/>
          </a:xfrm>
          <a:prstGeom xmlns:a="http://schemas.openxmlformats.org/drawingml/2006/main" prst="roundRect">
            <a:avLst>
              <a:gd name="adj" fmla="val 2133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156CC8-3A80-4DF1-A97C-6B7CA7BC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67437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== Physical Plan ==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AdaptiveSparkPlan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+- HashAggregate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+- Exchange hashpartitioning(event_date, country_name, 8)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+- HashAggregate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   +- BroadcastHashJoin [country], [country], LeftOuter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      :- Filter (amount &gt; 0)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      +- BroadcastExchange HashedRelationBroadcastMode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A49605-A619-4192-8323-FC4CA74C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669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Exchange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474B73-A4B6-443F-91A9-2A435F4C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099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BroadcastHashJoin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9FB91E-F5BC-4F8A-9C10-C39CF8B08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528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8 partitions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97A703-E9E2-4E77-8C39-F9AC8ECDC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4820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План подтверждает один shuffle для aggregation и broadcast маленького справочника.</a:t>
            </a:r>
          </a:p>
        </p:txBody>
      </p:sp>
    </p:spTree>
    <p:extLst>
      <p:ext uri="{BB962C8B-B14F-4D97-AF65-F5344CB8AC3E}">
        <p14:creationId xmlns:p14="http://schemas.microsoft.com/office/powerpoint/2010/main" val="2006542828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EC05AD-4118-4E7B-85A6-1FD61932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ЗАПИСЬ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B2C4C7-F95C-408B-9EC0-813A4EE3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6167B1-DFC9-40EB-B26E-7FCD604B2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63C859-5D3B-406A-92EA-3DB1129A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FC2E42-6A13-4DFE-9AA5-DD8AA0F6D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Action материализует план — формат сохраняет будущие возможности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A2EF9A-D7FC-4785-A303-1B6494228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10CFCF-B66D-4E09-88F1-00E9C304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72C5C1-B67A-482F-A3A9-C4DF91D2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plan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91DA36-CB09-4AD1-8662-F3FF63373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оптимизирован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934267-2979-4621-98A4-9DD231CC7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00086B-4D33-41EF-B976-C0191423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D48919-BA4B-4C81-9FDD-E8C331F76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tasks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107A89-18C7-4D13-B385-A64CEDF73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выполнены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8A92D0-97D3-4801-A298-1614FED86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36E3E9-5407-40D0-9983-BCE99000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A0A1C3-5858-418F-A9F5-F33CED8C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Parquet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4F36D8-0AF0-42BC-9868-FB3BB4F6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columnar + schema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728002-2036-4415-BFB4-F16C0D0F0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02353E-2309-43C6-A333-4EC5F1960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E25A1C"/>
                </a:solidFill>
              </a:defRPr>
            </a:pPr>
            <a:r>
              <a:rPr sz="1875" b="1">
                <a:solidFill>
                  <a:srgbClr val="E25A1C"/>
                </a:solidFill>
              </a:rPr>
              <a:t>catalog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030154-1923-449B-BAE8-494D7EB00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данные доступны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A23D1C-02FD-4EA1-A1CA-2C35BE271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Пишите partitioned output только по реально используемым фильтрам.</a:t>
            </a:r>
          </a:p>
        </p:txBody>
      </p:sp>
    </p:spTree>
    <p:extLst>
      <p:ext uri="{BB962C8B-B14F-4D97-AF65-F5344CB8AC3E}">
        <p14:creationId xmlns:p14="http://schemas.microsoft.com/office/powerpoint/2010/main" val="95168045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BD71CE-59BB-4E06-887D-738AAD0F8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НАБЛЮДАЕМОСТЬ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E4D833-1AFC-446C-812A-F98481F1E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CB15C6-10B3-46B8-8098-6038EFD8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A2542D-480D-4F85-A4D0-7AAB6E72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388A1C-2091-436C-ACCA-5A41E4DE3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Spark UI превращает “медленно” в проверяемую гипотезу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2EEBE7-C126-45D0-AEF9-95DAEB0D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2381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801675-076F-4F75-9FB0-D69A345B4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86050"/>
            <a:ext cx="1885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F6FED"/>
                </a:solidFill>
              </a:defRPr>
            </a:pPr>
            <a:r>
              <a:rPr sz="2025" b="1">
                <a:solidFill>
                  <a:srgbClr val="2F6FED"/>
                </a:solidFill>
              </a:rPr>
              <a:t>Jobs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C8C505-8FAB-444F-A68C-FC951DF5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29000"/>
            <a:ext cx="18859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Какая action и где упала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B956C3-C1E8-49CD-A413-753D1DCBC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05050"/>
            <a:ext cx="2381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34DDD9-AAF9-455E-87FF-363BD2177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86050"/>
            <a:ext cx="1885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F6FED"/>
                </a:solidFill>
              </a:defRPr>
            </a:pPr>
            <a:r>
              <a:rPr sz="2025" b="1">
                <a:solidFill>
                  <a:srgbClr val="2F6FED"/>
                </a:solidFill>
              </a:rPr>
              <a:t>Stages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CDF6C4-3A90-4139-8196-DF0D448E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29000"/>
            <a:ext cx="18859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Shuffle, skew, spill и stragglers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AC32F2-5213-422E-B3CA-B79ECE65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05050"/>
            <a:ext cx="2381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B044EC-128A-4532-A87A-0ACF776B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86050"/>
            <a:ext cx="1885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E25A1C"/>
                </a:solidFill>
              </a:defRPr>
            </a:pPr>
            <a:r>
              <a:rPr sz="2025" b="1">
                <a:solidFill>
                  <a:srgbClr val="E25A1C"/>
                </a:solidFill>
              </a:rPr>
              <a:t>SQL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7B52C7-9A30-4D96-8107-C4F8146E2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29000"/>
            <a:ext cx="18859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План и метрики операторов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E6B36B-1612-4418-B852-03809D994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05050"/>
            <a:ext cx="2381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4CC056-1FEA-4B50-9136-40E3401D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686050"/>
            <a:ext cx="1885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F6FED"/>
                </a:solidFill>
              </a:defRPr>
            </a:pPr>
            <a:r>
              <a:rPr sz="2025" b="1">
                <a:solidFill>
                  <a:srgbClr val="2F6FED"/>
                </a:solidFill>
              </a:rPr>
              <a:t>Executors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3827E1-F2DD-4318-B279-F248336B2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429000"/>
            <a:ext cx="18859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Memory, GC, input и failed tasks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73243D-D3DA-415D-A54D-03954C4A1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91125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Начните со Stage с максимальной длительностью — затем сравните tasks.</a:t>
            </a:r>
          </a:p>
        </p:txBody>
      </p:sp>
    </p:spTree>
    <p:extLst>
      <p:ext uri="{BB962C8B-B14F-4D97-AF65-F5344CB8AC3E}">
        <p14:creationId xmlns:p14="http://schemas.microsoft.com/office/powerpoint/2010/main" val="612953047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56A105-29D2-4F3B-B21E-4D69E6B18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ИНЖЕНЕРНЫЙ МЕТОД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5BC199-86A1-4F97-A34B-03F200CD7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05AA88-E101-42E8-99A4-33A7EAD57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67F8CD-78CC-4325-BDB1-F52AB6A5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933E1-38A4-47DB-9113-536EFE3CD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Хорошая диагностика связывает код, план и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EEA5F0-29F2-4D7D-B392-EE0805999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2362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E25A1C"/>
                </a:solidFill>
              </a:defRPr>
            </a:pPr>
            <a:r>
              <a:rPr sz="1950" b="1">
                <a:solidFill>
                  <a:srgbClr val="E25A1C"/>
                </a:solidFill>
              </a:rPr>
              <a:t>Код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A31422-AF51-4930-943D-BB02D987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123"/>
                </a:solidFill>
              </a:defRPr>
            </a:pPr>
            <a:r>
              <a:rPr sz="1800" b="1">
                <a:solidFill>
                  <a:srgbClr val="202123"/>
                </a:solidFill>
              </a:rPr>
              <a:t>groupBy + join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C02CED-699F-458A-86C4-32375D02B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A0B1E0-DEE2-4320-93CB-DB8ACBF71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Что мы попросили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B223C3-C36A-4697-950F-280A9B34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133600"/>
            <a:ext cx="2362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E25A1C"/>
                </a:solidFill>
              </a:defRPr>
            </a:pPr>
            <a:r>
              <a:rPr sz="1950" b="1">
                <a:solidFill>
                  <a:srgbClr val="E25A1C"/>
                </a:solidFill>
              </a:rPr>
              <a:t>План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900E7C-9149-4213-8A05-0E0870233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123"/>
                </a:solidFill>
              </a:defRPr>
            </a:pPr>
            <a:r>
              <a:rPr sz="1800" b="1">
                <a:solidFill>
                  <a:srgbClr val="202123"/>
                </a:solidFill>
              </a:rPr>
              <a:t>Exchange + join strategy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68D9D4-726C-4C0A-AB4F-3E09BE43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95718F-EEED-4083-BB79-E9E326CA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Что выбрал optimizer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340898-009F-4FD1-A097-23F6B9B5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33600"/>
            <a:ext cx="2362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E25A1C"/>
                </a:solidFill>
              </a:defRPr>
            </a:pPr>
            <a:r>
              <a:rPr sz="1950" b="1">
                <a:solidFill>
                  <a:srgbClr val="E25A1C"/>
                </a:solidFill>
              </a:rPr>
              <a:t>UI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8E6891-1063-4F0E-85A6-7DF61EFE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123"/>
                </a:solidFill>
              </a:defRPr>
            </a:pPr>
            <a:r>
              <a:rPr sz="1800" b="1">
                <a:solidFill>
                  <a:srgbClr val="202123"/>
                </a:solidFill>
              </a:rPr>
              <a:t>shuffle read + task time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E54471-DAAD-4217-BAA5-8B917C292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624589-D132-40C2-B15E-E3D0CF908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Что произошло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448E19-048A-4009-B84D-CD3E60A1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33600"/>
            <a:ext cx="2362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E25A1C"/>
                </a:solidFill>
              </a:defRPr>
            </a:pPr>
            <a:r>
              <a:rPr sz="1950" b="1">
                <a:solidFill>
                  <a:srgbClr val="E25A1C"/>
                </a:solidFill>
              </a:rPr>
              <a:t>Изменение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174F45-21D0-4F21-85B3-E9A71EE22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123"/>
                </a:solidFill>
              </a:defRPr>
            </a:pPr>
            <a:r>
              <a:rPr sz="1800" b="1">
                <a:solidFill>
                  <a:srgbClr val="202123"/>
                </a:solidFill>
              </a:rPr>
              <a:t>broadcast / repartition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423FDF-F2A3-47D3-A717-7C06CDBB2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54C844-9E99-4A5E-BFA4-599756DB0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Как проверим эффект</a:t>
            </a:r>
          </a:p>
        </p:txBody>
      </p:sp>
    </p:spTree>
    <p:extLst>
      <p:ext uri="{BB962C8B-B14F-4D97-AF65-F5344CB8AC3E}">
        <p14:creationId xmlns:p14="http://schemas.microsoft.com/office/powerpoint/2010/main" val="1633430778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E5C26A-05FD-4566-B587-058232C2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CORE · 60 МИН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0A51A8-05AB-4B12-A12A-3BA15647A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A32834-CC71-47C9-8DD6-5532BECC4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8BE916-9FE6-4A4B-930A-82BAEF78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93371D-37F7-4F53-8BF2-91D3BA351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Выходной билет: объясните Spark без магии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15E772-49A2-4DD4-BB61-C5A7CE8D6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25A1C"/>
                </a:solidFill>
              </a:defRPr>
            </a:pPr>
            <a:r>
              <a:rPr sz="2325" b="1">
                <a:solidFill>
                  <a:srgbClr val="E25A1C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EB50A8-0B85-4AEC-9001-6132585C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143125"/>
            <a:ext cx="4286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Почему transformations не запускают вычисление?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529D4F-76AF-4F87-B8B7-3525B27C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43125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25A1C"/>
                </a:solidFill>
              </a:defRPr>
            </a:pPr>
            <a:r>
              <a:rPr sz="2325" b="1">
                <a:solidFill>
                  <a:srgbClr val="E25A1C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D86CB7-68E0-4C06-A4B4-D9175EC5A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143125"/>
            <a:ext cx="4286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Что создаёт границу stage?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FCB9B7-86A6-4054-9B0A-71926C9F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25A1C"/>
                </a:solidFill>
              </a:defRPr>
            </a:pPr>
            <a:r>
              <a:rPr sz="2325" b="1">
                <a:solidFill>
                  <a:srgbClr val="E25A1C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1BA797-4675-4C28-A3C9-FC96B730E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714750"/>
            <a:ext cx="4286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Где увидеть фактическую join strategy?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88A31-4A7C-4009-8CEA-078A38219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147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25A1C"/>
                </a:solidFill>
              </a:defRPr>
            </a:pPr>
            <a:r>
              <a:rPr sz="2325" b="1">
                <a:solidFill>
                  <a:srgbClr val="E25A1C"/>
                </a:solidFill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62327E-C45B-4CFB-9783-101FB30FD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714750"/>
            <a:ext cx="4286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Когда Spark — лишняя сложность?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3479E1-0B42-42FE-BE5E-9C77D7EB4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381625"/>
            <a:ext cx="10001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C79149-2B37-4A4A-8FD3-83AFE5A9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534025"/>
            <a:ext cx="942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Практика: запустить pipeline, сохранить explain и найти evidence в Spark UI.</a:t>
            </a:r>
          </a:p>
        </p:txBody>
      </p:sp>
    </p:spTree>
    <p:extLst>
      <p:ext uri="{BB962C8B-B14F-4D97-AF65-F5344CB8AC3E}">
        <p14:creationId xmlns:p14="http://schemas.microsoft.com/office/powerpoint/2010/main" val="15473774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2026-08-30T20:55:52.7400000Z</dcterms:created>
  <dcterms:modified xsi:type="dcterms:W3CDTF">2026-08-30T20:55:52.7400000Z</dcterms:modified>
</coreProperties>
</file>