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f264705553437c" /><Relationship Type="http://schemas.openxmlformats.org/officeDocument/2006/relationships/extended-properties" Target="/docProps/app.xml" Id="Rcf9a70caa23a4f63" /><Relationship Type="http://schemas.openxmlformats.org/officeDocument/2006/relationships/officeDocument" Target="/ppt/presentation.xml" Id="R364fd625371d4f5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b29f56c8a94b2e"/>
  </p:sldMasterIdLst>
  <p:notesMasterIdLst>
    <p:notesMasterId xmlns:r="http://schemas.openxmlformats.org/officeDocument/2006/relationships" r:id="R525211b9755244d9"/>
  </p:notesMasterIdLst>
  <p:sldIdLst>
    <p:sldId xmlns:r="http://schemas.openxmlformats.org/officeDocument/2006/relationships" id="256" r:id="Reb6be5e083784e42"/>
    <p:sldId xmlns:r="http://schemas.openxmlformats.org/officeDocument/2006/relationships" id="257" r:id="Rc92e7bcc8cab4f80"/>
    <p:sldId xmlns:r="http://schemas.openxmlformats.org/officeDocument/2006/relationships" id="258" r:id="R096d461ce5344345"/>
    <p:sldId xmlns:r="http://schemas.openxmlformats.org/officeDocument/2006/relationships" id="259" r:id="R851497e5ce984eb7"/>
    <p:sldId xmlns:r="http://schemas.openxmlformats.org/officeDocument/2006/relationships" id="260" r:id="Rbeb77aa332ca42df"/>
    <p:sldId xmlns:r="http://schemas.openxmlformats.org/officeDocument/2006/relationships" id="261" r:id="R129c56f782a8477d"/>
    <p:sldId xmlns:r="http://schemas.openxmlformats.org/officeDocument/2006/relationships" id="262" r:id="Rc3c6ee180ff84949"/>
    <p:sldId xmlns:r="http://schemas.openxmlformats.org/officeDocument/2006/relationships" id="263" r:id="Rba214a81326f432a"/>
    <p:sldId xmlns:r="http://schemas.openxmlformats.org/officeDocument/2006/relationships" id="264" r:id="R0e8e2c018c234094"/>
    <p:sldId xmlns:r="http://schemas.openxmlformats.org/officeDocument/2006/relationships" id="265" r:id="Rc7fb53f303ce4c58"/>
    <p:sldId xmlns:r="http://schemas.openxmlformats.org/officeDocument/2006/relationships" id="266" r:id="R10de5db933294458"/>
    <p:sldId xmlns:r="http://schemas.openxmlformats.org/officeDocument/2006/relationships" id="267" r:id="R1e935cc8faa04b75"/>
    <p:sldId xmlns:r="http://schemas.openxmlformats.org/officeDocument/2006/relationships" id="268" r:id="Rcd3359121ebd4611"/>
    <p:sldId xmlns:r="http://schemas.openxmlformats.org/officeDocument/2006/relationships" id="269" r:id="Rb1d7aebe1ab2406f"/>
    <p:sldId xmlns:r="http://schemas.openxmlformats.org/officeDocument/2006/relationships" id="270" r:id="R83c2583edef0460e"/>
    <p:sldId xmlns:r="http://schemas.openxmlformats.org/officeDocument/2006/relationships" id="271" r:id="Reb0bc109d3554f7a"/>
    <p:sldId xmlns:r="http://schemas.openxmlformats.org/officeDocument/2006/relationships" id="272" r:id="R4811e6f6c3834b36"/>
    <p:sldId xmlns:r="http://schemas.openxmlformats.org/officeDocument/2006/relationships" id="273" r:id="Reb2474f035854023"/>
    <p:sldId xmlns:r="http://schemas.openxmlformats.org/officeDocument/2006/relationships" id="274" r:id="Rdb64f3a9681641fd"/>
    <p:sldId xmlns:r="http://schemas.openxmlformats.org/officeDocument/2006/relationships" id="275" r:id="R5f88059501404071"/>
    <p:sldId xmlns:r="http://schemas.openxmlformats.org/officeDocument/2006/relationships" id="276" r:id="R62ce6ce573ef4c63"/>
    <p:sldId xmlns:r="http://schemas.openxmlformats.org/officeDocument/2006/relationships" id="277" r:id="Rc5250bba9b294c38"/>
    <p:sldId xmlns:r="http://schemas.openxmlformats.org/officeDocument/2006/relationships" id="278" r:id="R7991154278c74fc4"/>
    <p:sldId xmlns:r="http://schemas.openxmlformats.org/officeDocument/2006/relationships" id="279" r:id="R27d5a2dbd1974907"/>
    <p:sldId xmlns:r="http://schemas.openxmlformats.org/officeDocument/2006/relationships" id="280" r:id="Rf7e4fce0403244c2"/>
    <p:sldId xmlns:r="http://schemas.openxmlformats.org/officeDocument/2006/relationships" id="281" r:id="Rdf408ef7f2684c0e"/>
    <p:sldId xmlns:r="http://schemas.openxmlformats.org/officeDocument/2006/relationships" id="282" r:id="R5e2d724fee54441d"/>
    <p:sldId xmlns:r="http://schemas.openxmlformats.org/officeDocument/2006/relationships" id="283" r:id="R6b1b8e1e0780463d"/>
    <p:sldId xmlns:r="http://schemas.openxmlformats.org/officeDocument/2006/relationships" id="284" r:id="Radd49e6b26824075"/>
    <p:sldId xmlns:r="http://schemas.openxmlformats.org/officeDocument/2006/relationships" id="285" r:id="Rf4d7d74749be4f80"/>
    <p:sldId xmlns:r="http://schemas.openxmlformats.org/officeDocument/2006/relationships" id="286" r:id="Rf2259f823bec4001"/>
    <p:sldId xmlns:r="http://schemas.openxmlformats.org/officeDocument/2006/relationships" id="287" r:id="Rc7b9400aea404d31"/>
    <p:sldId xmlns:r="http://schemas.openxmlformats.org/officeDocument/2006/relationships" id="288" r:id="R76e52adc77264478"/>
    <p:sldId xmlns:r="http://schemas.openxmlformats.org/officeDocument/2006/relationships" id="289" r:id="Rd222bd17a45d4255"/>
    <p:sldId xmlns:r="http://schemas.openxmlformats.org/officeDocument/2006/relationships" id="290" r:id="R642c55cec7e944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5645f5d76240e4" /><Relationship Type="http://schemas.openxmlformats.org/officeDocument/2006/relationships/slideMaster" Target="/ppt/slideMasters/slideMaster1.xml" Id="R51b29f56c8a94b2e" /><Relationship Type="http://schemas.openxmlformats.org/officeDocument/2006/relationships/notesMaster" Target="/ppt/notesMasters/notesMaster1.xml" Id="R525211b9755244d9" /><Relationship Type="http://schemas.openxmlformats.org/officeDocument/2006/relationships/presProps" Target="/ppt/presProps.xml" Id="R907294adf4374322" /><Relationship Type="http://schemas.openxmlformats.org/officeDocument/2006/relationships/tableStyles" Target="/ppt/tableStyles.xml" Id="R491bef3a1b8445fd" /><Relationship Type="http://schemas.openxmlformats.org/officeDocument/2006/relationships/slide" Target="/ppt/slides/slide1.xml" Id="Reb6be5e083784e42" /><Relationship Type="http://schemas.openxmlformats.org/officeDocument/2006/relationships/slide" Target="/ppt/slides/slide2.xml" Id="Rc92e7bcc8cab4f80" /><Relationship Type="http://schemas.openxmlformats.org/officeDocument/2006/relationships/slide" Target="/ppt/slides/slide3.xml" Id="R096d461ce5344345" /><Relationship Type="http://schemas.openxmlformats.org/officeDocument/2006/relationships/slide" Target="/ppt/slides/slide4.xml" Id="R851497e5ce984eb7" /><Relationship Type="http://schemas.openxmlformats.org/officeDocument/2006/relationships/slide" Target="/ppt/slides/slide5.xml" Id="Rbeb77aa332ca42df" /><Relationship Type="http://schemas.openxmlformats.org/officeDocument/2006/relationships/slide" Target="/ppt/slides/slide6.xml" Id="R129c56f782a8477d" /><Relationship Type="http://schemas.openxmlformats.org/officeDocument/2006/relationships/slide" Target="/ppt/slides/slide7.xml" Id="Rc3c6ee180ff84949" /><Relationship Type="http://schemas.openxmlformats.org/officeDocument/2006/relationships/slide" Target="/ppt/slides/slide8.xml" Id="Rba214a81326f432a" /><Relationship Type="http://schemas.openxmlformats.org/officeDocument/2006/relationships/slide" Target="/ppt/slides/slide9.xml" Id="R0e8e2c018c234094" /><Relationship Type="http://schemas.openxmlformats.org/officeDocument/2006/relationships/slide" Target="/ppt/slides/slide10.xml" Id="Rc7fb53f303ce4c58" /><Relationship Type="http://schemas.openxmlformats.org/officeDocument/2006/relationships/slide" Target="/ppt/slides/slide11.xml" Id="R10de5db933294458" /><Relationship Type="http://schemas.openxmlformats.org/officeDocument/2006/relationships/slide" Target="/ppt/slides/slide12.xml" Id="R1e935cc8faa04b75" /><Relationship Type="http://schemas.openxmlformats.org/officeDocument/2006/relationships/slide" Target="/ppt/slides/slide13.xml" Id="Rcd3359121ebd4611" /><Relationship Type="http://schemas.openxmlformats.org/officeDocument/2006/relationships/slide" Target="/ppt/slides/slide14.xml" Id="Rb1d7aebe1ab2406f" /><Relationship Type="http://schemas.openxmlformats.org/officeDocument/2006/relationships/slide" Target="/ppt/slides/slide15.xml" Id="R83c2583edef0460e" /><Relationship Type="http://schemas.openxmlformats.org/officeDocument/2006/relationships/slide" Target="/ppt/slides/slide16.xml" Id="Reb0bc109d3554f7a" /><Relationship Type="http://schemas.openxmlformats.org/officeDocument/2006/relationships/slide" Target="/ppt/slides/slide17.xml" Id="R4811e6f6c3834b36" /><Relationship Type="http://schemas.openxmlformats.org/officeDocument/2006/relationships/slide" Target="/ppt/slides/slide18.xml" Id="Reb2474f035854023" /><Relationship Type="http://schemas.openxmlformats.org/officeDocument/2006/relationships/slide" Target="/ppt/slides/slide19.xml" Id="Rdb64f3a9681641fd" /><Relationship Type="http://schemas.openxmlformats.org/officeDocument/2006/relationships/slide" Target="/ppt/slides/slide20.xml" Id="R5f88059501404071" /><Relationship Type="http://schemas.openxmlformats.org/officeDocument/2006/relationships/slide" Target="/ppt/slides/slide21.xml" Id="R62ce6ce573ef4c63" /><Relationship Type="http://schemas.openxmlformats.org/officeDocument/2006/relationships/slide" Target="/ppt/slides/slide22.xml" Id="Rc5250bba9b294c38" /><Relationship Type="http://schemas.openxmlformats.org/officeDocument/2006/relationships/slide" Target="/ppt/slides/slide23.xml" Id="R7991154278c74fc4" /><Relationship Type="http://schemas.openxmlformats.org/officeDocument/2006/relationships/slide" Target="/ppt/slides/slide24.xml" Id="R27d5a2dbd1974907" /><Relationship Type="http://schemas.openxmlformats.org/officeDocument/2006/relationships/slide" Target="/ppt/slides/slide25.xml" Id="Rf7e4fce0403244c2" /><Relationship Type="http://schemas.openxmlformats.org/officeDocument/2006/relationships/slide" Target="/ppt/slides/slide26.xml" Id="Rdf408ef7f2684c0e" /><Relationship Type="http://schemas.openxmlformats.org/officeDocument/2006/relationships/slide" Target="/ppt/slides/slide27.xml" Id="R5e2d724fee54441d" /><Relationship Type="http://schemas.openxmlformats.org/officeDocument/2006/relationships/slide" Target="/ppt/slides/slide28.xml" Id="R6b1b8e1e0780463d" /><Relationship Type="http://schemas.openxmlformats.org/officeDocument/2006/relationships/slide" Target="/ppt/slides/slide29.xml" Id="Radd49e6b26824075" /><Relationship Type="http://schemas.openxmlformats.org/officeDocument/2006/relationships/slide" Target="/ppt/slides/slide30.xml" Id="Rf4d7d74749be4f80" /><Relationship Type="http://schemas.openxmlformats.org/officeDocument/2006/relationships/slide" Target="/ppt/slides/slide31.xml" Id="Rf2259f823bec4001" /><Relationship Type="http://schemas.openxmlformats.org/officeDocument/2006/relationships/slide" Target="/ppt/slides/slide32.xml" Id="Rc7b9400aea404d31" /><Relationship Type="http://schemas.openxmlformats.org/officeDocument/2006/relationships/slide" Target="/ppt/slides/slide33.xml" Id="R76e52adc77264478" /><Relationship Type="http://schemas.openxmlformats.org/officeDocument/2006/relationships/slide" Target="/ppt/slides/slide34.xml" Id="Rd222bd17a45d4255" /><Relationship Type="http://schemas.openxmlformats.org/officeDocument/2006/relationships/slide" Target="/ppt/slides/slide35.xml" Id="R642c55cec7e944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3759bb051143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0ef44c03824c90" /><Relationship Type="http://schemas.openxmlformats.org/officeDocument/2006/relationships/notesMaster" Target="/ppt/notesMasters/notesMaster1.xml" Id="Rd2dd3a8b63a64c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41efc4eb1e41dc" /><Relationship Type="http://schemas.openxmlformats.org/officeDocument/2006/relationships/notesMaster" Target="/ppt/notesMasters/notesMaster1.xml" Id="R9ed34a38c48d42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37139d6af84046" /><Relationship Type="http://schemas.openxmlformats.org/officeDocument/2006/relationships/notesMaster" Target="/ppt/notesMasters/notesMaster1.xml" Id="R196bb659c28a4f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74cfc2acdd41fb" /><Relationship Type="http://schemas.openxmlformats.org/officeDocument/2006/relationships/notesMaster" Target="/ppt/notesMasters/notesMaster1.xml" Id="Rbe917a5b15754c5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46fc36cb6f4e9b" /><Relationship Type="http://schemas.openxmlformats.org/officeDocument/2006/relationships/notesMaster" Target="/ppt/notesMasters/notesMaster1.xml" Id="R87b2c8ddab69487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d3f7d38fdc4ea5" /><Relationship Type="http://schemas.openxmlformats.org/officeDocument/2006/relationships/notesMaster" Target="/ppt/notesMasters/notesMaster1.xml" Id="Rf64692e969eb412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c67e4ec9344380" /><Relationship Type="http://schemas.openxmlformats.org/officeDocument/2006/relationships/notesMaster" Target="/ppt/notesMasters/notesMaster1.xml" Id="Rf360bcbfca264d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6b87d6cce646db" /><Relationship Type="http://schemas.openxmlformats.org/officeDocument/2006/relationships/notesMaster" Target="/ppt/notesMasters/notesMaster1.xml" Id="R41817e50064447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5d20462520246ee" /><Relationship Type="http://schemas.openxmlformats.org/officeDocument/2006/relationships/notesMaster" Target="/ppt/notesMasters/notesMaster1.xml" Id="R483a9502a56a443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5a947c3597438d" /><Relationship Type="http://schemas.openxmlformats.org/officeDocument/2006/relationships/notesMaster" Target="/ppt/notesMasters/notesMaster1.xml" Id="R89f9132f045e44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a6380245674b80" /><Relationship Type="http://schemas.openxmlformats.org/officeDocument/2006/relationships/notesMaster" Target="/ppt/notesMasters/notesMaster1.xml" Id="R2ef1e217f8cf49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68d2fedc9b942ac" /><Relationship Type="http://schemas.openxmlformats.org/officeDocument/2006/relationships/notesMaster" Target="/ppt/notesMasters/notesMaster1.xml" Id="R1cb460556d554a8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15ff871bde43cc" /><Relationship Type="http://schemas.openxmlformats.org/officeDocument/2006/relationships/notesMaster" Target="/ppt/notesMasters/notesMaster1.xml" Id="R924ea981c7794f8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4107295bc0346cd" /><Relationship Type="http://schemas.openxmlformats.org/officeDocument/2006/relationships/notesMaster" Target="/ppt/notesMasters/notesMaster1.xml" Id="R10fe6530fb904b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df6cdfc079e4664" /><Relationship Type="http://schemas.openxmlformats.org/officeDocument/2006/relationships/notesMaster" Target="/ppt/notesMasters/notesMaster1.xml" Id="Re90af988b99841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e28dbf861ab4542" /><Relationship Type="http://schemas.openxmlformats.org/officeDocument/2006/relationships/notesMaster" Target="/ppt/notesMasters/notesMaster1.xml" Id="R0132492d7eb84fb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54f1eca0c64a35" /><Relationship Type="http://schemas.openxmlformats.org/officeDocument/2006/relationships/notesMaster" Target="/ppt/notesMasters/notesMaster1.xml" Id="R7c56790ebff14ed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9feee20fc1c40e9" /><Relationship Type="http://schemas.openxmlformats.org/officeDocument/2006/relationships/notesMaster" Target="/ppt/notesMasters/notesMaster1.xml" Id="R91099d8da44841c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535543758694a16" /><Relationship Type="http://schemas.openxmlformats.org/officeDocument/2006/relationships/notesMaster" Target="/ppt/notesMasters/notesMaster1.xml" Id="Rb6df5373591340b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01bede8a7c94bb8" /><Relationship Type="http://schemas.openxmlformats.org/officeDocument/2006/relationships/notesMaster" Target="/ppt/notesMasters/notesMaster1.xml" Id="Ra3a23d8f07e7403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b08cc1cf204445f" /><Relationship Type="http://schemas.openxmlformats.org/officeDocument/2006/relationships/notesMaster" Target="/ppt/notesMasters/notesMaster1.xml" Id="R3c9a68fa5c434b30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f20a3424e4e4626" /><Relationship Type="http://schemas.openxmlformats.org/officeDocument/2006/relationships/notesMaster" Target="/ppt/notesMasters/notesMaster1.xml" Id="Ree54bc05213e403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0c617c7ff7af4622" /><Relationship Type="http://schemas.openxmlformats.org/officeDocument/2006/relationships/notesMaster" Target="/ppt/notesMasters/notesMaster1.xml" Id="R7eee601c16fc470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292658f5f9e4ae9" /><Relationship Type="http://schemas.openxmlformats.org/officeDocument/2006/relationships/notesMaster" Target="/ppt/notesMasters/notesMaster1.xml" Id="R1207e0a397954f7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b3e6ebda2554cb4" /><Relationship Type="http://schemas.openxmlformats.org/officeDocument/2006/relationships/notesMaster" Target="/ppt/notesMasters/notesMaster1.xml" Id="R58ac2f32ba87450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ce2425d25274dca" /><Relationship Type="http://schemas.openxmlformats.org/officeDocument/2006/relationships/notesMaster" Target="/ppt/notesMasters/notesMaster1.xml" Id="Rda348e31c05c485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9872e16d3344db5" /><Relationship Type="http://schemas.openxmlformats.org/officeDocument/2006/relationships/notesMaster" Target="/ppt/notesMasters/notesMaster1.xml" Id="R129030d616944d3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bad07deb20349dc" /><Relationship Type="http://schemas.openxmlformats.org/officeDocument/2006/relationships/notesMaster" Target="/ppt/notesMasters/notesMaster1.xml" Id="R486c35d09d264b9c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3bad402a1a14793" /><Relationship Type="http://schemas.openxmlformats.org/officeDocument/2006/relationships/notesMaster" Target="/ppt/notesMasters/notesMaster1.xml" Id="Rb17c6073b9984fc5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31d76fcf18554e3e" /><Relationship Type="http://schemas.openxmlformats.org/officeDocument/2006/relationships/notesMaster" Target="/ppt/notesMasters/notesMaster1.xml" Id="Rc0621967bbe24bd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207baf5bee644f4" /><Relationship Type="http://schemas.openxmlformats.org/officeDocument/2006/relationships/notesMaster" Target="/ppt/notesMasters/notesMaster1.xml" Id="R98802685ccb94dd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b01439aab8f43ea" /><Relationship Type="http://schemas.openxmlformats.org/officeDocument/2006/relationships/notesMaster" Target="/ppt/notesMasters/notesMaster1.xml" Id="R69386ad747be41d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d9d24b59c4b40b4" /><Relationship Type="http://schemas.openxmlformats.org/officeDocument/2006/relationships/notesMaster" Target="/ppt/notesMasters/notesMaster1.xml" Id="R4eeb2b7da7e8487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c3976c4d23ac4bb7" /><Relationship Type="http://schemas.openxmlformats.org/officeDocument/2006/relationships/notesMaster" Target="/ppt/notesMasters/notesMaster1.xml" Id="Ra421480843614c3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c08bf15ca374641" /><Relationship Type="http://schemas.openxmlformats.org/officeDocument/2006/relationships/notesMaster" Target="/ppt/notesMasters/notesMaster1.xml" Id="Ra888b8c9169948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1. Apache Spark:</a:t>
            </a:r>
          </a:p>
          <a:p xmlns:a="http://schemas.openxmlformats.org/drawingml/2006/main">
            <a:r>
              <a:t>от данных к плану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2. Локальный Python больше не укладывается в SLA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3. После лекции вы сможете объяснить Spark через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4. Big Data — это ограничение workload, а не ярлык размера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5. Big Data возник не в один день — термин догонял инженерную реальность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6. 3V — диагностическая модель давления, а не определение по порогу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7. После 3V появились десятки V — единого канона 6V или 10V нет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8. Big Data родился из разрыва между ростом данных и возможностями одного узла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9. Google превратил ненадёжный кластер в программируемую платформу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10. MapReduce — как почтовый центр: пометить, рассортировать, собрать итог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11. Один MapReduce job фиксирует конвейер вокруг одной shuffle-границы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12. Spark атаковал не Map и Reduce, а стоимость повторного использования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13. Matei Zaharia и команда AMPLab начали Spark с боли iterative и interactive workloads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14. 0.x и 1.x превратили исследовательский RDD engine в платформу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https://spark.apache.org/news/</a:t>
            </a:r>
          </a:p>
          <a:p xmlns:a="http://schemas.openxmlformats.org/drawingml/2006/main">
            <a:r>
              <a:t>- https://spark.apache.org/releases/spark-release-1-3-0.html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15. 2.x–4.x сместили центр тяжести от RDD к SQL engine и PySpark UX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https://spark.apache.org/releases/spark-release-2-0-0.html</a:t>
            </a:r>
          </a:p>
          <a:p xmlns:a="http://schemas.openxmlformats.org/drawingml/2006/main">
            <a:r>
              <a:t>- https://spark.apache.org/releases/spark-release-3-0-0.html</a:t>
            </a:r>
          </a:p>
          <a:p xmlns:a="http://schemas.openxmlformats.org/drawingml/2006/main">
            <a:r>
              <a:t>- https://spark.apache.org/releases/spark-release-4-0-0.html</a:t>
            </a:r>
          </a:p>
          <a:p xmlns:a="http://schemas.openxmlformats.org/drawingml/2006/main">
            <a:r>
              <a:t>- https://spark.apache.org/releases/spark-release-4-2-0.html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16. Победила комбинация модели выполнения, API и экосистемы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https://people.csail.mit.edu/matei/papers/2015/vldb_spark.pdf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17. Spark — compute engine, а не база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18. Иногда лучший Spark job — тот, который вы не запускаете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19. Один Spark application — один driver и набор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20. Cluster manager выдаёт ресурсы — Spark управляет вычислением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21. Partition — минимальная порция данных для одной task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22. DataFrame — декларативный контракт, а не цикл по строкам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23. Transformations строят план — action запускает работу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24. Один action создаёт job, stages и tasks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25. Shuffle появляется, когда строки меняют владельца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26. Контракт пайплайна: события → дневная выручка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27. Явная schema делает контракт проверяемым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28. Built-in expressions сохраняют оптимизации Catalyst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https://spark.apache.org/docs/4.2.0/api/python/reference/pyspark.sql/functions.html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29. Join и aggregation — место, где рождается стоимость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30. Сначала читаем план — потом тратим кластер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https://spark.apache.org/docs/4.2.0/api/python/reference/pyspark.sql/api/pyspark.sql.DataFrame.explain.html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31. Exchange в physical plan — сигнал перераспределения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32. Action материализует план — формат сохраняет будущие возможности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https://spark.apache.org/docs/4.2.0/sql-data-sources-parquet.html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33. Spark UI превращает “медленно” в проверяемую гипотезу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34. Хорошая диагностика связывает код, план и runtime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35. Выходной билет: объясните Spark без магии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8669ae6e8a4f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75a070ce21d4fe6" /><Relationship Type="http://schemas.openxmlformats.org/officeDocument/2006/relationships/slideLayout" Target="/ppt/slideLayouts/slideLayout1.xml" Id="Re2e222c6d2ae41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e222c6d2ae41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4f88b327f94d76" /><Relationship Type="http://schemas.openxmlformats.org/officeDocument/2006/relationships/notesSlide" Target="/ppt/notesSlides/notesSlide1.xml" Id="Ra521d279bfca41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f686fc4ef645e2" /><Relationship Type="http://schemas.openxmlformats.org/officeDocument/2006/relationships/notesSlide" Target="/ppt/notesSlides/notesSlide2.xml" Id="Ra9f2bdc362aa48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db7e4638e4695" /><Relationship Type="http://schemas.openxmlformats.org/officeDocument/2006/relationships/notesSlide" Target="/ppt/notesSlides/notesSlide3.xml" Id="Rd2180f8e224e4e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4eab5fefa4032" /><Relationship Type="http://schemas.openxmlformats.org/officeDocument/2006/relationships/notesSlide" Target="/ppt/notesSlides/notesSlide4.xml" Id="Rc413136b926843e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a118772b345a2" /><Relationship Type="http://schemas.openxmlformats.org/officeDocument/2006/relationships/notesSlide" Target="/ppt/notesSlides/notesSlide5.xml" Id="R980913ecb6344b8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f6e3d03914a5b" /><Relationship Type="http://schemas.openxmlformats.org/officeDocument/2006/relationships/notesSlide" Target="/ppt/notesSlides/notesSlide6.xml" Id="Refcbf1a9e15942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070bfa4bf4c34" /><Relationship Type="http://schemas.openxmlformats.org/officeDocument/2006/relationships/notesSlide" Target="/ppt/notesSlides/notesSlide7.xml" Id="Rd9a811ff8c2640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32550bc2af4ef0" /><Relationship Type="http://schemas.openxmlformats.org/officeDocument/2006/relationships/notesSlide" Target="/ppt/notesSlides/notesSlide8.xml" Id="Rd25b8a1dc31d4f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836b69be204330" /><Relationship Type="http://schemas.openxmlformats.org/officeDocument/2006/relationships/notesSlide" Target="/ppt/notesSlides/notesSlide9.xml" Id="R5294ed3e59bd43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44ffbe1774d02" /><Relationship Type="http://schemas.openxmlformats.org/officeDocument/2006/relationships/notesSlide" Target="/ppt/notesSlides/notesSlide10.xml" Id="R7c39d02e4f9446d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2cba52d14b4dd5" /><Relationship Type="http://schemas.openxmlformats.org/officeDocument/2006/relationships/notesSlide" Target="/ppt/notesSlides/notesSlide11.xml" Id="Rc9d9d41f520e440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46d310aec64b13" /><Relationship Type="http://schemas.openxmlformats.org/officeDocument/2006/relationships/notesSlide" Target="/ppt/notesSlides/notesSlide12.xml" Id="R49e5699476d343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14f5bdca1946b5" /><Relationship Type="http://schemas.openxmlformats.org/officeDocument/2006/relationships/notesSlide" Target="/ppt/notesSlides/notesSlide13.xml" Id="R4310d5ff956c475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9a6db345574ad8" /><Relationship Type="http://schemas.openxmlformats.org/officeDocument/2006/relationships/notesSlide" Target="/ppt/notesSlides/notesSlide14.xml" Id="R27d44c45558e449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9b4b52564f4b84" /><Relationship Type="http://schemas.openxmlformats.org/officeDocument/2006/relationships/notesSlide" Target="/ppt/notesSlides/notesSlide15.xml" Id="Ra9bf60810d414da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54fa8b596f4b4d" /><Relationship Type="http://schemas.openxmlformats.org/officeDocument/2006/relationships/notesSlide" Target="/ppt/notesSlides/notesSlide16.xml" Id="R81307461699c42c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6b71f517524647" /><Relationship Type="http://schemas.openxmlformats.org/officeDocument/2006/relationships/notesSlide" Target="/ppt/notesSlides/notesSlide17.xml" Id="Ra2b38c4cb5f64bd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bc02e98d7411d" /><Relationship Type="http://schemas.openxmlformats.org/officeDocument/2006/relationships/notesSlide" Target="/ppt/notesSlides/notesSlide18.xml" Id="Rb400bbe3e9b242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d01168bb5a484d" /><Relationship Type="http://schemas.openxmlformats.org/officeDocument/2006/relationships/notesSlide" Target="/ppt/notesSlides/notesSlide19.xml" Id="R2da50df51fc942e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5b11e05b2b4638" /><Relationship Type="http://schemas.openxmlformats.org/officeDocument/2006/relationships/notesSlide" Target="/ppt/notesSlides/notesSlide20.xml" Id="Re36fc803cd1a46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109e6563d4fe8" /><Relationship Type="http://schemas.openxmlformats.org/officeDocument/2006/relationships/notesSlide" Target="/ppt/notesSlides/notesSlide21.xml" Id="R74292984d95a4b6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ed5d80d9e45b1" /><Relationship Type="http://schemas.openxmlformats.org/officeDocument/2006/relationships/notesSlide" Target="/ppt/notesSlides/notesSlide22.xml" Id="Rb8d32952e6d14ed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f9488822d4227" /><Relationship Type="http://schemas.openxmlformats.org/officeDocument/2006/relationships/notesSlide" Target="/ppt/notesSlides/notesSlide23.xml" Id="Rb661d00c12f2471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4242a501f463b" /><Relationship Type="http://schemas.openxmlformats.org/officeDocument/2006/relationships/notesSlide" Target="/ppt/notesSlides/notesSlide24.xml" Id="R1aa38d1bd94f42c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fb07efad94608" /><Relationship Type="http://schemas.openxmlformats.org/officeDocument/2006/relationships/notesSlide" Target="/ppt/notesSlides/notesSlide25.xml" Id="Raf17b3f937b44ee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c09b6856c43a8" /><Relationship Type="http://schemas.openxmlformats.org/officeDocument/2006/relationships/notesSlide" Target="/ppt/notesSlides/notesSlide26.xml" Id="R9ccaf42bd031464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375d69d264d5e" /><Relationship Type="http://schemas.openxmlformats.org/officeDocument/2006/relationships/notesSlide" Target="/ppt/notesSlides/notesSlide27.xml" Id="R376333d3df7d479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bd3de7cb45eb" /><Relationship Type="http://schemas.openxmlformats.org/officeDocument/2006/relationships/notesSlide" Target="/ppt/notesSlides/notesSlide28.xml" Id="R9ae831ac7ce24e5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e770f03111402e" /><Relationship Type="http://schemas.openxmlformats.org/officeDocument/2006/relationships/notesSlide" Target="/ppt/notesSlides/notesSlide29.xml" Id="R8e3cbdd15aa54a1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71c7559db40ec" /><Relationship Type="http://schemas.openxmlformats.org/officeDocument/2006/relationships/notesSlide" Target="/ppt/notesSlides/notesSlide30.xml" Id="R98ce2f7b2bc9431e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2748eeb654b73" /><Relationship Type="http://schemas.openxmlformats.org/officeDocument/2006/relationships/notesSlide" Target="/ppt/notesSlides/notesSlide31.xml" Id="Rf3294d39b8be486a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11933308b40e2" /><Relationship Type="http://schemas.openxmlformats.org/officeDocument/2006/relationships/notesSlide" Target="/ppt/notesSlides/notesSlide32.xml" Id="R26e2a5048e3a4df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52ebf7a0614646" /><Relationship Type="http://schemas.openxmlformats.org/officeDocument/2006/relationships/notesSlide" Target="/ppt/notesSlides/notesSlide33.xml" Id="Rfe6a012465764e0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66ba3563d442a1" /><Relationship Type="http://schemas.openxmlformats.org/officeDocument/2006/relationships/notesSlide" Target="/ppt/notesSlides/notesSlide34.xml" Id="Rca55d406fc0440c3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b875b5b894dbf" /><Relationship Type="http://schemas.openxmlformats.org/officeDocument/2006/relationships/notesSlide" Target="/ppt/notesSlides/notesSlide35.xml" Id="Re56d9e557ab346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FA529-3272-4138-93C2-CCD7329E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ABA33C-9680-4C0A-AF67-58EFDD74E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913353-15AE-4100-A16E-2418CE45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LESSON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13435-5836-4C70-8B55-DAF7E928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828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Apache Spark: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от данных к плану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6B0E6F-09A8-4C07-B465-0974BACE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Практическое погружение в PySpark для начинающего Data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2DB9A-96B3-459E-AD94-DAEB0D3E9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DC3B1-E9C4-4C9F-B2C3-7FA23F00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D9DC"/>
                </a:solidFill>
              </a:defRPr>
            </a:pPr>
            <a:r>
              <a:rPr sz="1350" b="1">
                <a:solidFill>
                  <a:srgbClr val="D6D9DC"/>
                </a:solidFill>
              </a:rPr>
              <a:t>Core · 60 минут  |  Deep dive · +30 минут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E0A95-9AC4-4944-B851-3B348B5C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3721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E25A1C"/>
                </a:solidFill>
              </a:defRPr>
            </a:pPr>
            <a:r>
              <a:rPr sz="2100" b="1">
                <a:solidFill>
                  <a:srgbClr val="E25A1C"/>
                </a:solidFill>
              </a:rPr>
              <a:t>PYSPARK</a:t>
            </a:r>
          </a:p>
        </p:txBody>
      </p:sp>
    </p:spTree>
    <p:extLst>
      <p:ext uri="{BB962C8B-B14F-4D97-AF65-F5344CB8AC3E}">
        <p14:creationId xmlns:p14="http://schemas.microsoft.com/office/powerpoint/2010/main" val="6177370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1166C2-A270-4DF0-AF86-4C3CCA9E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ЗАЧЕМ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993CE-69AD-499B-AA5D-024A1395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06E60-4E41-4FF1-9F12-A03FCA43A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2EBA4F-E286-456D-A022-82DF33EA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4CB44D-E89F-465B-9D60-D0E47778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Локальный Python больше не укладывается в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C9E31B-8415-4962-9F39-3B8FA864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120 ГБ событий · 18 минут до дедлайна · один процесс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FD743A-A27F-48E3-92F7-AC098CEFF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392B5-D35E-44F3-8D76-F0CAE41E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Память заканчивается раньше данных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BFB08-204D-45CE-96C0-44F2FDF7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37E8CE-5CA1-45E4-93E3-88341672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Повторный запуск начинается с нуля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14CA80-A1E9-4220-A649-3621CFFF7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D082E9-10F3-4EE8-8489-5C22FDD3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Ускорение упирается в один CPU и один диск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46F579-E08F-4D4B-AEA0-CB243A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367665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11A934-6516-4E12-BB75-D75DFC46A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33625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A0A7A-26EF-4CDE-81B0-11B4AE5B7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95625"/>
            <a:ext cx="276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E25A1C"/>
                </a:solidFill>
              </a:defRPr>
            </a:pPr>
            <a:r>
              <a:rPr sz="4350" b="1">
                <a:solidFill>
                  <a:srgbClr val="E25A1C"/>
                </a:solidFill>
              </a:rPr>
              <a:t>18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6A0C1A-9DCB-407F-A29D-6C4AB623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</a:defRPr>
            </a:pPr>
            <a:r>
              <a:rPr sz="1575" b="0">
                <a:solidFill>
                  <a:srgbClr val="E5E7EB"/>
                </a:solidFill>
              </a:rPr>
              <a:t>Нужен не “быстрый pandas”, а другая модель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2695993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61F57A-BD99-45C1-B1B9-587573D5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КОНТРАКТ ЛЕКЦИИ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9E7A2C-4C86-41E5-AF4D-09A90E24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D39E6-9E01-4C9C-8919-22238896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9F7210-31C8-430F-9781-924E495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F3149-FD8B-40E3-B807-EFEBB343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лекции вы сможете объяснить Spark через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E68E45-F092-4BDD-AE76-F5F05AAD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A44B5-E899-4CC3-9C9D-9997BBF6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Модель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92401-C6A9-4CAF-9209-669EAD75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Driver, executors, partitions, jobs и stages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C87160-DFDB-49E1-88B8-D8AC5D57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E17CC-DD3C-44B0-A2FF-127D7330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39A0DF-698C-466C-BF16-886E24ECC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4D83FD-00B4-4145-9627-A948401C6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DataFrame-пайплайн без Python UDF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DE15F6-5A14-46E7-B800-1262FDDA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1D8241-DFF9-4F4D-BE5A-56894CDE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1F3AD5-0427-46D0-90AD-B03352828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357CFC-7CB1-4237-8332-81E8930D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Exchange, join strategy и AQE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322749-403E-4D50-BF25-E6911912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11A2C-754A-4051-9F58-8288F546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A0CE3-EF93-4888-8134-0EFDAE6B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Наблюдение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28A5A-E3C3-40A2-B5B0-2E39724F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Spark UI: где искать shuffle и skew</a:t>
            </a:r>
          </a:p>
        </p:txBody>
      </p:sp>
    </p:spTree>
    <p:extLst>
      <p:ext uri="{BB962C8B-B14F-4D97-AF65-F5344CB8AC3E}">
        <p14:creationId xmlns:p14="http://schemas.microsoft.com/office/powerpoint/2010/main" val="1225412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57F16-1BD2-4577-B101-EF26947A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54C7A6-43D2-4427-96CE-6C7F7356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FD0EC-74A7-4ED5-AE1D-3C99A1A9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6BB528-246D-43AE-AFE5-E98BCD722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7234FF-FFFC-4D15-8209-351937A8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— это ограничение workload, а не ярлык размера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37D95-1924-4679-98D3-3255CDBC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“Данные становятся “big”, когда привычная архитектура перестаёт выполнять обещания.”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D204AC-E274-4016-A82B-22BB1AC6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F2FE30-E227-474D-A86A-4A3FBE8B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ОБЪЁМ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FDF931-821C-42A7-A0E0-0E776B3C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СКОРОСТЬ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398092-C5F6-44DE-A8A4-FE3449034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РАЗНООБРАЗИЕ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37987-4BB3-4DD0-956B-21D7107DB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СТОИМОСТЬ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15EAF6-63E9-44E3-977E-2673C00E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СБОИ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B9AAFC-B401-4356-8837-8183C8FF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Сначала формулируем SLA и профиль нагрузки — потом выбираем движок.</a:t>
            </a:r>
          </a:p>
        </p:txBody>
      </p:sp>
    </p:spTree>
    <p:extLst>
      <p:ext uri="{BB962C8B-B14F-4D97-AF65-F5344CB8AC3E}">
        <p14:creationId xmlns:p14="http://schemas.microsoft.com/office/powerpoint/2010/main" val="6733462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83E8CB-F844-4F16-8814-EEFF83DE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EB4C0-112E-4290-8C76-556C7CB6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429EEF-30DA-48A8-BFA4-A0E2D4E0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E7E27-4EFF-4CCC-BF67-B4EB037F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98FFF4-D9C0-4759-8CB5-1210682E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возник не в один день — термин догонял инженерную реальность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EA483D-6DD8-4A55-91A6-1D3BC373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D179F-DFFA-43A4-8B6F-0DE16013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CFE8A-E1A9-4FB8-9320-37EF71A1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1990-е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CD218D-392A-48E4-9990-99CB071D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Цифровые следы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1D78BC-FDBA-47EA-B0B7-D42166D9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Web, логи, транзакции и сенсоры растут быстрее прежней инфраструктуры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4C1B3-BC14-41A0-83D3-BF452223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8CA457-A156-49D9-80B2-CDEA48A5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ACFED5-0BF7-4D21-BD0A-B2913029C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John Mashey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A1D43B-7880-44F5-B08A-C22FF331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Доклад “Big Data … and the Next Wave of InfraStress” популяризирует термин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141EED-F7CA-46B5-BA53-2C4C43221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73E8D8-3116-4CA8-BBB8-00039036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6DD175-06D8-40A3-858A-1BF577F3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Doug Laney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B7EF58-865E-4953-88B0-5C3714004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Volume, velocity, variety описывают три независимых давления на data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2B200-292B-462C-88E8-F3B812BE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F8DBBB-B369-4FD8-BA13-4FF80056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2010-е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0B8F3-8100-4271-AB82-98F89DE1D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Платформенный термин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2BC8D1-A9AA-4363-946B-2F36ED8B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Big Data объединяет storage, compute, analytics и governance</a:t>
            </a:r>
          </a:p>
        </p:txBody>
      </p:sp>
    </p:spTree>
    <p:extLst>
      <p:ext uri="{BB962C8B-B14F-4D97-AF65-F5344CB8AC3E}">
        <p14:creationId xmlns:p14="http://schemas.microsoft.com/office/powerpoint/2010/main" val="1667787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342E713-BADA-48D7-80BC-843E10FC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38C49-C263-4F1F-999C-B151448C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EBAD8-FFA3-4C89-848F-9071064D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5E02A6-7B24-4AC3-8F97-3D786904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076A5E-DE63-48CC-96C1-73ECACEE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3V — диагностическая модель давления, а не определение по порогу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F32314-AD91-44AF-9E51-3ADA0CFB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Сигнал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4AB797-A815-4151-95EB-ECFCE98E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Что ломается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9A512-BBFD-4209-9328-BB5C904E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Арх. ответ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1F9A0D-0778-4CDB-BBC5-A0E0987C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Вопрос архитектора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F9734-3563-417F-BBB0-7825BE1CB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204536-860F-4974-8F27-4EBFE0DC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байты / строки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57DB38-DFBE-446D-80D3-511F480F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узел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C473A-071B-4931-849C-266F87E6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06D9C8-7B64-4001-9CDA-26CD4A78D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Где предел scale-up?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8877C-87A2-44C2-9533-CDFBFFFB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5DB76A-4209-4BB4-9802-65906D16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Velocity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B75FDE-8F16-4BB3-9F17-E424ED310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события / сек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53613-50DE-4C6F-83B4-E71CE536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batch 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5748AA-5260-4947-997C-CEAFA544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streaming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AF5F1-FBE8-42AB-A82D-3E6A981C9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Какова цена задержки?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E54A6A-DBA4-4D92-89B0-B85710EB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A5EAE8-CD01-4BF6-8428-4ABC7F30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Variety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4464BC-82AC-4866-9CE5-8655DC8E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 / схемы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37D8AD-0894-4AA1-9B06-60B92B1C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жёсткая модель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859ACD-7E6B-4188-B984-983E0C0C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schema + contracts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6F0608-052A-465D-BBFF-95F8A09D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Кто владеет изменением?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147DC7-E42F-4B4D-972F-108E459D4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67D33F-F9F8-4CB8-978A-028B9C79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Итог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ACECD0-3B8D-40A6-A9CA-A3868BE9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профиль нагрузки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CD48DA-244A-4954-9E7D-40E61862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обещания системы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10EAC-46E9-46E1-96ED-C1976CFD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масштабируемая архитектура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25BE5D-6D02-424E-BA95-2FBAD8754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 измерим успех?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AD9969-8EE1-40AD-BB86-29274371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826164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8341A9-10BF-4580-8AF9-0C12BDFB7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 → 6V → 10V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A7ECDF-6FF7-4528-8BC4-E1D4421A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890CB-F47D-4981-AC18-AF3A225DA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93990B-64BB-4998-B3CC-81863D2E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FBC4E-A5A6-4D14-9C80-6937F8200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3V появились десятки V — единого канона 6V или 10V нет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74C904-135F-4851-8EE9-F38AD22AE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D2C42-466A-41C9-B756-11943573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 данных и стоимость хранения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B4E46F-7E45-4E41-8AD1-110A7EC6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210F5-6D23-4A3F-BB73-D736E49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скорость поступления и допустимая задержка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33131-B475-4849-87E3-85D1776BA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Variety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97108B-3C55-474E-B120-6972C5A3C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форматы, источники и эволюция 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405A95-8626-4CE4-B7BC-0F613D99A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Veracity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F3039-8445-459B-A45B-F0D68C91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качество, происхождение и доверие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75CE33-A991-4F09-83EB-0F3C79A8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675769-8BA3-498D-A199-2E357138F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измеримый эффект относительно стоимости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24DE6-D9C1-471A-B3F1-6896889B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Variability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204871-197F-4BB2-94B2-1120FD01D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скачки нагрузки и изменение смысла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D5878-BE1E-4523-B11D-C07D2555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Visualization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0B946-602D-4408-AA37-00EA32B5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способ сделать вывод воспринимаемым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F39F6C-B605-4E98-B802-D0E45BCF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Vulnerability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189900-4DD7-4D4D-AF46-508889E8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privacy, security и риск утечки</a:t>
            </a:r>
          </a:p>
        </p:txBody>
      </p:sp>
    </p:spTree>
    <p:extLst>
      <p:ext uri="{BB962C8B-B14F-4D97-AF65-F5344CB8AC3E}">
        <p14:creationId xmlns:p14="http://schemas.microsoft.com/office/powerpoint/2010/main" val="7398933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D0044E-6C5D-4B58-8C6C-12EEF02A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F77792-C5FC-447B-9B65-2B151A60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57A1E-C1C3-4612-98D4-DDCD5F4A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92CC2-29FA-434B-9133-A8481D21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46A21-C73B-46A5-BE40-747C9736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родился из разрыва между ростом данных и возможностями одного узла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AC4F5-D91A-4F89-B586-20D714D91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0013DB-1C9D-4756-9EA9-2D14BA09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Источники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FEA28-F01C-4D01-AB77-9E88E0D91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Web, mobile, telemetry и дешёвые сенсоры создают непрерывные цифровые следы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B916D-A2EA-4A70-97A9-193C7D7C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8B4CFA-D211-42A4-A24A-01B27877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00D39A-8E3E-4540-BB8A-5D06793D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Экономика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0583FC-E5CE-4AE5-A0BD-58504532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Commodity-машины дешевле вертикального масштабирования, но чаще отказывают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D4C9C-BEFD-4E27-87E4-8AE68582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A5664-6E33-44CD-AEDB-0E9C05C9E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7F7381-064A-4992-BF91-91AB82FE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B433D-D8D1-4487-976C-6A0EF382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ETL, поиск, ML и ad hoc analytics требуют разных паттернов доступа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5852CE-C7EC-4658-9812-1FBB66CC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0B5012-136C-445B-890D-13B0BEDD5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5C0BEA-614E-41F1-B6A3-D7BE97D2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Обещание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1A1FBB-2971-4C1D-8016-E1FB86963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Сохранить throughput и fault tolerance при росте объёма и числа узлов</a:t>
            </a:r>
          </a:p>
        </p:txBody>
      </p:sp>
    </p:spTree>
    <p:extLst>
      <p:ext uri="{BB962C8B-B14F-4D97-AF65-F5344CB8AC3E}">
        <p14:creationId xmlns:p14="http://schemas.microsoft.com/office/powerpoint/2010/main" val="2254427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660D64-3064-4477-9B45-94E0DC65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ОТ ХРАНЕНИЯ К COMPUTE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D4F01D-2D5A-4800-9CDA-04180CFED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1DDF8-C816-4995-99A0-6C5D0EAB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616AF7-89CA-437E-AD88-1EF1C1F5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5EF9F-D8A2-468F-8CB3-EDD266DAF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Google превратил ненадёжный кластер в программируемую платформу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21C1E-D3E3-42BD-B070-139F7D85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34E0C9-7672-4039-86C5-27546809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851F2-4B9C-4B6C-BE40-2FACC8EE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FC352D-1BFD-4D2C-856B-9F5BB4824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Google File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42FF5-3DC9-4507-8290-1B297143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Блоки, репликация и перенос compute ближе к данным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52E8E2-21CF-4747-AB8F-729D74CF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F6F9D-6D67-4F97-B073-ABAF4272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0B8B8F-0E60-4E07-ADA7-035A42224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MapReduce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93DBBE-7022-4CA9-8653-C0DB89AB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Partitioning, scheduling, shuffle и retry становятся обязанностью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CC433A-6CF0-491B-AB64-81D102695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D81F6-7887-40B6-979C-9D2FB3CA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24C21-D144-4B45-AE27-79145CA0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 Hadoop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CEC717-984A-4257-AF98-99EBC418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Open-source реализация HDFS + MapReduce переносит модель в индустрию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C77ADA-4E0D-4F02-BB51-01347394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B17B7D-B959-4B21-827D-81F788F1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DB2745-8061-4237-BF87-8F2F1788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Сбой — часть протокола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361CD7-8F1D-45CB-A5C7-6F84B745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Вычисление проектируют так, чтобы task можно было безопасно повторить</a:t>
            </a:r>
          </a:p>
        </p:txBody>
      </p:sp>
    </p:spTree>
    <p:extLst>
      <p:ext uri="{BB962C8B-B14F-4D97-AF65-F5344CB8AC3E}">
        <p14:creationId xmlns:p14="http://schemas.microsoft.com/office/powerpoint/2010/main" val="6666478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09D1D3-D875-4C01-8A3E-C361126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НА ПАЛЬЦАХ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E65CDD-7DA5-4047-BE6B-238B3D95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247A3B-8FE1-43A9-958F-268ABEF55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507A5-42B6-41AE-9CC8-CD34CEF1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1720A-C5FE-45AC-8C6F-9430A603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— как почтовый центр: пометить, рассортировать, собрать итог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9703A6-3D67-42A9-A9AB-CE598B34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CA2EB4-C392-46BB-A913-37070CB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D53874-53E6-4ACB-AFDF-575D8749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3C6AC-ECC9-4134-A5AF-4D14F07D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мешки писем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D8C9A-E528-414C-9413-EF805AF4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FC96D2-8415-41BF-A54F-006A81B5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A375C-00BC-47F3-B1EF-9605E61E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33BB65-830E-4D65-839B-E32CEB05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поставить индекс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1D17D8-70B1-4A02-B3A9-AE49F7B7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6A661A-8DD8-4FCB-9EF1-B917B655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CF1A6-E8AA-415F-B45D-970BB9A9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shuffle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0EB7E6-592A-46D2-AD5B-51A271A0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свести по адресу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B0C3E5-BF8A-4CB9-97DC-88445B1C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B01977-D710-466F-BA9B-1EAB3D5C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reduce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BFCAD5-94AA-4AAB-AF5F-02F2137E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собрать доставку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C31D52-8007-4C77-85F4-C4774506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Runtime делит работу, двигает группы по ключу и повторяет потерянные части.</a:t>
            </a:r>
          </a:p>
        </p:txBody>
      </p:sp>
    </p:spTree>
    <p:extLst>
      <p:ext uri="{BB962C8B-B14F-4D97-AF65-F5344CB8AC3E}">
        <p14:creationId xmlns:p14="http://schemas.microsoft.com/office/powerpoint/2010/main" val="2720784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884A33-F584-4051-975E-CE18F7230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ТЕХНИЧЕСКИ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98796-AC98-4774-AC7A-BD69311A0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69589D-83A5-4D7F-BC95-9405D287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81E0C3-59E1-4662-9997-0F6CBE2B6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BF800A-05FC-450D-A9ED-83808AE6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MapReduce job фиксирует конвейер вокруг одной shuffle-границы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D7732B-A6F6-451C-BE1F-72AD1F56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159948-0E72-43DA-9164-7BE98A16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13CC91-D045-43B1-9E84-0E4C0ACB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0418F5-5454-4CF1-ACCA-A9D993A7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24396-2D43-427E-9E03-B98756B1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2A5A1F-0929-4388-91D4-BC9A7C52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Input splits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E6CA2D-47AC-43E3-93CB-411F303FA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блоки HDFS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локальность данных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D4F21C-7AA5-44DA-8F44-5A44EAE8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22668A-F381-4092-A1B5-8B1F1421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Map tasks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076E0-8AC1-46E6-91A0-DA07F2A4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parse / filter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локальный sort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A9934A-8716-40B7-A288-8BECC3E4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511D2-AFA0-4371-9901-A92BE566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249E3F-17E5-4589-92F6-33FA6D88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/ fetch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merge by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29596-15E1-4EE0-9183-7AA6DEC2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1EAE34-7F3D-48A6-BF66-B7ECECE1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Reduce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C8404-145D-435F-8B37-81F74A7D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aggregate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output в 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7A0321-0213-407D-B3C4-F5852909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Сильная сторона — простой восстанавливаемый batch. Цена — materialization между цепочками jobs.</a:t>
            </a:r>
          </a:p>
        </p:txBody>
      </p:sp>
    </p:spTree>
    <p:extLst>
      <p:ext uri="{BB962C8B-B14F-4D97-AF65-F5344CB8AC3E}">
        <p14:creationId xmlns:p14="http://schemas.microsoft.com/office/powerpoint/2010/main" val="14213283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6F413C-F62D-4573-987A-8686EB82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→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D5F8B6-589F-4796-BD1C-617F82AB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87DF0-CA04-4032-8014-51C668CE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0EDD7D-196A-4D25-9370-3338B102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BBC65A-D751-4ECD-8FD2-FCFA5F49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атаковал не Map и Reduce, а стоимость повторного использования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156235-615C-4959-80B3-DA4B4796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ЦЕПОЧКА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1F3CF-34D3-4E86-8B3B-0C0B9AB1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job → materialize → job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5E5A8-AEE6-4B12-8303-EF60371C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AF0B32-39DF-4CB4-9E1A-548795036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Надёжный one-pass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B9A308-E737-4878-95CB-3C9E70E8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990180-5430-45E5-A829-4D0F91B7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Простые retry boundaries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893896-3AE9-4E5E-8FAC-FDA66ADF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CA70A-C1B1-46FD-B353-C5D60C6E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Итерации перечитывают и сериализуют 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653333-031E-4B83-9CCD-167B46A5B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F1D92-B2EF-43F5-B7BE-608A1E20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DAG → stages → tasks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A70E6A-0D71-4865-AC71-876345DE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1C8508-C996-41B0-AA8A-E6F7D4FE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План виден целиком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4C4AE1-94AA-4F3D-BB53-8A29ED151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6C64B7-4F0E-4834-B0E3-35C241154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Working set можно persist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9A131-9153-4312-96BD-DF8AF10D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A06968-E2A9-496D-816B-10D03079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Lineage позволяет восстановить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759B9-C34A-4224-8F8F-AFD09711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499045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5B3B6C-37AA-41CF-8470-8716DE9E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8DD3EC-71A8-4FCD-B9FF-00574C7D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B23625-4DE2-485B-A5A1-D0408F37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F830EC-E492-4B33-BF06-7074EB4A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C771D-8DEB-42E1-A7DF-0BC7FEC4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Matei Zaharia и команда AMPLab начали Spark с боли iterative и interactive workloads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49A6A0-4B5B-4DF5-AD01-4C0E0B4E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12F480-738A-4414-83FA-5A9696E8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62802B-94BF-4FE1-9EC3-1F368313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E0183A-A91B-4EBF-B02F-07206D15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UC Berkeley AMPLab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D0CA0A-E9DA-4FF4-A46E-A97FE0A1C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Проект Matei Zaharia и исследовательской команды для cluster 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02D370-A8B3-4DA9-AF5A-FE89F6E0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5A9640-AA5E-4AB0-823F-BF4D14F7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07E4B1-F5B1-4295-B2CC-4481EC48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Working 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E5722-1D7E-4409-9FAA-457099E89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HotCloud paper и open source: данные можно переиспользовать между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8A077-612C-4A32-97B4-D647DAF4A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D2E3F9-B20A-4B88-95D7-60A75591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2958A-447F-4222-BA9E-268464F1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RDD + lineage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E5099E-80EF-474A-82F5-B591AFF3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NSDI Best Paper формализует fault-tolerant distributed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91F06-559C-4CFE-9E78-4AC9F435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CF080-770C-476A-B48A-22A2699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2013–14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0839D0-E688-4567-9F04-DD84AE34A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86518D-AA42-40A1-8DD4-89990B67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Incubator в 2013; top-level project в 2014; сообщество масштабирует engine</a:t>
            </a:r>
          </a:p>
        </p:txBody>
      </p:sp>
    </p:spTree>
    <p:extLst>
      <p:ext uri="{BB962C8B-B14F-4D97-AF65-F5344CB8AC3E}">
        <p14:creationId xmlns:p14="http://schemas.microsoft.com/office/powerpoint/2010/main" val="161780316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E0A7EC-C812-4BD5-A16B-DAC4FB8E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9AB7CA-7097-421B-A747-C52AFA1F3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90ADA-F712-4487-9DB1-044D1B9EB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994141-F571-47E2-AC25-B2167669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B1D11-F9A0-473F-88F2-5502622A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0.x и 1.x превратили исследовательский RDD engine в платформу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422B6-75B2-492B-8DE7-39E5E2B5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511C2A-FF19-46BB-BC6C-1AD4BAC8E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D18FA-EFFC-4ED6-86BA-EC8EB146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0.7 · 2013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94FC2-5ABF-461E-ACFB-8E6DF4B7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PySpark + Streaming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CDEFC-203E-404F-9E43-549E4506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Python API и alpha Spark Streaming расширяют аудиторию и workload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F9EF4-132E-4AAF-8CA3-4165195E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6E4F7D-F864-4062-9B95-004F315D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0.8 · 2013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FE5AA3-A7BF-4337-9E18-30B9963C0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YARN + MLlib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D05857-4EE0-4431-A352-46203601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 входит в Hadoop estate и получает ML library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7EF507-B049-49A7-BEA9-E2D404035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D5A57A-0201-4CD0-8E07-F8079E3B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1.0 · 2014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7CB1B4-9039-4F28-B385-F6528AE0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Стабильный проект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871D6B-5554-43EE-A1B6-5C5ECAE9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API и ecosystem закрепляют Spark как самостоятельный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35ECA9-5533-4E89-A802-E7CD99E7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85F3B-8CCE-4B94-A46E-D21CB696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1.3 · 2015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7002C-E8A9-4E71-AC35-968C7D8B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DataFrame + Spark 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2EEE01-3450-4D04-8734-7BC3C4C3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Schema и Catalyst делают оптимизацию доступной Python API</a:t>
            </a:r>
          </a:p>
        </p:txBody>
      </p:sp>
    </p:spTree>
    <p:extLst>
      <p:ext uri="{BB962C8B-B14F-4D97-AF65-F5344CB8AC3E}">
        <p14:creationId xmlns:p14="http://schemas.microsoft.com/office/powerpoint/2010/main" val="11782394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726A11-6E4A-4A09-BA38-62FE0300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94AF7C-1D76-4BE3-8DF5-736A2E165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D5DFF8-D39D-465E-9BD3-D3E2CED2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393625-1038-4F2F-868F-D024C0CC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F7000-9A75-41D3-8CF0-3CE1DE5C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2.x–4.x сместили центр тяжести от RDD к SQL engine и PySpark 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D7A71-810C-4107-AD97-DF7D15B7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10698-9893-4613-968E-8D965CAF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90563-9B8D-41FA-985E-904C842C5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2.0 · 2016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D2128-44B3-4E39-AA36-85E99F4E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Unified structured APIs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2640C1-C659-48BA-80A6-6DA17E03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SparkSession, whole-stage codegen и experimental Structured 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2F8601-D953-44E9-9E01-614336565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C24A8-FBAE-418E-BBF6-0C3B9B785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3.0 · 2020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66B930-35AD-4DCC-8353-5BD48E93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Adaptive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EC487-06F1-4763-8E31-480CDA12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AQE, dynamic partition pruning, ANSI improvements и Python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92F816-728A-415C-9606-D75ABD00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F8C7-4F3C-4FA4-BD81-27059680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4.0 · 2025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E2195B-29FC-4C24-A987-2809DB19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SQL + Connect + Python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A58FE0-C7C9-4B6A-8058-4FEAF177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ANSI default, VARIANT, Python Data Source API и mature 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9DFB49-776D-49C2-82D1-BD18C7BFB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00983D-DA77-4D76-930D-821D4D39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4.2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430E5-D663-482A-B99E-484C722A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 platform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87AE5-2C4E-4BC6-931D-E2E5CAB8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CDC, geospatial, DSv2 transactions и Arrow IPC default</a:t>
            </a:r>
          </a:p>
        </p:txBody>
      </p:sp>
    </p:spTree>
    <p:extLst>
      <p:ext uri="{BB962C8B-B14F-4D97-AF65-F5344CB8AC3E}">
        <p14:creationId xmlns:p14="http://schemas.microsoft.com/office/powerpoint/2010/main" val="147843250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8FD5CC-50D9-4147-A244-AF5AFEE6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SPARK ПОБЕДИЛ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49D05-EA68-4605-ADE0-7CC0DD0E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7BA9E8-5979-4DC6-B6B8-75C1BE95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858C3-8768-4134-BCDB-BB4826D8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29BD9C-8F6C-4A14-8A38-D373F8D1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Победила комбинация модели выполнения, API и экосистемы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184B1-3339-4C76-83DE-FC967972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95D946-C602-45F6-A6F2-AFA4BA85C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7D1FC-06CD-4B16-A7FD-B062AEA6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DAG / lineage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343E2-2A8C-4E87-A9D7-956477F8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богаче fixed Map→Reduce и дешевле восстанавливает coarse-grained datasets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D1BF07-0D0B-4C8F-B6E5-1BA02FDC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A6FC3-3352-49BC-8C2C-A64201AD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33CEA-5243-4333-AB05-A71B428B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694BD4-9FAC-4901-AF7D-6A06BA04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DF / Catalyst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0AA2BA-AF4B-42D3-A01B-C2B73BD7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декларативный PySpark получает relational optimization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E77389-4D0A-4887-95C2-C684381B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EDA53D-E948-4BCE-9885-1D37DA4C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0FC7FC-CDCE-40FA-AC68-D21357A3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F7CD2A-7F97-46FD-957D-AF22EBFED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Tungsten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9CB023-829D-451C-860E-0D3E2530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whole-stage codegen, меньше JVM overhead, эффективнее memory и CPU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608542-8D41-4AA1-838C-446CA197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42B908-5FFE-4B7D-A9FF-4302C2AC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C86208-D04F-49E8-9DE9-9F1077FA9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8D52D6-4345-435F-B511-FABC76D8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Unified engine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9FD38A-57E1-463A-BCF3-C7B32511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batch, SQL, streaming и ML используют общую execution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45B235-85D7-452F-B42F-4C13AB3F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A39C99-E451-4FD0-A119-B28949FAD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5F21A-DC43-47BC-ADCC-F3745BBF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5DC6C6-DC99-422E-B107-0765DE99F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Open ecosystem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038456-C3AC-489C-B278-5980A8BB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Apache governance, Hadoop/cloud storage, YARN/Kubernetes и Python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4A78AF-2D90-4B57-9942-7DDE7635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4889793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34AAE7-E86E-4560-88F9-DCF28F1D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МЕНТАЛЬНАЯ МОДЕЛЬ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1E0B94-A8E9-4A75-9A4E-4988245B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1675A-D741-4C75-A036-CA5F6F1F3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796C8-B183-4242-A9CD-41C0F875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2446D-6B87-4EE0-AA18-CA8663AB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compute engine, а не база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F2934C-A101-478F-AEA7-8CA66807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C1A277-4EE5-4CF9-88E9-115DAA27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94B41-9C69-4A04-8652-6FC85F2C9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18D32B-A5D5-4212-8C85-CA9379CF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0012D-675E-404A-A6F7-44635BEC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Планирует DAG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C56BDC-C840-44F4-A926-4A6C002C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85F3E7-4C87-486F-AAD5-5B10C785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Распределяет задачи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1113A8-88F6-4AFF-B7E0-64A52637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DB25D-BE8D-425A-8109-12C975EA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Выполняет трансформации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5BA6A3-B94A-43F0-9FFF-5BBE1F00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ECDF93-B505-46BC-A9A0-CF336CAE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Повторяет потерянные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C12E10-C4A3-4BAB-9547-17D4B40B7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03391-E853-4EA9-BE02-C9A75BA80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владеет бизнес-данными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ADDBAA-AB02-4097-97A4-B32E14E3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28FAB1-F943-45EC-977D-55417664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заменяет каталог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C3DFF5-3C59-4180-8C72-8AF79055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5D6FE6-8EC5-4F02-9999-382FB915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гарантирует OLTP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C05DE-0CD2-44ED-97EE-59143CF3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BC46D5-7320-4DA0-8534-EF4E3C63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выбирает SLA за вас</a:t>
            </a:r>
          </a:p>
        </p:txBody>
      </p:sp>
    </p:spTree>
    <p:extLst>
      <p:ext uri="{BB962C8B-B14F-4D97-AF65-F5344CB8AC3E}">
        <p14:creationId xmlns:p14="http://schemas.microsoft.com/office/powerpoint/2010/main" val="81267805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C6ADF6-2D50-4BB5-86CF-16BDB57A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АРХИТЕКТУРНЫЙ 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64E0DE-1095-4291-9027-5CF8437B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3C1858-DD52-4252-B04C-5E37E989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17378-F75A-4280-93FF-F4FA226F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2EA73-5205-4F27-9BF9-9F360D3B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Иногда лучший Spark job — тот, который вы не запускаете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375FD-FF5C-4737-8776-A4BF7DA1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Данные и SLA действительно требуют распределённого вычисления?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ED169-8CC9-46FB-8116-9A6A3288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05284F-6F76-4E45-87B2-9D36DBF9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DD1B2-29D7-4686-801E-8ED1BE669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SQL в DWH / DuckDB / 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8A8053-8D8E-4A5B-9894-04556C84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Меньше инфраструктуры и быстрее обратная связь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8BD81C-A032-416A-A146-4B65CBD1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1E1CF0-2364-4BC8-B9E7-52BCF9D07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4ABABD-7F27-4F0E-8061-AE3AD4FC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A100E4-6EC9-4D6C-A789-25F66525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Когда нужны параллелизм, fault tolerance и единый batch API</a:t>
            </a:r>
          </a:p>
        </p:txBody>
      </p:sp>
    </p:spTree>
    <p:extLst>
      <p:ext uri="{BB962C8B-B14F-4D97-AF65-F5344CB8AC3E}">
        <p14:creationId xmlns:p14="http://schemas.microsoft.com/office/powerpoint/2010/main" val="209885011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08F5-6AE4-4B03-B2EC-233599C1E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7E729-C120-4959-B161-C1F17891E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21DBCE-F17D-41F9-8955-F65FC9E5F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DC4C2-A786-46A2-AC38-BD8EEC81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9281D8-E352-4594-83F0-0E29F440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Spark application — один driver и набор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DB8A42-57C3-4D74-9040-E702ACE7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C9D8F-DD3D-4244-8FB4-8F30822C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CD3A3-6613-441D-A9CE-CB024FC8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D06E7-E1E8-462F-A057-CF6534B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D3CB1E-AF6D-4E84-ABA0-80CD7E1E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637A8-BA2D-4F18-9630-8F76337E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37E85-2B15-4606-91D8-B7A6D81E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SparkSession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DAG + scheduling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0C42E8-AA2E-48D7-95AB-ECEC95E1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2B60CB-E9ED-4AA8-97F0-ADB6140F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EFC09-DFFC-476F-A5B6-1D69E560C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0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58955-9566-4CF4-A81A-D69EED99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44EE7A-0554-49DE-8E41-E42FE7375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5C19FF-F1B0-4245-8CDB-B30F62A1D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1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F7512D-47D9-4853-B0CF-E98985701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00FD6B-5A60-402E-8DE3-385E9CB9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C49251-01E5-4853-9E32-AF1F4F1C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2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2261E-9913-4056-98DC-D64AA93E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 координирует. Executors считают. Данные движутся между ними только при необходимости.</a:t>
            </a:r>
          </a:p>
        </p:txBody>
      </p:sp>
    </p:spTree>
    <p:extLst>
      <p:ext uri="{BB962C8B-B14F-4D97-AF65-F5344CB8AC3E}">
        <p14:creationId xmlns:p14="http://schemas.microsoft.com/office/powerpoint/2010/main" val="61191342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6919AE-88A0-4D0A-9984-0F1F70DA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C0ED9-BD25-4A11-9CF8-F95AF4E24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3EBBB9-215F-42DE-B81D-BA5AEFB7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5F91B-A637-4FC9-8483-4D108FFB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3EE81-1A15-40F6-8ED7-2F4E7333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Cluster manager выдаёт ресурсы — Spark управляет вычислением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7771D7-CB82-4FAF-A887-787E16E2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CLUSTER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B33D1-4D7F-4FAF-A94C-C5492C98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Кому дать CPU и memory?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D2F04E-FFAA-4E0E-8CDE-992D58D81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3D4D10-0177-4E33-B102-83D8F79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Standalone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69BB9E-508D-4960-9C23-B895F5FC5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A9A9FF-5F5F-470E-981C-1B8E8438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Kubernetes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29FEC-17EF-4B32-B7C2-328C2CCD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35483-F42E-42A8-AAC7-2EE067B9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YARN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31B484-429C-4438-B8AE-3487A5BE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29753-23F0-4EDC-B8CF-1379B818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Какие tasks выполнить?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3F05AC-94C2-4A8C-AC39-9AE3AFDC2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BC47DF-E44B-4F02-9C52-66466A72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Driver строит план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D2D679-9A12-4D22-B732-A27ECB343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E31B7E-DEE3-4307-BCE8-9F6BD909C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Executors выполняют tasks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6CF1B0-89EB-4B30-B351-A4BE1799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A4F991-D922-4020-8BF9-6227A65E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Spark отслеживает прогресс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33C3F-148E-482B-87AE-46366743A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2018619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9AEEF6-CF25-4ADB-B3D1-DA355FBDF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ПАРАЛЛЕЛИЗМ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618B4C-7308-4AC6-A15C-17F7B06BF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8E146D-32CC-48AA-A3B6-AF08F58F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47DA23-6AE2-494A-8D8C-8FF795D07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648178-0F03-4CFB-9418-AE6C3E8A6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Partition — минимальная порция данных для одной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71312F-503B-414F-A181-E6A7BB85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AE1A8-3799-400F-8B8B-96F0F8E0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A28D5-8599-4D85-902D-59AC4C58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830279-F3F8-437F-80A6-108741A7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DD77C0-894F-4A84-9912-BA6E88F76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339888-3B22-4808-864A-F99D4B30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DF501E-D491-4F73-9DAA-B3F3C4A7C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41ED16-362E-48DE-B52A-853D9D1C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A2FAC-57CA-4A94-AC59-721B7464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EE5A7-FBD8-4AB8-B2B0-9978FC0A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4167D-D4D9-433F-81B7-3458E7F5E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A0CBFE-7799-41F2-AFCF-5A2B8DC0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70BB33-374F-47FF-80D1-3BB5C988B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FBFF8C-1121-4DF7-84F1-0470756D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12D830-57AF-4964-9C43-AF464B1A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E20587-10BB-48D3-BE5C-B19B93E7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CF7E48-AD8B-4DFB-8A2E-E667D015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01196D-D69E-4019-B20B-505875F8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57301C-2501-4255-9CC7-3C2C521F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F25DE8-0ED7-4516-AA4B-AACEDA75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8FF2ED-D7AE-4F18-BA9F-742B38A6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ACD19E-C974-49D2-86A6-91CA17CBF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5F543E-0850-4545-AC77-7F0A07CEE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8A708B-C26E-4667-8898-89359144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215ED8-7217-44AD-89F1-F7609F878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F58397-D98F-49D1-871A-DE6B8478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CB8375-D749-460F-9CBB-69A5169C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CAFA0A-1B59-42C3-8B0D-77907A84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B1D3474-5398-43BC-853F-CBA66A60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91125"/>
            <a:ext cx="1032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Слишком мало partitions → недогруз. Слишком много → overhead и мелкие файлы.</a:t>
            </a:r>
          </a:p>
        </p:txBody>
      </p:sp>
    </p:spTree>
    <p:extLst>
      <p:ext uri="{BB962C8B-B14F-4D97-AF65-F5344CB8AC3E}">
        <p14:creationId xmlns:p14="http://schemas.microsoft.com/office/powerpoint/2010/main" val="5647579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345649-3048-496F-BB07-A247153F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DATAFRAME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0644BD-5B30-4D48-99A5-93F97D5A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7C00FF-A3D9-433D-9C5B-2803A3B23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14704-9BC3-4C9F-8154-FAE301E5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CB2ECA-42D9-4E67-89C8-8DBB29E1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DataFrame — декларативный контракт, а не цикл по строкам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7382C7-D007-45CD-B8EE-B138795F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“Вы описываете результат. Catalyst выбирает физический способ его получить.”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380ED-2DC0-4D2C-81E6-C3830B26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3E288E-0EE8-446D-A5D1-F82EA269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D6EC8-E3BF-4112-BD7B-256D49D9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62C8AF-E8F2-4148-9690-267A8AA7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LOGICAL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6997AC-6C3E-422F-8786-1C5888565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OPTIMIZER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E88566-7D4E-49DC-8237-52D79E02E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PHYSICAL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FD7DF6-97BF-4BB0-874B-2D6C262C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Чем больше логики видно Catalyst, тем больше свободы для оптимизации.</a:t>
            </a:r>
          </a:p>
        </p:txBody>
      </p:sp>
    </p:spTree>
    <p:extLst>
      <p:ext uri="{BB962C8B-B14F-4D97-AF65-F5344CB8AC3E}">
        <p14:creationId xmlns:p14="http://schemas.microsoft.com/office/powerpoint/2010/main" val="6606499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AAEDDF-FB81-4D3A-9F47-1FB31AC17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53C63E-291E-4BFC-B589-6F924CBB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58FF7-6949-4650-BCE5-9A709B56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575305-C157-491C-94EC-E750DB58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11D1F3-326B-4B66-B238-937FCA0C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Transformations строят план — action запускает работу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98829-FE74-4580-8E37-F19BDB98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E1931D-1B52-4F90-91D6-0E7D9700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756CC-9783-4A82-92A6-C630990A9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178C8F-5733-4CBD-928E-DD47DE23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ленивый источник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591667-DDD5-4DE0-B934-1A4A865D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5C590-15DF-4ECA-B2E1-51CBD1DC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938CBC-251E-4A62-B02B-2871ADE8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9C0F24-04B6-41C6-8F43-FE98F43B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A4876A-8304-461D-AC57-DA0DB463C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06B611-D8A7-4229-BCE5-68A8D505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16D750-317E-4F09-9B82-9ED6E865A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groupBy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65011A-BD46-4C4D-917A-707A75F3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78E4E0-2373-4D78-8749-9B201A70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FAA09-F42D-4424-90DC-B3881B5B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E5E804-FF72-4D8D-B9BB-CBD29F19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45CD5-2466-45BD-9056-A14CCE80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До action Spark может переписать и сократить план.</a:t>
            </a:r>
          </a:p>
        </p:txBody>
      </p:sp>
    </p:spTree>
    <p:extLst>
      <p:ext uri="{BB962C8B-B14F-4D97-AF65-F5344CB8AC3E}">
        <p14:creationId xmlns:p14="http://schemas.microsoft.com/office/powerpoint/2010/main" val="108064116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FF5465-802E-453C-89EB-71349F05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942B9-1595-4A49-A4C6-A0C40640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FE66B-D827-4C27-8D30-1F769733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42299-E7BA-4C9D-AC48-F638D23A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D0D82-F59C-4672-900D-4A8284407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action создаёт job, stages и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AD56E-4A59-4D89-A210-48837361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BC7223-725B-40C1-8FA6-49807805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write.parquet(…)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03A672-7A89-4F09-9A87-7C0FE0EA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Точка запуска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243C6E-0A27-4D6F-84AD-3E8826B1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BC279-D360-4F1C-ABE5-7D409B11F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Job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AD4C0A-B875-4DBD-B8D3-C71B92E75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весь DAG для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26D2D-F435-491E-A001-D7A8D3E8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пользовательского результата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E59313-3F8E-4EE1-AE43-74BE7AFA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8A0EF3-B6E2-4844-A1CD-42FCFFBA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926682-24B2-469E-B574-680BFA82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86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цепочка без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3AEAA-0FCB-415E-8415-8A858A71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Граница передачи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1ABFEF-8D7F-4023-AA8D-5B679E7A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B0802-4F88-432F-BEBC-E4B7ED61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2AFA75-FCF5-4A39-8156-A6E5A5A0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815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stage × 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2C0694-E3E5-4755-BC4F-0CE8B1EE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исполнения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AE518D-90B1-41AB-9714-EDAD894E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440761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9F7E60-C22B-4470-9ABA-351E1AE7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A01A8B-957A-492C-B357-8DFE833C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6FB5C-9F37-42BF-A2D6-04B1EA4C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BF8C10-015B-4D50-9648-FF02029A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CF2B90-EAD7-49DE-B0B4-D57435181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появляется, когда строки меняют владельца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A9A5B-380A-4BE4-A693-D6F077E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59F94D-F518-4FB4-875D-DC1B9696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p0: A,A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1EA13E-0FD5-43D3-ACF0-F7B317F0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CCA723-B3ED-4A5E-8052-D50F1C276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p1: B,C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EDA9DF-2F99-4C8B-86C5-F7E99808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A7AE7B-C035-42FB-A0DB-C76240E1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p2: A,C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4E4561-E11D-4B46-BC9A-391C5E5D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ED03D5-6C03-4631-BE8E-B9E6E98F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p3: B,B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5B485-F4EE-4968-9AD1-0AEFFB4E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FB5A10-F35E-44BA-9C1F-0AA4B1F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groupBy  ·  join  ·  distinct  ·  repartition  · 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95CB77-5D9E-47DA-9977-EC6CCA27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BE3F7-8301-4A6C-AF3C-8C65F0DB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A: A,A,A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964C30-47AC-4797-8673-A9197FA2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327F8E-F82B-4ECE-84B5-B1E2FE9BD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B: B,B,B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98C2BD-B76D-40CA-83F7-50CF7F87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3019C2-7475-4D59-B8E6-98DFEE42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C: C,C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9BE0DE-5817-4288-89F8-499357BB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Shuffle = сеть + сериализация + disk spill + новая stage.</a:t>
            </a:r>
          </a:p>
        </p:txBody>
      </p:sp>
    </p:spTree>
    <p:extLst>
      <p:ext uri="{BB962C8B-B14F-4D97-AF65-F5344CB8AC3E}">
        <p14:creationId xmlns:p14="http://schemas.microsoft.com/office/powerpoint/2010/main" val="134936439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E2BC2-5347-4664-B503-4705791AA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СКВОЗНОЙ КЕЙС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7916E2-6C7A-4E20-9750-58C79F6D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0563E-89E5-4C0E-AEBF-4001D759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A8A55-56AF-4C08-8C59-5559F25A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7E9F0-E2C5-41F8-A0CF-C5A45013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Контракт пайплайна: события → дневная выручка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DEA151-209D-472D-926B-926A814B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CF579-F3F3-47A6-AD42-CC824CA9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F3AD3-43AA-4629-A4E0-9C9E23B2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events/*.json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event_id, customer_id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event_ts, amount,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65CB0-D9E0-4DB4-9EBE-5F6E5978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F996B-BCB8-4B2B-AC56-8F8E60E4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5D1B6F-98B4-472E-A913-9EE3BEEF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daily_revenue/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event_date,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orders,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F55041-757D-47C1-B3D0-69D148A7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C83F2D-635B-4C80-B1BD-695DCC2DB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A3F872-0914-4DEB-99E8-5DE0329A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явная schema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валидные ключи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идемпотентная запись</a:t>
            </a:r>
          </a:p>
        </p:txBody>
      </p:sp>
    </p:spTree>
    <p:extLst>
      <p:ext uri="{BB962C8B-B14F-4D97-AF65-F5344CB8AC3E}">
        <p14:creationId xmlns:p14="http://schemas.microsoft.com/office/powerpoint/2010/main" val="64513597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169820-6C93-4B99-B4C3-795606EBB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11FB5-DF00-4A09-9DA4-04AE89DF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BBCF17-5B5A-4B3B-AFA8-7B977589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47DE66-2E1D-4C51-8341-F88B7FD5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2DBB7-8234-4828-A85D-DA44567B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Явная schema делает контракт проверяемым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8357EA-0EB8-4ABA-B942-39A79FB4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9B59A1-44EE-48A3-8574-6AD8DBCD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EVENT_SCHEMA = StructType([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StructField("customer_id",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StructField("event_ts", TimestampType(),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StructField("amount", DecimalType(18, 2),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StructField("country", StringType(), True),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events = spark.read.schema(EVENT_SCHEMA).json(input_path)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EEB13-9DBC-486A-928A-2FEED3AC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242CB1-8ACE-470C-B489-7B5543DE6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0EA4C-8FE8-4797-A903-07A283CA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полного scan для inferSchema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CFD909-B763-40AA-B93E-09FE1FF98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ED35CB-4CDC-4801-BA1F-DF1B3488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Nullability — часть контракта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1F1BA7-6018-4427-A7CC-80B40C06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105464-0F0D-4B14-A64B-D1A0C95D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Типы стабильны между запусками</a:t>
            </a:r>
          </a:p>
        </p:txBody>
      </p:sp>
    </p:spTree>
    <p:extLst>
      <p:ext uri="{BB962C8B-B14F-4D97-AF65-F5344CB8AC3E}">
        <p14:creationId xmlns:p14="http://schemas.microsoft.com/office/powerpoint/2010/main" val="137774343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560A2D-390F-420B-9992-BF44F971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3BD0AE-7E4D-4B7C-B72C-6C9466593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4639F-995C-4D9E-A1A2-A8A99722E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02310-3D4F-4F9F-8AA5-EACA6F3C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5C48C-4BBF-47D5-BAD7-6D6C715FB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Built-in expressions сохраняют оптимизации Catalyst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AFBC2-B224-481E-A09A-EE535A9FD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C01D41-06FD-43B1-BC88-4C93A4C5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clean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events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.filter(F.col("event_id").isNotNull())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.filter(F.col("amount")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.withColumn("event_date", F.to_date("event_ts"))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.withColumn("country", F.coalesce("country", F.lit("UNKNOWN")))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.dropDuplicates(["event_id"])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75B70-E161-4666-8824-887E4723D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C3949-00DA-45EF-8108-A2EBFA35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915D26-936A-40F2-A3C9-DA7B8064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Операции видны optimizer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A87FE-9846-43A1-A2F0-340A70C3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927E03-C180-439D-AE84-7E3EDF45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построчного Python callback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78C613-72D1-46F2-BEF3-688936BF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3B093-B090-4BE0-88B7-305E7C2E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Логика читается как data contract</a:t>
            </a:r>
          </a:p>
        </p:txBody>
      </p:sp>
    </p:spTree>
    <p:extLst>
      <p:ext uri="{BB962C8B-B14F-4D97-AF65-F5344CB8AC3E}">
        <p14:creationId xmlns:p14="http://schemas.microsoft.com/office/powerpoint/2010/main" val="4832817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6C036-1BDB-489C-98A2-505D352A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ADC6DD-22DA-4752-B208-20ADE4AD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99A9F-E807-40EE-8376-2563F747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D8C6F-B511-4AAB-85F5-0450D59E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CC3013-BFBF-4F61-B7B5-59EDACB4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Join и aggregation — место, где рождается стоимость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83C2F-81F7-43C5-9A7E-22F6BAD1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725D5B-7EC6-4A8C-83B2-90CD3746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result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clean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.join(F.broadcast(countries), "country", "left")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.groupBy("event_date", "country_name")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.agg(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F.count("*").alias("orders"),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F.sum("amount").alias("revenue"),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7BD25-A057-41DA-8221-7FAA4B8E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66CBB7-FDBB-4926-943B-4AC89317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973344-38AF-4973-8159-D8F3E340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Размер стороны join важнее синтаксиса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D5C52-844F-45A2-A3F0-1CD6A5B7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49B8B-DB16-48B8-A8B0-480A715F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groupBy почти всегда означает shuffle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31E16-3002-4570-ADCB-39A8EE8A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CC4555-B22C-4F1A-BA75-CD5BEC43F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Broadcast устраняет shuffle большой стороны</a:t>
            </a:r>
          </a:p>
        </p:txBody>
      </p:sp>
    </p:spTree>
    <p:extLst>
      <p:ext uri="{BB962C8B-B14F-4D97-AF65-F5344CB8AC3E}">
        <p14:creationId xmlns:p14="http://schemas.microsoft.com/office/powerpoint/2010/main" val="45814850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A35B94-F844-4044-AE47-1379CAB9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A73F46-B0CB-4292-863E-095DEFE0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AD81E8-8CA0-47F6-88F3-E6375811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EE847C-F8E2-467D-9457-B58C95495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513CCC-59AC-422B-B903-22EBF00FF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Сначала читаем план — потом тратим кластер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CDA90B-6AC4-4A63-A7DE-CA7D4B94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E4A3B-7566-447D-90C7-1A905DC0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explain('formatted')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6E3738-C418-455A-93DF-7ACD5D0A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C8433D-6886-4032-B037-4D9570356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Получить physical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4C7429-AE4C-4981-AF1E-D80565B8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3A863E-2323-41DF-9704-DF0CD99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Найти Exchange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6CD826-4797-4391-95DC-BE917402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904F93-4D34-4F88-ACCB-4983D651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Увидеть shuffle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03C4E1-BBC9-4846-A7FC-2EBD96FC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6970A-C817-4A98-A281-EE7D37EA7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Проверить Join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A27498-A996-49CF-BA7C-BFD8BC12C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02DEE-B06C-447D-B62E-BB28C016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BroadcastHash или SortMerge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87D23C-7B18-46CE-97A7-05705CE3C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AFB0B-CE8F-4FC4-AD07-03E63396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Сверить partitions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978E7-419E-4284-858E-E0D22059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3E0B9D-F5E2-4D57-A622-1B4DDE7E7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Оценить parallelism</a:t>
            </a:r>
          </a:p>
        </p:txBody>
      </p:sp>
    </p:spTree>
    <p:extLst>
      <p:ext uri="{BB962C8B-B14F-4D97-AF65-F5344CB8AC3E}">
        <p14:creationId xmlns:p14="http://schemas.microsoft.com/office/powerpoint/2010/main" val="158099009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5950A-EF00-4980-89CA-151AD6FDC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1D7CB-BEC7-4F88-AA64-00B57221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FB915C-A69F-483D-BFD9-68FC6233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BA891-7DEF-4E9C-85A7-E860B93C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50B2C1-B3B6-48AA-820B-ED77E37C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Exchange в physical plan — сигнал перераспределения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9E6D48-4AA3-4941-9F85-DECAEEEA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65AE48-A727-4003-83FF-6C2D4CE7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== Physical Plan ==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AdaptiveSparkPlan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Exchange hashpartitioning(event_date, country_name, 8)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+- BroadcastHashJoin [country], [country], LeftOuter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:- Filter (amount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+- BroadcastExchange HashedRelationBroadcastMode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93255-CE43-42FC-90A9-CE0835A4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DB4FC-5646-4818-8BCB-BFDFE87B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BroadcastHashJoin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6D5CC-FBDB-4899-AD11-2E6B01B6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8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49B18D-B486-463B-B618-E990272EE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План подтверждает один shuffle для aggregation и broadcast маленького справочника.</a:t>
            </a:r>
          </a:p>
        </p:txBody>
      </p:sp>
    </p:spTree>
    <p:extLst>
      <p:ext uri="{BB962C8B-B14F-4D97-AF65-F5344CB8AC3E}">
        <p14:creationId xmlns:p14="http://schemas.microsoft.com/office/powerpoint/2010/main" val="178630972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22133F-0DB1-42E1-99CB-75AA898E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ЗАПИСЬ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3FF16-06A3-4142-ACDE-8DDC184C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25EA66-7463-4D1C-89E2-F79D355C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8B1DF7-A95B-4E6A-90C7-81B09D20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A51BE8-4F4A-4420-8AD3-3CA1AD7A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Action материализует план — формат сохраняет будущие возможности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5B34E4-EA70-4790-9BA0-1F1C33E8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6A5C8-1510-4A4E-BA10-31F5FDC6D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175FF-0B4A-4FD5-90B4-D4E732C6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EC6EE1-9F03-42AB-9ADE-A06FBA04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оптимизирован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A3D51-28AA-4556-BAB1-8C97001F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3CA2E-8723-426B-ACD1-D223712D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77E97-E496-4052-9A02-12FCE788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D54B9-97C6-4875-9401-45FB5724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выполнены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3893B0-9606-4F5B-ABEF-5FA671AB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1FF3C-F39B-47B3-BB2C-6561A794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F897AB-D430-4199-A2BE-511A5AF2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Parquet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3B8DDB-0F0B-4D15-85BB-62F67F0C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columnar +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C48AD-8295-48DE-BCF5-1A0547B0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FAAA8A-93CD-4C78-AAF6-F55D04F5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F49453-AE06-4F03-AEB3-983C59DA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данные доступны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5F0738-66EC-42BC-8E8C-66AAE137A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Пишите partitioned output только по реально используемым фильтрам.</a:t>
            </a:r>
          </a:p>
        </p:txBody>
      </p:sp>
    </p:spTree>
    <p:extLst>
      <p:ext uri="{BB962C8B-B14F-4D97-AF65-F5344CB8AC3E}">
        <p14:creationId xmlns:p14="http://schemas.microsoft.com/office/powerpoint/2010/main" val="63884496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EE7606-7F32-4662-949B-C15AF52B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НАБЛЮДАЕМОСТЬ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1BBFE-2BB9-421A-9856-0D6E08E8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23991D-B287-496A-8A26-EF7A7001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A11B3-24B4-4ADC-959F-AB73133D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F7B4E-EE63-4584-AD6C-41C2C010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UI превращает “медленно” в проверяемую гипотезу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8F2A0-560F-4841-B36E-E9169B78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2C54F-92B5-4F67-A302-BA4EB4A9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Jobs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032672-16B4-4E22-9700-B1EBFEA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Какая action и где упала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A27CE7-F562-475F-B25E-4C26C3C62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5730F-BF46-4485-9522-3BBC66346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Stages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D4D466-AB7B-445B-8818-4C4136D6C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Shuffle, skew, spill и stragglers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A7596-42BC-47DD-B6FA-94DF396B4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4B5C6-A326-4E2E-B0F7-7D9ED215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25A1C"/>
                </a:solidFill>
              </a:defRPr>
            </a:pPr>
            <a:r>
              <a:rPr sz="2025" b="1">
                <a:solidFill>
                  <a:srgbClr val="E25A1C"/>
                </a:solidFill>
              </a:rPr>
              <a:t>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38B4C-84B2-4BDB-9027-92FFA2BF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План и метрики операторов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42789-BF9C-4EBF-89FC-6407A2EE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65640A-C5DB-4EF2-B6FE-6A75FCEA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F336BC-E687-4C8C-AE47-C07274FF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Memory, GC, input и failed tasks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1C5719-3517-44BD-9EF9-8601CE2D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Начните со Stage с максимальной длительностью — затем сравните tasks.</a:t>
            </a:r>
          </a:p>
        </p:txBody>
      </p:sp>
    </p:spTree>
    <p:extLst>
      <p:ext uri="{BB962C8B-B14F-4D97-AF65-F5344CB8AC3E}">
        <p14:creationId xmlns:p14="http://schemas.microsoft.com/office/powerpoint/2010/main" val="1423821104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C045D2-2712-4336-99FC-F357943F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ИНЖЕНЕРНЫЙ МЕТОД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40749-37AE-4FBC-8BC9-88D8E53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877B51-2FA8-4F75-935E-08A37E21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BE2F0-D996-46D5-838F-5EFAE57E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908952-EA15-46A4-9FCE-CBF6DA50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Хорошая диагностика связывает код, план и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1669E3-8CF0-4A5D-B4D7-34204454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Код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305157-BDC7-4E0F-A7D5-9821197C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groupBy + join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ED7CD5-10A1-4671-899C-E3458ACA6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F2FCE-9F09-4E38-90E5-4A992C98C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мы попросили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B0758-CDF9-4A53-81B9-0A85FA2AA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974D0D-455A-416F-BD86-B1F26D8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Exchange + join 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A13476-0BF7-46AC-B339-2C1EF7F1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ABBEC6-ABC3-4D05-8C12-471BBCB4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выбрал optimizer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289F3-A9DE-4488-B53A-811AC556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8B4CA4-0F81-48EE-8377-D1C670DE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shuffle read + task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819142-6AD7-4C33-B13A-104E294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CFE154-973A-49A2-AF6C-5C55B068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произошло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C755B6-9338-4793-9917-F88B3CA9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Изменение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D62BD-92CE-42EC-B019-AB8961EC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broadcast / repartition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5CF84A-65F9-44D4-95BC-686106A9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C1FEBB-1A13-4785-AC86-6322CD25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 проверим эффект</a:t>
            </a:r>
          </a:p>
        </p:txBody>
      </p:sp>
    </p:spTree>
    <p:extLst>
      <p:ext uri="{BB962C8B-B14F-4D97-AF65-F5344CB8AC3E}">
        <p14:creationId xmlns:p14="http://schemas.microsoft.com/office/powerpoint/2010/main" val="25041202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ACE6D6-5F54-4629-84A1-84E175CDE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CORE · 60 МИН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BE9BA7-4945-47A4-A54E-BC699822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DE28CC-598A-4A4A-9B84-D955E5C05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E9B14-9F52-4FB0-9C4B-1B31D581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78DE5B-8CFD-4E83-A64E-5D6007F6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Выходной билет: объясните Spark без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2DCC50-2BD5-4777-9620-237B9DB4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089BD-6085-42F8-954C-84AB0313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Почему transformations не запускают вычисление?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EBFAE6-2203-4DA7-A08C-4BE4A55F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B5AC4B-C003-42E9-9946-E2B2EC3C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Что создаёт границу stage?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1DAE5-08AD-458E-8309-8F9A0570D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3886AA-D87E-4E3F-B0BC-EDFD3EA4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Где увидеть фактическую join strategy?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715DB-AEA2-4DE0-93EA-A68FBD1E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220A4A-82AD-464F-8A71-82DF093C1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Когда Spark — лишняя сложность?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010EA7-99B5-47F7-B527-A0103C35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81625"/>
            <a:ext cx="1000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3D5A5-D3A4-4C60-B3EE-4D426504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34025"/>
            <a:ext cx="942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Практика: запустить pipeline, сохранить explain и найти evidence в Spark UI.</a:t>
            </a:r>
          </a:p>
        </p:txBody>
      </p:sp>
    </p:spTree>
    <p:extLst>
      <p:ext uri="{BB962C8B-B14F-4D97-AF65-F5344CB8AC3E}">
        <p14:creationId xmlns:p14="http://schemas.microsoft.com/office/powerpoint/2010/main" val="9917144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2026-08-30T17:30:04.4150000Z</dcterms:created>
  <dcterms:modified xsi:type="dcterms:W3CDTF">2026-08-30T17:30:04.4150000Z</dcterms:modified>
</coreProperties>
</file>