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Relationship Id="rId5" Type="http://schemas.openxmlformats.org/officeDocument/2006/relationships/slide" Target="slide195.xml"/><Relationship Id="rId6" Type="http://schemas.openxmlformats.org/officeDocument/2006/relationships/slide" Target="slide196.xml"/><Relationship Id="rId7" Type="http://schemas.openxmlformats.org/officeDocument/2006/relationships/slide" Target="slide19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.xml"/><Relationship Id="rId5" Type="http://schemas.openxmlformats.org/officeDocument/2006/relationships/slide" Target="slide2.xml"/><Relationship Id="rId6" Type="http://schemas.openxmlformats.org/officeDocument/2006/relationships/slide" Target="slide14.xml"/><Relationship Id="rId7" Type="http://schemas.openxmlformats.org/officeDocument/2006/relationships/slide" Target="slide19.xml"/><Relationship Id="rId8" Type="http://schemas.openxmlformats.org/officeDocument/2006/relationships/slide" Target="slide36.xml"/><Relationship Id="rId9" Type="http://schemas.openxmlformats.org/officeDocument/2006/relationships/slide" Target="slide5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Relationship Id="rId5" Type="http://schemas.openxmlformats.org/officeDocument/2006/relationships/slide" Target="slide61.xml"/><Relationship Id="rId6" Type="http://schemas.openxmlformats.org/officeDocument/2006/relationships/slide" Target="slide70.xml"/><Relationship Id="rId7" Type="http://schemas.openxmlformats.org/officeDocument/2006/relationships/slide" Target="slide71.xml"/><Relationship Id="rId8" Type="http://schemas.openxmlformats.org/officeDocument/2006/relationships/slide" Target="slide106.xml"/><Relationship Id="rId9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3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4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5" Type="http://schemas.openxmlformats.org/officeDocument/2006/relationships/slide" Target="slide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.xml"/><Relationship Id="rId5" Type="http://schemas.openxmlformats.org/officeDocument/2006/relationships/slide" Target="slide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.xml"/><Relationship Id="rId5" Type="http://schemas.openxmlformats.org/officeDocument/2006/relationships/slide" Target="slide4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.xml"/><Relationship Id="rId5" Type="http://schemas.openxmlformats.org/officeDocument/2006/relationships/slide" Target="slide4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8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3.xml"/><Relationship Id="rId4" Type="http://schemas.openxmlformats.org/officeDocument/2006/relationships/slide" Target="slide33.xml"/><Relationship Id="rId5" Type="http://schemas.openxmlformats.org/officeDocument/2006/relationships/slide" Target="slide3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5.xml"/><Relationship Id="rId4" Type="http://schemas.openxmlformats.org/officeDocument/2006/relationships/slide" Target="slide19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7.xml"/><Relationship Id="rId4" Type="http://schemas.openxmlformats.org/officeDocument/2006/relationships/slide" Target="slide34.xml"/><Relationship Id="rId5" Type="http://schemas.openxmlformats.org/officeDocument/2006/relationships/slide" Target="slide33.xml"/><Relationship Id="rId6" Type="http://schemas.openxmlformats.org/officeDocument/2006/relationships/slide" Target="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8.xml"/><Relationship Id="rId4" Type="http://schemas.openxmlformats.org/officeDocument/2006/relationships/slide" Target="slide39.xml"/><Relationship Id="rId5" Type="http://schemas.openxmlformats.org/officeDocument/2006/relationships/slide" Target="slide42.xml"/><Relationship Id="rId6" Type="http://schemas.openxmlformats.org/officeDocument/2006/relationships/slide" Target="slide45.xml"/><Relationship Id="rId7" Type="http://schemas.openxmlformats.org/officeDocument/2006/relationships/slide" Target="slide4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9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2.xml"/><Relationship Id="rId7" Type="http://schemas.openxmlformats.org/officeDocument/2006/relationships/slide" Target="slide4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9.xml"/><Relationship Id="rId5" Type="http://schemas.openxmlformats.org/officeDocument/2006/relationships/slide" Target="slide40.xml"/><Relationship Id="rId6" Type="http://schemas.openxmlformats.org/officeDocument/2006/relationships/slide" Target="slide42.xml"/><Relationship Id="rId7" Type="http://schemas.openxmlformats.org/officeDocument/2006/relationships/slide" Target="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0.xml"/><Relationship Id="rId4" Type="http://schemas.openxmlformats.org/officeDocument/2006/relationships/slide" Target="slide42.xml"/><Relationship Id="rId5" Type="http://schemas.openxmlformats.org/officeDocument/2006/relationships/slide" Target="slide43.xml"/><Relationship Id="rId6" Type="http://schemas.openxmlformats.org/officeDocument/2006/relationships/slide" Target="slide40.xml"/><Relationship Id="rId7" Type="http://schemas.openxmlformats.org/officeDocument/2006/relationships/slide" Target="slide39.xml"/><Relationship Id="rId8" Type="http://schemas.openxmlformats.org/officeDocument/2006/relationships/slide" Target="slide199.xml"/><Relationship Id="rId9" Type="http://schemas.openxmlformats.org/officeDocument/2006/relationships/slide" Target="slide20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1.xml"/><Relationship Id="rId4" Type="http://schemas.openxmlformats.org/officeDocument/2006/relationships/slide" Target="slide45.xml"/><Relationship Id="rId5" Type="http://schemas.openxmlformats.org/officeDocument/2006/relationships/slide" Target="slide46.xml"/><Relationship Id="rId6" Type="http://schemas.openxmlformats.org/officeDocument/2006/relationships/slide" Target="slide42.xml"/><Relationship Id="rId7" Type="http://schemas.openxmlformats.org/officeDocument/2006/relationships/slide" Target="slide39.xml"/><Relationship Id="rId8" Type="http://schemas.openxmlformats.org/officeDocument/2006/relationships/slide" Target="slide201.xml"/><Relationship Id="rId9" Type="http://schemas.openxmlformats.org/officeDocument/2006/relationships/slide" Target="slide20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3.xml"/><Relationship Id="rId4" Type="http://schemas.openxmlformats.org/officeDocument/2006/relationships/slide" Target="slide203.xml"/><Relationship Id="rId5" Type="http://schemas.openxmlformats.org/officeDocument/2006/relationships/slide" Target="slide20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4.xml"/><Relationship Id="rId4" Type="http://schemas.openxmlformats.org/officeDocument/2006/relationships/slide" Target="slide205.xml"/><Relationship Id="rId5" Type="http://schemas.openxmlformats.org/officeDocument/2006/relationships/slide" Target="slide20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5.xml"/><Relationship Id="rId4" Type="http://schemas.openxmlformats.org/officeDocument/2006/relationships/slide" Target="slide207.xml"/><Relationship Id="rId5" Type="http://schemas.openxmlformats.org/officeDocument/2006/relationships/slide" Target="slide20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4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5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6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bgpopt/src/xforms/CXformLeftAntiSemiJoinNotIn2HashJoinNotIn.cpp" TargetMode="External"/><Relationship Id="rId3" Type="http://schemas.openxmlformats.org/officeDocument/2006/relationships/hyperlink" Target="https://github.com/apache/cloudberry/blob/main/src/backend/gporca/libgpopt/src/operators/CPhysicalMotionBroadcast.cpp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17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xecutor/nodeWindowAgg.c" TargetMode="External"/><Relationship Id="rId3" Type="http://schemas.openxmlformats.org/officeDocument/2006/relationships/hyperlink" Target="https://github.com/apache/cloudberry/blob/main/src/backend/gporca/libgpopt/src/xforms/CXformImplementSequenceProject.cpp" TargetMode="External"/><Relationship Id="rId4" Type="http://schemas.openxmlformats.org/officeDocument/2006/relationships/hyperlink" Target="https://github.com/apache/cloudberry/blob/main/src/backend/gporca/libgpopt/src/operators/CPhysicalMotionHashDistribute.cpp" TargetMode="External"/><Relationship Id="rId5" Type="http://schemas.openxmlformats.org/officeDocument/2006/relationships/slide" Target="slide3.xml"/><Relationship Id="rId6" Type="http://schemas.openxmlformats.org/officeDocument/2006/relationships/slide" Target="slide17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pache/cloudberry/blob/main/src/backend/gporca/libgpopt/src/operators/CPhysicalMotionBroadcast.cpp" TargetMode="External"/><Relationship Id="rId3" Type="http://schemas.openxmlformats.org/officeDocument/2006/relationships/hyperlink" Target="https://github.com/apache/cloudberry/blob/main/src/backend/gporca/libgpopt/src/operators/CPhysicalMotionHashDistribute.cpp" TargetMode="External"/><Relationship Id="rId4" Type="http://schemas.openxmlformats.org/officeDocument/2006/relationships/hyperlink" Target="https://github.com/greenplum-db/gpdb-archive/blob/main/src/backend/utils/adt/selfuncs.c" TargetMode="External"/><Relationship Id="rId5" Type="http://schemas.openxmlformats.org/officeDocument/2006/relationships/slide" Target="slide3.xml"/><Relationship Id="rId6" Type="http://schemas.openxmlformats.org/officeDocument/2006/relationships/slide" Target="slide17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7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executor/nodeAgg.c" TargetMode="External"/><Relationship Id="rId3" Type="http://schemas.openxmlformats.org/officeDocument/2006/relationships/hyperlink" Target="https://github.com/apache/cloudberry/blob/main/src/backend/gporca/libgpopt/src/xforms/CXformGbAgg2HashAgg.cpp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18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commands/analyze.c" TargetMode="External"/><Relationship Id="rId3" Type="http://schemas.openxmlformats.org/officeDocument/2006/relationships/hyperlink" Target="https://github.com/greenplum-db/gpdb-archive/blob/main/src/backend/utils/misc/guc.c" TargetMode="External"/><Relationship Id="rId4" Type="http://schemas.openxmlformats.org/officeDocument/2006/relationships/slide" Target="slide3.xml"/><Relationship Id="rId5" Type="http://schemas.openxmlformats.org/officeDocument/2006/relationships/slide" Target="slide18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8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reenplum-db/gpdb-archive/blob/main/src/backend/utils/adt/orderedsetaggs.c" TargetMode="External"/><Relationship Id="rId3" Type="http://schemas.openxmlformats.org/officeDocument/2006/relationships/hyperlink" Target="https://github.com/greenplum-db/gpdb-archive/blob/main/src/backend/executor/nodeAgg.c" TargetMode="External"/><Relationship Id="rId4" Type="http://schemas.openxmlformats.org/officeDocument/2006/relationships/hyperlink" Target="https://github.com/greenplum-db/gpdb-archive/blob/main/src/backend/executor/nodeMotion.c" TargetMode="External"/><Relationship Id="rId5" Type="http://schemas.openxmlformats.org/officeDocument/2006/relationships/slide" Target="slide3.xml"/><Relationship Id="rId6" Type="http://schemas.openxmlformats.org/officeDocument/2006/relationships/slide" Target="slide19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91.xml"/><Relationship Id="rId4" Type="http://schemas.openxmlformats.org/officeDocument/2006/relationships/slide" Target="slide210.xml"/><Relationship Id="rId5" Type="http://schemas.openxmlformats.org/officeDocument/2006/relationships/slide" Target="slide2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9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93.xml"/><Relationship Id="rId4" Type="http://schemas.openxmlformats.org/officeDocument/2006/relationships/slide" Target="slide212.xml"/><Relationship Id="rId5" Type="http://schemas.openxmlformats.org/officeDocument/2006/relationships/slide" Target="slide21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9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4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3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4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3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8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0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8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69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0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3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4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8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0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3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4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5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8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9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0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3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4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8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9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Relationship Id="rId5" Type="http://schemas.openxmlformats.org/officeDocument/2006/relationships/slide" Target="slide14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4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8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49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0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УРОК 03 ·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 и тюнинг тяжёлых запросов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«Как смотреть» (Core 60 / 90 / Full). Большое число слайдов ≠ всё читать вслух.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Научить читать план и доказывать rewrite.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labs/greenplum-625 · БД mentor · схема lesson03.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Режим → проблема → план → stats → TEMP → proof. Словарь/кейсы — по режиму.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+ equivalence + один bottleneck.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НАВИГАЦИЯ · ОБЯЗАТЕЛЬНО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смотреть эту презентацию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много слайдов = урок + справочник + порталы возврата. Не листать подряд. Выберите режим.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 · ~30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→ план → sel lite → TEMP → proof. Словарь и «Детали» — только по чипу «Термины».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90 · ~45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 + MCV/hist (смысл) + storage decision + 2 кейса (01 и 03 или 08). Остальное — homework.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Full · справочник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этапы + 9 кейсов + Appendix. Порталы «Аа Словарь» / «→ Appendix» — служебные, не часть лекции.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Кнопки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☰ Меню = оглавление. Аа Словарь = портал с ← Вернуться. Синие «Термины» = tip + разбор рядом.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Начать Core 60 (Проблема)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4087368" y="5925312"/>
            <a:ext cx="299008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Словарь (по желанию)</a:t>
            </a:r>
          </a:p>
        </p:txBody>
      </p:sp>
      <p:sp>
        <p:nvSpPr>
          <p:cNvPr id="27" name="Rounded Rectangle 26">
            <a:hlinkClick action="ppaction://hlinksldjump" r:id="rId7"/>
          </p:cNvPr>
          <p:cNvSpPr/>
          <p:nvPr/>
        </p:nvSpPr>
        <p:spPr>
          <a:xfrm>
            <a:off x="7168896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Оглавление этапов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30" name="Rounded Rectangle 29">
            <a:hlinkClick action="ppaction://hlinksldjump" r:id="rId4"/>
          </p:cNvPr>
          <p:cNvSpPr/>
          <p:nvPr/>
        </p:nvSpPr>
        <p:spPr>
          <a:xfrm>
            <a:off x="3337560" y="6327648"/>
            <a:ext cx="214884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Core 60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ОГЛАВЛЕНИЕ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Путь ученика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режим на слайде «Как смотреть». Дальше клик по этапу. Словарь live не листать.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50292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  Как смотреть (режимы)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Core 60 / 90 / Full · что не листать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612648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01  Словарь (по клику)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Self-service · не обязателен в Core 60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50292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16936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02  Этап 1 · Проблема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Старт Core 60 / 90</a:t>
            </a:r>
          </a:p>
        </p:txBody>
      </p:sp>
      <p:sp>
        <p:nvSpPr>
          <p:cNvPr id="18" name="Rounded Rectangle 17">
            <a:hlinkClick action="ppaction://hlinksldjump" r:id="rId7"/>
          </p:cNvPr>
          <p:cNvSpPr/>
          <p:nvPr/>
        </p:nvSpPr>
        <p:spPr>
          <a:xfrm>
            <a:off x="612648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916936"/>
            <a:ext cx="109728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03  Этап 2 · Как читать план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Motion · ORCA · детали по чипу</a:t>
            </a:r>
          </a:p>
        </p:txBody>
      </p:sp>
      <p:sp>
        <p:nvSpPr>
          <p:cNvPr id="21" name="Rounded Rectangle 20">
            <a:hlinkClick action="ppaction://hlinksldjump" r:id="rId8"/>
          </p:cNvPr>
          <p:cNvSpPr/>
          <p:nvPr/>
        </p:nvSpPr>
        <p:spPr>
          <a:xfrm>
            <a:off x="50292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04  Этап 3 · Статистика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sel · MCV · hist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612648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685032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05  Этап 4–5 · Storage → Практика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Decision → TEMP → metrics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333756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Дальше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ОГЛАВЛЕНИЕ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 · закрепление · 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60: кейсы SKIP. Core 90: два кейса. Full: все 01–09 + Appendix.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50292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9728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06  Этап 5 · Практика OLAP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TEMP · after plan · proof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6126480" y="2148840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109728" cy="6583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21992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07  Этап 6 · Кейсы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01–09 · live только выбранные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50292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16936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08  Кейс 01 · ORCA CE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Рекомендуемый live в Core 90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6126480" y="2916936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916936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09  Этап 7 · Итог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Checklist · маршруты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109728" cy="65836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10  Appendix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Справочник · не для Core 60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6126480" y="3685032"/>
            <a:ext cx="5349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685032"/>
            <a:ext cx="109728" cy="65836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758184"/>
            <a:ext cx="4983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123"/>
                </a:solidFill>
                <a:latin typeface="Calibri"/>
              </a:rPr>
              <a:t>↑  Как смотреть / оглавление</a:t>
            </a:r>
          </a:p>
          <a:p>
            <a:r>
              <a:rPr sz="1100">
                <a:solidFill>
                  <a:srgbClr val="6E6E68"/>
                </a:solidFill>
                <a:latin typeface="Calibri"/>
              </a:rPr>
              <a:t>Режимы · этапы 1–5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4"/>
          </p:cNvPr>
          <p:cNvSpPr/>
          <p:nvPr/>
        </p:nvSpPr>
        <p:spPr>
          <a:xfrm>
            <a:off x="333756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Дальше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1/9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Архитектура исполнения запроса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Клик по термину на слайдах урока → сюда или в локальные «Детали».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Параметр сервера (SHOW/SET). Пример: optimizer, statement_mem.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= master (план + координация). QE = процесс на сегменте.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/ Legacy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Pivotal Optimizer (Cascades). GUC: optimizer=on. Legacy: optimizer=off.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араметр сервера (SHOW/SET). Пример: optimizer, statement_mem.">
            <a:hlinkClick action="ppaction://hlinksldjump" r:id="rId3" tooltip="Параметр сервера (SHOW/SET). Пример: optimizer, statement_mem."/>
          </p:cNvPr>
          <p:cNvSpPr/>
          <p:nvPr/>
        </p:nvSpPr>
        <p:spPr>
          <a:xfrm>
            <a:off x="1463040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27" name="Rounded Rectangle 26" descr="QD = master (план + координация). QE = процесс на сегменте.">
            <a:hlinkClick action="ppaction://hlinksldjump" r:id="rId3" tooltip="QD = master (план + координация). QE = процесс на сегменте."/>
          </p:cNvPr>
          <p:cNvSpPr/>
          <p:nvPr/>
        </p:nvSpPr>
        <p:spPr>
          <a:xfrm>
            <a:off x="2542032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8" name="Rounded Rectangle 27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3840479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9" name="Rounded Rectangle 28" descr="Pivotal Optimizer (Cascades). GUC: optimizer=on.">
            <a:hlinkClick action="ppaction://hlinksldjump" r:id="rId3" tooltip="Pivotal Optimizer (Cascades). GUC: optimizer=on."/>
          </p:cNvPr>
          <p:cNvSpPr/>
          <p:nvPr/>
        </p:nvSpPr>
        <p:spPr>
          <a:xfrm>
            <a:off x="5029199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2/9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и физическое хранение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двигает строки по сети. Storage решает IO 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/ AOCO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Append-Only row / column. AOCO читает нужные колонки.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/ DXL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Heap — 8KB pages. DXL — IR между ORCA и executor.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Нехватка statement_mem → файлы pgsql_tmp на сегменте.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3/9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фильтра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Главное число, из которого планировщик получает rows ≈ N · sel.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предиката (0 &lt; sel ≤ 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Оценка: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N=100 000, segment='enterprise', sel=0.31 → rows_est ≈ 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rows_est зависят join order, Nested Loop vs Hash, Broadcast vs Redistribute.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Ошибка в sel → плохой план даже при свежем ANALYZE.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— сколько разных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(number of distinct values).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в pg_stats — оценка NDV (числа различных значений).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&gt; 0 — абсолютный NDV (segment ≈ 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&lt; 0 — доля от строк (−1.0 ≈ почти уникально / PK)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Равенство без MCV: sel ≈ 1 / NDV.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region NDV=10, region='NW' вне MCV → sel≈0.10 → ~10k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BY: планировщик roughly считает «групп ≈ NDV».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Сколько разных значений в колонке (NDV). База для sel ≈ 1/NDV.">
            <a:hlinkClick action="ppaction://hlinksldjump" r:id="rId4" tooltip="Сколько разных значений в колонке (NDV). База для sel ≈ 1/NDV."/>
          </p:cNvPr>
          <p:cNvSpPr/>
          <p:nvPr/>
        </p:nvSpPr>
        <p:spPr>
          <a:xfrm>
            <a:off x="1463040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09067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5/9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список самых частых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смысл. Формулы — на advanced-слайде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Планировщик угадывает rows для WHERE segment = 'enterprise' —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этого зависят join и Motion.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Грубо: «4 значения → по 25%». В жизни: enterprise ~31%, test ~6%.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= Most Common Values — самые частые значения колонки;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 MCF — доля строк каждого значения.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значение из MCV → берём его реальную долю;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редкое вне MCV → делим остаток поровну.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Устаревший/пустой MCV → врёт rows → NLJ вместо Hash, лишний Broadcast.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— на следующем (advanced) слайде.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254203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6/9 · ФОРМУЛЫ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читать pg_stats и считать 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Язык каталога и формулы.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most_common_vals (MCV) · most_common_freqs (MCF), Σ freqs ≤ 1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 dim_customer.segment: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MCV ≈ {enterprise, mid, smb, test}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MCF ≈ {0.31, 0.31, 0.31, 0.06} · n_distinct=4 → hist=NULL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MCV:  segment='enterprise' → sel = 0.31  (не 1/4)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∉ MCV и NDV &gt; |MCV|: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sel ≈ (1 − Σ MCF) / (NDV − |MCV|)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_common_vals/freqs в pg_stats; sel из MCF или хвоста.">
            <a:hlinkClick action="ppaction://hlinksldjump" r:id="rId4" tooltip="most_common_vals/freqs в pg_stats; sel из MCF или хвоста."/>
          </p:cNvPr>
          <p:cNvSpPr/>
          <p:nvPr/>
        </p:nvSpPr>
        <p:spPr>
          <a:xfrm>
            <a:off x="1463040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 (формулы)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419856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7/9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equi-depth корзины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корзин до формул histfrac.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«сколько строк с точным значением?»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«сколько строк в диапазоне?» (amount &gt; 50, BETWEEN …).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строится: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Сортируем значения колонки.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Режем на равные кучи по числу строк (= корзины).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Границы — точки разрезов.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100 строк, amount 1…100, 4 корзины.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границы ≈ 1 · 25 · 50 · 75 · 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A: 1…25 (~25 строк)  B: 25…50  C: 50…75  D: 75…100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amount &gt; 50 ≈ правая половина → ~50% строк.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Корзины равны по числу строк, не по ширине шкалы.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2980944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8/9 · ФОРМУЛЫ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bounds, histfrac, связь с MCV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смысл — в терминах pg_stats.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pg_stats.histogram_bounds — массив границ equi-depth корзин.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Число границ ≈ default_statistics_target + 1 (target=100 → часто ≈101).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Значения из MCV в histogram обычно не входят.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 → histfrac → selectivity →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NDV мал и всё в MCV — histogram_bounds = NULL (на стенде так у segment).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histogram_bounds, histfrac, связь с MCV в pg_stats.">
            <a:hlinkClick action="ppaction://hlinksldjump" r:id="rId4" tooltip="histogram_bounds, histfrac, связь с MCV в pg_stats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 (формулы)</a:t>
            </a:r>
          </a:p>
        </p:txBody>
      </p:sp>
      <p:sp>
        <p:nvSpPr>
          <p:cNvPr id="13" name="Rounded Rectangle 12" descr="Тот же разбор рядом с этапом плана/статистики.">
            <a:hlinkClick action="ppaction://hlinksldjump" r:id="rId5" tooltip="Тот же разбор рядом с этапом плана/статистики."/>
          </p:cNvPr>
          <p:cNvSpPr/>
          <p:nvPr/>
        </p:nvSpPr>
        <p:spPr>
          <a:xfrm>
            <a:off x="3776472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У теории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 · 9/9 · СМЫСЛ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 и 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Схемы «звезда» / «снежинка».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Fact — события/меры (продажи). Dimension — справочник (клиент, продукт).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Star-join: fact в центре + несколько dim по FK.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Snowflake: dim → sub-dim (ещё joins).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 Greenplum порядок dims решает Broadcast/Redistribute cost — здесь ORCA обычно сильнее Legacy.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Fact в центре + dims по FK. Порядок join бьёт по Motion.">
            <a:hlinkClick action="ppaction://hlinksldjump" r:id="rId4" tooltip="Fact в центре + dims по FK. Порядок join бьёт по Motion."/>
          </p:cNvPr>
          <p:cNvSpPr/>
          <p:nvPr/>
        </p:nvSpPr>
        <p:spPr>
          <a:xfrm>
            <a:off x="1463040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Star-join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К оглавлению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Проблема: тяжёлый OLAP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Сквозной кейс-мотивация. Дальше теория объяснит, как его читать и чинить.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Месячный отчёт «горит» по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AOCO ⋈ dims, фильтр февраля.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точки: Motion · cardinality · spill.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Теория плана → stats → storage → практика.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Симптом: месячный OLAP «горит» по времени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Production frame: SLA нарушен. На стенде учим метод на измеримом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Симптом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Долгий reporting: fact ⋈ dims + window + window за месяц.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Вопрос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Где критический путь: Motion, misestimate или spill?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Фиксируем optimizer + statement_mem до любых before/after.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Lab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 сегмента, ~45k Feb rows — метод, не «47 минут wall».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Архитектура данных кейса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fact_sales (AOCO, range partitions) ⋈ dim_customer ⋈ dim_product.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52958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Таблицы стенда lesson03: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fact_sales — AOCO, DISTRIBUTED BY (customer_id),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PARTITION BY RANGE (sale_date) — 4 партиции на стенде.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dim_customer — справочник клиента (segment, region).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dim_product — справочник продукта (category).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Фильтр кейса: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sale_date ∈ [2026-02-01, 2026-03-01)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segment &lt;&gt; 'test'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Grain результата: region × category + window rank по revenue.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Исходный SQL (monolith)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запрос: filter → joins → agg → window. Без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region, category, revenue,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rank() OVER (PARTITION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region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ORDER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DESC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.region, p.category,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(f.amount)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 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lesson03.dim_customer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lesson03.dim_product  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(product_id)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&gt;=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'2026-02-01'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f.sale_date &lt;  DATE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'2026-03-01'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.segment &lt;&gt; 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GROUP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s;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ПРОБЛЕМА ·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Baseline: три симптома на плане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весь EXPLAIN — три точки. Полный текст: artifacts/lesson-03/case/.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product + Redistribute agg keys + Gather (slice4).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Cardinality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Scan/joins ~ok; финальные groups 9→actual 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256MB — Disk:0; при малом statement_mem возможен Sort spill.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Warm median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Plan ~15 ms · Exec ~15 ms (n=3, lab).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как читать distributed-план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QD/QE, Motion, slices, ORCA vs Legacy — язык EXPLAIN ANALYZE.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Данные + сеть + оценки + optimizer.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Алгоритм чтения плана слоями.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5 слайдов baseline-дерева.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Осторожно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≠ всегда лучше Legacy.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Тяжёлый OLAP = данные + сеть + оценки +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Полный словарь — в начале презентации; здесь — напоминание для плана.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Storage / part / dist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59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06039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1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19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/ slices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78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8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3750" y="220370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38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8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Stats / 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397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12277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69" y="220370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7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7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| Legacy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16" y="3429000"/>
            <a:ext cx="137160" cy="36576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396" y="2057400"/>
            <a:ext cx="1874519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79988" y="220370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6" y="2313432"/>
            <a:ext cx="15453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6" y="2679192"/>
            <a:ext cx="1545335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proof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 / slice / Motion — в контексте плана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Наведите на чип термина — коротко; клик — детали рядом (теория → словарь).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Master/coordinator: parse, optimize, gather.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Segment executor своего slice.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Кусок плана между Motion; своя gang процессов.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/ Broadcast / Gather — плата сетью.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QD = master (план + координация). QE = процесс на сегменте.">
            <a:hlinkClick action="ppaction://hlinksldjump" r:id="rId4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7" name="Rounded Rectangle 26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2761487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8" name="Rounded Rectangle 27" descr="Pivotal Optimizer (Cascades). GUC: optimizer=on.">
            <a:hlinkClick action="ppaction://hlinksldjump" r:id="rId6" tooltip="Pivotal Optimizer (Cascades). GUC: optimizer=on."/>
          </p:cNvPr>
          <p:cNvSpPr/>
          <p:nvPr/>
        </p:nvSpPr>
        <p:spPr>
          <a:xfrm>
            <a:off x="3950207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29" name="Rounded Rectangle 28" descr="Параметр сервера (SHOW/SET). Пример: optimizer, statement_mem.">
            <a:hlinkClick action="ppaction://hlinksldjump" r:id="rId7" tooltip="Параметр сервера (SHOW/SET). Пример: optimizer, statement_mem."/>
          </p:cNvPr>
          <p:cNvSpPr/>
          <p:nvPr/>
        </p:nvSpPr>
        <p:spPr>
          <a:xfrm>
            <a:off x="5907023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METHOD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Алгоритм чтения EXPLAIN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Shape недостаточен — нужен execution profile. Шаги 1–6.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Зафиксировать optimizer + GUC. Разметить Motion / slices.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Max actual rows flow. Первый крупный estimate vs actual.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Avg vs max по сегментам — ищем skew.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 build/probe и длина join-chain.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METHOD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Алгоритм чтения EXPLAIN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Шаги 7–12. В конце — одна проверяемая гипотеза.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7–8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Distribution keys vs join keys. Sort/Hash mem и Disk spill.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9–10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elimination. Planning vs execution bottleneck.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Critical path ≠ сумма времён всех узлов.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Одна проверяемая гипотеза → TEMP / rewrite / GUC.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90 секунд: где первая причина плохого плана?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Смотрите baseline. Не называйте «просто медленный SQL».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маленького dim — нормальная цена?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после широкого join — нужен ли раньше filter?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 над уже маленьким agg — bottleneck wall-clock?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Estimate groups 9 vs 4 — влияет на Motion?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Форма дерева (baseline)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4 slices. Полный plan: case/baseline-explain-analyze.txt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2:1  (slice4)     actual rows=4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WindowAgg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/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(region)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(region, category)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Redistribute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2:2  (region, category)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⋈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Dynamic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  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2/4 parts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Filter: Feb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dim_customer  --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segment&lt;&gt;test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        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dim_product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Optimizer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GPORCA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едут данные (Motion)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Сеть дороже CPU на широком промежуточном set. Чип Motion → детали.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dim_product → все seg (800 rows) — дёшево на lab.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partial agg по (region, category).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 region перед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Gather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Финальный 2:1 на QD — маленький результат.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7" name="Rounded Rectangle 26" descr="QD = master (план + координация). QE = процесс на сегменте.">
            <a:hlinkClick action="ppaction://hlinksldjump" r:id="rId5" tooltip="QD = master (план + координация). QE = процесс на сегменте."/>
          </p:cNvPr>
          <p:cNvSpPr/>
          <p:nvPr/>
        </p:nvSpPr>
        <p:spPr>
          <a:xfrm>
            <a:off x="265176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Где ошиблась cardinality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Порог ×N — эвристика; смотрите абсолютный объём узла.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Dynamic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fact:  est 22400  act 22896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customer:     est 21062  act 21432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product:      est 21010  act 21432   (~ok)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Final groups / Gather:  est 9      act 4       (overestimate)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На lab misestimate мал по абсолюту.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В production тот же паттерн на млрд rows → Motion/mem.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Память и диск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statement_mem=256MB → quicksort, Disk:0. Spill — другой слой, чем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Memory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262144kB (cap statement_mem) на baseline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quicksort 66kB — без external merge.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Spill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pgsql_tmp_Sort_* только при нехватке mem.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Демо spill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SET statement_mem='8MB' + широкий ORDER BY — кнопка ниже → Appendix.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PLAN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Bottleneck на этом плане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Гипотеза для проверки декомпозицией.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Критический путь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Scan+два Hash Join на широком Feb set до agg.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Гипотеза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Вынести filter/join в TEMP stage → меньше Motion/work в финале.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гипотеза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«Выключить ORCA» как первый рычаг на lab-scale.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Проверка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 + тот же optimizer → metrics.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OPTIMIZERS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vs Legacy: осторожные формулировки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На 2 сегментах сравниваем shape. Production claim требует объёма.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785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стенде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и Legacy могут выбрать разный join order / Motion. Фиксируйте GUC. Смотрите actual rows и runtime, не только маркер Optimizer.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785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говорим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«ORCA всегда быстрее» / «Legacy для каждого короткого SQL». Legacy = diagnostic control + fallback при feature gap.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8" name="Rounded Rectangle 17" descr="Pivotal Optimizer (Cascades). GUC: optimizer=on.">
            <a:hlinkClick action="ppaction://hlinksldjump" r:id="rId4" tooltip="Pivotal Optimizer (Cascades). GUC: optimizer=on."/>
          </p:cNvPr>
          <p:cNvSpPr/>
          <p:nvPr/>
        </p:nvSpPr>
        <p:spPr>
          <a:xfrm>
            <a:off x="1463040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19" name="Rounded Rectangle 18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3419856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0" name="Rounded Rectangle 19" descr="Параметр сервера (SHOW/SET). Пример: optimizer, statement_mem.">
            <a:hlinkClick action="ppaction://hlinksldjump" r:id="rId6" tooltip="Параметр сервера (SHOW/SET). Пример: optimizer, statement_mem."/>
          </p:cNvPr>
          <p:cNvSpPr/>
          <p:nvPr/>
        </p:nvSpPr>
        <p:spPr>
          <a:xfrm>
            <a:off x="4608576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21" name="Rounded Rectangle 20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2" name="Rounded Rectangle 21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ПЛАН · СЛОВАРЬ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Термины плана — сначала смысл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Дальше — короткие карточки-детали. Наведите на чип термина на соседних слайдах.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/ QE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QD = master (план + координация). QE = процесс на сегменте.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Пересылка строк по сети: Redistribute / Broadcast / Gather.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Pivotal Optimizer (Cascades). GUC: optimizer=on.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Параметр сервера (SHOW/SET). Пример: optimizer, statement_mem.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QD = master (план + координация). QE = процесс на сегменте.">
            <a:hlinkClick action="ppaction://hlinksldjump" r:id="rId4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1225295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QD / QE</a:t>
            </a:r>
          </a:p>
        </p:txBody>
      </p:sp>
      <p:sp>
        <p:nvSpPr>
          <p:cNvPr id="27" name="Rounded Rectangle 26" descr="Пересылка строк по сети: Redistribute / Broadcast / Gather.">
            <a:hlinkClick action="ppaction://hlinksldjump" r:id="rId5" tooltip="Пересылка строк по сети: Redistribute / Broadcast / Gather."/>
          </p:cNvPr>
          <p:cNvSpPr/>
          <p:nvPr/>
        </p:nvSpPr>
        <p:spPr>
          <a:xfrm>
            <a:off x="2761487" y="5925312"/>
            <a:ext cx="111556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Motion</a:t>
            </a:r>
          </a:p>
        </p:txBody>
      </p:sp>
      <p:sp>
        <p:nvSpPr>
          <p:cNvPr id="28" name="Rounded Rectangle 27" descr="Pivotal Optimizer (Cascades). GUC: optimizer=on.">
            <a:hlinkClick action="ppaction://hlinksldjump" r:id="rId6" tooltip="Pivotal Optimizer (Cascades). GUC: optimizer=on."/>
          </p:cNvPr>
          <p:cNvSpPr/>
          <p:nvPr/>
        </p:nvSpPr>
        <p:spPr>
          <a:xfrm>
            <a:off x="3950207" y="5925312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ORCA / GPORCA</a:t>
            </a:r>
          </a:p>
        </p:txBody>
      </p:sp>
      <p:sp>
        <p:nvSpPr>
          <p:cNvPr id="29" name="Rounded Rectangle 28" descr="Параметр сервера (SHOW/SET). Пример: optimizer, statement_mem.">
            <a:hlinkClick action="ppaction://hlinksldjump" r:id="rId7" tooltip="Параметр сервера (SHOW/SET). Пример: optimizer, statement_mem."/>
          </p:cNvPr>
          <p:cNvSpPr/>
          <p:nvPr/>
        </p:nvSpPr>
        <p:spPr>
          <a:xfrm>
            <a:off x="5907023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GUC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и 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Кто строит план и кто исполняет slice.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QD (Query Dispatcher) — на master: парсит SQL, выбирает план, режет его на slices и собирает результат.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QE (Query Executor) — на каждом сегменте: исполняет свой кусок плана.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Между QE разных сегментов данные едут через Motion.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QD = master (план + координация). QE = процесс на сегменте.">
            <a:hlinkClick action="ppaction://hlinksldjump" r:id="rId3" tooltip="QD = master (план + координация). QE = процесс на сегменте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— цена сети в 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основных вида обмена строками.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— оператор, который двигает строки между сегментами (или на master).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Redistribute — перетасовать по hash-ключу (дорого на широком потоке).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Broadcast — отправить копию маленькой таблицы всем сегментам.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Gather — собрать результат на QD/master.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Цель тюнинга: делать Motion на уже узком наборе строк.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Пересылка строк по сети: Redistribute / Broadcast / Gather.">
            <a:hlinkClick action="ppaction://hlinksldjump" r:id="rId4" tooltip="Пересылка строк по сети: Redistribute / Broadcast / Gather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(ORCA)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Современный cost-based optimizer Greenplum.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GPORCA — оптимизатор на базе Cascades/memo.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Включается: SET optimizer = on;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 EXPLAIN: Optimizer: Pivotal Optimizer (GPORCA).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Обычно сильнее Legacy на star-join и сложных OLAP.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аксиома «всегда быстрее» — сравнивайте shape и runtime.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Pivotal Optimizer (Cascades). GUC: optimizer=on.">
            <a:hlinkClick action="ppaction://hlinksldjump" r:id="rId3" tooltip="Pivotal Optimizer (Cascades). GUC: optimizer=on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— параметр конфигурации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Grand Unified Configuration.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 — настройка сервера Greenplum/Postgres.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Смотреть: SHOW name; менять в сессии: SET name = value.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 уроке критичны: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optimizer = on|off  → GPORCA или Legacy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statement_mem      → память операторов (spill)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Перед before/after всегда фиксируйте один и тот же набор GUC.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Параметр сервера (SHOW/SET). Пример: optimizer, statement_mem.">
            <a:hlinkClick action="ppaction://hlinksldjump" r:id="rId3" tooltip="Параметр сервера (SHOW/SET). Пример: optimizer, statement_mem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статистика и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 каких чисел в pg_stats планировщик получает rows_est — и когда ANALYZE бессилен.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hist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Equality → MCV+freqs. Range → equi-depth histogram. Разные структуры — разные формулы.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(0,1], rows≈N·sel. Дальше — формулы Legacy AND и ORCA damping с числами.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Пересобирает sample → MCV/hist/NDV. После bulk load и TEMP stage — обязательно.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Лимит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Свежий ANALYZE ≠ хороший план: корреляция, выражения, many-join, skew.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27" name="Rounded Rectangle 26" descr="Most Common Values + частоты (MCF). Точнее равномерной оценки 1/NDV.">
            <a:hlinkClick action="ppaction://hlinksldjump" r:id="rId5" tooltip="Most Common Values + частоты (MCF). Точнее равномерной оценки 1/NDV."/>
          </p:cNvPr>
          <p:cNvSpPr/>
          <p:nvPr/>
        </p:nvSpPr>
        <p:spPr>
          <a:xfrm>
            <a:off x="3200399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28" name="Rounded Rectangle 27" descr="Корзины равного числа строк; для range (BETWEEN, &gt;, &lt;).">
            <a:hlinkClick action="ppaction://hlinksldjump" r:id="rId6" tooltip="Корзины равного числа строк; для range (BETWEEN, &gt;, &lt;)."/>
          </p:cNvPr>
          <p:cNvSpPr/>
          <p:nvPr/>
        </p:nvSpPr>
        <p:spPr>
          <a:xfrm>
            <a:off x="4279391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29" name="Rounded Rectangle 28" descr="Сколько разных значений в колонке (NDV). База для sel ≈ 1/NDV.">
            <a:hlinkClick action="ppaction://hlinksldjump" r:id="rId7" tooltip="Сколько разных значений в колонке (NDV). База для sel ≈ 1/NDV."/>
          </p:cNvPr>
          <p:cNvSpPr/>
          <p:nvPr/>
        </p:nvSpPr>
        <p:spPr>
          <a:xfrm>
            <a:off x="5797295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Цепочка: от EXPLAIN к числам в каталоге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Учимся читать plan → проверять, откуда взялась оценка.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В EXPLAIN смотрим rows (estimate) vs actual rows.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Если сильно расходятся — открываем pg_stats по фильтруемым колонкам: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   n_distinct, most_common_vals/freqs, histogram_bounds.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Физически это строки pg_statistic (heap + TOAST), не «отдельный stats file».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4) Из этих массивов планировщик считает selectivity → rows_est → cost join/Motion.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 сразу идут карточки словаря по этим терминам — не только «в начале презентации».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3" name="Rounded Rectangle 12" descr="Сколько разных значений в колонке (NDV). База для sel ≈ 1/NDV.">
            <a:hlinkClick action="ppaction://hlinksldjump" r:id="rId5" tooltip="Сколько разных значений в колонке (NDV). База для sel ≈ 1/NDV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4" name="Rounded Rectangle 13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4828031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5" name="Rounded Rectangle 14" descr="Корзины равного числа строк; для range (BETWEEN, &gt;, &lt;).">
            <a:hlinkClick action="ppaction://hlinksldjump" r:id="rId7" tooltip="Корзины равного числа строк; для range (BETWEEN, &gt;, &lt;)."/>
          </p:cNvPr>
          <p:cNvSpPr/>
          <p:nvPr/>
        </p:nvSpPr>
        <p:spPr>
          <a:xfrm>
            <a:off x="5907023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СЛОВАРЬ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Сначала термины, потом формулы урока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Чипы на слайдах: наведение = коротко, клик = этот разбор.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Доля строк после фильтра (0…1). rows ≈ N · sel.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Сколько разных значений в колонке (NDV). База для sel ≈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Most Common Values + частоты (MCF). Точнее равномерной оценки 1/NDV.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для range (BETWEEN, &gt;, &lt;).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26" name="Rounded Rectangle 25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27" name="Rounded Rectangle 26" descr="Сколько разных значений в колонке (NDV). База для sel ≈ 1/NDV.">
            <a:hlinkClick action="ppaction://hlinksldjump" r:id="rId5" tooltip="Сколько разных значений в колонке (NDV). База для sel ≈ 1/NDV."/>
          </p:cNvPr>
          <p:cNvSpPr/>
          <p:nvPr/>
        </p:nvSpPr>
        <p:spPr>
          <a:xfrm>
            <a:off x="3200399" y="5925312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28" name="Rounded Rectangle 27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4828031" y="592531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29" name="Rounded Rectangle 28" descr="Корзины равного числа строк; для range (BETWEEN, &gt;, &lt;).">
            <a:hlinkClick action="ppaction://hlinksldjump" r:id="rId7" tooltip="Корзины равного числа строк; для range (BETWEEN, &gt;, &lt;)."/>
          </p:cNvPr>
          <p:cNvSpPr/>
          <p:nvPr/>
        </p:nvSpPr>
        <p:spPr>
          <a:xfrm>
            <a:off x="5907023" y="592531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фильтра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Главное число, из которого планировщик получает rows ≈ N · sel.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 — доля строк после предиката (0 &lt; sel ≤ 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Оценка: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N=100 000, segment='enterprise', sel=0.31 → rows_est ≈ 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rows_est зависят join order, Nested Loop vs Hash, Broadcast vs Redistribute.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Ошибка в sel → плохой план даже при свежем ANALYZE.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Доля строк после фильтра (0…1). rows ≈ N · sel.">
            <a:hlinkClick action="ppaction://hlinksldjump" r:id="rId4" tooltip="Доля строк после фильтра (0…1). rows ≈ N · sel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— сколько разных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 (number of distinct values).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n_distinct в pg_stats — оценка NDV (числа различных значений).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&gt; 0 — абсолютный NDV (segment ≈ 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&lt; 0 — доля от строк (−1.0 ≈ почти уникально / PK)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Равенство без MCV: sel ≈ 1 / NDV.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region NDV=10, region='NW' вне MCV → sel≈0.10 → ~10k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GROUP BY: планировщик roughly считает «групп ≈ NDV».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Сколько разных значений в колонке (NDV). База для sel ≈ 1/NDV.">
            <a:hlinkClick action="ppaction://hlinksldjump" r:id="rId4" tooltip="Сколько разных значений в колонке (NDV). База для sel ≈ 1/NDV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Equality: MCV или 1/NDV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Рабочий пример на segment. Наведите на MCV / n_distinct — кратко; клик — детали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25526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Предикат: segment = 'enterprise'.  N = 100 000.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MCV={enterprise,mid,smb,test}  MCF={0.31,0.31,0.31,0.06}  NDV=4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 → sel=0.31 → rows_est=31 000.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Без MCV → sel≈1/NDV=0.25 → rows_est=25 000.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точнее на «толстых» значениях → NLJ vs Hash может переехать.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Вне MCV (NDV &gt; |MCV|): sel ≈ (1−Σ MCF)/(NDV−|MCV|).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22976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522976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3" name="Rounded Rectangle 12" descr="most_common_vals/freqs в pg_stats; sel из MCF или хвоста.">
            <a:hlinkClick action="ppaction://hlinksldjump" r:id="rId5" tooltip="most_common_vals/freqs в pg_stats; sel из MCF или хвоста."/>
          </p:cNvPr>
          <p:cNvSpPr/>
          <p:nvPr/>
        </p:nvSpPr>
        <p:spPr>
          <a:xfrm>
            <a:off x="2542032" y="5522976"/>
            <a:ext cx="18836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 (формулы)</a:t>
            </a:r>
          </a:p>
        </p:txBody>
      </p:sp>
      <p:sp>
        <p:nvSpPr>
          <p:cNvPr id="14" name="Rounded Rectangle 13" descr="Сколько разных значений в колонке (NDV). База для sel ≈ 1/NDV.">
            <a:hlinkClick action="ppaction://hlinksldjump" r:id="rId6" tooltip="Сколько разных значений в колонке (NDV). База для sel ≈ 1/NDV."/>
          </p:cNvPr>
          <p:cNvSpPr/>
          <p:nvPr/>
        </p:nvSpPr>
        <p:spPr>
          <a:xfrm>
            <a:off x="4498848" y="5522976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n_distinct</a:t>
            </a:r>
          </a:p>
        </p:txBody>
      </p:sp>
      <p:sp>
        <p:nvSpPr>
          <p:cNvPr id="15" name="Rounded Rectangle 14" descr="Доля строк после фильтра (0…1). rows ≈ N · sel.">
            <a:hlinkClick action="ppaction://hlinksldjump" r:id="rId7" tooltip="Доля строк после фильтра (0…1). rows ≈ N · sel."/>
          </p:cNvPr>
          <p:cNvSpPr/>
          <p:nvPr/>
        </p:nvSpPr>
        <p:spPr>
          <a:xfrm>
            <a:off x="6126480" y="5522976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(selfuncs)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5093208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список самых частых значений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Сначала смысл. Формулы — на advanced-слайде рядом.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Планировщик угадывает rows для WHERE segment = 'enterprise' —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 этого зависят join и Motion.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Грубо: «4 значения → по 25%». В жизни: enterprise ~31%, test ~6%.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= Most Common Values — самые частые значения колонки;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 MCF — доля строк каждого значения.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значение из MCV → берём его реальную долю;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• редкое вне MCV → делим остаток поровну.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Устаревший/пустой MCV → врёт rows → NLJ вместо Hash, лишний Broadcast.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Формулы — на следующем (advanced) слайде.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 Common Values + частоты (MCF). Точнее равномерной оценки 1/NDV.">
            <a:hlinkClick action="ppaction://hlinksldjump" r:id="rId4" tooltip="Most Common Values + частоты (MCF). Точнее равномерной оценки 1/NDV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как читать pg_stats и считать 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Язык каталога и формулы.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most_common_vals (MCV) · most_common_freqs (MCF), Σ freqs ≤ 1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 dim_customer.segment: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MCV ≈ {enterprise, mid, smb, test}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MCF ≈ {0.31, 0.31, 0.31, 0.06} · n_distinct=4 → hist=NULL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∈ MCV:  segment='enterprise' → sel = 0.31  (не 1/4)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∉ MCV и NDV &gt; |MCV|: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sel ≈ (1 − Σ MCF) / (NDV − |MCV|)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most_common_vals/freqs в pg_stats; sel из MCF или хвоста.">
            <a:hlinkClick action="ppaction://hlinksldjump" r:id="rId4" tooltip="most_common_vals/freqs в pg_stats; sel из MCF или хвоста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Range: histfrac по equi-depth histogram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= равные кучи строк. Чипы Histogram → детали рядом.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547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255264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Предикат: amount &gt; 50 → смотрим histogram_bounds.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Equi-depth: соседние границы делят ~равную долю строк.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Границ ≈ default_statistics_target+1 (target=100 → ≈101).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 ≈ доля полных корзин справа от 50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  + доля частичной корзины с 50  (= histfrac).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NDV мал и всё в MCV → histogram_bounds=NULL (segment на стенде).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Стенд: SELECT attname, n_distinct,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array_length(histogram_bounds,1) AS hist_n</a:t>
            </a:r>
            <a:br/>
            <a:r>
              <a:rPr sz="12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FROM pg_stats WHERE schemaname='lesson03';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522976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522976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</a:t>
            </a:r>
          </a:p>
        </p:txBody>
      </p:sp>
      <p:sp>
        <p:nvSpPr>
          <p:cNvPr id="13" name="Rounded Rectangle 12" descr="histogram_bounds, histfrac, связь с MCV в pg_stats.">
            <a:hlinkClick action="ppaction://hlinksldjump" r:id="rId5" tooltip="histogram_bounds, histfrac, связь с MCV в pg_stats."/>
          </p:cNvPr>
          <p:cNvSpPr/>
          <p:nvPr/>
        </p:nvSpPr>
        <p:spPr>
          <a:xfrm>
            <a:off x="2980944" y="5522976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Histogram (формулы)</a:t>
            </a:r>
          </a:p>
        </p:txBody>
      </p:sp>
      <p:sp>
        <p:nvSpPr>
          <p:cNvPr id="14" name="Rounded Rectangle 13" descr="Most Common Values + частоты (MCF). Точнее равномерной оценки 1/NDV.">
            <a:hlinkClick action="ppaction://hlinksldjump" r:id="rId6" tooltip="Most Common Values + частоты (MCF). Точнее равномерной оценки 1/NDV."/>
          </p:cNvPr>
          <p:cNvSpPr/>
          <p:nvPr/>
        </p:nvSpPr>
        <p:spPr>
          <a:xfrm>
            <a:off x="5294376" y="5522976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MCV</a:t>
            </a:r>
          </a:p>
        </p:txBody>
      </p:sp>
      <p:sp>
        <p:nvSpPr>
          <p:cNvPr id="15" name="Rounded Rectangle 14" descr="Доля строк после фильтра (0…1). rows ≈ N · sel.">
            <a:hlinkClick action="ppaction://hlinksldjump" r:id="rId7" tooltip="Доля строк после фильтра (0…1). rows ≈ N · sel."/>
          </p:cNvPr>
          <p:cNvSpPr/>
          <p:nvPr/>
        </p:nvSpPr>
        <p:spPr>
          <a:xfrm>
            <a:off x="6373368" y="5522976"/>
            <a:ext cx="1664207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Selectivity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502920" y="5925312"/>
            <a:ext cx="3995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histogram equi-depth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4590288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equi-depth корзины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корзин до формул histfrac.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MCV: «сколько строк с точным значением?»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«сколько строк в диапазоне?» (amount &gt; 50, BETWEEN …).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строится: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1) Сортируем значения колонки.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2) Режем на равные кучи по числу строк (= корзины).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3) Границы — точки разрезов.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100 строк, amount 1…100, 4 корзины.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границы ≈ 1 · 25 · 50 · 75 · 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A: 1…25 (~25 строк)  B: 25…50  C: 50…75  D: 75…100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amount &gt; 50 ≈ правая половина → ~50% строк.</a:t>
            </a:r>
            <a:br/>
            <a:r>
              <a:rPr sz="11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Корзины равны по числу строк, не по ширине шкалы.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Корзины равного числа строк; для range (BETWEEN, &gt;, &lt;).">
            <a:hlinkClick action="ppaction://hlinksldjump" r:id="rId4" tooltip="Корзины равного числа строк; для range (BETWEEN, &gt;, &lt;)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ДЕТАЛИ ·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Histogram: bounds, histfrac, связь с MCV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смысл — в терминах pg_stats.  ·  «↗ В общий словарь» / «Аа Словарь».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pg_stats.histogram_bounds — массив границ equi-depth корзин.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Число границ ≈ default_statistics_target + 1 (target=100 → часто ≈101).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Значения из MCV в histogram обычно не входят.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 → histfrac → selectivity → rows_est ≈ N · sel.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Если NDV мал и всё в MCV — histogram_bounds = NULL (на стенде так у segment).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25312"/>
            <a:ext cx="868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000" b="1">
                <a:solidFill>
                  <a:srgbClr val="6E6E68"/>
                </a:solidFill>
                <a:latin typeface="Calibri"/>
              </a:rPr>
              <a:t>Термины</a:t>
            </a:r>
          </a:p>
        </p:txBody>
      </p:sp>
      <p:sp>
        <p:nvSpPr>
          <p:cNvPr id="12" name="Rounded Rectangle 11" descr="histogram_bounds, histfrac, связь с MCV в pg_stats.">
            <a:hlinkClick action="ppaction://hlinksldjump" r:id="rId4" tooltip="histogram_bounds, histfrac, связь с MCV в pg_stats."/>
          </p:cNvPr>
          <p:cNvSpPr/>
          <p:nvPr/>
        </p:nvSpPr>
        <p:spPr>
          <a:xfrm>
            <a:off x="1463040" y="5925312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2F6FED"/>
                </a:solidFill>
                <a:latin typeface="Calibri"/>
              </a:rPr>
              <a:t>↗ В общий словарь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37560" y="6327648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 словарь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MCV/HIST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Стенд: MCV vs histogram в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Скопируйте на mentor / lesson03 и сравните segment vs amount.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segment: NDV мал → всё в MCV, hist 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most_common_vals, most_common_freqs,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n_distinct, histogram_bounds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NULL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'dim_customer'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'segment'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amount: hist_n ≈ statistics_target+1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attname, n_distinct,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array_length(histogram_bounds,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hist_n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AND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tablename=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'fact_sales'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LEGACY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AND: произведение selectivities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Гипотеза независимости: sel(A∧B) = sel(A)·sel(B).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 AND: sel(A ∧ B ∧ C) ≈ s₁ · s₂ · s₃  (∏ sᵢ).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Пример: s(enterprise)=0.31, s(NW)=0.10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→ sel≈0.031 → rows_est≈3 100 из 100k.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Ломается при корреляции (enterprise почти всегда в NW):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истинная доля ≠ произведению → врёт join/Motion.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GP6: нет multivariate CREATE STATISTICS → лечим rewrite/TEMP,</a:t>
            </a:r>
            <a:br/>
            <a:r>
              <a:rPr sz="14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«ещё ANALYZE». Детали — Appendix.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502920" y="5925312"/>
            <a:ext cx="5029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AND/OR/NOT + clausesel.c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5623560" y="5925312"/>
            <a:ext cx="419709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формулы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ORCA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AND: scale factors + damping 0.75ⁿ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не всегда тупо перемножает — демпфирует накопление фильтров.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75104"/>
            <a:ext cx="10698480" cy="3657600"/>
          </a:xfrm>
          <a:prstGeom prst="rect">
            <a:avLst/>
          </a:prstGeom>
          <a:noFill/>
        </p:spPr>
        <p:txBody>
          <a:bodyPr wrap="square" lIns="45720" rIns="45720" tIns="3657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ORCA: scale factors + damping — много AND не «обнуляют» rows.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Идея: после 1-го фильтра следующие смягчаются (~0.75ⁿ),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а не всегда полным sᵢ.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Пример (схема, не байт-в-байт):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s1=0.31, s2=0.10, s3=0.50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Legacy: 0.31·0.10·0.50 = 0.0155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 ORCA*:  0.31·(0.10·0.75)·(0.50·0.75²) ≈ 0.0087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 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Вывод: ORCA ≠ ∏ sᵢ → планы расходятся на одном ANALYZE.</a:t>
            </a:r>
            <a:br/>
            <a:r>
              <a:rPr sz="1300" b="0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Константы/код — Appendix.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ORCA AND + damping 0.75ⁿ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4992624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сводка CE Legacy vs ORCA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СВОДКА ФОРМУЛ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Шпаргалка формул selectivity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Держите рядом с EXPLAIN ANALYZE. Глубокие формулы — кнопки ниже.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 ∈ MCV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= MCF[i]. rows ≈ N · MCF[i].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Equality ∉ MCV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≈ (1−ΣMCF) / (NDV−|MCV|), иначе ≈ 1/NDV.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≈ histfrac (+ края корзины). MCV из hist исключены.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Legacy: ∏ sᵢ. ORCA: scale factors + damping. GP6: нет multivariate stats.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 (clausesel)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5093208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обновлять статистику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Вручную в ETL. Авто — gp_autostats_mode, не «магический vacuum».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lesson03.fact_sales;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вручную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gp_autostats_mode;   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default on_no_stats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relname, last_analyze, last_autoanalyze,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n_mod_since_analyze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pg_stat_user_tables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schemaname=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'lesson03'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После CREATE TEMP AS → ANALYZE stage: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иначе оценки часто грубые (не «всегда врут»).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PHYSICAL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Статистика — не отдельный «stats file»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pg_statistic = heap catalog (+ TOAST). Lab filepath ниже.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pg_statistic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pg_relation_filepath → base/&lt;dboid&gt;/&lt;relfilenode&gt;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KB heap pages → ItemId → HeapTupleHeader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stavalues/stanumbers (varlena)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relation при больших arrays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стенд mentor: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filepath(pg_statistic) ≈ base/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16587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12537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pg_statistic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928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kB;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kB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СТАТИСТИКА ·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Когда свежий ANALYZE не спасает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Тогда TEMP / rewrite — не «ещё раз ANALYZE».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Корреляция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region ∧ segment: истинная sel ≠ s1·s2. Multivariate stats в GP6 нет.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Выражения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date_trunc(col) / (col+1): stats колонки не применяются к выражению.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Many-join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Ошибка sel на каждом join перемножается → взрыв Motion/NLJ.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Skew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Тяжёлый хвост вне MCV: avg-оценка лжёт, один сегмент горит.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Теория: физика хранения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Heap / AO / AOCO — что реально читает scan и почему AOCO ≠ «быстрее всегда».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Классические 8KB pages: tuple целиком на странице. Удобно для частых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/ AOCO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Append-Only: row blocks vs column streams + visimap. AOCO читает нужные колонки.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Следствие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Физика бьёт по IO scan/projection. Motion/skew storage не лечит.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Решение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Выбираем storage под access pattern кейса (wide fact + узкий SELECT → AOCO).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Физика хранения: зачем она в тюнинге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AOCO не лечит Motion/skew. Но решает IO 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Page + tuple + MVCC — dims /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 blocks — bulk row insert.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Column streams — narrow analytic scan.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Ключ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Access pattern + types, не «модно».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HEAP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Heap page anatomy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Строка лежит в page; SELECT * читает весь tuple width.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Page (обычно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KB)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PageHeaderData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ItemIdData[]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line pointers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free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HeapTupleHeaderData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xmin/xmax, infomask,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None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bitmap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fixed attrs (+ alignment/padding)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varlena attrs → inline | compressed |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TOAST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pointer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Forks: main / FSM / VM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Update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delete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→ новые версии;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vacuum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освобождает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 row: blocks, aoseg, visimap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Append-optimized row orientation.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Segfiles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segment file + segno; append varblocks.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gp_aoseg / pg_aoseg: EOF, tupcount,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Visimap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Какие rows видны; не классический heap HOT.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Blockdir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Ускоряет fetch по position.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AOCO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AOCO: column streams × segno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Projection: узкий SELECT не читает payload column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pg_appendonly: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segrelid      → aoseg/aocsseg metadata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blkdirrelid   → block directory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visimaprelid  → visibility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Физика: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× segno) → compressed blocks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Encoding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per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column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(zstd/rle/…)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/ wide projection → читаем почти все streams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GP6 DDL: appendoptimized=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alias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appendonly=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Типы данных: физика → следствие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Один слайд сравнения — обязателен к заданию.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int4/date          fixed     → плотный stream / inline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int8/timestamp     fixed+align → шире ключ/Motion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numeric            varlena   → CPU + compression variance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text/jsonb         varlena   → Heap: TOAST risk; AOCO: свой 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NULL               bitmap    → не «байт на колонку» в уме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Lab: сравните size + narrow vs wide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Heap dim vs AOCO fact (lesson03)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STORAGE ·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Storage decision для кейса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→ AOCO; dims → Heap. Distribution отдельно.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Выбор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fact_sales AOCO + compress: scan/projection. dim_* обновляемые/маленькие → heap-friendly.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Не лечит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Плохой DISTRIBUTED BY, skew, correlated filters, лишний Redistribute.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Практика: чиним сквозной OLAP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как physical stage → новый план → metrics → equivalence.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CTE ≠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Materialization не гарантирована.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+ ANALYZE на каждом stage.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Before/after + EXCEPT ALL = 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Дальше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Девять именованных кейсов оптимизации.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 CTE ≠ physical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GP6: optimizer_cte_inlining_bound (ORCA default 0) — не гадайте.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Механизм | Physical stage гарантирован?|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Subquery | Нет                   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CTE      | Нет как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user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relation;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         | Legacy часто fence;       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         | ORCA зависит от GUC/xforms  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 TEMP     | Да: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catalog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+ files +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|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SHOW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optimizer_cte_inlining_bound;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TEMP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TEMP: session boundary + ON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Default PRESERVE ROWS. Чужая сессия не видит ваш TEMP.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Одно соединение QD; \q → cleanup TEMP namespace.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таблица+строки живут (default).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DELETE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строк 0, каркас жив.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После COMMIT relation нет.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REWRITE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Декомпозиция OLAP-кейса: TEMP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Сужаем → join/shape → window. ANALYZE каждый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tmp_lesson03_sales_feb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WHERE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Feb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tmp_lesson03_sales_feb;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CREATE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TEMP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TABLE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dims, segment&lt;&gt;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'test'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DISTRIBUTED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(region);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финальный window/agg уже на узком stage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TEMP files vs spill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Стенд default tablespace. Проверяйте temp_tablespaces в prod.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TEMP relation (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session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pg_temp_NNN, relpersistence=</a:t>
            </a:r>
            <a:r>
              <a:rPr sz="1200" b="0">
                <a:solidFill>
                  <a:srgbClr val="10A37F"/>
                </a:solidFill>
                <a:latin typeface="Courier New"/>
                <a:ea typeface="Courier New"/>
                <a:cs typeface="Courier New"/>
              </a:rPr>
              <a:t>'t'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base/&lt;dboid&gt;/t_&lt;relfilenode&gt; на QE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(на стенде QD-side файл часто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bytes — lab observation)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Spill workfiles (executor):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base/pgsql_tmp/pgsql_tmp_Sort_*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живут во время query, не pg_class TEMP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Цена materialization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выгоден, если stage режет cardinality/Motion сильнее IO write+read.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Плюсы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Фиксированный grain; DISTRIBUTED BY; ANALYZE; reuse в сессии; доказуемый before/after.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Минусы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Двойной IO; место на всех seg; без фильтра = дорогой materialize всего fact.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AFTER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After: форма плана на TEMP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Меньше slices/Motion на финальном SQL. Полный текст в case/.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Gather Motion 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(slice1)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WindowAgg / Sort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HashAggregate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tmp_lesson03_sales_shaped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(already Feb + anti-test + dims)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Optimizer: GPORCA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TEMP stages: DISTRIBUTED BY + ANALYZE before this plan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Before / after (warm median, 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OLAP metrics.md + NLJ case/nlj-metrics.md.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OLAP Feb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(metrics.md):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Planning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 · Execution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→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NLJ CTE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(nlj-metrics.md, GPORCA):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A/B Nested Loop loops=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80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k 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98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176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Hash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est≈actual     ~</a:t>
            </a:r>
            <a:r>
              <a:rPr sz="1200" b="0">
                <a:solidFill>
                  <a:srgbClr val="B7791F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Cold planning на baseline — всегда note warm/cold.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ПРАКТИКА · EQUIVALENCE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Доказательство эквивалентности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Без этого rewrite — мнение, не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одинаковый optimizer + snapshot + GUC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count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(*)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baseline_grain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EXCEPT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after_grain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) x;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lesson03-e2e-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-metrics.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\i lesson03-nlj-cte-temp-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case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sql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 оптимизации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Отдельные ловушки плана. У каждого кейса — титул → разбор → план/код → фикс.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Формат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Проблема → сигнал в EXPLAIN → почему → как чинить → стенд.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Два кейса недооценки строк (ORCA и Legacy).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SCD2, NOT IN, window, VALUES, DISTINCT, median.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Stats ETL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Autostats не срабатывает на INSERT в parent.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недооценил строки → Nested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Три CTE + join к маленькой dim: план верит в «1 row».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GPORCA выбирает Index Nested Loop при est≪actual.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+ Broadcast/Index Scan, loops≈80k, rows=1→80000.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stage + ANALYZE → Hash Join; не «просто SET optimizer».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lesson03-orca-ce-trap.sql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Скрипт: lesson03-orca-ce-trap.sql · metrics: ce-traps-metrics.md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3 CTE + opaque preds → join к replicated dim с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ORCA: Nested Loop + Index Scan, est≈1, loops=80k.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Cardinality under-estimate после CTE/opaque фильтров.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 enriched stage → Hash Join ~21 ms (lab).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Стендовый запрос (ORCA)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Предикаты почти keep-all. Статы нет / stale.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optimizer =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WITH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cte_orders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opaque … 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cte_active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cte_enriched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 … 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SELECT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e.*, r.tier, r.score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cte_enriched 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lesson03.orca_ref r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USING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(customer_id);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01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Плохой план и после TEMP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Форма важнее абсолютных секунд на 2 seg.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BAD: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      rows=1 → actual 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rows=1 → actual 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Index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     loops=80000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GOOD (TEMP+ANALYZE):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est≈actual  ~21 ms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Legacy: EXISTS → Nested Loop Semi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класс CE-ошибки, другой SQL и другой optimizer.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Postgres planner выбирает Nested Loop Semi при under-estimate.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Semi Join, est≪actual, огромные loops.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TEMP + ANALYZE; enable_nestloop на стенде включаем явно.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lesson03-legacy-ce-trap.sql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Почему нельзя один SQL на оба оптимизатора для демо.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Opaque filters + EXISTS + join к dim.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Nested Loop Semi Join + Nested Loop (Legacy).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EXISTS «приглашает» semi; CE занижает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+ ANALYZE → Hash Join ~22 ms.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Плохой план 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HashJoin остаётся ON — NL выбран стоимостью.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SET optimizer = off;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SET enable_nestloop = on;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Nested Loop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Semi Join   rows=15 → actual 40060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… est≈29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Index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       loops=40060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02 ·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CE trap → TEMP, не «просто сменить optimizer»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Смена движка без cardinality stage часто не лечит корень.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5798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Диагноз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est≪actual на join/semi + index dim → NL-семейство. Смотрите loops=.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5798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Лечение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33472"/>
            <a:ext cx="5065776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Physical stage (TEMP) + ANALYZE; proof в ce-traps-metrics.md.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SCD2: Redistribute при «согласованном»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Ключи join совпали с DISTRIBUTED BY — а Motion всё равно есть.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max(version) меняет locus: hash(biz_key) ≠ hash(biz_key, version).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… Hash Key: biz_key (часто ×2).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(biz_key) под access pattern; TEMP только keys — мало.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lesson03-principal-scd2-locus.sql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Иллюзия co-location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Senior смотрит имена колонок. Нужно читать Hash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⋈ (biz_key, max(version)) — classic SCD2 latest.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Иллюзия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BY (biz_key, version_id) + USING тех же полей.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Факт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hash(пары) ≠ hash(biz_key) → Redistribute обязателен.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Модель: DISTRIBUTED BY (biz_key). Не «ещё ANALYZE».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03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→ B → C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lesson03-principal-scd2-locus.sql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composite dist + CTE max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biz_key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B) TEMP latest BY (biz_key) → Redistribute FACT остаётся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fact BY (biz_key) → local join, только Gather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Бонус: int ⋈ int8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(id)::bigint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NOT IN раздувает Broadcast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Антифильтр, который тиражирует всю внутреннюю таблицу.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IN (SELECT …) → Hash Left Anti Semi (Not-In) + Broadcast inner.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Broadcast Motion всей t2 на каждый сегмент.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 или LEFT JOIN … IS NULL + co-located ключи.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lesson03-secret18-not-in-broadcast.sql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→ как → почему → фикс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Семантика Not-In (+ NULL) ≠ обычный anti-join.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 t1.n NOT IN (SELECT n FROM t2).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Not-In Join; часто Broadcast полной t2.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Xform Not-In + семантика NULL.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NOT EXISTS / LEFT JOIN IS NULL.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 vs Hash Anti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Lab: форма важнее секунд на 2 seg.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NOT IN: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Hash Left Anti Semi (Not-In)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-&gt;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Broadcast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← вся t2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NOT EXISTS: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Anti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 ← без Broadcast t2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04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Куда смотреть в исходниках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ORCA xform + Motion executor.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Xform Not-In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https://github.com/apache/cloudberry/blob/main/src/backend/gporca/libgpopt/src/xforms/CXformLeftAntiSemiJoinNotIn2HashJoinNotIn.cpp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https://github.com/apache/cloudberry/blob/main/src/backend/gporca/libgpopt/src/operators/CPhysicalMotionBroadcast.cpp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deep-dives/secret18-not-in-broadcast.md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Окно по константе → сегмент-жертва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PARTITION BY ключ с NDV=1 собирает всю таблицу на один сегмент.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WindowAgg требует все строки partition key вместе.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Motion … Hash Key: &lt;partition col&gt;.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Убрать бессмысленный PARTITION BY или DISTRIBUTED BY реальному ключу.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lesson03-secret14-window-partition-skew.sql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Коллапс параллелизма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Константа invalid_id = один hash = один QE.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row_number() OVER (PARTITION BY invalid_id …).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на partition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NDV=1 → victim segment, spill/workfile.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Смысл ключа? Иначе убрать PARTITION BY.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Redistribute → без Motion → rewrite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lesson03-secret14-window-partition-skew.sql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BY (id) + PARTITION BY const → Redistribute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Key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: invalid_id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BY (invalid_id) → Motion нет, но NDV=1 → всё равно один seg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D) без PARTITION BY → Gather +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WindowAgg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(если ключ мусор)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05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WindowAgg + hash-distribute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deep-dives/secret14-window-partition-skew.md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WindowAgg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https://github.com/greenplum-db/gpdb-archive/blob/main/src/backend/executor/nodeWindowAgg.c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https://github.com/apache/cloudberry/blob/main/src/backend/gporca/libgpopt/src/xforms/CXformImplementSequenceProject.cpp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https://github.com/apache/cloudberry/blob/main/src/backend/gporca/libgpopt/src/operators/CPhysicalMotionHashDistribute.cpp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secret14-window-partition-skew.md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Параметры в VALUES двигают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Красивый CTE с параметрами — едет большая таблица, не params.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WITH data_batch AS (VALUES …) JOIN fact без ключа/статы.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Lab: Gather fact→QD; prod: часто Broadcast 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WHERE/литералы; или DISTRIBUTED BY join-ключа + ANALYZE.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lesson03-secret29-values-params-broadcast.sql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Какую сторону двигает Motion?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Всегда читайте сторону Broadcast/Gather.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 VALUES «параметры отчёта» ⋈ 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Fact едет к params (Gather/Broadcast).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CE rows≈1 без ANALYZE + RANDOM dist.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Scalar WHERE или dist key + ANALYZE.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 Gather → B local → D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lesson03-secret29-values-params-broadcast.sql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RANDOM, no ANALYZE: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 Join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→ Gather/Broadcast fact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DISTRIBUTED BY (n_txt):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fact, без Motion fact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 WHERE n_txt = '10': Filter — без join к VALUES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E IN (VALUES) ≠ IN list → ANY filter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06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+ CE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deep-dives/secret29-values-params-broadcast.md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Broadcast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https://github.com/apache/cloudberry/blob/main/src/backend/gporca/libgpopt/src/operators/CPhysicalMotionBroadcast.cpp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Hash redistribute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https://github.com/apache/cloudberry/blob/main/src/backend/gporca/libgpopt/src/operators/CPhysicalMotionHashDistribute.cpp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selfuncs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https://github.com/greenplum-db/gpdb-archive/blob/main/src/backend/utils/adt/selfuncs.c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Deep-dive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secret29-values-params-broadcast.md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Считаем DISTINCT по сегментам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Map count(DISTINCT) на каждом seg → SUM. Exact только при dist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COUNT(DISTINCT) на огромной AOCO — spill/timeout.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Тяжёлый Aggregate/spill; map-версия — двухфазный HashAggregate.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sum(cnt) GROUP BY gp_segment_id, если DISTINCT ⊆ DISTRIBUTED BY.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lesson03-secret42-distinct-by-segment.sql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vs overcount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Фаза D стенда — обязательный negative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COUNT(DISTINCT id) на большой AOCO.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sum(count DISTINCT) … GROUP BY gp_segment_id.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Только если id на одном seg (dist key).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Ловушка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DISTRIBUTED RANDOMLY → SUM завышает.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Canonical vs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Lab может быть медленнее map — учим контракт exactness.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A) count(DISTINCT id) → Aggregate → Gather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B) sum per gp_segment_id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HashAggregate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(seg, id) → sum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C) canonical = mapped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D) RANDOM: mapped &gt; canonical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07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Agg + GbAgg xform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deep-dives/secret42-distinct-by-segment.md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nodeAgg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https://github.com/greenplum-db/gpdb-archive/blob/main/src/backend/executor/nodeAgg.c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ORCA HashAgg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https://github.com/apache/cloudberry/blob/main/src/backend/gporca/libgpopt/src/xforms/CXformGbAgg2HashAgg.cpp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Контракт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 только при coverage DISTINCT dist-ключом.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Autostats молчит после INSERT в 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on_no_stats ≠ «стата появится сама» для партиций.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в top-level parent не триггерит autostats на leaves.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Каталог: leaves MISSING pg_statistic после parent 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Явный ANALYZE parent/leaves в ETL; insert в leaf — другой контракт.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lesson03-secret41-autostats-partitions.sql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Parent miss → leaf hit →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Документированное поведение GP6, не баг.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INSERT в parent партицированной таблицы.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gp_autostats_mode=on_no_stats не обновляет tree.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Почему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Autostats с leaf insert, не с parent.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Фикс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ANALYZE в runbook ETL + проверка catalog.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Три шага на стенде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\i lesson03-secret41-autostats-partitions.sql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gp_autostats_mode = on_no_stats;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 …;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parent → MISSING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INSERT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INTO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lesson03.sec41_sales_1_prt_1 …;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leaf → HAS 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ANALYZE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lesson03.sec41_sales;            </a:t>
            </a:r>
            <a:r>
              <a:rPr sz="1200" b="0">
                <a:solidFill>
                  <a:srgbClr val="6E6E68"/>
                </a:solidFill>
                <a:latin typeface="Courier New"/>
                <a:ea typeface="Courier New"/>
                <a:cs typeface="Courier New"/>
              </a:rPr>
              <a:t>-- ETL policy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08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analyze.c + GUC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deep-dives/secret41-autostats-partitions.md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https://github.com/greenplum-db/gpdb-archive/blob/main/src/backend/commands/analyze.c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https://github.com/greenplum-db/gpdb-archive/blob/main/src/backend/utils/misc/guc.c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Док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parent insert ≠ autostats; leaf insert = autostats.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Рядом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gp_autostats_mode_in_functions внутри функции.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Медиана собирает все строки на мастер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Ordered-set aggregate = полный порядок = Gather-all на QD.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percentile_disc глобально не считается локально exact.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Сигнал в плане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 Motion N:1 почти всех rows → Aggregate на QD.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 чинить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Exact: мириться с Gather / sample. Approx: avg(local median) при RANDOM.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Стенд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lesson03-secret38-median-gather-qd.sql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СУТЬ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Pure MPP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порядок нельзя посчитать по кускам без потерь.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percentile_disc(0.5) WITHIN GROUP (ORDER BY 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Как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Gather почти всех строк на QD.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Approx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avg(local median) GROUP BY gp_segment_id.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Цена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Помечать approximate в отчётах.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Exact Gather vs local medians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Legacy показывает классическую форму; ORCA часто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47088"/>
            <a:ext cx="11064240" cy="3822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10698480" cy="3383280"/>
          </a:xfrm>
          <a:prstGeom prst="rect">
            <a:avLst/>
          </a:prstGeom>
          <a:noFill/>
        </p:spPr>
        <p:txBody>
          <a:bodyPr wrap="none" lIns="45720" rIns="4572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 exact: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Aggregate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Gather Motion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 (все rows) → </a:t>
            </a:r>
            <a:r>
              <a:rPr sz="1200" b="1">
                <a:solidFill>
                  <a:srgbClr val="2F6FED"/>
                </a:solidFill>
                <a:latin typeface="Courier New"/>
                <a:ea typeface="Courier New"/>
                <a:cs typeface="Courier New"/>
              </a:rPr>
              <a:t>Seq Scan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B approx: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 </a:t>
            </a: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avg(percentile_disc … GROUP BY gp_segment_id)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ts val="1380"/>
              </a:lnSpc>
            </a:pPr>
            <a:r>
              <a:rPr sz="1200" b="0">
                <a:solidFill>
                  <a:srgbClr val="202123"/>
                </a:solidFill>
                <a:latin typeface="Courier New"/>
                <a:ea typeface="Courier New"/>
                <a:cs typeface="Courier New"/>
              </a:rPr>
              <a:t>Lab median=500; approx≈500.5</a:t>
            </a:r>
          </a:p>
        </p:txBody>
      </p:sp>
      <p:sp>
        <p:nvSpPr>
          <p:cNvPr id="12" name="Rounded Rectangle 11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КЕЙС 09 · КОД GP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orderedsetaggs.c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deep-dives/secret38-median-gather-qd.md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Ordered-set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2"/>
              </a:rPr>
              <a:t>https://github.com/greenplum-db/gpdb-archive/blob/main/src/backend/utils/adt/orderedsetaggs.c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nodeAgg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3"/>
              </a:rPr>
              <a:t>https://github.com/greenplum-db/gpdb-archive/blob/main/src/backend/executor/nodeAgg.c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00507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6FED"/>
                </a:solidFill>
                <a:latin typeface="Calibri"/>
                <a:ea typeface="Calibri"/>
                <a:cs typeface="Calibri"/>
                <a:hlinkClick r:id="rId4"/>
              </a:rPr>
              <a:t>https://github.com/greenplum-db/gpdb-archive/blob/main/src/backend/executor/nodeMotion.c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58768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400507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1480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0657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Глобальный порядок = данные к одному месту.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6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ЭТАП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Закрепление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Checklist, маршруты занятия, что унести.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Definition of done для rewrite.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Маршруты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Core 60 / Core 90 / Full — skip-map у ментора.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Метод + кейсы + навигация.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Справочник: кнопка ниже или «☰ Меню» → Appendix.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старт справочника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4288536" y="5925312"/>
            <a:ext cx="389534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история ORCA/Legacy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Decision checklist Senior/Principal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Definition of done для любого performance rewrite.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Тот же optimizer/mem на before и 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Motion Hash Key + misestimate + join type + spill.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Locus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CTE/GROUP BY/cast меняют hash vs DISTRIBUTED BY?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Metrics + plan shape + residual risk.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МАРШРУТЫ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 / Core 90 / Full — что листать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См. «Как смотреть эту презентацию» в начале. Не всё читать вслух.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~30 LIVE: проблема → plan 1–5 → sel lite → TEMP → proof. Словарь/детали — клик.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Core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~45 LIVE: + MCV/hist (смысл), storage decision, 2 кейса (01 + 03 или 08).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Все учебные слайды + appendix по кнопкам. Порталы — только возврат, не урок.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Homework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Остальные кейсы + RFC evidence pack. Не жечь live-время на 01–09 подряд.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502920" y="5925312"/>
            <a:ext cx="309067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GPORCA memo</a:t>
            </a:r>
          </a:p>
        </p:txBody>
      </p:sp>
      <p:sp>
        <p:nvSpPr>
          <p:cNvPr id="26" name="Rounded Rectangle 25">
            <a:hlinkClick action="ppaction://hlinksldjump" r:id="rId5"/>
          </p:cNvPr>
          <p:cNvSpPr/>
          <p:nvPr/>
        </p:nvSpPr>
        <p:spPr>
          <a:xfrm>
            <a:off x="3685032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deep-dive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ИТОГ ·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Что унести с собой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Метод + теория + 9 именованных кейсов оптимизации.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Метод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Симптом → profile → гипотеза → stage → proof.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Теория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План MPP · статистика ·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Кейсы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CE, SCD2, NOT IN, window, VALUES, DISTINCT, autostats, median.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☰ Меню и Словарь на каждом слайде.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Служебные слайды возврата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Не листать вручную — сюда ведут «Аа Словарь» и «→ Appendix».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 каждого слайда урока — свой портал с «← Вернуться».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«→ Appendix» тоже через портал с возвратом.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Полный словарь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9 слайдов в начале презентации — из портала или оглавления.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Google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Явные ссылки на слайды — возврат не зависит от истории просмотра.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«Проблема: тяжёлый OLAP».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«Симптом: месячный OLAP «горит» по времени».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«Архитектура данных кейса».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«Исходный SQL (monolith)».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«Baseline: три симптома на плане».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как читать distributed-план».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«Тяжёлый OLAP = данные + сеть + оценки + optimizer».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«QD / QE / slice / Motion — в контексте плана».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«Алгоритм чтения EXPLAIN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«Алгоритм чтения EXPLAIN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«90 секунд: где первая причина плохого плана?».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«Форма дерева (baseline)».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едут данные (Motion)».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«Где ошиблась cardinality».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«Память и диск».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«Bottleneck на этом плане».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vs Legacy: осторожные формулировки».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статистика и selectivity».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«Цепочка: от EXPLAIN к числам в каталоге».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«Equality: MCV или 1/NDV».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«Range: histfrac по equi-depth histogram».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«Стенд: MCV vs histogram в pg_stats».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 AND: произведение selectivities».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AND: scale factors + damping 0.75ⁿ».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«Шпаргалка формул selectivity».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 обновлять статистику».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«Статистика — не отдельный «stats file»».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«Когда свежий ANALYZE не спасает».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«Теория: физика хранения».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«Физика хранения: зачем она в тюнинге».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«Heap page anatomy».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«AO row: blocks, aoseg, visimap».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«AOCO: column streams × segno».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«Типы данных: физика → следствие».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«Storage decision для кейса».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«Практика: чиним сквозной OLAP».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«Почему CTE ≠ physical stage».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«TEMP: session boundary + ON COMMIT».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«Декомпозиция OLAP-кейса: TEMP stages».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«TEMP files vs spill files».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«Цена materialization».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«After: форма плана на TEMP stage».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«Before / after (warm median, lab)».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«Доказательство эквивалентности».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«Кейсы оптимизации».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«ORCA недооценил строки → Nested Loop».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«Стендовый запрос (ORCA)».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«Плохой план и после TEMP».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«Legacy: EXISTS → Nested Loop Semi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«Плохой план Legacy».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«CE trap → TEMP, не «просто сменить optimizer»».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«SCD2: Redistribute при «согласованном» join».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«Иллюзия co-location».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 → B → C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«NOT IN раздувает Broadcast».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→ как → почему → фикс».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«Broadcast vs Hash Anti».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«Куда смотреть в исходниках».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«Окно по константе → сегмент-жертва».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«Коллапс параллелизма».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«Redistribute → без Motion → rewrite».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«WindowAgg + hash-distribute».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«Параметры в VALUES двигают fact».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«Какую сторону двигает Motion?».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 Gather → B local → D filter».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«Motion + CE defaults».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«Считаем DISTINCT по сегментам».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«Exact vs overcount».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«Canonical vs map».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«Agg + GbAgg xform».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«Autostats молчит после INSERT в parent».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«Parent miss → leaf hit → ANALYZE».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«Три шага на стенде».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«analyze.c + GUC».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«Медиана собирает все строки на мастер».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«Pure MPP theory».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«Exact Gather vs local medians».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«orderedsetaggs.c».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«Закрепление».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«Decision checklist Senior/Principal».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«Core 60 / Core 90 / Full — что листать».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СЛОВАРЬ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(быстрый доступ)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Открыто из: «Что унести с собой». «← Вернуться» вернёт на тот слайд.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Selectivity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sel ∈ (0,1]; rows ≈ N·sel. Ошибка оценки → плохой join/Motion.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MCV / n_distinct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MCV+freqs для частых значений; иначе sel ≈ 1/NDV. См. полный словарь.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Histogram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Корзины равного числа строк; границы = разрезы. Для range (BETWEEN, &gt;).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Motion / ORCA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Redistribute · Broadcast · Gather. ORCA: optimizer=on.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788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Полный словарь 1/9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Начать Core 60 (Проблема)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5"/>
          </p:cNvPr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Начать Core 60 (Проблема)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Словарь (по желанию)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502920" y="5925312"/>
            <a:ext cx="299008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Словарь (по желанию)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Оглавление этапов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«Как смотреть эту презентацию».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502920" y="5925312"/>
            <a:ext cx="268833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Оглавление этапов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spill / pgsql_tmp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«Память и диск».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/ pgsql_tmp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equality / MCV (selfuncs)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«Equality: MCV или 1/NDV».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(selfuncs)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anatomy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«Equality: MCV или 1/NDV».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histogram equi-depth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«Range: histfrac по equi-depth histogram».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995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histogram equi-depth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range / histfrac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«Range: histfrac по equi-depth histogram».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AND/OR/NOT + clausesel.c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«Legacy AND: произведение selectivities».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502920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AND/OR/NOT + clausesel.c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equality / MCV формулы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«Legacy AND: произведение selectivities».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19709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equality / MCV формулы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ORCA AND + damping 0.75ⁿ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«ORCA AND: scale factors + damping 0.75ⁿ».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ORCA AND + damping 0.75ⁿ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сводка CE Legacy vs ORCA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«ORCA AND: scale factors + damping 0.75ⁿ».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39826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сводка CE Legacy vs ORCA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AND/OR (clausesel)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AND/OR (clausesel)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Legacy range / histfrac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42976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Legacy range / histfrac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anatomy pg_stats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«Шпаргалка формул selectivity».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5935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anatomy pg_stats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старт справочника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«Закрепление».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694176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старт справочника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история ORCA/Legacy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«Закрепление».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895344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история ORCA/Legacy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GPORCA memo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«Core 60 / Core 90 / Full — что листать».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09067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GPORCA memo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D8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A37F"/>
                </a:solidFill>
                <a:latin typeface="Calibri"/>
                <a:ea typeface="Calibri"/>
                <a:cs typeface="Calibri"/>
              </a:rPr>
              <a:t>ПЕРЕХОД · ВОЗВРАТ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Appendix: spill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Из: «Core 60 / Core 90 / Full — что листать». Откройте раздел или вернитесь назад.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46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Урок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112264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Открыть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Кнопка ниже ведёт в нужный раздел appendix/словаря.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112264"/>
            <a:ext cx="365760" cy="411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22199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Вернуться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87752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«← Вернуться» в футере — строго на слайд, с которого пришли.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822192"/>
            <a:ext cx="365760" cy="4114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Зачем портал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В Google Slides нет надёжного «last viewed» — только явная ссылка.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8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822192"/>
            <a:ext cx="365760" cy="4114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31920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02123"/>
                </a:solidFill>
                <a:latin typeface="Calibri"/>
                <a:ea typeface="Calibri"/>
                <a:cs typeface="Calibri"/>
              </a:rPr>
              <a:t>Меню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0657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E68"/>
                </a:solidFill>
                <a:latin typeface="Calibri"/>
                <a:ea typeface="Calibri"/>
                <a:cs typeface="Calibri"/>
              </a:rPr>
              <a:t>«☰ Меню» — в оглавление урока.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25312"/>
            <a:ext cx="34930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→ Appendix: spill deep-dive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411480" y="6327648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☰ Меню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1828800" y="6327648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Аа Словарь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337560" y="6327648"/>
            <a:ext cx="178308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1100" b="1">
                <a:solidFill>
                  <a:srgbClr val="10A37F"/>
                </a:solidFill>
                <a:latin typeface="Calibri"/>
              </a:rPr>
              <a:t>← Вернуться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