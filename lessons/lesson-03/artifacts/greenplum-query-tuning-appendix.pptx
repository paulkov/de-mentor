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21.xml"/><Relationship Id="rId4" Type="http://schemas.openxmlformats.org/officeDocument/2006/relationships/slide" Target="slide222.xml"/><Relationship Id="rId5" Type="http://schemas.openxmlformats.org/officeDocument/2006/relationships/slide" Target="slide22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2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2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2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2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greenplum-db/gpdb-archive/blob/main/src/backend/parser/gram.y" TargetMode="External"/><Relationship Id="rId3" Type="http://schemas.openxmlformats.org/officeDocument/2006/relationships/hyperlink" Target="https://github.com/greenplum-db/gpdb-archive/blob/main/src/backend/parser/analyze.c" TargetMode="External"/><Relationship Id="rId4" Type="http://schemas.openxmlformats.org/officeDocument/2006/relationships/slide" Target="slide1.xml"/><Relationship Id="rId5" Type="http://schemas.openxmlformats.org/officeDocument/2006/relationships/slide" Target="slide12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greenplum-db/gpdb-archive/blob/main/src/backend/rewrite/rewriteHandler.c" TargetMode="External"/><Relationship Id="rId3" Type="http://schemas.openxmlformats.org/officeDocument/2006/relationships/slide" Target="slide1.xml"/><Relationship Id="rId4" Type="http://schemas.openxmlformats.org/officeDocument/2006/relationships/slide" Target="slide12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3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greenplum-db/gpdb-archive/blob/main/src/backend/optimizer/plan/planner.c" TargetMode="External"/><Relationship Id="rId3" Type="http://schemas.openxmlformats.org/officeDocument/2006/relationships/hyperlink" Target="https://github.com/apache/cloudberry/blob/main/src/backend/gporca" TargetMode="External"/><Relationship Id="rId4" Type="http://schemas.openxmlformats.org/officeDocument/2006/relationships/hyperlink" Target="https://github.com/greenplum-db/gpdb-archive/blob/main/src/backend/utils/adt/selfuncs.c" TargetMode="External"/><Relationship Id="rId5" Type="http://schemas.openxmlformats.org/officeDocument/2006/relationships/hyperlink" Target="https://github.com/greenplum-db/gpdb-archive/tree/main/src/backend/cdb" TargetMode="External"/><Relationship Id="rId6" Type="http://schemas.openxmlformats.org/officeDocument/2006/relationships/slide" Target="slide1.xml"/><Relationship Id="rId7" Type="http://schemas.openxmlformats.org/officeDocument/2006/relationships/slide" Target="slide13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3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3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3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3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3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3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3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3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4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4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1.xml"/><Relationship Id="rId4" Type="http://schemas.openxmlformats.org/officeDocument/2006/relationships/slide" Target="slide14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4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slide" Target="slide1.xml"/><Relationship Id="rId4" Type="http://schemas.openxmlformats.org/officeDocument/2006/relationships/slide" Target="slide14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4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slide" Target="slide1.xml"/><Relationship Id="rId4" Type="http://schemas.openxmlformats.org/officeDocument/2006/relationships/slide" Target="slide14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slide" Target="slide1.xml"/><Relationship Id="rId4" Type="http://schemas.openxmlformats.org/officeDocument/2006/relationships/slide" Target="slide14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4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4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5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5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5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5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5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5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5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5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5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5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60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slide" Target="slide1.xml"/><Relationship Id="rId4" Type="http://schemas.openxmlformats.org/officeDocument/2006/relationships/slide" Target="slide16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6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6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slide" Target="slide1.xml"/><Relationship Id="rId4" Type="http://schemas.openxmlformats.org/officeDocument/2006/relationships/slide" Target="slide16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65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greenplum-db/gpdb-archive/blob/main/src/backend/utils/adt/selfuncs.c" TargetMode="External"/><Relationship Id="rId3" Type="http://schemas.openxmlformats.org/officeDocument/2006/relationships/slide" Target="slide1.xml"/><Relationship Id="rId4" Type="http://schemas.openxmlformats.org/officeDocument/2006/relationships/slide" Target="slide16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6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pache/cloudberry/blob/main/src/backend/gporca/" TargetMode="External"/><Relationship Id="rId3" Type="http://schemas.openxmlformats.org/officeDocument/2006/relationships/slide" Target="slide1.xml"/><Relationship Id="rId4" Type="http://schemas.openxmlformats.org/officeDocument/2006/relationships/slide" Target="slide16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69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greenplum-db/gpdb-archive/blob/main/src/backen" TargetMode="External"/><Relationship Id="rId3" Type="http://schemas.openxmlformats.org/officeDocument/2006/relationships/hyperlink" Target="https://github.com/greenplum-db/gpdb-archive/blob/main/src/includ" TargetMode="External"/><Relationship Id="rId4" Type="http://schemas.openxmlformats.org/officeDocument/2006/relationships/slide" Target="slide1.xml"/><Relationship Id="rId5" Type="http://schemas.openxmlformats.org/officeDocument/2006/relationships/slide" Target="slide17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7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greenplum-db/gpdb-archive/blob/main/src/backen" TargetMode="External"/><Relationship Id="rId3" Type="http://schemas.openxmlformats.org/officeDocument/2006/relationships/slide" Target="slide1.xml"/><Relationship Id="rId4" Type="http://schemas.openxmlformats.org/officeDocument/2006/relationships/slide" Target="slide17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7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pache/cloudberry/blob/main/src/backend/gporca" TargetMode="External"/><Relationship Id="rId3" Type="http://schemas.openxmlformats.org/officeDocument/2006/relationships/slide" Target="slide1.xml"/><Relationship Id="rId4" Type="http://schemas.openxmlformats.org/officeDocument/2006/relationships/slide" Target="slide17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pache/cloudberry/blob/main/src/backend/gporca" TargetMode="External"/><Relationship Id="rId3" Type="http://schemas.openxmlformats.org/officeDocument/2006/relationships/slide" Target="slide1.xml"/><Relationship Id="rId4" Type="http://schemas.openxmlformats.org/officeDocument/2006/relationships/slide" Target="slide175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pache/cloudberry/blob/main/src/backend/gporca" TargetMode="External"/><Relationship Id="rId3" Type="http://schemas.openxmlformats.org/officeDocument/2006/relationships/slide" Target="slide1.xml"/><Relationship Id="rId4" Type="http://schemas.openxmlformats.org/officeDocument/2006/relationships/slide" Target="slide17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7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slide" Target="slide1.xml"/><Relationship Id="rId4" Type="http://schemas.openxmlformats.org/officeDocument/2006/relationships/slide" Target="slide178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79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80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greenplum-db/gpdb-archive/blob/main/src/backen" TargetMode="External"/><Relationship Id="rId3" Type="http://schemas.openxmlformats.org/officeDocument/2006/relationships/slide" Target="slide1.xml"/><Relationship Id="rId4" Type="http://schemas.openxmlformats.org/officeDocument/2006/relationships/slide" Target="slide18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pache/cloudberry/blob/main/src/backend/gporca" TargetMode="External"/><Relationship Id="rId3" Type="http://schemas.openxmlformats.org/officeDocument/2006/relationships/slide" Target="slide1.xml"/><Relationship Id="rId4" Type="http://schemas.openxmlformats.org/officeDocument/2006/relationships/slide" Target="slide18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83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84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85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86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8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88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89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90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9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9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greenplum-db/gpdb-archive/blob/main/src/backend/commands/analyze.c" TargetMode="External"/><Relationship Id="rId3" Type="http://schemas.openxmlformats.org/officeDocument/2006/relationships/hyperlink" Target="https://github.com/greenplum-db/gpdb-archive/blob/main/src/backend/utils/adt/selfuncs.c" TargetMode="External"/><Relationship Id="rId4" Type="http://schemas.openxmlformats.org/officeDocument/2006/relationships/hyperlink" Target="https://github.com/greenplum-db/gpdb-archive/blob/main/src/backend/optimizer/path/clausesel.c" TargetMode="External"/><Relationship Id="rId5" Type="http://schemas.openxmlformats.org/officeDocument/2006/relationships/hyperlink" Target="https://github.com/apache/cloudberry/blob/main/src/backend/gporca/libnaucrates/.../CBucket.h" TargetMode="External"/><Relationship Id="rId6" Type="http://schemas.openxmlformats.org/officeDocument/2006/relationships/hyperlink" Target="https://github.com/apache/cloudberry/blob/main/src/backend/gporca/.../CFilterStatsProcessor.cpp" TargetMode="External"/><Relationship Id="rId7" Type="http://schemas.openxmlformats.org/officeDocument/2006/relationships/slide" Target="slide1.xml"/><Relationship Id="rId8" Type="http://schemas.openxmlformats.org/officeDocument/2006/relationships/slide" Target="slide193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94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95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96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9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98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99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00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0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0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03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04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05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06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slide" Target="slide1.xml"/><Relationship Id="rId4" Type="http://schemas.openxmlformats.org/officeDocument/2006/relationships/slide" Target="slide20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greenplum-db/gpdb-archive/blob/main/src/backend/catalog/namespace.c" TargetMode="External"/><Relationship Id="rId3" Type="http://schemas.openxmlformats.org/officeDocument/2006/relationships/hyperlink" Target="https://github.com/greenplum-db/gpdb-archive/tree/main/src/backend/storage" TargetMode="External"/><Relationship Id="rId4" Type="http://schemas.openxmlformats.org/officeDocument/2006/relationships/hyperlink" Target="https://github.com/greenplum-db/gpdb-archive/tree/main/src/backend/utils/workfile_manager" TargetMode="External"/><Relationship Id="rId5" Type="http://schemas.openxmlformats.org/officeDocument/2006/relationships/slide" Target="slide1.xml"/><Relationship Id="rId6" Type="http://schemas.openxmlformats.org/officeDocument/2006/relationships/slide" Target="slide208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09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slide" Target="slide1.xml"/><Relationship Id="rId4" Type="http://schemas.openxmlformats.org/officeDocument/2006/relationships/slide" Target="slide210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slide" Target="slide1.xml"/><Relationship Id="rId4" Type="http://schemas.openxmlformats.org/officeDocument/2006/relationships/slide" Target="slide211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1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13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14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15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16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1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18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19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pache/cloudberry/blob/main/src/backend/gporca/li" TargetMode="External"/><Relationship Id="rId3" Type="http://schemas.openxmlformats.org/officeDocument/2006/relationships/hyperlink" Target="https://github.com/greenplum-db/gpdb-archive/blob/main/src/backend/e" TargetMode="External"/><Relationship Id="rId4" Type="http://schemas.openxmlformats.org/officeDocument/2006/relationships/hyperlink" Target="https://github.com/greenplum-db/gpdb-archive/blob/main/src/backend/o" TargetMode="External"/><Relationship Id="rId5" Type="http://schemas.openxmlformats.org/officeDocument/2006/relationships/slide" Target="slide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greenplum-db/gpdb-archive/blob/main/src/backend/e" TargetMode="External"/><Relationship Id="rId3" Type="http://schemas.openxmlformats.org/officeDocument/2006/relationships/hyperlink" Target="https://github.com/apache/cloudberry/blob/main/src/backend/gporca/li" TargetMode="External"/><Relationship Id="rId4" Type="http://schemas.openxmlformats.org/officeDocument/2006/relationships/hyperlink" Target="https://github.com/greenplum-db/gpdb-archive/blob/main/src/backend/c" TargetMode="External"/><Relationship Id="rId5" Type="http://schemas.openxmlformats.org/officeDocument/2006/relationships/slide" Target="slide1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pache/cloudberry/blob/main/src/backend/gporca/li" TargetMode="External"/><Relationship Id="rId3" Type="http://schemas.openxmlformats.org/officeDocument/2006/relationships/hyperlink" Target="https://github.com/greenplum-db/gpdb-archive/blob/main/src/backend/e" TargetMode="External"/><Relationship Id="rId4" Type="http://schemas.openxmlformats.org/officeDocument/2006/relationships/hyperlink" Target="https://github.com/greenplum-db/gpdb-archive/blob/main/src/backend/u" TargetMode="External"/><Relationship Id="rId5" Type="http://schemas.openxmlformats.org/officeDocument/2006/relationships/hyperlink" Target="https://github.com/greenplum-db/gpdb-archive/blob/main/src/backend/o" TargetMode="External"/><Relationship Id="rId6" Type="http://schemas.openxmlformats.org/officeDocument/2006/relationships/slide" Target="slide1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greenplum-db/gpdb-archive/blob/main/src/backend/u" TargetMode="External"/><Relationship Id="rId3" Type="http://schemas.openxmlformats.org/officeDocument/2006/relationships/hyperlink" Target="https://github.com/greenplum-db/gpdb-archive/blob/main/src/backend/e" TargetMode="External"/><Relationship Id="rId4" Type="http://schemas.openxmlformats.org/officeDocument/2006/relationships/hyperlink" Target="https://github.com/greenplum-db/gpdb-archive/blob/main/src/backend/c" TargetMode="External"/><Relationship Id="rId5" Type="http://schemas.openxmlformats.org/officeDocument/2006/relationships/slide" Target="slide1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20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4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5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6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8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9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0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1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2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3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4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5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6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8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9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0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1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2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3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4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5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6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8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9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0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1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2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3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4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5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6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8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9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40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41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42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43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44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45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46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4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48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49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50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51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52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53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54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55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56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5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58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59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60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61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62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63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64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65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66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6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68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69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70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71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72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73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74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75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76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7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78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79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80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81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82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83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84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85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86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8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88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89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90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91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92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93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94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95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96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9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22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55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8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APPENDIX · СТАРТ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Справочник (не для 60‑мин lite)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Словарь — в начале и рядом с теорией. Сюда — deep reference.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Полный в начале + блоки «Детали» у Этапов 2–3.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Термины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Чип на слайде: наведение = tip, клик = разбор.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Здесь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History ORCA, формулы CE, ON COMMIT, полные EXPLAIN.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Вернуться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Портал «→ Appendix» / «Аа Словарь» с ← Вернуться.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3694176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Формулы CE (Legacy vs ORCA)</a:t>
            </a:r>
          </a:p>
        </p:txBody>
      </p:sp>
      <p:sp>
        <p:nvSpPr>
          <p:cNvPr id="26" name="Rounded Rectangle 25">
            <a:hlinkClick action="ppaction://hlinksldjump" r:id="rId4"/>
          </p:cNvPr>
          <p:cNvSpPr/>
          <p:nvPr/>
        </p:nvSpPr>
        <p:spPr>
          <a:xfrm>
            <a:off x="4288536" y="5925312"/>
            <a:ext cx="2688336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Spill / pgsql_tmp</a:t>
            </a:r>
          </a:p>
        </p:txBody>
      </p:sp>
      <p:sp>
        <p:nvSpPr>
          <p:cNvPr id="27" name="Rounded Rectangle 26">
            <a:hlinkClick action="ppaction://hlinksldjump" r:id="rId5"/>
          </p:cNvPr>
          <p:cNvSpPr/>
          <p:nvPr/>
        </p:nvSpPr>
        <p:spPr>
          <a:xfrm>
            <a:off x="7068312" y="5925312"/>
            <a:ext cx="3593592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История двух оптимизаторов</a:t>
            </a:r>
          </a:p>
        </p:txBody>
      </p:sp>
      <p:sp>
        <p:nvSpPr>
          <p:cNvPr id="28" name="Rounded Rectangle 27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9" name="Rounded Rectangle 28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Self-service стенд Урока 03 — Greenplum 6.25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Отдельный lab greenplum-625, чтобы демо ORCA/Legacy было воспроизводимо.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python3 mentor-lab.py up greenplum-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625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python3 mentor-lab.py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check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greenplum-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625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python3 mentor-lab.py seed greenplum-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625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--profile lesson03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python3 mentor-lab.py psql greenplum-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625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# x86_64: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GREENPLUM_625_IMAGE=andruche/greenplum: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6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25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3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-slim-amd64 \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python3 mentor-lab.py up greenplum-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625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MENTAL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Тяжёлый OLAP = данные + сеть + оценки + выбор оптимизатора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SQL — вход; план — контракт на CPU, IO и interconnect.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1168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5798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6771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Что дорого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33472"/>
            <a:ext cx="5065776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Лишний Motion, плохой join order, stale stats, spill, широкая projection.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01168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5798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6771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Рычаги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633472"/>
            <a:ext cx="5065776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GUC optimizer on/off, ANALYZE, TEMP stages, DISTRIBUTED BY, Heap/AO/AOCO.</a:t>
            </a:r>
          </a:p>
        </p:txBody>
      </p:sp>
      <p:sp>
        <p:nvSpPr>
          <p:cNvPr id="17" name="Rounded Rectangle 16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 Greenplum оптимизирует запрос: стадии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QD строит план; QE исполняют slices. Ошибка на стадии Optimize = дорогая сеть.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20370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Parse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SQL → parse tree.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59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06039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70631" y="220370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19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Rewrite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19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views/rules → query tree.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78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09158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73750" y="220370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38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Optimize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38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Legacy или GPORCA → plan.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397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12277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76869" y="220370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57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Dispatch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57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QD → gangs/slices.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32516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15396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79988" y="220370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76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Execute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76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QE + Motion + gather.</a:t>
            </a:r>
          </a:p>
        </p:txBody>
      </p:sp>
      <p:sp>
        <p:nvSpPr>
          <p:cNvPr id="33" name="Rounded Rectangle 32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34" name="Rounded Rectangle 33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PHASES → TREE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Одно дерево на все фазы (ментальная карта)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Ниже — не AST дамп, а то, что Senior должен видеть в голове при чтении EXPLAIN.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Parse     → raw parse tree (grammar)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Rewrite   → view expand: v_* → JOIN/WHERE tree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Optimize  → </a:t>
            </a:r>
            <a:r>
              <a:rPr sz="11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GPORCA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memo | Legacy path tree + Motion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Dispatch  → QD режет plan на slices/gangs → QE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Execute   → QE: Scan/Join/Agg + Motion interconnect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slice N Gather → результат на QD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Смотрите в EXPLAIN: sliceK; segments: N + тип Motion.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PARSE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Фаза Parse: SQL → parse tree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Грамматика + analyze. Ещё нет Motion и cost — только синтаксическая форма.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Вход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Текст SQL / prepared statement.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Выход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Raw/parsed statement tree (SelectStmt…).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400507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Код GPDB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parser/: </a:t>
            </a:r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2"/>
              </a:rPr>
              <a:t>https://github.com/greenplum-db/gpdb-archive/blob/main/src/backend/parser/gram.y</a:t>
            </a:r>
            <a:br/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analyze: </a:t>
            </a:r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3"/>
              </a:rPr>
              <a:t>https://github.com/greenplum-db/gpdb-archive/blob/main/src/backend/parser/analyze.c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400507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Практика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Ошибки синтаксиса живут здесь; план ещё не существует.</a:t>
            </a:r>
          </a:p>
        </p:txBody>
      </p:sp>
      <p:sp>
        <p:nvSpPr>
          <p:cNvPr id="25" name="Rounded Rectangle 24">
            <a:hlinkClick action="ppaction://hlinksldjump" r:id="rId4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5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REWRITE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Фаза Rewrite: views/rules → query tree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v_heavy_olap_monolith разворачивается в JOIN/WHERE до Optimize.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1168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5798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6771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Что происходит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33472"/>
            <a:ext cx="5065776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View/rule expansion (rewriter). Subquery pull-up — planner preprocessing (prepjointree), не rewrite. Оптимизатор уже видит развёрнутый join graph, не имя view.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01168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5798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6771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Код GPDB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633472"/>
            <a:ext cx="5065776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rewriteHandler.c — </a:t>
            </a:r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2"/>
              </a:rPr>
              <a:t>https://github.com/greenplum-db/gpdb-archive/blob/main/src/backend/rewrite/rewriteHandler.c</a:t>
            </a:r>
            <a:br/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На стенде: \d+ lesson03.v_star_join_orca_case</a:t>
            </a:r>
          </a:p>
        </p:txBody>
      </p:sp>
      <p:sp>
        <p:nvSpPr>
          <p:cNvPr id="17" name="Rounded Rectangle 16">
            <a:hlinkClick action="ppaction://hlinksldjump" r:id="rId3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8" name="Rounded Rectangle 17">
            <a:hlinkClick action="ppaction://hlinksldjump" r:id="rId4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OPTIMIZE = GUC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Фаза Optimize: кто строит plan — решает GUC optimizer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GUC = Grand Unified Configuration. SET optimizer выбирает движок поиска плана.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GUC optimizer (session / role / postgresql.conf)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SHOW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optimizer;              </a:t>
            </a: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on | off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optimizer =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           </a:t>
            </a: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GPORCA (Pivotal Optimizer)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optimizer =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off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          </a:t>
            </a: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Legacy Postgres-based planner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Маркер в EXPLAIN (снято с greenplum-625):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  Optimizer: Pivotal Optimizer (GPORCA)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  Optimizer: Postgres query optimizer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Важно: SET живёт в сессии psql; новый коннект = default.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CODE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Карта кода Greenplum 6.x: куда смотреть в gpdb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Якоря: gpdb-archive (Legacy/CDB) + apache/cloudberry (GPORCA).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Legacy planner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planner.c + cdbpath</a:t>
            </a:r>
            <a:br/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2"/>
              </a:rPr>
              <a:t>https://github.com/greenplum-db/gpdb-archive/blob/main/src/backend/optimizer/plan/planner.c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GPORCA 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memo/xforms/stats</a:t>
            </a:r>
            <a:br/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3"/>
              </a:rPr>
              <a:t>https://github.com/apache/cloudberry/blob/main/src/backend/gporca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400507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selfuncs.c / clausesel.c</a:t>
            </a:r>
            <a:br/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4"/>
              </a:rPr>
              <a:t>https://github.com/greenplum-db/gpdb-archive/blob/main/src/backend/utils/adt/selfuncs.c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400507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Dispatch / Motion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cdbdisp*, execMotion*</a:t>
            </a:r>
            <a:br/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5"/>
              </a:rPr>
              <a:t>https://github.com/greenplum-db/gpdb-archive/tree/main/src/backend/cdb</a:t>
            </a:r>
          </a:p>
        </p:txBody>
      </p:sp>
      <p:sp>
        <p:nvSpPr>
          <p:cNvPr id="25" name="Rounded Rectangle 24">
            <a:hlinkClick action="ppaction://hlinksldjump" r:id="rId6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7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LEGACY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Legacy Postgres planner: как думает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Динамическое программирование / жадные эвристики вокруг path trees PostgreSQL + GP Motion hooks.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Корни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path/joinpath, costsize, selfuncs + cdbpath 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Сильная сторона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Простые/средние запросы, предсказуемый fallback.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Слабость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Взрыв пространства при многих joins; слабее глобальный reorder.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Практика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Часто хорош на 2–3 joins и локальных agg.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HISTORY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История: зачем в Greenplum два оптимизатора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Legacy = Postgres lineage. GPORCA = ответ на MPP/OLAP, не «вторая кнопка».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До 2010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Greenplum на PostgreSQL planner + Motion/locus. Хорошо для короткого SQL, слабо для many-join DWH.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2010 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Внутренний проект Greenplum/Pivotal: новый optimizer. Лидер направления — Florian Waas; архитектура — Soliman et 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400507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2014 SIGMOD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Orca: A Modular Query Optimizer Architecture for Big Data — Cascades/memo, portable, tooling (AMPERE).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400507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GP 4.3.5 → GP5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Появление в продукте; с Greenplum 5 GPORCA = default. Legacy остаётся fallback и SET optimizer=off.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HISTORY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Почему Legacy «не хватило» для MPP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PostgreSQL planner рождался под OLTP single-node — другая целевая функция.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OLTP vs OLAP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Короткие lookup vs длинные scan/agg/window на терабайтах.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Many-join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Star/snowflake: локальный join search часто даёт локальный минимум порядка joins.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400507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Redistribute/Broadcast часто дороже CPU — нужен first-class costing распределения.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400507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Partitions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Тысячи leaf partitions: Legacy OOM/slow; ORCA — partition-aware transforms.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HISTORY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Таймлайн GPORCA (четыре якоря)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2010 start → 2014 paper → 4.3.5 ship → GP5 default.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20370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2010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Старт Orca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59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06039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70631" y="220370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19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2014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19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SIGMOD paper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78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09158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73750" y="220370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38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4.3.5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38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продукте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397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12277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76869" y="220370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57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GP5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57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Default 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32516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15396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79988" y="220370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76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76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gporca в git</a:t>
            </a:r>
          </a:p>
        </p:txBody>
      </p:sp>
      <p:sp>
        <p:nvSpPr>
          <p:cNvPr id="33" name="Rounded Rectangle 32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34" name="Rounded Rectangle 33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HISTORY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Почему Legacy не удалили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Два оптимизатора — осознанная архитектура, не техдолг «на потом».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Planning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Простой SQL: Legacy часто дешевле compile.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Fallback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Feature gap ORCA → Postgres query optimizer.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400507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Mental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selfuncs/EXPLAIN привычны PostgreSQL-инженерам.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400507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Runtime niche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Иногда Legacy быстрее на узком классе запросов — решает EXPLAIN ANALYZE, не идеология.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GPORCA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GPORCA: memo, transformations, cost-based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Cascades-style optimizer: исследование эквивалентных планов в memo-структуре.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Groups альтернативных выражений одного logical result.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Xforms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Join reorder, aggregate pull-up/push-down, distribution enforcers.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Учитывает Motion/distribution как first-class cost.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Сильная сторона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Сложные star/snowflake, много joins, CTE-heavy SQL.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COMPARE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Где ORCA обычно выигрывает, а где Legacy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Не религия: измеряйте EXPLAIN/EXPLAIN ANALYZE на вашем workload.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1168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5798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6771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ORCA лучше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33472"/>
            <a:ext cx="5065776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Много joins, сложный star, partition-heavy, когда нужен глубокий reorder и distribution-aware cost.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01168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5798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6771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Legacy лучше / безопаснее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633472"/>
            <a:ext cx="5065776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Простые запросы; ORCA fallback/features gaps; отладка «странного» ORCA plan; иногда ниже planning time.</a:t>
            </a:r>
          </a:p>
        </p:txBody>
      </p:sp>
      <p:sp>
        <p:nvSpPr>
          <p:cNvPr id="17" name="Rounded Rectangle 16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STAR-JOIN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Star-join: fact в центре, dims по лучам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Классическая OLAP-форма. На стенде: lesson03.fact_sales ⋈ dim_customer ⋈ dim_product 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150"/>
              </a:lnSpc>
            </a:pP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</a:t>
            </a: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dim_customer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150"/>
              </a:lnSpc>
            </a:pP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   </a:t>
            </a: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\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150"/>
              </a:lnSpc>
            </a:pP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</a:t>
            </a: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dim_date </a:t>
            </a:r>
            <a:r>
              <a:rPr sz="10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---- fact_sales ---- dim_product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150"/>
              </a:lnSpc>
            </a:pP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   </a:t>
            </a: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150"/>
              </a:lnSpc>
            </a:pP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</a:t>
            </a: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dim_store (если есть)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150"/>
              </a:lnSpc>
            </a:pP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150"/>
              </a:lnSpc>
            </a:pPr>
            <a:r>
              <a:rPr sz="10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Пример со стенда (упрощённый star; lab ещё дублирует joins):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150"/>
              </a:lnSpc>
            </a:pPr>
            <a:r>
              <a:rPr sz="10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.region, d.category, </a:t>
            </a:r>
            <a:r>
              <a:rPr sz="10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sum</a:t>
            </a: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(f.amount) </a:t>
            </a:r>
            <a:r>
              <a:rPr sz="10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AS</a:t>
            </a: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revenue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150"/>
              </a:lnSpc>
            </a:pPr>
            <a:r>
              <a:rPr sz="10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lesson03.fact_sales f          </a:t>
            </a:r>
            <a:r>
              <a:rPr sz="10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FACT (центр)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150"/>
              </a:lnSpc>
            </a:pPr>
            <a:r>
              <a:rPr sz="10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JOIN</a:t>
            </a: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lesson03.dim_customer </a:t>
            </a:r>
            <a:r>
              <a:rPr sz="10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sz="10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DIM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150"/>
              </a:lnSpc>
            </a:pP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0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ON</a:t>
            </a: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.customer_id = f.customer_id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150"/>
              </a:lnSpc>
            </a:pPr>
            <a:r>
              <a:rPr sz="10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JOIN</a:t>
            </a: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lesson03.dim_product d         </a:t>
            </a:r>
            <a:r>
              <a:rPr sz="10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DIM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150"/>
              </a:lnSpc>
            </a:pP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0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ON</a:t>
            </a: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d.product_id = f.product_id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150"/>
              </a:lnSpc>
            </a:pPr>
            <a:r>
              <a:rPr sz="10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f.sale_date &gt;= DATE </a:t>
            </a:r>
            <a:r>
              <a:rPr sz="10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'2026-02-01'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150"/>
              </a:lnSpc>
            </a:pP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0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AND</a:t>
            </a: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.segment &lt;&gt; </a:t>
            </a:r>
            <a:r>
              <a:rPr sz="10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'test'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150"/>
              </a:lnSpc>
            </a:pPr>
            <a:r>
              <a:rPr sz="10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GROUP</a:t>
            </a: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.region, d.category;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150"/>
              </a:lnSpc>
            </a:pP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150"/>
              </a:lnSpc>
            </a:pPr>
            <a:r>
              <a:rPr sz="10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Признаки star-join: 1 большая fact + N маленьких dims по FK;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150"/>
              </a:lnSpc>
            </a:pPr>
            <a:r>
              <a:rPr sz="10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фильтры на fact/dim; agg по атрибутам dims.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STAR-JOIN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Альтернативы star-join и когда их брать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Star — не единственный shape. Выбор = модель данных + стоимость Motion/planning.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Snowflake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Dims разбиты (product → brand → category). Больше joins; иногда яснее модель, чаще больнее planner.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Wide / denorm 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Атрибуты dims уже в fact (region, category в строке продажи). Меньше joins, больше хранения и риска рассинхрона.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400507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TEMP stages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Сначала сузить fact → TEMP, потом 1–2 join к dims. Контролируемый physical stage вместо одного many-join SQL.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400507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Меньше joins / views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Убрать дубли JOIN (как c2/d2 в v_star_join_orca_case) — demo-перегруз для ORCA; в prod это anti-pattern.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PLAN TREE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Дерево плана: простой agg (реальный EXPLAIN GP 6.25)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Фазы Optimize→Dispatch→Execute видны как slices + Motion. Стенд greenplum-625.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Gather Motion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2:1  (slice2; segments: 2)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 </a:t>
            </a:r>
            <a:r>
              <a:rPr sz="11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GroupAggregate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Group Key: region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 </a:t>
            </a:r>
            <a:r>
              <a:rPr sz="11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Sort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 </a:t>
            </a:r>
            <a:r>
              <a:rPr sz="11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Redistribute Motion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2:2  (slice1)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</a:t>
            </a:r>
            <a:r>
              <a:rPr sz="11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Hash Key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: region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 </a:t>
            </a:r>
            <a:r>
              <a:rPr sz="11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HashAggregate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  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 </a:t>
            </a:r>
            <a:r>
              <a:rPr sz="11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Seq Scan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on dim_customer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Optimizer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: Pivotal </a:t>
            </a:r>
            <a:r>
              <a:rPr sz="11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Optimizer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</a:t>
            </a:r>
            <a:r>
              <a:rPr sz="11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GPORCA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SCREENSHOT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Скрин EXPLAIN: GPORCA на простом GROUP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artifacts/lesson-03/plan-screens/explain-simple.png — снято с живого стенда.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pic>
        <p:nvPicPr>
          <p:cNvPr id="9" name="Picture 8" descr="explain-si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656" y="1874519"/>
            <a:ext cx="8258688" cy="3794761"/>
          </a:xfrm>
          <a:prstGeom prst="rect">
            <a:avLst/>
          </a:prstGeom>
        </p:spPr>
      </p:pic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1" name="Rounded Rectangle 10">
            <a:hlinkClick action="ppaction://hlinksldjump" r:id="rId4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PLAN TREE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Дерево плана: star-join под GPORCA (сжатый readout)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Тот же SQL, что в демо. Полный скрин — следующий слайд; raw: artifacts/lesson-03/plans/orca.txt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Limit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 </a:t>
            </a:r>
            <a:r>
              <a:rPr sz="11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Gather Motion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2:1  (slice3)          -- Execute: gather to QD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 </a:t>
            </a:r>
            <a:r>
              <a:rPr sz="11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Sort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+ </a:t>
            </a:r>
            <a:r>
              <a:rPr sz="11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HashAggregate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          -- final grain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 </a:t>
            </a:r>
            <a:r>
              <a:rPr sz="11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Redistribute Motion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2:2  (slice2)  -- by group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keys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 </a:t>
            </a:r>
            <a:r>
              <a:rPr sz="11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HashAggregate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     -- partial agg on QE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  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 </a:t>
            </a:r>
            <a:r>
              <a:rPr sz="11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Hash Join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fact ⋈ product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        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 </a:t>
            </a:r>
            <a:r>
              <a:rPr sz="11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Redistribute Motion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2:2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          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(slice1)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                </a:t>
            </a:r>
            <a:r>
              <a:rPr sz="11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Hash Key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: product_id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              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 </a:t>
            </a:r>
            <a:r>
              <a:rPr sz="11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Hash Join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fact ⋈ customer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                    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 </a:t>
            </a:r>
            <a:r>
              <a:rPr sz="11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Seq Scan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fact_sales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                    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 </a:t>
            </a:r>
            <a:r>
              <a:rPr sz="11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Seq Scan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                      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dim_customer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        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 </a:t>
            </a:r>
            <a:r>
              <a:rPr sz="11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Seq Scan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dim_product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Optimizer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: Pivotal </a:t>
            </a:r>
            <a:r>
              <a:rPr sz="11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Optimizer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</a:t>
            </a:r>
            <a:r>
              <a:rPr sz="11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GPORCA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SCREENSHOT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Скрин EXPLAIN: GPORCA star-join (v_star_join_orca_case)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Ищите Redistribute до/после Hash Join и маркер Optimizer: GPORCA.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pic>
        <p:nvPicPr>
          <p:cNvPr id="9" name="Picture 8" descr="explain-or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07" y="1874519"/>
            <a:ext cx="10292185" cy="3794761"/>
          </a:xfrm>
          <a:prstGeom prst="rect">
            <a:avLst/>
          </a:prstGeom>
        </p:spPr>
      </p:pic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1" name="Rounded Rectangle 10">
            <a:hlinkClick action="ppaction://hlinksldjump" r:id="rId4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PLAN TREE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Дерево плана: тот же SQL под Legacy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Другой join order и маркер Postgres query optimizer. Скрин — следующий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Limit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 </a:t>
            </a:r>
            <a:r>
              <a:rPr sz="11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Gather Motion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2:1  (slice3)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 </a:t>
            </a:r>
            <a:r>
              <a:rPr sz="11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Sort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+ </a:t>
            </a:r>
            <a:r>
              <a:rPr sz="11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HashAggregate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 </a:t>
            </a:r>
            <a:r>
              <a:rPr sz="11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Redistribute Motion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2:2  (slice2)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 </a:t>
            </a:r>
            <a:r>
              <a:rPr sz="11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HashAggregate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  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 </a:t>
            </a:r>
            <a:r>
              <a:rPr sz="11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Hash Join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fact ⋈ customer   -- другой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    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order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        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 </a:t>
            </a:r>
            <a:r>
              <a:rPr sz="11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Hash Join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fact ⋈ product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              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 </a:t>
            </a:r>
            <a:r>
              <a:rPr sz="11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Seq Scan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fact_sales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              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 </a:t>
            </a:r>
            <a:r>
              <a:rPr sz="11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Seq Scan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dim_product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        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 </a:t>
            </a:r>
            <a:r>
              <a:rPr sz="11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Seq Scan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dim_customer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Optimizer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sz="11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Postgres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query optimizer   -- Legacy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SCREENSHOT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Скрин EXPLAIN: Legacy на том же star-join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Сравнивайте join order и положение Redistribute с предыдущим скрином ORCA.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pic>
        <p:nvPicPr>
          <p:cNvPr id="9" name="Picture 8" descr="explain-leg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465" y="1874519"/>
            <a:ext cx="7959069" cy="3794761"/>
          </a:xfrm>
          <a:prstGeom prst="rect">
            <a:avLst/>
          </a:prstGeom>
        </p:spPr>
      </p:pic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1" name="Rounded Rectangle 10">
            <a:hlinkClick action="ppaction://hlinksldjump" r:id="rId4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SCREENSHOT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Скрин EXPLAIN: monolith (WindowAgg + multi-slice)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v_heavy_olap_monolith: несколько Redistribute + WindowAgg — типичный «дорогой» OLAP shape.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pic>
        <p:nvPicPr>
          <p:cNvPr id="9" name="Picture 8" descr="explain-monoli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441" y="1874519"/>
            <a:ext cx="8505118" cy="3794761"/>
          </a:xfrm>
          <a:prstGeom prst="rect">
            <a:avLst/>
          </a:prstGeom>
        </p:spPr>
      </p:pic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1" name="Rounded Rectangle 10">
            <a:hlinkClick action="ppaction://hlinksldjump" r:id="rId4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DEMO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Демо на стенде: один SQL — два оптимизатора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lesson03.v_star_join_orca_case специально перегружен joins.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\i /mentor-lab/examples/lesson03-optimizer-legacy-vs-orca.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sql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optimizer =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EXPLAIN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*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lesson03.v_star_join_orca_case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ORDER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revenue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DESC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LIMIT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20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optimizer =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off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EXPLAIN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*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lesson03.v_star_join_orca_case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ORDER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revenue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DESC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LIMIT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20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ORCA+ / LEGACY−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Кейс: ORCA выбрал иной shape (проверить на объёме)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Многоjoin star: Legacy залипает в плохом порядке → лишний Redistribute.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Симптом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Большой Redistribute до фильтров/agg; странный join order.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ORCA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Находит порядок с меньшей shuffle cost через memo search.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Сравнить Settings/Optimizer status и Motion bytes/rows.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Не путать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Выигрыш ORCA ≠ повод не делать TEMP/ANALYZE.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LEGACY+ / ORCA−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Кейс: Legacy достаточен, ORCA избыточен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Простой aggregate по dimension: planning overhead ORCA не окупается.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optimizer =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off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EXPLAIN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region,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count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(*)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lesson03.dim_customer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GROUP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region;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Здесь оба плана близки; смотрите planning time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и стабильность, а не «модный» optimizer=on.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PROS/CONS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Плюсы и минусы: Legacy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Честный trade-off для Senior review.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1168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5798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6771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Плюсы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33472"/>
            <a:ext cx="5065776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Проще ментальная модель; быстрый planning на простых SQL; зрелый fallback; легче объяснить path tree.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01168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5798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6771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Минусы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633472"/>
            <a:ext cx="5065776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Слабее на many-join; меньше глобальных transform; чаще локально-оптимальный join order.</a:t>
            </a:r>
          </a:p>
        </p:txBody>
      </p:sp>
      <p:sp>
        <p:nvSpPr>
          <p:cNvPr id="17" name="Rounded Rectangle 16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PROS/CONS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Плюсы и минусы: GPORCA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Мощный search space имеет цену.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1168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5798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6771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Плюсы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33472"/>
            <a:ext cx="5065776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Глубокий join reorder; distribution-aware costing; сильнее на сложном OLAP/CTE.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01168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5798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6771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Минусы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633472"/>
            <a:ext cx="5065776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Дороже planning; feature gaps → fallback; сложнее debug; иногда неожиданный plan shape.</a:t>
            </a:r>
          </a:p>
        </p:txBody>
      </p:sp>
      <p:sp>
        <p:nvSpPr>
          <p:cNvPr id="17" name="Rounded Rectangle 16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FALLBACK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ORCA fallback и minidump — обязательная грамотность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Если ORCA не может оптимизировать, Greenplum уходит в Legacy.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Признак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EXPLAIN: Optimizer status / fallback reason.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GUC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optimizer_minidump=onerror для диагностики.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Практика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Не «чините SQL вслепую» — сначала читайте reason.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Prod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Фиксируйте optimizer setting в session/role policy.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Сквозной case: месячный OLAP по продажам и клиентам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Монолит для layered EXPLAIN + сравнения optimizer.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lesson03.v_heavy_olap_monolith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.region, d.category,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sum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(f.amount)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AS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revenue,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rank() OVER (PARTITION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.region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ORDER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sum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(f.amount)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DESC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lesson03.fact_sales f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JOIN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lesson03.dim_customer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.customer_id = f.customer_id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JOIN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lesson03.dim_product  d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d.product_id  = f.product_id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f.sale_date &gt;= DATE </a:t>
            </a:r>
            <a:r>
              <a:rPr sz="11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'2026-02-01'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AND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f.sale_date &lt;  DATE </a:t>
            </a:r>
            <a:r>
              <a:rPr sz="11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'2026-03-01'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AND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.segment &lt;&gt; </a:t>
            </a:r>
            <a:r>
              <a:rPr sz="11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'test'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GROUP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.region, d.category;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DECOMPOSITION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Декомпозиция: сужаем → соединяем → считаем → доказываем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Каждый этап должен уменьшать cardinality или убирать Motion.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20370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Filter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Окно и anti-test.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59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06039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70631" y="220370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19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Shape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19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TEMP grain.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78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09158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73750" y="220370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38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Join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38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Узкий set.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397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12277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76869" y="220370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57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Agg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57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Локально где можно.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32516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15396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79988" y="220370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76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Prove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76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EXPLAIN до/после.</a:t>
            </a:r>
          </a:p>
        </p:txBody>
      </p:sp>
      <p:sp>
        <p:nvSpPr>
          <p:cNvPr id="33" name="Rounded Rectangle 32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34" name="Rounded Rectangle 33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EXPLAIN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Сложный план: слои Senior readout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0) Optimizer. 1) Motion. 2) Join order. 3) Estimates. 4) Scan/storage.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Optimizer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on/off, fallback, PQO version.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Redistribute/Broadcast/Gather и ключ.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Estimates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rows vs actual; selectivity traps.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Scan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partition pruning / AOCO projection.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ESTIMATES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Если rows врут — тюнинг SQL почти бессмысленен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Сначала доказать estimate vs actual, потом rewrite/optimizer.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EXPLAIN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ANALYZE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...;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Ищем на каждом узле: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  rows=&lt;estimate&gt;  vs  actual rows=&lt;fact&gt;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Порог тревоги: x5–x10 на join/agg input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Дальше: pg_stats → ANALYZE / SET STATISTICS → TEMP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И только потом менять SQL shape / optimizer.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MOTION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Платим сетью: цель — перенести Motion на меньший 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ORCA может выбрать другой enforcer; TEMP фиксирует ваш контракт.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1168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5798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6771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До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33472"/>
            <a:ext cx="5065776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широкого fact; Broadcast раздутой dim.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01168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5798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6771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После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633472"/>
            <a:ext cx="5065776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TEMP окна + ANALYZE → меньше shuffle bytes.</a:t>
            </a:r>
          </a:p>
        </p:txBody>
      </p:sp>
      <p:sp>
        <p:nvSpPr>
          <p:cNvPr id="17" name="Rounded Rectangle 16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STATS 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На что влияет статистика в Greenplum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Не «для красоты catalog»: от rows зависят join order, Motion, mem и spill.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Join order / hash vs nest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Estimate input rows решает, что строить в hash и какой dim Broadcast.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Завышенный rows → лишний Redistribute/Broadcast «на всякий случай».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Agg / GROUP BY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NDV групп ≈ n_distinct ключей; ошибка → плохой Redistribute grain.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Memory / spill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statement_mem и workfiles планируются от estimate; врёт rows → диск.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STATS ANATOMY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Из чего состоит статистика колонки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Human view: pg_stats. Source of truth: pg_statistic slots после ANALYZE.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n_distinct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&gt;0 абсолют NDV; &lt;0 доля от rows (−1 ≈ unique). База для equality без MCV и для GROUP BY.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+ freqs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most_common_vals / most_common_freqs. Equality/IN по частым значениям → берёт freq, не 1/NDV.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400507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histogram_bounds — equi-depth корзины (равная доля строк). Для range (&lt;, BETWEEN). MCV-значения из hist исключены.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400507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null_frac / correlation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Доля NULL; correlation физ.порядка vs logical (влияние на index/scan costing).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SCREENSHOT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Скрин pg_stats со стенда: MCV vs histogram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default_statistics_target=100 → hist_n≈101. sale_date: все в MCV → hist пуст.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pic>
        <p:nvPicPr>
          <p:cNvPr id="9" name="Picture 8" descr="stats-pg-stats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092" y="1874519"/>
            <a:ext cx="10987815" cy="3794761"/>
          </a:xfrm>
          <a:prstGeom prst="rect">
            <a:avLst/>
          </a:prstGeom>
        </p:spPr>
      </p:pic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1" name="Rounded Rectangle 10">
            <a:hlinkClick action="ppaction://hlinksldjump" r:id="rId4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Гистограмма: equi-depth, сколько шагов, как читать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Не bar-chart «красивый» — массив границ корзин равной плотности строк.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default_statistics_target = 100  (GUC / SET / ALTER COLUMN SET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STATISTICS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ANALYZE строит до ~100 MCV и ~100 histogram buckets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histogram_bounds.length ≈ target + 1  (границы), на стенде: 101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bucket_i ≈ (значения между bounds[i] и bounds[i+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])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каждый bucket ≈ 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/target доли строк (equi-depth / equi-height)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SELECTIVITY (col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BETWEEN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lo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AND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hi):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доля полных корзин внутри [lo,hi]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+ доля края (линейная интерполяция в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partial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bucket)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На стенде amount: bounds {1.67, 4.33, 6.67, ...}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sale_date: hist NULL — NDV мал, всё ушло в MCV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 выглядит histogram в pg_stats (пример)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Границы — квантили non-MCV sample. MCV из hist исключены.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attname,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histogram_bounds[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]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AS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lo,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histogram_bounds[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2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]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AS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q1,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histogram_bounds[array_length(histogram_bounds,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)]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AS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hi,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array_length(histogram_bounds,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AS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hist_n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pg_stats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schemaname=</a:t>
            </a:r>
            <a:r>
              <a:rPr sz="11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'lesson03'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AND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tablename=</a:t>
            </a:r>
            <a:r>
              <a:rPr sz="11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'fact_sales'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AND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attname=</a:t>
            </a:r>
            <a:r>
              <a:rPr sz="11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'amount'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Типичный readout: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lo≈1.67  q1≈4.33  hi≈max  hist_n=101  (target=100)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stakind=2 в pg_statistic; большие arrays → TOAST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SCREENSHOT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Скрин: структура histogram + физический слот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stakind=2 → stavalues = bounds array в tuple pg_statistic (возможен TOAST).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pic>
        <p:nvPicPr>
          <p:cNvPr id="9" name="Picture 8" descr="stats-histogram-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092" y="1874519"/>
            <a:ext cx="10987815" cy="3794761"/>
          </a:xfrm>
          <a:prstGeom prst="rect">
            <a:avLst/>
          </a:prstGeom>
        </p:spPr>
      </p:pic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1" name="Rounded Rectangle 10">
            <a:hlinkClick action="ppaction://hlinksldjump" r:id="rId4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 обновляется гистограмма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Hist живёт только после ANALYZE; SET STATISTICS меняет target колонки.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ANALYZE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Sample → rebuild MCV + bounds. После bulk load / exchange — обязательно.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SET STATISTICS 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ALTER COLUMN … SET STATISTICS 200; ANALYZE — больше buckets/MCV.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TEMP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CREATE TEMP … AS → ANALYZE сразу, иначе оценки stage часто грубые.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Root partitions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ORCA читает stats root; забыли ANALYZE root → плохие оценки.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На что влияет histogram (и на что — нет)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Главный потребитель — range predicates; equality живёт на MCV/NDV.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Влияет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&lt;, &lt;=, &gt;, &gt;=, BETWEEN → histfrac + края; косвенно join/Motion/spill.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Не заменяет MCV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col = frequent_value берёт most_common_freqs, не bucket density.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400507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Не лечит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Коррелированные AND/OR, функции на колонках, stale sample.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400507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Код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ineq_histogram_selectivity в</a:t>
            </a:r>
            <a:br/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2"/>
              </a:rPr>
              <a:t>https://github.com/greenplum-db/gpdb-archive/blob/main/src/backend/utils/adt/selfuncs.c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4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MCV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MCV: как выглядит и когда histogram не строится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Частые значения + частоты. Если NDV ≤ target — весь столбец может быть MCV.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dim_customer.segment на стенде: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most_common_vals  = {enterprise, mid, smb, test}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most_common_freqs = {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3138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3138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3136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0588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n_distinct = 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4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  histogram_bounds =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NULL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segment = </a:t>
            </a:r>
            <a:r>
              <a:rPr sz="11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'enterprise'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 → sel ≈ 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314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 (не 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25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!)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segment = </a:t>
            </a:r>
            <a:r>
              <a:rPr sz="11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'test'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       → sel ≈ 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059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segment = </a:t>
            </a:r>
            <a:r>
              <a:rPr sz="11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'unknown'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    → sel ≈ (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-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sum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(mcf)) / (NDV - |MCV|)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Физика: stakind=1; stavalues=values; stanumbers=freqs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DENSITY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Вектор плотности в Greenplum — что это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Не отдельный тип каталога: MCV freqs + per-bucket density в ORCA.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-- 1) MCV frequency vector (stanumbers):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density_MCV[i] = most_common_freqs[i] = P(col = mcv[i])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Σ density_MCV + residual + null_frac ≈ 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-- 2) ORCA CBucket density (uniform в bucket):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density_bucket = frequency /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max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distinct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rows_one_value ≈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rows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× density_bucket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CBucket::MakeBucketSingleton: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ratio = 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/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max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, m_distinct)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frequency_new = m_frequency * ratio   </a:t>
            </a: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= density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Код: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  <a:hlinkClick r:id="rId2"/>
              </a:rPr>
              <a:t>https://github.com/apache/cloudberry/blob/main/src/backend/gporca/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libnaucrates/src/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statistics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/CBucket.cpp</a:t>
            </a:r>
          </a:p>
        </p:txBody>
      </p:sp>
      <p:sp>
        <p:nvSpPr>
          <p:cNvPr id="12" name="Rounded Rectangle 11">
            <a:hlinkClick action="ppaction://hlinksldjump" r:id="rId3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4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DENSITY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CBucket / CHistogram — вероятностные структуры ORCA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Legacy читает slots; ORCA материализует их в CHistogram при costing.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CBucket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lower/upper, closedness, frequency∈[0,1], distinct (NDV).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CHistogram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массив buckets + NDVRemain/freqRemain + nulls.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CStatsPred*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Conj / Disj / Point / ArrayCmp — дерево предикатов stats.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scale_factor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ORCA: rows_out ≈ rows_in / SF; SF ≈ 1/selectivity.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LEGACY FORMULA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Legacy: defaults и equality (из selfuncs)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DEFAULT_EQ_SEL=0.005 — когда stats нет. Иначе MCV / residual NDV.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DEFAULT_EQ_SEL = 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005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DEFAULT_INEQ_SEL ≈ 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3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DEFAULT_NUM_DISTINCT = 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200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var_eq_const / eqsel: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если const ∈ MCV:     sel = most_common_freqs[i]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иначе:                sel = (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− Σmcf −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null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 / (NDV − |MCV|)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clamp ≤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min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(MCV freqs)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нет stats:            sel = 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/ NDV_est  или DEFAULT_EQ_SEL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для &lt;&gt; (negate):      sel = 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− sel − null_frac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  <a:hlinkClick r:id="rId2"/>
              </a:rPr>
              <a:t>https://github.com/greenplum-db/gpdb-archive/blob/main/src/backen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d/utils/adt/selfuncs.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  <a:hlinkClick r:id="rId3"/>
              </a:rPr>
              <a:t>https://github.com/greenplum-db/gpdb-archive/blob/main/src/includ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e/utils/selfuncs.h</a:t>
            </a:r>
          </a:p>
        </p:txBody>
      </p:sp>
      <p:sp>
        <p:nvSpPr>
          <p:cNvPr id="12" name="Rounded Rectangle 11">
            <a:hlinkClick action="ppaction://hlinksldjump" r:id="rId4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5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LEGACY FORMULA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Legacy: range по histogram (ineq_histogram_selectivity)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Бинарный поиск границы + линейная интерполяция внутри bucket.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если const &lt; bounds[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]:  histfrac = 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если const &gt; bounds[n]:  histfrac = 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иначе:  binfrac = (scalar(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)−scalar(lo)) / (scalar(hi)−scalar(lo))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histfrac = (полные buckets + binfrac) / (n−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histfrac относится к non-MCV / non-NULL популяции;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scalarineqsel домножает residual и учитывает MCV в диапазоне.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rows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≈ tuples × (MCV_part + residual × histfrac)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LEGACY FORMULA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Legacy: AND / OR / NOT (clausesel.c)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Модель независимости событий. Корреляция колонок — главная ловушка.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Conjunctive AND (clauselist_selectivity):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s_AND = s1 * s2 * … * sn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Disjunctive OR (clauselist_selectivity_or):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s_OR  = s1 + s2 − s1*s2     </a:t>
            </a: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inclusion–exclusion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(итеративно для n&gt;2)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NOT P: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s_NOT ≈ 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− s_P − null_adjust   </a:t>
            </a: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для strict ops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  <a:hlinkClick r:id="rId2"/>
              </a:rPr>
              <a:t>https://github.com/greenplum-db/gpdb-archive/blob/main/src/backen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d/optimizer/path/clausesel.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</a:p>
        </p:txBody>
      </p:sp>
      <p:sp>
        <p:nvSpPr>
          <p:cNvPr id="12" name="Rounded Rectangle 11">
            <a:hlinkClick action="ppaction://hlinksldjump" r:id="rId3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4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LEGACY FORMULA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Legacy: IN / NOT IN / ScalarArrayOp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IN ≈ OR equality; NOT IN ≈ AND ≠ (+ ловушки NULL).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IN / = ANY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scalararraysel: OR по элементам; MCV freqs суммируются с поправкой.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NOT 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Семантика NULL коварна; оценка через negators. Часто лучше NOT EXISTS / anti-join.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400507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AND по элементам массива (useOr=false).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400507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Практика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Короткий IN из MCV → хорошая оценка; длинный IN + join → дрейф.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ORCA FORMULA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ORCA: AND с damping (не чистое ∏ 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DDampingFactorFilter = 0.75. SF сортируются; последующие ослабляются.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DampedFilter(n) = 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75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^n     </a:t>
            </a: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n≥2; для 1 колонки → 1.0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CalcScaleFactorCumulativeConj: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 отсортировать SF по убыванию (самый селективный первый)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2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 SF_AND = ∏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max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(MinRows, SFᵢ · DampedFilter(i))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rows_out ≈ rows_in / SF_AND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Следствие: ORCA менее агрессивно «убивает» rows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при многих AND, чем Legacy s1*s2*…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  <a:hlinkClick r:id="rId2"/>
              </a:rPr>
              <a:t>https://github.com/apache/cloudberry/blob/main/src/backend/gporca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/libnaucrates/src/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statistics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/CScaleFactorUtils.cpp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defaults: …/libgpopt/include/gpopt/engine/CStatisticsConfig.h</a:t>
            </a:r>
          </a:p>
        </p:txBody>
      </p:sp>
      <p:sp>
        <p:nvSpPr>
          <p:cNvPr id="12" name="Rounded Rectangle 11">
            <a:hlinkClick action="ppaction://hlinksldjump" r:id="rId3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4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ORCA FORMULA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ORCA: OR с damped накоплением rows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Не классическое s1+s2−s1s2 — накопление с 0.75^k.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CalcScaleFactorCumulativeDisj (комментарий в коде):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rows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≈ rows0 + rows1·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75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+ rows2·(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75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)^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2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+ …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где rowsᵢ = total_rows / SFᵢ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SF_OR = total_rows / rows_acc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Conj/Disj деревья: CStatsPredConj / CStatsPredDisj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  <a:hlinkClick r:id="rId2"/>
              </a:rPr>
              <a:t>https://github.com/apache/cloudberry/blob/main/src/backend/gporca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/libnaucrates/src/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statistics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/CFilterStatsProcessor.cpp</a:t>
            </a:r>
          </a:p>
        </p:txBody>
      </p:sp>
      <p:sp>
        <p:nvSpPr>
          <p:cNvPr id="12" name="Rounded Rectangle 11">
            <a:hlinkClick action="ppaction://hlinksldjump" r:id="rId3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4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ORCA FORMULA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ORCA: equality, join, defaults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Singleton density + NDV join formula + fallback SF.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Point equality в bucket: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SF ≈ 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/ (frequency /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max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, NDV_bucket))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Equi-join (CBucket):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|R ⋈ S| ≈ |R|·|S| /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max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(NDV(R.a), NDV(S.b))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DefaultInequalityJoinPredScaleFactor = 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3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DefaultJoinPredScaleFactor           = 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100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DDefaultScaleFactorLike              = 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150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  <a:hlinkClick r:id="rId2"/>
              </a:rPr>
              <a:t>https://github.com/apache/cloudberry/blob/main/src/backend/gporca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/libnaucrates/src/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statistics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/CBucket.cpp</a:t>
            </a:r>
          </a:p>
        </p:txBody>
      </p:sp>
      <p:sp>
        <p:nvSpPr>
          <p:cNvPr id="12" name="Rounded Rectangle 11">
            <a:hlinkClick action="ppaction://hlinksldjump" r:id="rId3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4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Сводка: один предикат — два оценщика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Одинаковые pg_statistic slots → разные комбинаторы.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Legacy unit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Selectivity ∈ (0,1]; rows ≈ sel × child_rows.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ORCA unit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scale_factor; rows ≈ rows_in / SF.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Legacy ∏s vs ORCA damped ∏SF (0.75^n).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Legacy s1+s2−s1s2 vs ORCA damped row sum.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SCREENSHOT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Скрин EXPLAIN ANALYZE: хорошие оценки на стенде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Простые предикаты + свежий ANALYZE → estimate ≈ actual.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pic>
        <p:nvPicPr>
          <p:cNvPr id="9" name="Picture 8" descr="stats-estimates-g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799" y="1874519"/>
            <a:ext cx="10332401" cy="3794761"/>
          </a:xfrm>
          <a:prstGeom prst="rect">
            <a:avLst/>
          </a:prstGeom>
        </p:spPr>
      </p:pic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1" name="Rounded Rectangle 10">
            <a:hlinkClick action="ppaction://hlinksldjump" r:id="rId4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GOOD 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Хорошие оценки: SQL-паттерны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 / NDV / range / одноколоночный GROUP BY.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MCV equality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count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(*)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lesson03.dim_customer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segment = </a:t>
            </a:r>
            <a:r>
              <a:rPr sz="11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'enterprise'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          </a:t>
            </a: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sel≈0.314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NDV equality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count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(*)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lesson03.fact_sales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product_id = 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Range по hist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count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(*)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lesson03.fact_sales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amount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BETWEEN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10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AND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20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GROUP BY 1 ключ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region,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count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(*)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lesson03.dim_customer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GROUP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region;                       </a:t>
            </a: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groups≈4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BAD 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Плохие оценки: SQL-паттерны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Корреляция, expr на колонке, multi GROUP BY — ломают модель.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Коррелированный AND (независимость врёт)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count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(*)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lesson03.dim_customer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region=</a:t>
            </a:r>
            <a:r>
              <a:rPr sz="11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'us'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AND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segment=</a:t>
            </a:r>
            <a:r>
              <a:rPr sz="11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'enterprise'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Функция — stats колонки не применяются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count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(*)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lesson03.fact_sales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date_trunc(</a:t>
            </a:r>
            <a:r>
              <a:rPr sz="11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'month'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, sale_date) = DATE </a:t>
            </a:r>
            <a:r>
              <a:rPr sz="11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'2026-02-01'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Multi GROUP BY: estimate ≈ ∏NDV, actual &lt;&lt; product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region, segment,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count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(*)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lesson03.dim_customer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GROUP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region, segment;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GROUP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Legacy GROUP BY: estimate_num_groups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Эвристики Postgres: ∏NDV + clamp + restriction; не multivariate stats.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estimate_num_groups (selfuncs.c), упрощённо: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 boolean expr → ×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2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групп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2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 свести expr к уникальным Vars (a, a+b ≈ a,b)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3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 внутри rel: ∏ NDV, clamp к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rows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10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при &gt;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Var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4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 × selectivity restriction clauses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5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 между rel — перемножить; clamp к input_rows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groups(a,b) ≈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min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 NDV(a)*NDV(b) [clamp],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rows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  <a:hlinkClick r:id="rId2"/>
              </a:rPr>
              <a:t>https://github.com/greenplum-db/gpdb-archive/blob/main/src/backen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d/utils/adt/selfuncs.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</a:p>
        </p:txBody>
      </p:sp>
      <p:sp>
        <p:nvSpPr>
          <p:cNvPr id="12" name="Rounded Rectangle 11">
            <a:hlinkClick action="ppaction://hlinksldjump" r:id="rId3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4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GROUP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ORCA GROUP BY: GetCumulativeNDVs + damping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DDampingFactorGroupBy = 0.75. NDV сортируются по убыванию.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DampedGroupBy(i) = 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75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^(i+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cumulative = NDV[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]   </a:t>
            </a: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после sort desc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для i=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..n-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cumulative *=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max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(MinDistinct, NDV[i] * DampedGroupBy(i))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groups =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min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(cumulative, input_rows)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  <a:hlinkClick r:id="rId2"/>
              </a:rPr>
              <a:t>https://github.com/apache/cloudberry/blob/main/src/backend/gporca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/libnaucrates/src/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statistics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/CStatisticsUtils.cpp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CGroupByStatsProcessor::CalcGroupByStats</a:t>
            </a:r>
          </a:p>
        </p:txBody>
      </p:sp>
      <p:sp>
        <p:nvSpPr>
          <p:cNvPr id="12" name="Rounded Rectangle 11">
            <a:hlinkClick action="ppaction://hlinksldjump" r:id="rId3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4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DEMO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Демо на стенде: cardinality + histogram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labs/greenplum-625/examples/lesson03-cardinality-histogram-demo.sql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в psql на mentor / lesson03: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\i /mentor-lab/examples/lesson03-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cardinality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-histogram-demo.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sql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Блоки демо: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-- 1) pg_stats: MCV vs hist_n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-- 2) хорошие EXPLAIN ANALYZE (MCV/NDV/range/GROUP BY)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-- 3) плохие: AND коррел., date_trunc, multi GROUP BY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-- 4) IN / OR / NOT IN — ORCA vs Legacy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-- 5) SET STATISTICS 200 → rebuild hist → rollback 100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optimizer =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   </a:t>
            </a: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и повторить с off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COMBO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Комбинации AND + OR: как читать глазами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Сначала оцените атомы (MCV/hist), потом комбинатор оптимизатора.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segment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IN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</a:t>
            </a:r>
            <a:r>
              <a:rPr sz="11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'enterprise'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,</a:t>
            </a:r>
            <a:r>
              <a:rPr sz="11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'mid'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          </a:t>
            </a: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OR / array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AND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sale_date &gt;= DATE </a:t>
            </a:r>
            <a:r>
              <a:rPr sz="11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'2026-02-01'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          </a:t>
            </a: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range / MCV дат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AND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(region = </a:t>
            </a:r>
            <a:r>
              <a:rPr sz="11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'us'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OR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region = </a:t>
            </a:r>
            <a:r>
              <a:rPr sz="11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'eu'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         </a:t>
            </a: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OR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Legacy mental math: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s_seg ≈ f_ent + f_mid − f_ent*f_mid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s_date ≈ hist/MCV range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s_reg  ≈ s_us + s_eu − s_us*s_eu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s_all  ≈ s_seg * s_date * s_reg     </a:t>
            </a: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независимость!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ORCA: те же атомы → SF, затем damped conj/disj.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На стенде гоняйте блок 5 демо-SQL с on/off.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COMPARE 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Cardinality estimator: ORCA vs Legacy cheat-card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Держите рядом с EXPLAIN ANALYZE на уроке.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Equality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Оба: MCV freq или residual/NDV. ORCA через CBucket density.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Legacy ∏s. ORCA ∏(SF·0.75^i) после sort.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Legacy s1+s2−s1s2. ORCA Σ rows·0.75^k.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GROUP BY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Legacy estimate_num_groups. ORCA damped ∏NDV.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READOUT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 доказывать misestimate за 3 шага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Без «статистика плохая» общими словами — только числа.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20370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EXPLAIN ANALYZE: rows vs actual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59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06039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70631" y="220370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19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19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pg_stats: MCV/hist/NDV колонок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78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09158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73750" y="220370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38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38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Формула: Legacy∏ / ORCA damp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397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12277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76869" y="220370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57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57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Fix: ANALYZE / rewrite / TEMP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32516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15396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79988" y="220370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76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76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Повтор при том же optimizer</a:t>
            </a:r>
          </a:p>
        </p:txBody>
      </p:sp>
      <p:sp>
        <p:nvSpPr>
          <p:cNvPr id="33" name="Rounded Rectangle 32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34" name="Rounded Rectangle 33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STATS FAIL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Когда хорошая статистика всё равно врёт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Проблема не всегда stale ANALYZE — часто модель независимости и форма SQL.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Коррелированные фильтры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WHERE region='us' AND segment='enterprise' — sel≠s1·s2, если атрибуты связаны.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Many-join / star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Ошибка sel на каждом join перемножается → взрыв/схлопывание rows на Motion.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Функции на колонках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WHERE date_trunc('week', sale_date)=… — stats на sale_date не помогают напрямую.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Skew + редкие значения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Значение вне MCV при высоком skew → недооценка; hash/Broadcast ломаются.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STATS FIX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Путь решения: от ANALYZE до декомпозиции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Market practice: доказать misestimate → починить вход stats → иначе physical stage.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20370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Measure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EXPLAIN ANALYZE rows vs actual.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59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06039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70631" y="220370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19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Refresh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19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ANALYZE / после load.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78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09158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73750" y="220370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38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Target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38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SET STATISTICS N на ключ.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397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12277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76869" y="220370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57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Rewrite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57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убрать expr/коррел.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32516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15396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79988" y="220370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76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TEMP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76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stage + ANALYZE.</a:t>
            </a:r>
          </a:p>
        </p:txBody>
      </p:sp>
      <p:sp>
        <p:nvSpPr>
          <p:cNvPr id="33" name="Rounded Rectangle 32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34" name="Rounded Rectangle 33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STATS 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 обновлять и настраивать статистику (GP 6.25)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Контракт production: stats = часть data pipeline, не «иногда vacuum».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ANALYZE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lesson03.fact_sales;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ANALYZE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lesson03.dim_customer;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Больше buckets/MCV на «важной» колонке (market practice):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ALTER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TABLE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lesson03.fact_sales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ALTER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COLUMN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sale_date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STATISTICS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200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ANALYZE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lesson03.fact_sales;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SHOW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default_statistics_target;   </a:t>
            </a: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на стенде: 100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После ETL/partition exchange — ANALYZE обязателен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TEMP stage: ANALYZE сразу после наполнения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GP6: нет CREATE STATISTICS; на GP7/PG10+ — multivariate NDV/MCV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AUTOSTATS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Ручной vs автоматический ANALYZE в GP6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DWH-контракт = явный ANALYZE. Autostats — помощник, не нянька.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Вручную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ANALYZE table; после load/exchange/TEMP — в ETL обязательно.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Автомат GP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GUC gp_autostats_mode: planner дописывает ANALYZE к CTAS/INSERT/COPY…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Default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on_no_stats — только если статистики ещё не было.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Не PG-autovacuum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GP6 user DB не стройте процесс вокруг autovacuum autoanalyze.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AUTOSTATS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gp_autostats_mode: какой «сервис» отвечает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Не отдельный cron-daemon: поведение QD/planner на изменяющих командах.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SHOW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gp_autostats_mode;                 </a:t>
            </a: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default: on_no_stats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SHOW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gp_autostats_on_change_threshold;  </a:t>
            </a: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порог для on_change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SHOW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gp_autostats_mode_in_functions;    </a:t>
            </a: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часто none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on_no_stats: CTAS/INSERT/COPY владельцем, если stats нет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on_change:   + UPDATE/DELETE, если rows &gt; threshold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none:        выключено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Docs: Updating Statistics with ANALYZE (Greenplum 6)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AUTOSTATS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Где смотреть last_analyze / last_autoanalyze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pg_stat_user_tables — время ручного и автоматического обновления.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relname,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last_analyze,        </a:t>
            </a: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ручной ANALYZE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last_autoanalyze,    </a:t>
            </a: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авто путь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analyze_count,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autoanalyze_count,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n_mod_since_analyze  </a:t>
            </a: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«насколько устарело»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pg_stat_user_tables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schemaname = </a:t>
            </a:r>
            <a:r>
              <a:rPr sz="11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'lesson03'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ORDER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relname;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missing stats: gp_toolkit.gp_stats_missing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демо: lesson03-stats-analyze-lifecycle.sql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STATS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Код: Legacy selfuncs + ORCA statistics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Рабочие ссылки: gpdb-archive (Legacy) + apache/cloudberry (GPORCA).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ANALYZE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2"/>
              </a:rPr>
              <a:t>https://github.com/greenplum-db/gpdb-archive/blob/main/src/backend/commands/analyze.c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Legacy sel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3"/>
              </a:rPr>
              <a:t>https://github.com/greenplum-db/gpdb-archive/blob/main/src/backend/utils/adt/selfuncs.c</a:t>
            </a:r>
            <a:br/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4"/>
              </a:rPr>
              <a:t>https://github.com/greenplum-db/gpdb-archive/blob/main/src/backend/optimizer/path/clausesel.c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400507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ORCA hist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5"/>
              </a:rPr>
              <a:t>https://github.com/apache/cloudberry/blob/main/src/backend/gporca/libnaucrates/.../CBucket.h</a:t>
            </a:r>
            <a:br/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6"/>
              </a:rPr>
              <a:t>https://github.com/apache/cloudberry/blob/main/src/backend/gporca/.../CFilterStatsProcessor.cpp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400507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Deep-dive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docs/.../deep-dives/pg-statistic-internals.md</a:t>
            </a:r>
          </a:p>
        </p:txBody>
      </p:sp>
      <p:sp>
        <p:nvSpPr>
          <p:cNvPr id="25" name="Rounded Rectangle 24">
            <a:hlinkClick action="ppaction://hlinksldjump" r:id="rId7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8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Heap / AO / AOCO на GP 6.25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GP6: appendoptimized=true — документированный alias; в catalog/legacy часто видно appendonly.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Heap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Dims, updates, staging.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AO row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Bulk append row-oriented.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AOCO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Scan-heavy fact + projection.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Не лечит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Плохой optimizer choice / Motion / skew.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AOCO GP6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Физическая раскладка AOCO и типы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Column files + compression; text/numeric varlena; широкий payload не читается зря.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CREATE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TABLE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lesson03.fact_sales (...)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WITH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appendoptimized=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true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,  </a:t>
            </a: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alias: appendonly=true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orientation=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column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compresstype=zstd,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compresslevel=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DISTRIBUTED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(customer_id)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PARTITION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RANGE (sale_date) (...);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TEMP TRIO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Три разных «временных» механизма — не путать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CTE, TEMP TABLE и spill/workfiles живут в разных слоях стека.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CTE / WITH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Логическая подзапросная форма. Optimizer может инлайнить — нет гарантированного physical stage, stats, DISTRIBUTED BY.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TEMP 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Явная relation в pg_temp_NNN. Catalog + relfilenode t_* на QE. Можно ANALYZE и задать distribution.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400507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Spill / workfiles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Файлы исполнителей Sort/Hash при нехватке statement_mem. Путь: &lt;datadir&gt;/base/pgsql_tmp/pgsql_tmp_Sort_*. Не relation.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400507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Правило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«Не было CREATE TEMP ⇒ не было диска» — ложь. Spill пишется и без TEMP TABLE.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TEMP CREATE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 создаётся TEMP: SQL-контракт сессии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Lifecycle = сессия (или ON COMMIT). Другие сессии объект не видят.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CREATE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TEMP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TABLE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tmp_stage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customer_id, product_id, amount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lesson03.fact_sales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sale_date &gt;= DATE </a:t>
            </a:r>
            <a:r>
              <a:rPr sz="11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'2026-02-01'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AND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sale_date &lt;  DATE </a:t>
            </a:r>
            <a:r>
              <a:rPr sz="11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'2026-03-01'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DISTRIBUTED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(customer_id);   </a:t>
            </a: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обязательный контракт в GP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ANALYZE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tmp_stage;               </a:t>
            </a: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иначе оценки stage часто грубые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Варианты lifecycle: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CREATE TEMP TABLE ... ON COMMIT PRESERVE ROWS;  -- default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CREATE TEMP TABLE ... ON COMMIT DROP;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CREATE TEMP TABLE ... ON COMMIT DELETE ROWS;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Каталог: nspname = pg_temp_&lt;backend&gt;, relpersistence = 't'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Сессия пользователя: границы и TEMP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Сессия = одно живое соединение клиента с QD. Не путать с транзакцией.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Сессия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psql/JDBC подключился → backend на master. Пока TCP жив — живёт pg_temp_NNN.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Транзакция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BEGIN…COMMIT внутри сессии. Их может быть много подряд.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Чужая сессия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Другой psql не видит ваш TEMP. Это не «общая» таблица.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Конец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\q / disconnect / terminate_backend → TEMP уничтожены.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 узнать «кто я» в сессии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Три якоря: pid, my_temp_schema, строка в pg_stat_activity.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pg_backend_pid()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AS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backend_pid,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pg_my_temp_schema()::regnamespace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AS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my_temp;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pid, usename, application_name,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state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pg_stat_activity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pid = pg_backend_pid();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ON COMMIT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ON COMMIT: три режима TEMP (сводка)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Default = PRESERVE ROWS. DROP/DELETE ROWS — транзакционный контракт.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PRESERVE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После COMMIT таблица и строки остаются. Умирает в конце сессии.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DELETE ROWS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После COMMIT таблица есть, строк 0. Каркас на сессию.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DROP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После COMMIT таблицы нет. TEMP «на одну транзакцию».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ROLLBACK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Если CREATE в той же txn — TEMP как будто не создавали.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ON COMMIT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PRESERVE ROWS: сессионный stage (default)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Паттерн урока: сузили → COMMIT → дальше join/window в той же сессии.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BEGIN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CREATE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TEMP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TABLE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tmp_preserve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customer_id, amount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lesson03.fact_sales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sale_date &gt;= DATE </a:t>
            </a:r>
            <a:r>
              <a:rPr sz="11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'2026-02-01'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DISTRIBUTED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(customer_id)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COMMIT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PRESERVE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ROWS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ANALYZE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tmp_preserve;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COMMIT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count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(*)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tmp_preserve;  </a:t>
            </a: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живёт после COMMIT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другой psql: to_regclass('tmp_preserve') → NULL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ON COMMIT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DELETE ROWS vs DROP — примеры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DELETE ROWS чистит данные; DROP убивает relation на COMMIT.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DELETE ROWS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BEGIN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CREATE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TEMP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TABLE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tmp_del(id int) DISTRIBUTED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(id)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COMMIT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DELETE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ROWS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INSERT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INTO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tmp_del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VALUES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COMMIT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count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(*)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tmp_del;   </a:t>
            </a: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-- 0, таблица есть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DROP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BEGIN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CREATE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TEMP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TABLE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tmp_drop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AS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x DISTRIBUTED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(x)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COMMIT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DROP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COMMIT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to_regclass(</a:t>
            </a:r>
            <a:r>
              <a:rPr sz="11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'tmp_drop'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); </a:t>
            </a: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NULL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ON COMMIT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Когда TEMP удаляется — чеклист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COMMIT / DROP / disconnect — разные события.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COMMIT + PRESERVE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Не удаляет. Можно переиспользовать stage.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COMMIT + DROP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Relation исчезает сразу.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DROP 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Явно убрали в любой момент сессии.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Конец сессии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\q / idle timeout / kill backend → весь pg_temp_NNN cleanup.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TEMP CATALOG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Где посмотреть TEMP в каталоге Greenplum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pg_temp_NNN + relpersistence='t' + filepath t_*.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pg_my_temp_schema()::regnamespace;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n.nspname,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.relname,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.relpersistence,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pg_relation_filepath(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.oid)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AS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filepath,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pg_size_pretty(pg_total_relation_size(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.oid))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pg_class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JOIN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pg_namespace n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n.oid =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.relnamespace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n.oid = pg_my_temp_schema()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ORDER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.relname;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Демо: lesson03-temp-on-commit-lifecycle.sql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TEMP WHERE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Где живёт TEMP в Greenplum MPP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Не отдельный tempdb: та же БД, временный schema, данные на сегментах.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Namespace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pg_temp_NNN (+ pg_toast_temp_NNN). Session-local; после disconnect schema исчезает.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Catalog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Обычные pg_class/pg_attribute во временном namespace. relpersistence='t', filepath base/&lt;dboid&gt;/t_&lt;relfilenode&gt;.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400507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QD vs QE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QD координирует DDL/план. Данные TEMP на QE; на стенде QD-side файл часто 0 bytes (lab observation, не универсальный контракт).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400507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Distribution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TEMP — распределённая таблица. Неверный DISTRIBUTED BY ⇒ лишний Redistribute на следующем join.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TEMP FS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Файловая карта: TEMP relation vs spill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Снято с greenplum-625: два разных каталога под /data/*/gpsne*/base/.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# TEMP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TABLE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(явная relation)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data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/data1/gpsne0/base/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12812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/t_16465     # ~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MB на seg0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data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/data2/gpsne1/base/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12812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/t_16465     # ~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2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MB на seg1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data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/master/gpsne-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/base/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12812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/t_16465   # 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bytes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this lab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(QD-side)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# pg_relation_filepath → base/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12812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/t_16465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# nspname = pg_temp_787, relpersistence = 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# Prod: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check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temp_tablespaces / pg_relation_filepath()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# Spill / workfiles (исполнитель Sort/Hash)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data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/data1/gpsne0/base/pgsql_tmp/pgsql_tmp_Sort_1_&lt;pid&gt;.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data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/data2/gpsne1/base/pgsql_tmp/pgsql_tmp_Sort_1_&lt;pid&gt;.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# растут во время query, удаляются после завершения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SCREENSHOT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Скрин FS: TEMP relfilenode t_* на сегментах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После CREATE TEMP … AS SELECT … DISTRIBUTED BY — данные на QE, не в pgsql_tmp.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pic>
        <p:nvPicPr>
          <p:cNvPr id="9" name="Picture 8" descr="temp-relfilenode-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138" y="1874519"/>
            <a:ext cx="6441724" cy="3794761"/>
          </a:xfrm>
          <a:prstGeom prst="rect">
            <a:avLst/>
          </a:prstGeom>
        </p:spPr>
      </p:pic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1" name="Rounded Rectangle 10">
            <a:hlinkClick action="ppaction://hlinksldjump" r:id="rId4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TEMP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Код gpdb-archive: TEMP и workfiles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Рабочие ссылки (ветка 6X_STABLE на github.com/greenplum-db/gpdb часто 404).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TEMP namespace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catalog/namespace.c — InitTempTableNamespace</a:t>
            </a:r>
            <a:br/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2"/>
              </a:rPr>
              <a:t>https://github.com/greenplum-db/gpdb-archive/blob/main/src/backend/catalog/namespace.c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Heap / relfilenode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storage/smgr + heapam; temp prefix t_</a:t>
            </a:r>
            <a:br/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3"/>
              </a:rPr>
              <a:t>https://github.com/greenplum-db/gpdb-archive/tree/main/src/backend/storage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400507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Workfile manager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utils/workfile_manager/</a:t>
            </a:r>
            <a:br/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4"/>
              </a:rPr>
              <a:t>https://github.com/greenplum-db/gpdb-archive/tree/main/src/backend/utils/workfile_manager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400507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GUC памяти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statement_mem / max_statement_mem, gp_workfile_limit_*, gp_workfile_compression.</a:t>
            </a:r>
          </a:p>
        </p:txBody>
      </p:sp>
      <p:sp>
        <p:nvSpPr>
          <p:cNvPr id="25" name="Rounded Rectangle 24">
            <a:hlinkClick action="ppaction://hlinksldjump" r:id="rId5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6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SPILL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Spill deep-dive: когда executor пишет pgsql_tmp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GUC statement_mem (на GP6 work_mem deprecated). Маркер в EXPLAIN ANALYZE.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Демо со стенда (ужать память → external sort):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optimizer =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off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statement_mem = </a:t>
            </a:r>
            <a:r>
              <a:rPr sz="11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'8MB'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EXPLAIN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ANALYZE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customer_id, product_id, amount, sale_date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tmp_spill_fuel   </a:t>
            </a: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~1M rows amplified TEMP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ORDER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amount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DESC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, customer_id, product_id, sale_date;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Факт с greenplum-625: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Sort Method: external merge  Disk: 34592kB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Memory used: 8192kB   Memory wanted: 58688kB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FS: pgsql_tmp_Sort_1_*.0 рос 0.4MB → 17MB на сегмент, потом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cleanup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SCREENSHOT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Скрин FS: рост spill-файлов pgsql_tmp_Sort_*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Поллинг во время EXPLAIN ANALYZE: bytes на seg0/seg1 растут, после query → cleanup.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pic>
        <p:nvPicPr>
          <p:cNvPr id="9" name="Picture 8" descr="spill-pgsql_tmp-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389" y="1874519"/>
            <a:ext cx="5093221" cy="3794761"/>
          </a:xfrm>
          <a:prstGeom prst="rect">
            <a:avLst/>
          </a:prstGeom>
        </p:spPr>
      </p:pic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1" name="Rounded Rectangle 10">
            <a:hlinkClick action="ppaction://hlinksldjump" r:id="rId4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SCREENSHOT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Скрин EXPLAIN: external merge Disk = spill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Связка план ↔ файлы: Disk: NNkB в EXPLAIN = pgsql_tmp_Sort_* на сегментах.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pic>
        <p:nvPicPr>
          <p:cNvPr id="9" name="Picture 8" descr="spill-explain-external-me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49" y="1874519"/>
            <a:ext cx="9486902" cy="3794761"/>
          </a:xfrm>
          <a:prstGeom prst="rect">
            <a:avLst/>
          </a:prstGeom>
        </p:spPr>
      </p:pic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1" name="Rounded Rectangle 10">
            <a:hlinkClick action="ppaction://hlinksldjump" r:id="rId4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TEMP 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Плюсы и минусы TEMP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Physical stage — инструмент, не бесплатный cache.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1168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5798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6771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Плюсы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33472"/>
            <a:ext cx="5065776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Фиксирует grain; свой DISTRIBUTED BY; ANALYZE → честный следующий plan; можно переиспользовать в сессии; проще доказать before/after; отделяет дорогой фильтр от join/window.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01168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5798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6771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Минусы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633472"/>
            <a:ext cx="5065776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Двойной IO (write+read); место на дисках всех сегментов; catalog/planning overhead; риск устаревших данных в сессии; без фильтра = дорогой materialize всего fact.</a:t>
            </a:r>
          </a:p>
        </p:txBody>
      </p:sp>
      <p:sp>
        <p:nvSpPr>
          <p:cNvPr id="17" name="Rounded Rectangle 16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TEMP WHEN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Когда TEMP хорошо / когда плохо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Критерий: stage уменьшает cardinality/Motion cost больше, чем стоит materialize.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1168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5798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6771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Хорошо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33472"/>
            <a:ext cx="5065776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Узкое окно дат + anti-test; grain под следующий join key; повторное использование stage в сессии; стабилизация плана после ANALYZE; разрез монолита на доказуемые шаги.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01168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5798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6771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Плохо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633472"/>
            <a:ext cx="5065776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TEMP = весь fact без фильтра; забыли ANALYZE; DISTRIBUTED BY не под join; десятки мелких TEMP; вместо фикса stats/skew; CTE «для красоты» без physical need; игнор spill (диск растёт без CREATE TEMP).</a:t>
            </a:r>
          </a:p>
        </p:txBody>
      </p:sp>
      <p:sp>
        <p:nvSpPr>
          <p:cNvPr id="17" name="Rounded Rectangle 16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REWRITE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Паттерн rewrite + проверка optimizer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Before/after при фиксированном SET optimizer (GUC сессии) + FS sanity.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optimizer =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  </a:t>
            </a: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зафиксировали GUC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CREATE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TEMP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TABLE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tmp_sales_feb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customer_id, product_id, amount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lesson03.fact_sales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sale_date &gt;= DATE </a:t>
            </a:r>
            <a:r>
              <a:rPr sz="11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'2026-02-01'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AND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sale_date &lt;  DATE </a:t>
            </a:r>
            <a:r>
              <a:rPr sz="11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'2026-03-01'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DISTRIBUTED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(customer_id);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ANALYZE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tmp_sales_feb;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EXPLAIN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...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Evidence pack: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-- 1) before/after EXPLAIN (тот же optimizer)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-- 2) pg_relation_filepath / размер TEMP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-- 3) при spill: Sort Method external merge + pgsql_tmp_Sort_*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SIMPLE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60 минут на GP 6.25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Glossary → case → optimizer → EXPLAIN trees → stats → TEMP → proof.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20370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Glossary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GUC/QD/QE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59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06039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70631" y="220370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19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ORCA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19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on vs off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78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09158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73750" y="220370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38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Trees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38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скрины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397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12277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76869" y="220370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57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TEMP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57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rewrite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32516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15396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79988" y="220370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76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Proof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76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evidence</a:t>
            </a:r>
          </a:p>
        </p:txBody>
      </p:sp>
      <p:sp>
        <p:nvSpPr>
          <p:cNvPr id="33" name="Rounded Rectangle 32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34" name="Rounded Rectangle 33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DEEP ROUTE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Deep-dive Principal: internals end-to-end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ORCA memo/xforms, pg_statistic slots, AOCO files, TEMP spill, design review.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ORCA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fallback, minidump, join_order GUCs.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pg_statistic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catalog heap pages → tuple → TOAST.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appendonly column layout.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RFC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rewrite + optimizer policy.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PRINCIPAL · SCD2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Appendix: SCD2 CTE — Redistribute при «согласованном» join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Greenplum Secrets #19 spirit · lesson03-principal-scd2-locus.sql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DISTRIBUTED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(biz_key, version_id)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JOIN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biz_key,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max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(version_id) …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GROUP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biz_key)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USING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(biz_key, version_id)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Senior: ключи совпали → Motion не нужен.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Principal: hash(biz_key, version_id) ≠ hash(biz_key).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План: Redistribute … Hash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Key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: biz_key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PRINCIPAL · FIX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Почему TEMP latest keys недостаточен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Фаза B vs C в стендовом SQL.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TEMP keys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Aggregate locus ок; fact всё ещё composite → Redistribute fact.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Model fix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DISTRIBUTED BY (biz_key) под SCD2 latest pattern → local join.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Trade-off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Skew по горячим biz_key; иногда snapshot current-state.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Deep-dive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principal-scd2-locus-redistribute.md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PRINCIPAL · INT/INT8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Бонус эрудиции: int ⋈ int8 → Redistribute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Secrets #22 · cast в Hash Cond меняет hash.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t_int  (id int)   DISTRIBUTED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(id)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t_int8 (id int8)  DISTRIBUTED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(id)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JOIN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a.id = b.id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Hash Cond: (t_int8.id = (t_int.id)::bigint)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Redistribute … Hash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Key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: (t_int.id)::bigint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Имена колонок совпали. Типы — нет. Motion есть.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APPENDIX · SECRETS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Три акта из канала → три класса Motion-багов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#18 оператор SQL · #14 window locus · #29 params CTE/CE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#18 NOT 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Broadcast inner; фикс NOT EXISTS / LEFT anti.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#14 Window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на partition key; константа = victim.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#29 VALUES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Fact едет к params (Broadcast/Gather).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Метод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Что→Как в EXPLAIN→Почему (код)→Фикс+proof.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APPENDIX · #18 FINGER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NOT IN: идея анти-join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Два мешка номеров на сегментах. Нужны «сироты» из t1.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Интуиция OLTP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«Анти-фильтр, локально по ключу» — часто ложь в MPP.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Реальность GP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Not-In Join + тираж всей t2 (Broadcast) на каждый QE.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NULL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NULL в inner → NOT IN даёт UNKNOWN → 0 строк. NOT EXISTS — нет.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Эквивалент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Без NULL: NOT EXISTS ≈ LEFT JOIN IS NULL (следите за дублями).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APPENDIX · #18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Rewrite: NOT IN → NOT EXISTS → LEFT JOIN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Стенд lesson03-secret18-not-in-broadcast.sql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BAD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t1.*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lesson03.sec18_t1 t1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t1.n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NOT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IN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n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lesson03.sec18_t2);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GOOD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t1.*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lesson03.sec18_t1 t1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NOT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EXISTS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lesson03.sec18_t2 t2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t2.n = t1.n);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ALSO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t1.*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lesson03.sec18_t1 t1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LEFT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JOIN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lesson03.sec18_t2 t2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t1.n = t2.n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t2.n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IS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NULL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APPENDIX · #18 WHY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ORCA xform LeftAntiSemiJoinNotIn → HashJoinNotIn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Именно Not-In путь открывает Broadcast-friendly physical ops.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Xform: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  <a:hlinkClick r:id="rId2"/>
              </a:rPr>
              <a:t>https://github.com/apache/cloudberry/blob/main/src/backend/gporca/li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bgpopt/src/xforms/CXformLeftAntiSemiJoinNotIn2HashJoinNotIn.cpp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Broadcast physical: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  <a:hlinkClick r:id="rId2"/>
              </a:rPr>
              <a:t>https://github.com/apache/cloudberry/blob/main/src/backend/gporca/li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bgpopt/src/operators/CPhysicalMotionBroadcast.cpp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Executor Motion: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  <a:hlinkClick r:id="rId3"/>
              </a:rPr>
              <a:t>https://github.com/greenplum-db/gpdb-archive/blob/main/src/backend/e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xecutor/nodeMotion.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Legacy join paths: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  <a:hlinkClick r:id="rId4"/>
              </a:rPr>
              <a:t>https://github.com/greenplum-db/gpdb-archive/blob/main/src/backend/o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ptimizer/path/joinpath.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</a:p>
        </p:txBody>
      </p:sp>
      <p:sp>
        <p:nvSpPr>
          <p:cNvPr id="12" name="Rounded Rectangle 11">
            <a:hlinkClick action="ppaction://hlinksldjump" r:id="rId5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5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APPENDIX · #18 FIX LADDER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Лестница исправления #18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 синтаксиса к модели данных.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20370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1 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NOT EXISTS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59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06039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70631" y="220370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19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2 NULL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19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IS NOT NULL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78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09158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73750" y="220370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38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3 Dist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38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BY join key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397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12277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76869" y="220370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57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4 Proof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57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EXCEPT ALL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32516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15396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79988" y="220370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76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5 Mem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76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не первым</a:t>
            </a:r>
          </a:p>
        </p:txBody>
      </p:sp>
      <p:sp>
        <p:nvSpPr>
          <p:cNvPr id="33" name="Rounded Rectangle 32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34" name="Rounded Rectangle 33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APPENDIX · #14 FINGER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Window: PARTITION BY и коллапс параллелизма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PARTITION BY = ключ распределения строк. Константа → один сегмент-жертва.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Контракт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WindowAgg локален: весь partition key должен быть на сегменте.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Иначе Redistribute Hash Key = partition columns.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Константа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hash(const) → один victim segment; млрд строк съезжают туда.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Симптом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workfile per query size limit / гигантский spill на одном seg.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APPENDIX · #14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Стендовый паттерн: constant invalid_id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lesson03-secret14-window-partition-skew.sql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CREATE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TABLE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lesson03.sec14_foo (…)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DISTRIBUTED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(id);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insert: invalid_id = 42 для всех строк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row_number() OVER (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PARTITION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invalid_id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ORDER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version_id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DESC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 …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lesson03.sec14_foo;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REAL FIX when key is junk: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row_number() OVER (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ORDER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version_id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DESC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, id)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APPENDIX · #14 WHY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nodeWindowAgg + CPhysicalMotionHashDistribute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Планировщик обеспечивает locus; executor только считает.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  <a:hlinkClick r:id="rId2"/>
              </a:rPr>
              <a:t>https://github.com/greenplum-db/gpdb-archive/blob/main/src/backend/e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xecutor/nodeWindowAgg.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  <a:hlinkClick r:id="rId3"/>
              </a:rPr>
              <a:t>https://github.com/apache/cloudberry/blob/main/src/backend/gporca/li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bgpopt/src/xforms/CXformImplementSequenceProject.cpp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  <a:hlinkClick r:id="rId3"/>
              </a:rPr>
              <a:t>https://github.com/apache/cloudberry/blob/main/src/backend/gporca/li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bgpopt/src/operators/CPhysicalMotionHashDistribute.cpp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  <a:hlinkClick r:id="rId4"/>
              </a:rPr>
              <a:t>https://github.com/greenplum-db/gpdb-archive/blob/main/src/backend/c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db/cdbmutate.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  <a:hlinkClick r:id="rId2"/>
              </a:rPr>
              <a:t>https://github.com/greenplum-db/gpdb-archive/blob/main/src/backend/e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xecutor/nodeMotion.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</a:p>
        </p:txBody>
      </p:sp>
      <p:sp>
        <p:nvSpPr>
          <p:cNvPr id="12" name="Rounded Rectangle 11">
            <a:hlinkClick action="ppaction://hlinksldjump" r:id="rId5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5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APPENDIX · #14 FIX LADDER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Лестница исправления #14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Сначала смысл PARTITION BY, потом physical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20370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1 Sense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нужен ли PB?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59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06039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70631" y="220370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19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2 NDV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19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pg_stats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78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09158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73750" y="220370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38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3 Dist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38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BY key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397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12277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76869" y="220370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57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4 TEMP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57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pre-stage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32516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15396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79988" y="220370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76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5 Mem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76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последним</a:t>
            </a:r>
          </a:p>
        </p:txBody>
      </p:sp>
      <p:sp>
        <p:nvSpPr>
          <p:cNvPr id="33" name="Rounded Rectangle 32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34" name="Rounded Rectangle 33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APPENDIX · #29 FINGER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Параметры отчёта: красиво ≠ дёшево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CTE VALUES join к fact — «произведение искусства» с ценой Motion.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Интуиция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Одна строка params разъедется / останется локальной.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План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Едет fact: Broadcast (prod) или Gather→QD (lab 2-seg).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Без ANALYZE fact rows≈1 → cost model врёт.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Hardcode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WHERE col = … / IN list часто на порядок дешевле join к VALUES.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APPENDIX · #29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VALUES CTE vs scalar filter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lesson03-secret29-values-params-broadcast.sql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WITH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data_batch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AS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*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VALUES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sz="11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'10'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sz="11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'2024-01-01'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::date, …)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 t(rn, mdm_id, report_dt, …)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…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lesson03.sec29_fact s0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JOIN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data_batch b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b.mdm_id = s0.n_txt;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Prefer: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*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lesson03.sec29_fact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n_txt = </a:t>
            </a:r>
            <a:r>
              <a:rPr sz="11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'10'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APPENDIX · #29 MODES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Три режима fact: Gather / local / Redistribute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Один SQL params — три physical stories.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 RANDOM no stats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Gather/Broadcast fact (CE trap).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B DISTRIBUTED BY key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Local Hash Join на сегментах.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C RANDOM + ANALYZE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fact по join key.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E IN VALUES vs 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Join+Motion vs Filter ANY.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APPENDIX · #29 WHY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Broadcast / HashDistribute / selfuncs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Смотрите сторону Motion + оценку rows.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  <a:hlinkClick r:id="rId2"/>
              </a:rPr>
              <a:t>https://github.com/apache/cloudberry/blob/main/src/backend/gporca/li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bgpopt/src/operators/CPhysicalMotionBroadcast.cpp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  <a:hlinkClick r:id="rId2"/>
              </a:rPr>
              <a:t>https://github.com/apache/cloudberry/blob/main/src/backend/gporca/li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bgpopt/src/operators/CPhysicalMotionHashDistribute.cpp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  <a:hlinkClick r:id="rId3"/>
              </a:rPr>
              <a:t>https://github.com/greenplum-db/gpdb-archive/blob/main/src/backend/e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xecutor/nodeMotion.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  <a:hlinkClick r:id="rId4"/>
              </a:rPr>
              <a:t>https://github.com/greenplum-db/gpdb-archive/blob/main/src/backend/u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tils/adt/selfuncs.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  <a:hlinkClick r:id="rId5"/>
              </a:rPr>
              <a:t>https://github.com/greenplum-db/gpdb-archive/blob/main/src/backend/o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ptimizer/plan/planner.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</a:p>
        </p:txBody>
      </p:sp>
      <p:sp>
        <p:nvSpPr>
          <p:cNvPr id="12" name="Rounded Rectangle 11">
            <a:hlinkClick action="ppaction://hlinksldjump" r:id="rId6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6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APPENDIX · #29 FIX LADDER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Лестница исправления #29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 синтаксиса параметров к distribution policy.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20370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1 Literal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WHERE/IN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59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06039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70631" y="220370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19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2 ANALYZE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19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fact stats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78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09158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73750" y="220370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38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3 Dist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38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BY join key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397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12277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76869" y="220370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57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4 TEMP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57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params table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32516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15396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79988" y="220370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76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5 Proof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76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Motion side</a:t>
            </a:r>
          </a:p>
        </p:txBody>
      </p:sp>
      <p:sp>
        <p:nvSpPr>
          <p:cNvPr id="33" name="Rounded Rectangle 32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34" name="Rounded Rectangle 33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APPENDIX · SECRETS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Единый Principal checklist для #18/#14/#29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Перед тем как трогать statement_mem.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Оператор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NOT IN? VALUES CTE? Window PARTITION BY?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side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Какая таблица в Broadcast/Redistribute/Gather?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Hash Key / PB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Совпадает с DISTRIBUTED BY? NDV≈1?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Proof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Тот же optimizer + EXCEPT ALL + metrics.md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APPENDIX · ABC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Principal A/B/C: DISTINCT / autostats / median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#42 exact map · #41 ETL stats lie · #38 Gather theory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 #42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Shard DISTINCT when dist key covers values.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B #41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Parent INSERT ≠ autostats on partitions.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C #38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Global percentile Gather-all; local≈ if RANDOM.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Метод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Что→EXPLAIN→почему (код/док)→фикс+proof.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APPENDIX · A EXACTNESS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Когда SUM(local DISTINCT) врёт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Фаза D стенда — обязательный negative case.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1168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5798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6771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Exact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33472"/>
            <a:ext cx="5065776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DISTRIBUTED BY (id)</a:t>
            </a:r>
            <a:br/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count(DISTINCT id)</a:t>
            </a:r>
            <a:br/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= sum per gp_segment_id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01168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5798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6771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Wrong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633472"/>
            <a:ext cx="5065776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DISTRIBUTED RANDOMLY</a:t>
            </a:r>
            <a:br/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тот же rewrite</a:t>
            </a:r>
            <a:br/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→ overcount</a:t>
            </a:r>
          </a:p>
        </p:txBody>
      </p:sp>
      <p:sp>
        <p:nvSpPr>
          <p:cNvPr id="17" name="Rounded Rectangle 16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8" name="Rounded Rectangle 17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APPENDIX · A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Rewrite DISTINCT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lesson03-secret42-distinct-by-segment.sql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BAD / heavy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count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DISTINCT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id)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lesson03.sec42_ids;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GOOD when DISTRIBUTED BY (id)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sum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(cnt)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gp_segment_id,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count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DISTINCT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id)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AS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cnt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lesson03.sec42_ids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GROUP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 s;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APPENDIX · B DOC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Цитата поведения autostats на partitions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Не баг — контракт Greenplum 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Parent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INSERT into top-level parent → autostats NOT triggered.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Leaf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INSERT directly into leaf → autostats triggered.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GUC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on_no_stats / on_change / none — всё равно parent-правило.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ETL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ANALYZE after load — definition of done.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APPENDIX · B CATALOG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Что смотреть в каталоге после 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Leaves, не только parent relname.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.relname, s.last_analyze, s.last_autoanalyze,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CASE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st.starelid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IS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NULL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THEN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'MISSING'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ELSE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'HAS pg_statistic'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END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pg_class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JOIN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pg_namespace n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n.oid =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.relnamespace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LEFT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JOIN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pg_stat_all_tables s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s.relid =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.oid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LEFT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JOIN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pg_statistic st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ON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st.starelid =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.oid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AND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st.staattnum = 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n.nspname = </a:t>
            </a:r>
            <a:r>
              <a:rPr sz="11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'lesson03'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AND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.relname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LIKE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'sec41_sales%'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APPENDIX · C 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Почему медиана ломает MPP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Нужен total order ⇒ один locus.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20370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Scan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все seg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59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06039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70631" y="220370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19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Gather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19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все rows→QD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78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09158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73750" y="220370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38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38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на мастере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397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12277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76869" y="220370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57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Pick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57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p50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32516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15396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79988" y="220370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76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Approx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76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local p50</a:t>
            </a:r>
          </a:p>
        </p:txBody>
      </p:sp>
      <p:sp>
        <p:nvSpPr>
          <p:cNvPr id="33" name="Rounded Rectangle 32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34" name="Rounded Rectangle 33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APPENDIX · C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Exact vs approximate median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lesson03-secret38-median-gather-qd.sql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Exact (Gather-all)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percentile_disc(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5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 WITHIN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GROUP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ORDER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n)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lesson03.sec38_nums;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Approx (RANDOM shards)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avg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(median)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percentile_disc(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1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5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 WITHIN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GROUP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ORDER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n)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AS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median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lesson03.sec38_nums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GROUP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gp_segment_id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 s;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APPENDIX · C CODE LINKS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orderedsetaggs + nodeAgg + Motion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Кликабельные URL в PPTX.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  <a:hlinkClick r:id="rId2"/>
              </a:rPr>
              <a:t>https://github.com/greenplum-db/gpdb-archive/blob/main/src/backend/u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tils/adt/orderedsetaggs.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  <a:hlinkClick r:id="rId3"/>
              </a:rPr>
              <a:t>https://github.com/greenplum-db/gpdb-archive/blob/main/src/backend/e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xecutor/nodeAgg.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  <a:hlinkClick r:id="rId3"/>
              </a:rPr>
              <a:t>https://github.com/greenplum-db/gpdb-archive/blob/main/src/backend/e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xecutor/nodeMotion.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  <a:hlinkClick r:id="rId4"/>
              </a:rPr>
              <a:t>https://github.com/greenplum-db/gpdb-archive/blob/main/src/backend/c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265"/>
              </a:lnSpc>
            </a:pP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ommands/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analyze</a:t>
            </a:r>
            <a:r>
              <a:rPr sz="11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1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</a:p>
        </p:txBody>
      </p:sp>
      <p:sp>
        <p:nvSpPr>
          <p:cNvPr id="12" name="Rounded Rectangle 11">
            <a:hlinkClick action="ppaction://hlinksldjump" r:id="rId5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5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APPENDIX · ABC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Principal checklist A+B+C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Перед тем как трогать statement_mem.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 DISTINCT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Dist key covers? Proof + RANDOM negative?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B Autostats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Parent vs leaf insert? Explicit ANALYZE?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C Median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Exact Gather vs labeled approx?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EXPLAIN ANALYZE + metrics.md + EXCEPT/tolerance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Что унести с Урока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Оптимизация Greenplum — это pipeline + два optimizer + физика данных.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Legacy = Postgres; ORCA с ~2010, SIGMOD’14, default с GP5.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Stats / CE / 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NOT IN; VALUES; DISTINCT map; autostats×partitions; median Gather.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Locus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SCD2 CTE + Window PARTITION BY + int/int8: читайте Hash Key.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Доказательство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EXPLAIN ANALYZE + before/after при том же optimizer.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НАВИГАЦИЯ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Служебные слайды возврата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Не листать вручную — сюда ведут «Аа Словарь» и «→ Appendix».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 каждого слайда урока — свой портал с «← Вернуться».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Appendix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Кнопка «→ Appendix» тоже через портал с возвратом.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Полный словарь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9 слайдов в начале презентации — из портала или оглавления.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Google Slides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Явные ссылки на слайды — возврат не зависит от истории просмотра.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«Self-service стенд Урока 03 — Greenplum 6.25».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«Тяжёлый OLAP = данные + сеть + оценки + выбор оптимизатора».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«Как Greenplum оптимизирует запрос: стадии».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«Одно дерево на все фазы (ментальная карта)».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«Фаза Parse: SQL → parse tree».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«Фаза Rewrite: views/rules → query tree».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«Фаза Optimize: кто строит plan — решает GUC optimizer».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«Карта кода Greenplum 6.x: куда смотреть в gpdb».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«Legacy Postgres planner: как думает».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«История: зачем в Greenplum два оптимизатора».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«Почему Legacy «не хватило» для MPP analytics».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«Таймлайн GPORCA (четыре якоря)».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«Почему Legacy не удалили».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«GPORCA: memo, transformations, cost-based search».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«Где ORCA обычно выигрывает, а где Legacy».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«Star-join: fact в центре, dims по лучам».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«Альтернативы star-join и когда их брать».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«Дерево плана: простой agg (реальный EXPLAIN GP 6.25)».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«Скрин EXPLAIN: GPORCA на простом GROUP BY».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«Дерево плана: star-join под GPORCA (сжатый readout)».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«Скрин EXPLAIN: GPORCA star-join (v_star_join_orca_case)».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«Дерево плана: тот же SQL под Legacy».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«Скрин EXPLAIN: Legacy на том же star-join».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«Скрин EXPLAIN: monolith (WindowAgg + multi-slice)».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«Демо на стенде: один SQL — два оптимизатора».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«Кейс: ORCA выбрал иной shape (проверить на объёме)».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«Кейс: Legacy достаточен, ORCA избыточен».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«Плюсы и минусы: Legacy planner».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«Плюсы и минусы: GPORCA».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«ORCA fallback и minidump — обязательная грамотность».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«Сквозной case: месячный OLAP по продажам и клиентам».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«Декомпозиция: сужаем → соединяем → считаем → доказываем».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«Сложный план: слои Senior readout».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«Если rows врут — тюнинг SQL почти бессмысленен».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«Платим сетью: цель — перенести Motion на меньший set».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«На что влияет статистика в Greenplum».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«Из чего состоит статистика колонки».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«Скрин pg_stats со стенда: MCV vs histogram».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«Гистограмма: equi-depth, сколько шагов, как читать».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«Как выглядит histogram в pg_stats (пример)».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«Скрин: структура histogram + физический слот».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«Как обновляется гистограмма».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«На что влияет histogram (и на что — нет)».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«MCV: как выглядит и когда histogram не строится».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«Вектор плотности в Greenplum — что это».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«CBucket / CHistogram — вероятностные структуры ORCA».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«Legacy: defaults и equality (из selfuncs)».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«Legacy: range по histogram (ineq_histogram_selectivity)».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«Legacy: AND / OR / NOT (clausesel.c)».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«Legacy: IN / NOT IN / ScalarArrayOp».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«ORCA: AND с damping (не чистое ∏ s)».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«ORCA: OR с damped накоплением rows».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«ORCA: equality, join, defaults».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«Сводка: один предикат — два оценщика».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«Скрин EXPLAIN ANALYZE: хорошие оценки на стенде».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«Хорошие оценки: SQL-паттерны».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«Плохие оценки: SQL-паттерны».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«Legacy GROUP BY: estimate_num_groups».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«ORCA GROUP BY: GetCumulativeNDVs + damping».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«Демо на стенде: cardinality + histogram».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«Комбинации AND + OR: как читать глазами».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«Cardinality estimator: ORCA vs Legacy cheat-card».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«Как доказывать misestimate за 3 шага».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«Когда хорошая статистика всё равно врёт».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«Путь решения: от ANALYZE до декомпозиции».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«Как обновлять и настраивать статистику (GP 6.25)».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«Ручной vs автоматический ANALYZE в GP6».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«gp_autostats_mode: какой «сервис» отвечает».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«Где смотреть last_analyze / last_autoanalyze».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«Код: Legacy selfuncs + ORCA statistics».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«Heap / AO / AOCO на GP 6.25».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«Физическая раскладка AOCO и типы данных».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«Три разных «временных» механизма — не путать».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«Как создаётся TEMP: SQL-контракт сессии».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«Сессия пользователя: границы и TEMP».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«Как узнать «кто я» в сессии».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«ON COMMIT: три режима TEMP (сводка)».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«PRESERVE ROWS: сессионный stage (default)».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«DELETE ROWS vs DROP — примеры».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«Когда TEMP удаляется — чеклист».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«Где посмотреть TEMP в каталоге Greenplum».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«Где живёт TEMP в Greenplum MPP».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«Файловая карта: TEMP relation vs spill».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«Скрин FS: TEMP relfilenode t_* на сегментах».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«Код gpdb-archive: TEMP и workfiles».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«Spill deep-dive: когда executor пишет pgsql_tmp».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«Скрин FS: рост spill-файлов pgsql_tmp_Sort_*».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«Скрин EXPLAIN: external merge Disk = spill».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«Плюсы и минусы TEMP TABLE».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«Когда TEMP хорошо / когда плохо».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«Паттерн rewrite + проверка optimizer».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«60 минут на GP 6.25».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«Deep-dive Principal: internals end-to-end».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«Appendix: SCD2 CTE — Redistribute при «согласованном» join».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«Почему TEMP latest keys недостаточен».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«Бонус эрудиции: int ⋈ int8 → Redistribute».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«Что унести с Урока 03».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ПЕРЕХОД · ВОЗВРАТ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Формулы CE (Legacy vs ORCA)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Из: «Справочник (не для 60‑мин lite)». Откройте раздел или вернитесь назад.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Открыть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Кнопка ниже ведёт в нужный раздел appendix/словаря.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Вернуться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«← Вернуться» в футере — строго на слайд, с которого пришли.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Зачем портал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Google Slides нет надёжного «last viewed» — только явная ссылка.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Меню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«☰ Меню» — в оглавление урока.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3694176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Формулы CE (Legacy vs ORCA)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2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ПЕРЕХОД · ВОЗВРАТ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Spill / pgsql_tmp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Из: «Справочник (не для 60‑мин lite)». Откройте раздел или вернитесь назад.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Открыть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Кнопка ниже ведёт в нужный раздел appendix/словаря.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Вернуться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«← Вернуться» в футере — строго на слайд, с которого пришли.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Зачем портал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Google Slides нет надёжного «last viewed» — только явная ссылка.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Меню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«☰ Меню» — в оглавление урока.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688336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Spill / pgsql_tmp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2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ПЕРЕХОД · ВОЗВРАТ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История двух оптимизаторов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Из: «Справочник (не для 60‑мин lite)». Откройте раздел или вернитесь назад.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Открыть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Кнопка ниже ведёт в нужный раздел appendix/словаря.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Вернуться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«← Вернуться» в футере — строго на слайд, с которого пришли.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Зачем портал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Google Slides нет надёжного «last viewed» — только явная ссылка.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Меню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«☰ Меню» — в оглавление урока.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3593592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История двух оптимизаторов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2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2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