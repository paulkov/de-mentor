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Relationship Id="rId5" Type="http://schemas.openxmlformats.org/officeDocument/2006/relationships/slide" Target="slide415.xml"/><Relationship Id="rId6" Type="http://schemas.openxmlformats.org/officeDocument/2006/relationships/slide" Target="slide416.xml"/><Relationship Id="rId7" Type="http://schemas.openxmlformats.org/officeDocument/2006/relationships/slide" Target="slide4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.xml"/><Relationship Id="rId5" Type="http://schemas.openxmlformats.org/officeDocument/2006/relationships/slide" Target="slide2.xml"/><Relationship Id="rId6" Type="http://schemas.openxmlformats.org/officeDocument/2006/relationships/slide" Target="slide14.xml"/><Relationship Id="rId7" Type="http://schemas.openxmlformats.org/officeDocument/2006/relationships/slide" Target="slide19.xml"/><Relationship Id="rId8" Type="http://schemas.openxmlformats.org/officeDocument/2006/relationships/slide" Target="slide36.xml"/><Relationship Id="rId9" Type="http://schemas.openxmlformats.org/officeDocument/2006/relationships/slide" Target="slide5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Relationship Id="rId5" Type="http://schemas.openxmlformats.org/officeDocument/2006/relationships/slide" Target="slide61.xml"/><Relationship Id="rId6" Type="http://schemas.openxmlformats.org/officeDocument/2006/relationships/slide" Target="slide70.xml"/><Relationship Id="rId7" Type="http://schemas.openxmlformats.org/officeDocument/2006/relationships/slide" Target="slide71.xml"/><Relationship Id="rId8" Type="http://schemas.openxmlformats.org/officeDocument/2006/relationships/slide" Target="slide106.xml"/><Relationship Id="rId9" Type="http://schemas.openxmlformats.org/officeDocument/2006/relationships/slide" Target="slide110.xml"/><Relationship Id="rId10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3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4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5" Type="http://schemas.openxmlformats.org/officeDocument/2006/relationships/slide" Target="slide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.xml"/><Relationship Id="rId5" Type="http://schemas.openxmlformats.org/officeDocument/2006/relationships/slide" Target="slide4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.xml"/><Relationship Id="rId5" Type="http://schemas.openxmlformats.org/officeDocument/2006/relationships/slide" Target="slide4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6.xml"/><Relationship Id="rId4" Type="http://schemas.openxmlformats.org/officeDocument/2006/relationships/slide" Target="slide33.xml"/><Relationship Id="rId5" Type="http://schemas.openxmlformats.org/officeDocument/2006/relationships/slide" Target="slide3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8.xml"/><Relationship Id="rId4" Type="http://schemas.openxmlformats.org/officeDocument/2006/relationships/slide" Target="slide4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4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0.xml"/><Relationship Id="rId4" Type="http://schemas.openxmlformats.org/officeDocument/2006/relationships/slide" Target="slide34.xml"/><Relationship Id="rId5" Type="http://schemas.openxmlformats.org/officeDocument/2006/relationships/slide" Target="slide33.xml"/><Relationship Id="rId6" Type="http://schemas.openxmlformats.org/officeDocument/2006/relationships/slide" Target="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1.xml"/><Relationship Id="rId4" Type="http://schemas.openxmlformats.org/officeDocument/2006/relationships/slide" Target="slide39.xml"/><Relationship Id="rId5" Type="http://schemas.openxmlformats.org/officeDocument/2006/relationships/slide" Target="slide42.xml"/><Relationship Id="rId6" Type="http://schemas.openxmlformats.org/officeDocument/2006/relationships/slide" Target="slide45.xml"/><Relationship Id="rId7" Type="http://schemas.openxmlformats.org/officeDocument/2006/relationships/slide" Target="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2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2.xml"/><Relationship Id="rId7" Type="http://schemas.openxmlformats.org/officeDocument/2006/relationships/slide" Target="slide4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2.xml"/><Relationship Id="rId7" Type="http://schemas.openxmlformats.org/officeDocument/2006/relationships/slide" Target="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3.xml"/><Relationship Id="rId4" Type="http://schemas.openxmlformats.org/officeDocument/2006/relationships/slide" Target="slide42.xml"/><Relationship Id="rId5" Type="http://schemas.openxmlformats.org/officeDocument/2006/relationships/slide" Target="slide43.xml"/><Relationship Id="rId6" Type="http://schemas.openxmlformats.org/officeDocument/2006/relationships/slide" Target="slide40.xml"/><Relationship Id="rId7" Type="http://schemas.openxmlformats.org/officeDocument/2006/relationships/slide" Target="slide39.xml"/><Relationship Id="rId8" Type="http://schemas.openxmlformats.org/officeDocument/2006/relationships/slide" Target="slide419.xml"/><Relationship Id="rId9" Type="http://schemas.openxmlformats.org/officeDocument/2006/relationships/slide" Target="slide42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4.xml"/><Relationship Id="rId4" Type="http://schemas.openxmlformats.org/officeDocument/2006/relationships/slide" Target="slide45.xml"/><Relationship Id="rId5" Type="http://schemas.openxmlformats.org/officeDocument/2006/relationships/slide" Target="slide46.xml"/><Relationship Id="rId6" Type="http://schemas.openxmlformats.org/officeDocument/2006/relationships/slide" Target="slide42.xml"/><Relationship Id="rId7" Type="http://schemas.openxmlformats.org/officeDocument/2006/relationships/slide" Target="slide39.xml"/><Relationship Id="rId8" Type="http://schemas.openxmlformats.org/officeDocument/2006/relationships/slide" Target="slide421.xml"/><Relationship Id="rId9" Type="http://schemas.openxmlformats.org/officeDocument/2006/relationships/slide" Target="slide4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6.xml"/><Relationship Id="rId4" Type="http://schemas.openxmlformats.org/officeDocument/2006/relationships/slide" Target="slide423.xml"/><Relationship Id="rId5" Type="http://schemas.openxmlformats.org/officeDocument/2006/relationships/slide" Target="slide4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7.xml"/><Relationship Id="rId4" Type="http://schemas.openxmlformats.org/officeDocument/2006/relationships/slide" Target="slide425.xml"/><Relationship Id="rId5" Type="http://schemas.openxmlformats.org/officeDocument/2006/relationships/slide" Target="slide42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8.xml"/><Relationship Id="rId4" Type="http://schemas.openxmlformats.org/officeDocument/2006/relationships/slide" Target="slide427.xml"/><Relationship Id="rId5" Type="http://schemas.openxmlformats.org/officeDocument/2006/relationships/slide" Target="slide42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5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6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7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8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bgpopt/src/xforms/CXformLeftAntiSemiJoinNotIn2HashJoinNotIn.cpp" TargetMode="External"/><Relationship Id="rId3" Type="http://schemas.openxmlformats.org/officeDocument/2006/relationships/hyperlink" Target="https://github.com/apache/cloudberry/blob/main/src/backend/gporca/libgpopt/src/operators/CPhysicalMotionBroadcast.cpp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29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xecutor/nodeWindowAgg.c" TargetMode="External"/><Relationship Id="rId3" Type="http://schemas.openxmlformats.org/officeDocument/2006/relationships/hyperlink" Target="https://github.com/apache/cloudberry/blob/main/src/backend/gporca/libgpopt/src/xforms/CXformImplementSequenceProject.cpp" TargetMode="External"/><Relationship Id="rId4" Type="http://schemas.openxmlformats.org/officeDocument/2006/relationships/hyperlink" Target="https://github.com/apache/cloudberry/blob/main/src/backend/gporca/libgpopt/src/operators/CPhysicalMotionHashDistribute.cpp" TargetMode="External"/><Relationship Id="rId5" Type="http://schemas.openxmlformats.org/officeDocument/2006/relationships/slide" Target="slide3.xml"/><Relationship Id="rId6" Type="http://schemas.openxmlformats.org/officeDocument/2006/relationships/slide" Target="slide29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29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bgpopt/src/operators/CPhysicalMotionBroadcast.cpp" TargetMode="External"/><Relationship Id="rId3" Type="http://schemas.openxmlformats.org/officeDocument/2006/relationships/hyperlink" Target="https://github.com/apache/cloudberry/blob/main/src/backend/gporca/libgpopt/src/operators/CPhysicalMotionHashDistribute.cpp" TargetMode="External"/><Relationship Id="rId4" Type="http://schemas.openxmlformats.org/officeDocument/2006/relationships/hyperlink" Target="https://github.com/greenplum-db/gpdb-archive/blob/main/src/backend/utils/adt/selfuncs.c" TargetMode="External"/><Relationship Id="rId5" Type="http://schemas.openxmlformats.org/officeDocument/2006/relationships/slide" Target="slide3.xml"/><Relationship Id="rId6" Type="http://schemas.openxmlformats.org/officeDocument/2006/relationships/slide" Target="slide30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xecutor/nodeAgg.c" TargetMode="External"/><Relationship Id="rId3" Type="http://schemas.openxmlformats.org/officeDocument/2006/relationships/hyperlink" Target="https://github.com/apache/cloudberry/blob/main/src/backend/gporca/libgpopt/src/xforms/CXformGbAgg2HashAgg.cpp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30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0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ommands/analyze.c" TargetMode="External"/><Relationship Id="rId3" Type="http://schemas.openxmlformats.org/officeDocument/2006/relationships/hyperlink" Target="https://github.com/greenplum-db/gpdb-archive/blob/main/src/backend/utils/misc/guc.c" TargetMode="External"/><Relationship Id="rId4" Type="http://schemas.openxmlformats.org/officeDocument/2006/relationships/slide" Target="slide3.xml"/><Relationship Id="rId5" Type="http://schemas.openxmlformats.org/officeDocument/2006/relationships/slide" Target="slide30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tils/adt/orderedsetaggs.c" TargetMode="External"/><Relationship Id="rId3" Type="http://schemas.openxmlformats.org/officeDocument/2006/relationships/hyperlink" Target="https://github.com/greenplum-db/gpdb-archive/blob/main/src/backend/executor/nodeAgg.c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31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4.xml"/><Relationship Id="rId4" Type="http://schemas.openxmlformats.org/officeDocument/2006/relationships/slide" Target="slide430.xml"/><Relationship Id="rId5" Type="http://schemas.openxmlformats.org/officeDocument/2006/relationships/slide" Target="slide43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6.xml"/><Relationship Id="rId4" Type="http://schemas.openxmlformats.org/officeDocument/2006/relationships/slide" Target="slide432.xml"/><Relationship Id="rId5" Type="http://schemas.openxmlformats.org/officeDocument/2006/relationships/slide" Target="slide43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34.xml"/><Relationship Id="rId5" Type="http://schemas.openxmlformats.org/officeDocument/2006/relationships/slide" Target="slide435.xml"/><Relationship Id="rId6" Type="http://schemas.openxmlformats.org/officeDocument/2006/relationships/slide" Target="slide43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37.xml"/><Relationship Id="rId5" Type="http://schemas.openxmlformats.org/officeDocument/2006/relationships/slide" Target="slide438.xml"/><Relationship Id="rId6" Type="http://schemas.openxmlformats.org/officeDocument/2006/relationships/slide" Target="slide43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parser/gram.y" TargetMode="External"/><Relationship Id="rId3" Type="http://schemas.openxmlformats.org/officeDocument/2006/relationships/hyperlink" Target="https://github.com/greenplum-db/gpdb-archive/blob/main/src/backend/parser/analyze.c" TargetMode="External"/><Relationship Id="rId4" Type="http://schemas.openxmlformats.org/officeDocument/2006/relationships/slide" Target="slide3.xml"/><Relationship Id="rId5" Type="http://schemas.openxmlformats.org/officeDocument/2006/relationships/slide" Target="slide32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rewrite/rewriteHandler.c" TargetMode="External"/><Relationship Id="rId3" Type="http://schemas.openxmlformats.org/officeDocument/2006/relationships/slide" Target="slide3.xml"/><Relationship Id="rId4" Type="http://schemas.openxmlformats.org/officeDocument/2006/relationships/slide" Target="slide32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optimizer/plan/planner.c" TargetMode="External"/><Relationship Id="rId3" Type="http://schemas.openxmlformats.org/officeDocument/2006/relationships/hyperlink" Target="https://github.com/apache/cloudberry/blob/main/src/backend/gporca" TargetMode="External"/><Relationship Id="rId4" Type="http://schemas.openxmlformats.org/officeDocument/2006/relationships/hyperlink" Target="https://github.com/greenplum-db/gpdb-archive/blob/main/src/backend/utils/adt/selfuncs.c" TargetMode="External"/><Relationship Id="rId5" Type="http://schemas.openxmlformats.org/officeDocument/2006/relationships/hyperlink" Target="https://github.com/greenplum-db/gpdb-archive/tree/main/src/backend/cdb" TargetMode="External"/><Relationship Id="rId6" Type="http://schemas.openxmlformats.org/officeDocument/2006/relationships/slide" Target="slide3.xml"/><Relationship Id="rId7" Type="http://schemas.openxmlformats.org/officeDocument/2006/relationships/slide" Target="slide32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2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33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33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3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34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34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4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35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35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5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tils/adt/selfuncs.c" TargetMode="External"/><Relationship Id="rId3" Type="http://schemas.openxmlformats.org/officeDocument/2006/relationships/slide" Target="slide3.xml"/><Relationship Id="rId4" Type="http://schemas.openxmlformats.org/officeDocument/2006/relationships/slide" Target="slide36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" TargetMode="External"/><Relationship Id="rId3" Type="http://schemas.openxmlformats.org/officeDocument/2006/relationships/slide" Target="slide3.xml"/><Relationship Id="rId4" Type="http://schemas.openxmlformats.org/officeDocument/2006/relationships/slide" Target="slide36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hyperlink" Target="https://github.com/greenplum-db/gpdb-archive/blob/main/src/includ" TargetMode="External"/><Relationship Id="rId4" Type="http://schemas.openxmlformats.org/officeDocument/2006/relationships/slide" Target="slide3.xml"/><Relationship Id="rId5" Type="http://schemas.openxmlformats.org/officeDocument/2006/relationships/slide" Target="slide364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slide" Target="slide3.xml"/><Relationship Id="rId4" Type="http://schemas.openxmlformats.org/officeDocument/2006/relationships/slide" Target="slide36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6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3.xml"/><Relationship Id="rId4" Type="http://schemas.openxmlformats.org/officeDocument/2006/relationships/slide" Target="slide36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3.xml"/><Relationship Id="rId4" Type="http://schemas.openxmlformats.org/officeDocument/2006/relationships/slide" Target="slide36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3.xml"/><Relationship Id="rId4" Type="http://schemas.openxmlformats.org/officeDocument/2006/relationships/slide" Target="slide37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3.xml"/><Relationship Id="rId4" Type="http://schemas.openxmlformats.org/officeDocument/2006/relationships/slide" Target="slide37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3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4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" TargetMode="External"/><Relationship Id="rId3" Type="http://schemas.openxmlformats.org/officeDocument/2006/relationships/slide" Target="slide3.xml"/><Relationship Id="rId4" Type="http://schemas.openxmlformats.org/officeDocument/2006/relationships/slide" Target="slide375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" TargetMode="External"/><Relationship Id="rId3" Type="http://schemas.openxmlformats.org/officeDocument/2006/relationships/slide" Target="slide3.xml"/><Relationship Id="rId4" Type="http://schemas.openxmlformats.org/officeDocument/2006/relationships/slide" Target="slide37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7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ommands/analyze.c" TargetMode="External"/><Relationship Id="rId3" Type="http://schemas.openxmlformats.org/officeDocument/2006/relationships/hyperlink" Target="https://github.com/greenplum-db/gpdb-archive/blob/main/src/backend/utils/adt/selfuncs.c" TargetMode="External"/><Relationship Id="rId4" Type="http://schemas.openxmlformats.org/officeDocument/2006/relationships/hyperlink" Target="https://github.com/greenplum-db/gpdb-archive/blob/main/src/backend/optimizer/path/clausesel.c" TargetMode="External"/><Relationship Id="rId5" Type="http://schemas.openxmlformats.org/officeDocument/2006/relationships/hyperlink" Target="https://github.com/apache/cloudberry/blob/main/src/backend/gporca/libnaucrates/.../CBucket.h" TargetMode="External"/><Relationship Id="rId6" Type="http://schemas.openxmlformats.org/officeDocument/2006/relationships/hyperlink" Target="https://github.com/apache/cloudberry/blob/main/src/backend/gporca/.../CFilterStatsProcessor.cpp" TargetMode="External"/><Relationship Id="rId7" Type="http://schemas.openxmlformats.org/officeDocument/2006/relationships/slide" Target="slide3.xml"/><Relationship Id="rId8" Type="http://schemas.openxmlformats.org/officeDocument/2006/relationships/slide" Target="slide38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4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8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9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0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3.xml"/><Relationship Id="rId4" Type="http://schemas.openxmlformats.org/officeDocument/2006/relationships/slide" Target="slide40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atalog/namespace.c" TargetMode="External"/><Relationship Id="rId3" Type="http://schemas.openxmlformats.org/officeDocument/2006/relationships/hyperlink" Target="https://github.com/greenplum-db/gpdb-archive/tree/main/src/backend/storage" TargetMode="External"/><Relationship Id="rId4" Type="http://schemas.openxmlformats.org/officeDocument/2006/relationships/hyperlink" Target="https://github.com/greenplum-db/gpdb-archive/tree/main/src/backend/utils/workfile_manager" TargetMode="External"/><Relationship Id="rId5" Type="http://schemas.openxmlformats.org/officeDocument/2006/relationships/slide" Target="slide3.xml"/><Relationship Id="rId6" Type="http://schemas.openxmlformats.org/officeDocument/2006/relationships/slide" Target="slide40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3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slide" Target="slide3.xml"/><Relationship Id="rId4" Type="http://schemas.openxmlformats.org/officeDocument/2006/relationships/slide" Target="slide404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slide" Target="slide3.xml"/><Relationship Id="rId4" Type="http://schemas.openxmlformats.org/officeDocument/2006/relationships/slide" Target="slide405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8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09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10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1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1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13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o" TargetMode="External"/><Relationship Id="rId5" Type="http://schemas.openxmlformats.org/officeDocument/2006/relationships/slide" Target="slide3.xml"/><Relationship Id="rId6" Type="http://schemas.openxmlformats.org/officeDocument/2006/relationships/slide" Target="slide5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" TargetMode="External"/><Relationship Id="rId3" Type="http://schemas.openxmlformats.org/officeDocument/2006/relationships/hyperlink" Target="https://github.com/apache/cloudberry/blob/main/src/backend/gporca/li" TargetMode="External"/><Relationship Id="rId4" Type="http://schemas.openxmlformats.org/officeDocument/2006/relationships/hyperlink" Target="https://github.com/greenplum-db/gpdb-archive/blob/main/src/backend/c" TargetMode="External"/><Relationship Id="rId5" Type="http://schemas.openxmlformats.org/officeDocument/2006/relationships/slide" Target="slide3.xml"/><Relationship Id="rId6" Type="http://schemas.openxmlformats.org/officeDocument/2006/relationships/slide" Target="slide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u" TargetMode="External"/><Relationship Id="rId5" Type="http://schemas.openxmlformats.org/officeDocument/2006/relationships/hyperlink" Target="https://github.com/greenplum-db/gpdb-archive/blob/main/src/backend/o" TargetMode="External"/><Relationship Id="rId6" Type="http://schemas.openxmlformats.org/officeDocument/2006/relationships/slide" Target="slide3.xml"/><Relationship Id="rId7" Type="http://schemas.openxmlformats.org/officeDocument/2006/relationships/slide" Target="slide5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" TargetMode="External"/><Relationship Id="rId3" Type="http://schemas.openxmlformats.org/officeDocument/2006/relationships/hyperlink" Target="https://github.com/greenplum-db/gpdb-archive/blob/main/src/backend/e" TargetMode="External"/><Relationship Id="rId4" Type="http://schemas.openxmlformats.org/officeDocument/2006/relationships/hyperlink" Target="https://github.com/greenplum-db/gpdb-archive/blob/main/src/backend/c" TargetMode="External"/><Relationship Id="rId5" Type="http://schemas.openxmlformats.org/officeDocument/2006/relationships/slide" Target="slide3.xml"/><Relationship Id="rId6" Type="http://schemas.openxmlformats.org/officeDocument/2006/relationships/slide" Target="slide5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14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6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1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3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4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5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6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8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9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0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1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2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3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4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5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6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8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9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0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1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3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4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5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6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8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9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0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1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2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3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4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5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6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8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9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0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1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2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3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4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5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6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8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9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0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1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2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3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4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5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9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2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3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4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5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6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8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9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0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1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2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3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4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5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6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8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9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0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1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2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3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4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5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6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8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9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0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1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2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3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4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5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6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8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9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0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1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2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3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4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5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6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8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9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0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1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2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3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4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5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6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8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9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0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1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2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3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4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5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6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8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9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0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1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2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3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4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5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6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8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9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0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1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2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3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4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5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6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8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9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0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1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2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3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4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5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6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32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Relationship Id="rId5" Type="http://schemas.openxmlformats.org/officeDocument/2006/relationships/slide" Target="slide14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8.xml"/><Relationship Id="rId5" Type="http://schemas.openxmlformats.org/officeDocument/2006/relationships/slide" Target="slide19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Relationship Id="rId5" Type="http://schemas.openxmlformats.org/officeDocument/2006/relationships/slide" Target="slide158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Relationship Id="rId5" Type="http://schemas.openxmlformats.org/officeDocument/2006/relationships/slide" Target="slide148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Relationship Id="rId5" Type="http://schemas.openxmlformats.org/officeDocument/2006/relationships/slide" Target="slide150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Relationship Id="rId5" Type="http://schemas.openxmlformats.org/officeDocument/2006/relationships/slide" Target="slide159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Relationship Id="rId5" Type="http://schemas.openxmlformats.org/officeDocument/2006/relationships/slide" Target="slide160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Relationship Id="rId5" Type="http://schemas.openxmlformats.org/officeDocument/2006/relationships/slide" Target="slide158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Relationship Id="rId5" Type="http://schemas.openxmlformats.org/officeDocument/2006/relationships/slide" Target="slide162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Relationship Id="rId5" Type="http://schemas.openxmlformats.org/officeDocument/2006/relationships/slide" Target="slide165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Relationship Id="rId5" Type="http://schemas.openxmlformats.org/officeDocument/2006/relationships/slide" Target="slide160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Relationship Id="rId5" Type="http://schemas.openxmlformats.org/officeDocument/2006/relationships/slide" Target="slide159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Relationship Id="rId5" Type="http://schemas.openxmlformats.org/officeDocument/2006/relationships/slide" Target="slide148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Relationship Id="rId5" Type="http://schemas.openxmlformats.org/officeDocument/2006/relationships/slide" Target="slide110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Relationship Id="rId5" Type="http://schemas.openxmlformats.org/officeDocument/2006/relationships/slide" Target="slide121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Relationship Id="rId5" Type="http://schemas.openxmlformats.org/officeDocument/2006/relationships/slide" Target="slide125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Relationship Id="rId5" Type="http://schemas.openxmlformats.org/officeDocument/2006/relationships/slide" Target="slide19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0.xml"/><Relationship Id="rId5" Type="http://schemas.openxmlformats.org/officeDocument/2006/relationships/slide" Target="slide111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0.xml"/><Relationship Id="rId5" Type="http://schemas.openxmlformats.org/officeDocument/2006/relationships/slide" Target="slide165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0.xml"/><Relationship Id="rId5" Type="http://schemas.openxmlformats.org/officeDocument/2006/relationships/slide" Target="slide19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1.xml"/><Relationship Id="rId5" Type="http://schemas.openxmlformats.org/officeDocument/2006/relationships/slide" Target="slide165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1.xml"/><Relationship Id="rId5" Type="http://schemas.openxmlformats.org/officeDocument/2006/relationships/slide" Target="slide19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1.xml"/><Relationship Id="rId5" Type="http://schemas.openxmlformats.org/officeDocument/2006/relationships/slide" Target="slide1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УРОК 03 ·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 и тюнинг тяжёлых запросов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«Как смотреть» (Core 60 / 90 / Full). Большое число слайдов ≠ всё читать вслух.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Научить читать план и доказывать rewrite.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labs/greenplum-625 · БД mentor · схема lesson03.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Режим → проблема → план → stats → TEMP → proof. Словарь/кейсы — по режиму.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+ equivalence + один bottleneck.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НАВИГАЦИЯ · ОБЯЗАТЕЛЬНО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смотреть эту презентацию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много слайдов = урок + справочник + порталы возврата. Не листать подряд. Выберите режим.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 · ~30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→ план → sel lite → TEMP → proof. Словарь и «Детали» — только по чипу «Термины».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90 · ~45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 + MCV/hist (смысл) + storage decision + 2 кейса (01 и 03 или 08). Остальное — homework.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Full · справочник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этапы + 9 кейсов + Appendix. Порталы «Аа Словарь» / «→ Appendix» — служебные, не часть лекции.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Кнопки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☰ Меню = оглавление. Аа Словарь = портал с ← Вернуться. Синие «Термины» = tip + разбор рядом.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Начать Core 60 (Проблема)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4087368" y="5925312"/>
            <a:ext cx="299008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Словарь (по желанию)</a:t>
            </a:r>
          </a:p>
        </p:txBody>
      </p:sp>
      <p:sp>
        <p:nvSpPr>
          <p:cNvPr id="27" name="Rounded Rectangle 26">
            <a:hlinkClick action="ppaction://hlinksldjump" r:id="rId7"/>
          </p:cNvPr>
          <p:cNvSpPr/>
          <p:nvPr/>
        </p:nvSpPr>
        <p:spPr>
          <a:xfrm>
            <a:off x="7168896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Оглавление этапов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30" name="Rounded Rectangle 29">
            <a:hlinkClick action="ppaction://hlinksldjump" r:id="rId4"/>
          </p:cNvPr>
          <p:cNvSpPr/>
          <p:nvPr/>
        </p:nvSpPr>
        <p:spPr>
          <a:xfrm>
            <a:off x="3337560" y="6327648"/>
            <a:ext cx="214884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Core 60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ОГЛАВЛЕНИЕ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 ученика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режим на слайде «Как смотреть». Дальше клик по этапу. Словарь live не листать.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50292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  Как смотреть (режимы)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Core 60 / 90 / Full · что не листать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12648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01  Словарь (по клику)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Self-service · не обязателен в Core 60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50292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16936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02  Этап 1 · Проблема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Старт Core 60 / 90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612648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916936"/>
            <a:ext cx="109728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03  Этап 2 · Как читать план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Motion · ORCA · детали по чипу</a:t>
            </a:r>
          </a:p>
        </p:txBody>
      </p:sp>
      <p:sp>
        <p:nvSpPr>
          <p:cNvPr id="21" name="Rounded Rectangle 20">
            <a:hlinkClick action="ppaction://hlinksldjump" r:id="rId8"/>
          </p:cNvPr>
          <p:cNvSpPr/>
          <p:nvPr/>
        </p:nvSpPr>
        <p:spPr>
          <a:xfrm>
            <a:off x="50292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04  Этап 3 · Статистика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sel · MCV · hist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612648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685032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05  Этап 4–5 · Storage → Практика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Decision → TEMP → metrics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333756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Дальше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ОГЛАВЛЕНИЕ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 · закрепление ·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60: кейсы SKIP. Core 90: два кейса. Full: все 01–09 + Appendix.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50292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9728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06  Этап 5 · Практика OLAP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TEMP · after plan · proof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612648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07  Этап 6 · Кейсы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01–09 · live только выбранные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50292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16936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08  Кейс 01 · ORCA CE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Рекомендуемый live в Core 90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612648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916936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09  Этап 7 · Итог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Checklist · маршруты</a:t>
            </a:r>
          </a:p>
        </p:txBody>
      </p:sp>
      <p:sp>
        <p:nvSpPr>
          <p:cNvPr id="21" name="Rounded Rectangle 20">
            <a:hlinkClick action="ppaction://hlinksldjump" r:id="rId9"/>
          </p:cNvPr>
          <p:cNvSpPr/>
          <p:nvPr/>
        </p:nvSpPr>
        <p:spPr>
          <a:xfrm>
            <a:off x="50292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10  Appendix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Справочник · не для Core 60</a:t>
            </a:r>
          </a:p>
        </p:txBody>
      </p:sp>
      <p:sp>
        <p:nvSpPr>
          <p:cNvPr id="24" name="Rounded Rectangle 23">
            <a:hlinkClick action="ppaction://hlinksldjump" r:id="rId10"/>
          </p:cNvPr>
          <p:cNvSpPr/>
          <p:nvPr/>
        </p:nvSpPr>
        <p:spPr>
          <a:xfrm>
            <a:off x="612648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685032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↑  Как смотреть / оглавление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Режимы · этапы 1–5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333756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Дальше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Архитектура исполнения 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Клик по термину на слайдах урока → сюда или в локальные «Детали».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Параметр сервера (SHOW/SET). Пример: optimizer, statement_mem.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= master (план + координация). QE = процесс на сегменте.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/ Legacy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Pivotal Optimizer (Cascades). GUC: optimizer=on. Legacy: optimizer=off.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араметр сервера (SHOW/SET). Пример: optimizer, statement_mem.">
            <a:hlinkClick action="ppaction://hlinksldjump" r:id="rId3" tooltip="Параметр сервера (SHOW/SET). Пример: optimizer, statement_mem."/>
          </p:cNvPr>
          <p:cNvSpPr/>
          <p:nvPr/>
        </p:nvSpPr>
        <p:spPr>
          <a:xfrm>
            <a:off x="1463040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27" name="Rounded Rectangle 26" descr="QD = master (план + координация). QE = процесс на сегменте.">
            <a:hlinkClick action="ppaction://hlinksldjump" r:id="rId3" tooltip="QD = master (план + координация). QE = процесс на сегменте."/>
          </p:cNvPr>
          <p:cNvSpPr/>
          <p:nvPr/>
        </p:nvSpPr>
        <p:spPr>
          <a:xfrm>
            <a:off x="2542032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8" name="Rounded Rectangle 27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3840479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9" name="Rounded Rectangle 28" descr="Pivotal Optimizer (Cascades). GUC: optimizer=on.">
            <a:hlinkClick action="ppaction://hlinksldjump" r:id="rId3" tooltip="Pivotal Optimizer (Cascades). GUC: optimizer=on."/>
          </p:cNvPr>
          <p:cNvSpPr/>
          <p:nvPr/>
        </p:nvSpPr>
        <p:spPr>
          <a:xfrm>
            <a:off x="5029199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и физическое хранение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двигает строки по сети. Storage решает IO 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/ AOCO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Append-Only row / column. AOCO читает нужные колонки.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Heap — 8KB pages. DXL — IR между ORCA и executor.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Нехватка statement_mem → файлы pgsql_tmp на сегменте.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фильтра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Главное число, из которого планировщик получает rows ≈ N · sel.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предиката (0 &lt; sel ≤ 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Оценка: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N=100 000, segment='enterprise', sel=0.31 → rows_est ≈ 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rows_est зависят join order, Nested Loop vs Hash, Broadcast vs Redistribute.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Ошибка в sel → плохой план даже при свежем ANALYZE.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— сколько разных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(number of distinct values).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в pg_stats — оценка NDV (числа различных значений).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&gt; 0 — абсолютный NDV (segment ≈ 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&lt; 0 — доля от строк (−1.0 ≈ почти уникально / PK)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Равенство без MCV: sel ≈ 1 / NDV.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region NDV=10, region='NW' вне MCV → sel≈0.10 → ~10k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BY: планировщик roughly считает «групп ≈ NDV».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Сколько разных значений в колонке (NDV). База для sel ≈ 1/NDV.">
            <a:hlinkClick action="ppaction://hlinksldjump" r:id="rId4" tooltip="Сколько разных значений в колонке (NDV). База для sel ≈ 1/NDV."/>
          </p:cNvPr>
          <p:cNvSpPr/>
          <p:nvPr/>
        </p:nvSpPr>
        <p:spPr>
          <a:xfrm>
            <a:off x="1463040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09067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5/9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список самых частых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смысл. Формулы — на advanced-слайде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Планировщик угадывает rows для WHERE segment = 'enterprise' —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этого зависят join и Motion.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Грубо: «4 значения → по 25%». В жизни: enterprise ~31%, test ~6%.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= Most Common Values — самые частые значения колонки;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 MCF — доля строк каждого значения.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значение из MCV → берём его реальную долю;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редкое вне MCV → делим остаток поровну.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Устаревший/пустой MCV → врёт rows → NLJ вместо Hash, лишний Broadcast.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— на следующем (advanced) слайде.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254203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6/9 · ФОРМУЛЫ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читать pg_stats и считать 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Язык каталога и формулы.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most_common_vals (MCV) · most_common_freqs (MCF), Σ freqs ≤ 1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 dim_customer.segment: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MCV ≈ {enterprise, mid, smb, test}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MCF ≈ {0.31, 0.31, 0.31, 0.06} · n_distinct=4 → hist=NULL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MCV:  segment='enterprise' → sel = 0.31  (не 1/4)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∉ MCV и NDV &gt; |MCV|: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sel ≈ (1 − Σ MCF) / (NDV − |MCV|)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_common_vals/freqs в pg_stats; sel из MCF или хвоста.">
            <a:hlinkClick action="ppaction://hlinksldjump" r:id="rId4" tooltip="most_common_vals/freqs в pg_stats; sel из MCF или хвоста."/>
          </p:cNvPr>
          <p:cNvSpPr/>
          <p:nvPr/>
        </p:nvSpPr>
        <p:spPr>
          <a:xfrm>
            <a:off x="1463040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 (формулы)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419856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7/9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equi-depth корзины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корзин до формул histfrac.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«сколько строк с точным значением?»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«сколько строк в диапазоне?» (amount &gt; 50, BETWEEN …).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строится: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Сортируем значения колонки.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Режем на равные кучи по числу строк (= корзины).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Границы — точки разрезов.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100 строк, amount 1…100, 4 корзины.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границы ≈ 1 · 25 · 50 · 75 · 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A: 1…25 (~25 строк)  B: 25…50  C: 50…75  D: 75…100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amount &gt; 50 ≈ правая половина → ~50% строк.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Корзины равны по числу строк, не по ширине шкалы.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2980944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8/9 · ФОРМУЛЫ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bounds, histfrac, связь с MCV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смысл — в терминах pg_stats.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pg_stats.histogram_bounds — массив границ equi-depth корзин.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Число границ ≈ default_statistics_target + 1 (target=100 → часто ≈101).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Значения из MCV в histogram обычно не входят.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 → histfrac → selectivity →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NDV мал и всё в MCV — histogram_bounds = NULL (на стенде так у segment).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histogram_bounds, histfrac, связь с MCV в pg_stats.">
            <a:hlinkClick action="ppaction://hlinksldjump" r:id="rId4" tooltip="histogram_bounds, histfrac, связь с MCV в pg_stats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 (формулы)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77647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9/9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 и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Схемы «звезда» / «снежинка».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Fact — события/меры (продажи). Dimension — справочник (клиент, продукт).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Star-join: fact в центре + несколько dim по FK.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Snowflake: dim → sub-dim (ещё joins).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 Greenplum порядок dims решает Broadcast/Redistribute cost — здесь ORCA обычно сильнее Legacy.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Fact в центре + dims по FK. Порядок join бьёт по Motion.">
            <a:hlinkClick action="ppaction://hlinksldjump" r:id="rId4" tooltip="Fact в центре + dims по FK. Порядок join бьёт по Motion."/>
          </p:cNvPr>
          <p:cNvSpPr/>
          <p:nvPr/>
        </p:nvSpPr>
        <p:spPr>
          <a:xfrm>
            <a:off x="1463040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Star-join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Проблема: тяжёлый OLAP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Сквозной кейс-мотивация. Дальше теория объяснит, как его читать и чинить.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Месячный отчёт «горит» по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AOCO ⋈ dims, фильтр февраля.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точки: Motion · cardinality · spill.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Теория плана → stats → storage → практика.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Симптом: месячный OLAP «горит» по времени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Production frame: SLA нарушен. На стенде учим метод на измеримом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Долгий reporting: fact ⋈ dims + window + window за месяц.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Где критический путь: Motion, misestimate или spill?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Фиксируем optimizer + statement_mem до любых before/after.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Lab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 сегмента, ~45k Feb rows — метод, не «47 минут wall».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Архитектура данных кейса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fact_sales (AOCO, range partitions) ⋈ dim_customer ⋈ dim_product.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52958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Таблицы стенда lesson03: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fact_sales — AOCO, DISTRIBUTED BY (customer_id),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PARTITION BY RANGE (sale_date) — 4 партиции на стенде.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dim_customer — справочник клиента (segment, region).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dim_product — справочник продукта (category).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Фильтр кейса: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sale_date ∈ [2026-02-01, 2026-03-01)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segment &lt;&gt; 'test'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Grain результата: region × category + window rank по revenue.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Исходный SQL (monolith)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запрос: filter → joins → agg → window. Без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category, revenue,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rank() OVER (PARTITION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p.category,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 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(product_id)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&lt; 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Baseline: три симптома на плане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весь EXPLAIN — три точки. Полный текст: artifacts/lesson-03/case/.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product + Redistribute agg keys + Gather (slice4).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Cardinality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Scan/joins ~ok; финальные groups 9→actual 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256MB — Disk:0; при малом statement_mem возможен Sort spill.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Warm median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Plan ~15 ms · Exec ~15 ms (n=3, lab).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как читать distributed-план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QD/QE, Motion, slices, ORCA vs Legacy — язык EXPLAIN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Данные + сеть + оценки + optimizer.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Алгоритм чтения плана слоями.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5 слайдов baseline-дерева.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Осторожно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≠ всегда лучше Legacy.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Тяжёлый OLAP = данные + сеть + оценки +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Полный словарь — в начале презентации; здесь — напоминание для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Storage / part / dist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/ slices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Stats / 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| Legacy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proof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 / slice / Motion — в контексте плана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Наведите на чип термина — коротко; клик — детали рядом (теория → словарь).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Master/coordinator: parse, optimize, gather.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Segment executor своего slice.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Кусок плана между Motion; своя gang процессов.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/ Broadcast / Gather — плата сетью.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QD = master (план + координация). QE = процесс на сегменте.">
            <a:hlinkClick action="ppaction://hlinksldjump" r:id="rId4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7" name="Rounded Rectangle 26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2761487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8" name="Rounded Rectangle 27" descr="Pivotal Optimizer (Cascades). GUC: optimizer=on.">
            <a:hlinkClick action="ppaction://hlinksldjump" r:id="rId6" tooltip="Pivotal Optimizer (Cascades). GUC: optimizer=on."/>
          </p:cNvPr>
          <p:cNvSpPr/>
          <p:nvPr/>
        </p:nvSpPr>
        <p:spPr>
          <a:xfrm>
            <a:off x="3950207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29" name="Rounded Rectangle 28" descr="Параметр сервера (SHOW/SET). Пример: optimizer, statement_mem.">
            <a:hlinkClick action="ppaction://hlinksldjump" r:id="rId7" tooltip="Параметр сервера (SHOW/SET). Пример: optimizer, statement_mem."/>
          </p:cNvPr>
          <p:cNvSpPr/>
          <p:nvPr/>
        </p:nvSpPr>
        <p:spPr>
          <a:xfrm>
            <a:off x="5907023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METHOD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Алгоритм чтения EXPLAIN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Shape недостаточен — нужен execution profile. Шаги 1–6.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Зафиксировать optimizer + GUC. Разметить Motion / slices.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Max actual rows flow. Первый крупный estimate vs actual.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Avg vs max по сегментам — ищем skew.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 build/probe и длина join-chain.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METHOD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Алгоритм чтения EXPLAIN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Шаги 7–12. В конце — одна проверяемая гипотеза.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7–8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Distribution keys vs join keys. Sort/Hash mem и Disk spill.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9–10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elimination. Planning vs execution bottleneck.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Critical path ≠ сумма времён всех узлов.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Одна проверяемая гипотеза → TEMP / rewrite / GUC.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90 секунд: где первая причина плохого плана?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Смотрите baseline. Не называйте «просто медленный SQL».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маленького dim — нормальная цена?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после широкого join — нужен ли раньше filter?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 над уже маленьким agg — bottleneck wall-clock?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Estimate groups 9 vs 4 — влияет на Motion?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Форма дерева (baseline)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4 slices. Полный plan: case/baseline-explain-analyze.txt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(slice4)     actual rows=4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WindowAgg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(region)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(region, category)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(region, category)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Dynamic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 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2/4 parts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Filter: Feb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dim_customer  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segment&lt;&gt;test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едут данные (Motion)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Сеть дороже CPU на широком промежуточном set. Чип Motion → детали.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dim_product → все seg (800 rows) — дёшево на lab.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partial agg по (region, category).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 region перед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Gather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Финальный 2:1 на QD — маленький результат.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7" name="Rounded Rectangle 26" descr="QD = master (план + координация). QE = процесс на сегменте.">
            <a:hlinkClick action="ppaction://hlinksldjump" r:id="rId5" tooltip="QD = master (план + координация). QE = процесс на сегменте."/>
          </p:cNvPr>
          <p:cNvSpPr/>
          <p:nvPr/>
        </p:nvSpPr>
        <p:spPr>
          <a:xfrm>
            <a:off x="265176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ошиблась cardinality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Порог ×N — эвристика; смотрите абсолютный объём узла.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Dynamic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fact:  est 22400  act 22896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customer:     est 21062  act 21432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product:      est 21010  act 21432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Final groups / Gather:  est 9      act 4       (overestimate)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На lab misestimate мал по абсолюту.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В production тот же паттерн на млрд rows → Motion/mem.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Память и диск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statement_mem=256MB → quicksort, Disk:0. Spill — другой слой, чем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Memory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262144kB (cap statement_mem) на baseline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quicksort 66kB — без external merge.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pgsql_tmp_Sort_* только при нехватке mem.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SET statement_mem='8MB' + широкий ORDER BY — кнопка ниже → Appendix.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Bottleneck на этом плане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Гипотеза для проверки декомпозицией.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Критический путь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Scan+два Hash Join на широком Feb set до agg.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Гипотеза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Вынести filter/join в TEMP stage → меньше Motion/work в финале.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гипотеза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«Выключить ORCA» как первый рычаг на lab-scale.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Проверка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 + тот же optimizer → metrics.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OPTIMIZERS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vs Legacy: осторожные формулировки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2 сегментах сравниваем shape. Production claim требует объёма.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785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стенде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и Legacy могут выбрать разный join order / Motion. Фиксируйте GUC. Смотрите actual rows и runtime, не только маркер Optimizer.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785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говорим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«ORCA всегда быстрее» / «Legacy для каждого короткого SQL». Legacy = diagnostic control + fallback при feature 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8" name="Rounded Rectangle 17" descr="Pivotal Optimizer (Cascades). GUC: optimizer=on.">
            <a:hlinkClick action="ppaction://hlinksldjump" r:id="rId4" tooltip="Pivotal Optimizer (Cascades). GUC: optimizer=on."/>
          </p:cNvPr>
          <p:cNvSpPr/>
          <p:nvPr/>
        </p:nvSpPr>
        <p:spPr>
          <a:xfrm>
            <a:off x="1463040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19" name="Rounded Rectangle 18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3419856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0" name="Rounded Rectangle 19" descr="Параметр сервера (SHOW/SET). Пример: optimizer, statement_mem.">
            <a:hlinkClick action="ppaction://hlinksldjump" r:id="rId6" tooltip="Параметр сервера (SHOW/SET). Пример: optimizer, statement_mem."/>
          </p:cNvPr>
          <p:cNvSpPr/>
          <p:nvPr/>
        </p:nvSpPr>
        <p:spPr>
          <a:xfrm>
            <a:off x="4608576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21" name="Rounded Rectangle 20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2" name="Rounded Rectangle 21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СЛОВАРЬ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Термины плана — сначала смысл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Дальше — короткие карточки-детали. Наведите на чип термина на соседних слайдах.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= master (план + координация). QE = процесс на сегменте.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Pivotal Optimizer (Cascades). GUC: optimizer=on.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Параметр сервера (SHOW/SET). Пример: optimizer, statement_mem.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QD = master (план + координация). QE = процесс на сегменте.">
            <a:hlinkClick action="ppaction://hlinksldjump" r:id="rId4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7" name="Rounded Rectangle 26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2761487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8" name="Rounded Rectangle 27" descr="Pivotal Optimizer (Cascades). GUC: optimizer=on.">
            <a:hlinkClick action="ppaction://hlinksldjump" r:id="rId6" tooltip="Pivotal Optimizer (Cascades). GUC: optimizer=on."/>
          </p:cNvPr>
          <p:cNvSpPr/>
          <p:nvPr/>
        </p:nvSpPr>
        <p:spPr>
          <a:xfrm>
            <a:off x="3950207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29" name="Rounded Rectangle 28" descr="Параметр сервера (SHOW/SET). Пример: optimizer, statement_mem.">
            <a:hlinkClick action="ppaction://hlinksldjump" r:id="rId7" tooltip="Параметр сервера (SHOW/SET). Пример: optimizer, statement_mem."/>
          </p:cNvPr>
          <p:cNvSpPr/>
          <p:nvPr/>
        </p:nvSpPr>
        <p:spPr>
          <a:xfrm>
            <a:off x="5907023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и 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Кто строит план и кто исполняет slice.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(Query Dispatcher) — на master: парсит SQL, выбирает план, режет его на slices и собирает результат.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QE (Query Executor) — на каждом сегменте: исполняет свой кусок плана.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Между QE разных сегментов данные едут через Motion.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QD = master (план + координация). QE = процесс на сегменте.">
            <a:hlinkClick action="ppaction://hlinksldjump" r:id="rId3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— цена сети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основных вида обмена строками.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— оператор, который двигает строки между сегментами (или на master).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Redistribute — перетасовать по hash-ключу (дорого на широком потоке).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Broadcast — отправить копию маленькой таблицы всем сегментам.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Gather — собрать результат на QD/master.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Цель тюнинга: делать Motion на уже узком наборе строк.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(ORCA)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Современный cost-based optimizer Greenplum.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— оптимизатор на базе Cascades/memo.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Включается: SET optimizer = on;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 EXPLAIN: Optimizer: Pivotal Optimizer (GPORCA).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Обычно сильнее Legacy на star-join и сложных OLAP.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аксиома «всегда быстрее» — сравнивайте shape и runtime.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Pivotal Optimizer (Cascades). GUC: optimizer=on.">
            <a:hlinkClick action="ppaction://hlinksldjump" r:id="rId3" tooltip="Pivotal Optimizer (Cascades). GUC: optimizer=on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— параметр конфигурации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Grand Unified Configuration.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— настройка сервера Greenplum/Postgres.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Смотреть: SHOW name; менять в сессии: SET name = value.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уроке критичны: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optimizer = on|off  → GPORCA или Legacy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statement_mem      → память операторов (spill)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Перед before/after всегда фиксируйте один и тот же набор GUC.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Параметр сервера (SHOW/SET). Пример: optimizer, statement_mem.">
            <a:hlinkClick action="ppaction://hlinksldjump" r:id="rId3" tooltip="Параметр сервера (SHOW/SET). Пример: optimizer, statement_mem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статистика и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 каких чисел в pg_stats планировщик получает rows_est — и когда ANALYZE бессилен.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hist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Equality → MCV+freqs. Range → equi-depth histogram. Разные структуры — разные формулы.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(0,1], rows≈N·sel. Дальше — формулы Legacy AND и ORCA damping с числами.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Пересобирает sample → MCV/hist/NDV. После bulk load и TEMP stage — обязательно.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Лимит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Свежий ANALYZE ≠ хороший план: корреляция, выражения, many-join, skew.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27" name="Rounded Rectangle 26" descr="Most Common Values + частоты (MCF). Точнее равномерной оценки 1/NDV.">
            <a:hlinkClick action="ppaction://hlinksldjump" r:id="rId5" tooltip="Most Common Values + частоты (MCF). Точнее равномерной оценки 1/NDV."/>
          </p:cNvPr>
          <p:cNvSpPr/>
          <p:nvPr/>
        </p:nvSpPr>
        <p:spPr>
          <a:xfrm>
            <a:off x="3200399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28" name="Rounded Rectangle 27" descr="Корзины равного числа строк; для range (BETWEEN, &gt;, &lt;).">
            <a:hlinkClick action="ppaction://hlinksldjump" r:id="rId6" tooltip="Корзины равного числа строк; для range (BETWEEN, &gt;, &lt;)."/>
          </p:cNvPr>
          <p:cNvSpPr/>
          <p:nvPr/>
        </p:nvSpPr>
        <p:spPr>
          <a:xfrm>
            <a:off x="4279391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29" name="Rounded Rectangle 28" descr="Сколько разных значений в колонке (NDV). База для sel ≈ 1/NDV.">
            <a:hlinkClick action="ppaction://hlinksldjump" r:id="rId7" tooltip="Сколько разных значений в колонке (NDV). База для sel ≈ 1/NDV."/>
          </p:cNvPr>
          <p:cNvSpPr/>
          <p:nvPr/>
        </p:nvSpPr>
        <p:spPr>
          <a:xfrm>
            <a:off x="5797295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Цепочка: от EXPLAIN к числам в каталоге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Учимся читать plan → проверять, откуда взялась оценка.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В EXPLAIN смотрим rows (estimate) vs actual rows.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Если сильно расходятся — открываем pg_stats по фильтруемым колонкам: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   n_distinct, most_common_vals/freqs, histogram_bounds.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Физически это строки pg_statistic (heap + TOAST), не «отдельный stats file».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4) Из этих массивов планировщик считает selectivity → rows_est → cost join/Motion.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 сразу идут карточки словаря по этим терминам — не только «в начале презентации».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3" name="Rounded Rectangle 12" descr="Сколько разных значений в колонке (NDV). База для sel ≈ 1/NDV.">
            <a:hlinkClick action="ppaction://hlinksldjump" r:id="rId5" tooltip="Сколько разных значений в колонке (NDV). База для sel ≈ 1/NDV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4" name="Rounded Rectangle 13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4828031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5" name="Rounded Rectangle 14" descr="Корзины равного числа строк; для range (BETWEEN, &gt;, &lt;).">
            <a:hlinkClick action="ppaction://hlinksldjump" r:id="rId7" tooltip="Корзины равного числа строк; для range (BETWEEN, &gt;, &lt;)."/>
          </p:cNvPr>
          <p:cNvSpPr/>
          <p:nvPr/>
        </p:nvSpPr>
        <p:spPr>
          <a:xfrm>
            <a:off x="5907023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СЛОВАРЬ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Сначала термины, потом формулы урока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Чипы на слайдах: наведение = коротко, клик = этот разбор.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Доля строк после фильтра (0…1). rows ≈ N · sel.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Сколько разных значений в колонке (NDV). База для sel ≈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Most Common Values + частоты (MCF). Точнее равномерной оценки 1/NDV.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для range (BETWEEN, &gt;, &lt;).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27" name="Rounded Rectangle 26" descr="Сколько разных значений в колонке (NDV). База для sel ≈ 1/NDV.">
            <a:hlinkClick action="ppaction://hlinksldjump" r:id="rId5" tooltip="Сколько разных значений в колонке (NDV). База для sel ≈ 1/NDV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28" name="Rounded Rectangle 27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4828031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29" name="Rounded Rectangle 28" descr="Корзины равного числа строк; для range (BETWEEN, &gt;, &lt;).">
            <a:hlinkClick action="ppaction://hlinksldjump" r:id="rId7" tooltip="Корзины равного числа строк; для range (BETWEEN, &gt;, &lt;)."/>
          </p:cNvPr>
          <p:cNvSpPr/>
          <p:nvPr/>
        </p:nvSpPr>
        <p:spPr>
          <a:xfrm>
            <a:off x="5907023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фильтра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Главное число, из которого планировщик получает rows ≈ N · sel.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предиката (0 &lt; sel ≤ 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Оценка: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N=100 000, segment='enterprise', sel=0.31 → rows_est ≈ 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rows_est зависят join order, Nested Loop vs Hash, Broadcast vs Redistribute.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Ошибка в sel → плохой план даже при свежем ANALYZE.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— сколько разных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(number of distinct values).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в pg_stats — оценка NDV (числа различных значений).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&gt; 0 — абсолютный NDV (segment ≈ 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&lt; 0 — доля от строк (−1.0 ≈ почти уникально / PK)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Равенство без MCV: sel ≈ 1 / NDV.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region NDV=10, region='NW' вне MCV → sel≈0.10 → ~10k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BY: планировщик roughly считает «групп ≈ NDV».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Сколько разных значений в колонке (NDV). База для sel ≈ 1/NDV.">
            <a:hlinkClick action="ppaction://hlinksldjump" r:id="rId4" tooltip="Сколько разных значений в колонке (NDV). База для sel ≈ 1/NDV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Equality: MCV или 1/NDV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Рабочий пример на segment. Наведите на MCV / n_distinct — кратко; клик — детали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25526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Предикат: segment = 'enterprise'.  N = 100 000.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MCV={enterprise,mid,smb,test}  MCF={0.31,0.31,0.31,0.06}  NDV=4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 → sel=0.31 → rows_est=31 000.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Без MCV → sel≈1/NDV=0.25 → rows_est=25 000.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точнее на «толстых» значениях → NLJ vs Hash может переехать.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Вне MCV (NDV &gt; |MCV|): sel ≈ (1−Σ MCF)/(NDV−|MCV|).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22976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522976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3" name="Rounded Rectangle 12" descr="most_common_vals/freqs в pg_stats; sel из MCF или хвоста.">
            <a:hlinkClick action="ppaction://hlinksldjump" r:id="rId5" tooltip="most_common_vals/freqs в pg_stats; sel из MCF или хвоста."/>
          </p:cNvPr>
          <p:cNvSpPr/>
          <p:nvPr/>
        </p:nvSpPr>
        <p:spPr>
          <a:xfrm>
            <a:off x="2542032" y="5522976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 (формулы)</a:t>
            </a:r>
          </a:p>
        </p:txBody>
      </p:sp>
      <p:sp>
        <p:nvSpPr>
          <p:cNvPr id="14" name="Rounded Rectangle 13" descr="Сколько разных значений в колонке (NDV). База для sel ≈ 1/NDV.">
            <a:hlinkClick action="ppaction://hlinksldjump" r:id="rId6" tooltip="Сколько разных значений в колонке (NDV). База для sel ≈ 1/NDV."/>
          </p:cNvPr>
          <p:cNvSpPr/>
          <p:nvPr/>
        </p:nvSpPr>
        <p:spPr>
          <a:xfrm>
            <a:off x="4498848" y="5522976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5" name="Rounded Rectangle 14" descr="Доля строк после фильтра (0…1). rows ≈ N · sel.">
            <a:hlinkClick action="ppaction://hlinksldjump" r:id="rId7" tooltip="Доля строк после фильтра (0…1). rows ≈ N · sel."/>
          </p:cNvPr>
          <p:cNvSpPr/>
          <p:nvPr/>
        </p:nvSpPr>
        <p:spPr>
          <a:xfrm>
            <a:off x="6126480" y="5522976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(selfuncs)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5093208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список самых частых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смысл. Формулы — на advanced-слайде рядом.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Планировщик угадывает rows для WHERE segment = 'enterprise' —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этого зависят join и Motion.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Грубо: «4 значения → по 25%». В жизни: enterprise ~31%, test ~6%.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= Most Common Values — самые частые значения колонки;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 MCF — доля строк каждого значения.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значение из MCV → берём его реальную долю;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редкое вне MCV → делим остаток поровну.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Устаревший/пустой MCV → врёт rows → NLJ вместо Hash, лишний Broadcast.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— на следующем (advanced) слайде.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читать pg_stats и считать 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Язык каталога и формулы.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most_common_vals (MCV) · most_common_freqs (MCF), Σ freqs ≤ 1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 dim_customer.segment: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MCV ≈ {enterprise, mid, smb, test}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MCF ≈ {0.31, 0.31, 0.31, 0.06} · n_distinct=4 → hist=NULL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MCV:  segment='enterprise' → sel = 0.31  (не 1/4)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∉ MCV и NDV &gt; |MCV|: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sel ≈ (1 − Σ MCF) / (NDV − |MCV|)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_common_vals/freqs в pg_stats; sel из MCF или хвоста.">
            <a:hlinkClick action="ppaction://hlinksldjump" r:id="rId4" tooltip="most_common_vals/freqs в pg_stats; sel из MCF или хвоста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Range: histfrac по equi-depth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= равные кучи строк. Чипы Histogram → детали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25526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Предикат: amount &gt; 50 → смотрим histogram_bounds.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Equi-depth: соседние границы делят ~равную долю строк.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Границ ≈ default_statistics_target+1 (target=100 → ≈101).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 ≈ доля полных корзин справа от 50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  + доля частичной корзины с 50  (= histfrac).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NDV мал и всё в MCV → histogram_bounds=NULL (segment на стенде).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Стенд: SELECT attname, n_distinct,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array_length(histogram_bounds,1) AS hist_n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FROM pg_stats WHERE schemaname='lesson03';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22976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522976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3" name="Rounded Rectangle 12" descr="histogram_bounds, histfrac, связь с MCV в pg_stats.">
            <a:hlinkClick action="ppaction://hlinksldjump" r:id="rId5" tooltip="histogram_bounds, histfrac, связь с MCV в pg_stats."/>
          </p:cNvPr>
          <p:cNvSpPr/>
          <p:nvPr/>
        </p:nvSpPr>
        <p:spPr>
          <a:xfrm>
            <a:off x="2980944" y="5522976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 (формулы)</a:t>
            </a:r>
          </a:p>
        </p:txBody>
      </p:sp>
      <p:sp>
        <p:nvSpPr>
          <p:cNvPr id="14" name="Rounded Rectangle 13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5294376" y="5522976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5" name="Rounded Rectangle 14" descr="Доля строк после фильтра (0…1). rows ≈ N · sel.">
            <a:hlinkClick action="ppaction://hlinksldjump" r:id="rId7" tooltip="Доля строк после фильтра (0…1). rows ≈ N · sel."/>
          </p:cNvPr>
          <p:cNvSpPr/>
          <p:nvPr/>
        </p:nvSpPr>
        <p:spPr>
          <a:xfrm>
            <a:off x="6373368" y="5522976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502920" y="5925312"/>
            <a:ext cx="3995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histogram equi-depth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4590288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equi-depth корзины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корзин до формул histfrac.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«сколько строк с точным значением?»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«сколько строк в диапазоне?» (amount &gt; 50, BETWEEN …).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строится: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Сортируем значения колонки.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Режем на равные кучи по числу строк (= корзины).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Границы — точки разрезов.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100 строк, amount 1…100, 4 корзины.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границы ≈ 1 · 25 · 50 · 75 · 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A: 1…25 (~25 строк)  B: 25…50  C: 50…75  D: 75…100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amount &gt; 50 ≈ правая половина → ~50% строк.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Корзины равны по числу строк, не по ширине шкалы.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bounds, histfrac, связь с MCV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смысл — в терминах pg_stats.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pg_stats.histogram_bounds — массив границ equi-depth корзин.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Число границ ≈ default_statistics_target + 1 (target=100 → часто ≈101).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Значения из MCV в histogram обычно не входят.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 → histfrac → selectivity →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NDV мал и всё в MCV — histogram_bounds = NULL (на стенде так у segment).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histogram_bounds, histfrac, связь с MCV в pg_stats.">
            <a:hlinkClick action="ppaction://hlinksldjump" r:id="rId4" tooltip="histogram_bounds, histfrac, связь с MCV в pg_stats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MCV/HIST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Стенд: MCV vs histogram в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Скопируйте на mentor / lesson03 и сравните segment vs amount.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segment: NDV мал → всё в MCV, hist 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most_common_vals, most_common_freqs,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n_distinct, histogram_bounds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'dim_customer'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'segment'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amount: hist_n ≈ statistics_target+1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attname, n_distinct,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array_length(histogram_bounds,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'fact_sales'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LEGACY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AND: произведение selectivities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Гипотеза независимости: sel(A∧B) = sel(A)·sel(B).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AND: sel(A ∧ B ∧ C) ≈ s₁ · s₂ · s₃  (∏ sᵢ).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s(enterprise)=0.31, s(NW)=0.10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→ sel≈0.031 → rows_est≈3 100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Ломается при корреляции (enterprise почти всегда в NW):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истинная доля ≠ произведению → врёт join/Motion.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GP6: нет multivariate CREATE STATISTICS → лечим rewrite/TEMP,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«ещё ANALYZE». Детали — Appendix.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502920" y="5925312"/>
            <a:ext cx="5029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AND/OR/NOT + clausesel.c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5623560" y="5925312"/>
            <a:ext cx="419709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формулы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ORCA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AND: scale factors + damping 0.75ⁿ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не всегда тупо перемножает — демпфирует накопление фильтров.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scale factors + damping — много AND не «обнуляют» rows.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Идея: после 1-го фильтра следующие смягчаются (~0.75ⁿ),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 не всегда полным sᵢ.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 (схема, не байт-в-байт):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s1=0.31, s2=0.10, s3=0.50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Legacy: 0.31·0.10·0.50 = 0.0155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ORCA*:  0.31·(0.10·0.75)·(0.50·0.75²) ≈ 0.0087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Вывод: ORCA ≠ ∏ sᵢ → планы расходятся на одном ANALYZE.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Константы/код — Appendix.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ORCA AND + damping 0.75ⁿ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992624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сводка CE Legacy vs ORCA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СВОДКА ФОРМУЛ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Шпаргалка формул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Держите рядом с EXPLAIN ANALYZE. Глубокие формулы — кнопки ниже.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 ∈ MCV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= MCF[i]. rows ≈ N · MCF[i].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 ∉ MCV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≈ (1−ΣMCF) / (NDV−|MCV|), иначе ≈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≈ histfrac (+ края корзины). MCV из hist исключены.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Legacy: ∏ sᵢ. ORCA: scale factors + damping. GP6: нет multivariate stats.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 (clausesel)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5093208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обновлять статистику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Вручную в ETL. Авто — gp_autostats_mode, не «магический vacuum».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вручную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gp_autostats_mode; 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 on_no_stats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relname, last_analyze, last_autoanalyze,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n_mod_since_analyze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pg_stat_user_tables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CREATE TEMP AS → ANALYZE stage: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иначе оценки часто грубые (не «всегда врут»).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PHYSICAL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Статистика — не отдельный «stats file»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pg_statistic = heap catalog (+ TOAST). Lab filepath ниже.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pg_statistic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pg_relation_filepath → base/&lt;dboid&gt;/&lt;relfilenode&gt;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KB heap pages → ItemId → HeapTupleHeader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stavalues/stanumbers (varlena)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relation при больших arrays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стенд mentor: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filepath(pg_statistic) ≈ 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16587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12537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pg_statistic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928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kB;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kB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свежий ANALYZE не спасает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Тогда TEMP / rewrite — не «ещё раз ANALYZE».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Корреляция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region ∧ segment: истинная sel ≠ s1·s2. Multivariate stats в GP6 нет.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Выражения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date_trunc(col) / (col+1): stats колонки не применяются к выражению.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Ошибка sel на каждом join перемножается → взрыв Motion/NLJ.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Skew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Тяжёлый хвост вне MCV: avg-оценка лжёт, один сегмент горит.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физика хранения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Heap / AO / AOCO — что реально читает scan и почему AOCO ≠ «быстрее всегда».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Классические 8KB pages: tuple целиком на странице. Удобно для частых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/ AOCO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Append-Only: row blocks vs column streams + visimap. AOCO читает нужные колонки.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Следствие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Физика бьёт по IO scan/projection. Motion/skew storage не лечит.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Решение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Выбираем storage под access pattern кейса (wide fact + узкий SELECT → AOCO).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Физика хранения: зачем она в тюнинге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AOCO не лечит Motion/skew. Но решает IO 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Page + tuple + MVCC — dims /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 blocks — bulk row insert.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Column streams — narrow analytic scan.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Ключ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Access pattern + types, не «модно».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HEAP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page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Строка лежит в page; SELECT * читает весь tuple width.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Page (обычно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PageHeaderData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ItemIdData[]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line pointers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free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HeapTupleHeaderData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xmin/xmax, infomask,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bitmap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fixed attrs (+ alignment/padding)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varlena attrs → inline | compressed |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pointer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Forks: main / FSM / VM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Update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delete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→ новые версии;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vacuum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освобождает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row: blocks, aoseg, visimap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Append-optimized row orientation.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Segfiles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segment file + segno; append varblocks.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gp_aoseg / pg_aoseg: EOF, tupcount,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Visimap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Какие rows видны; не классический heap HOT.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Blockdir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Ускоряет fetch по position.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AOCO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AOCO: column streams × segno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Projection: узкий SELECT не читает payload column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pg_appendonly: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segrelid      → aoseg/aocsseg metadata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blkdirrelid   → block directory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visimaprelid  → visibility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Физика: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× segno) → compressed blocks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Encoding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(zstd/rle/…)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/ wide projection → читаем почти все streams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GP6 DDL: appendoptimized=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alias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appendonly=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Типы данных: физика → следствие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слайд сравнения — обязателен к заданию.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int4/date          fixed     → плотный stream / inline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int8/timestamp     fixed+align → шире ключ/Motion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numeric            varlena   → CPU + compression variance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text/jsonb         varlena   → Heap: TOAST risk; AOCO: свой 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NULL               bitmap    → не «байт на колонку» в уме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Lab: сравните size + narrow vs wide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Heap dim vs AOCO fact (lesson03)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Storage decision для кейса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→ AOCO; dims → Heap. Distribution отдельно.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fact_sales AOCO + compress: scan/projection. dim_* обновляемые/маленькие → heap-friendly.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Плохой DISTRIBUTED BY, skew, correlated filters, лишний Redistribute.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Практика: чиним сквозной OLAP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как physical stage → новый план → metrics → equivalence.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CTE ≠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Materialization не гарантирована.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+ ANALYZE на каждом stage.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+ EXCEPT ALL = 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Девять именованных кейсов оптимизации.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CTE ≠ physical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GP6: optimizer_cte_inlining_bound (ORCA default 0) — не гадайте.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Механизм | Physical stage гарантирован?|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Subquery | Нет                   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CTE      | Нет как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relation;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         | Legacy часто fence;   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         | ORCA зависит от GUC/xforms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TEMP     | Да: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catalog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files +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optimizer_cte_inlining_bound;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TEMP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TEMP: session boundary + ON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PRESERVE ROWS. Чужая сессия не видит ваш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Одно соединение QD; \q → cleanup TEMP namespace.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таблица+строки живут (default).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строк 0, каркас жив.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relation нет.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 OLAP-кейса: TEMP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Сужаем → join/shape → window. ANALYZE каждый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tmp_lesson03_sales_feb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Feb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tmp_lesson03_sales_feb;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dims, segment&lt;&gt;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финальный window/agg уже на узком stage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files vs spill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Стенд default tablespace. Проверяйте temp_tablespaces в prod.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TEMP relation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session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pg_temp_NNN, relpersistence=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base/&lt;dboid&gt;/t_&lt;relfilenode&gt; на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(на стенде QD-side файл часто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bytes — lab observation)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Spill workfiles (executor):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base/pgsql_tmp/pgsql_tmp_Sort_*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живут во время query, не pg_class TEMP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Цена materialization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выгоден, если stage режет cardinality/Motion сильнее IO write+read.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Фиксированный grain; DISTRIBUTED BY; ANALYZE; reuse в сессии; доказуемый before/after.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Двойной IO; место на всех seg; без фильтра = дорогой materialize всего fact.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AFTER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After: форма плана на TEMP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Меньше slices/Motion на финальном SQL. Полный текст в case/.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Gather Motion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WindowAgg / 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HashAggregate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(already Feb + anti-test + dims)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Optimizer: 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TEMP stages: DISTRIBUTED BY + ANALYZE before this plan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Before / after (warm median, 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OLAP metrics.md + NLJ case/nlj-metrics.md.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OLAP Feb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(metrics.md):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Planning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 · Execution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NLJ CTE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(nlj-metrics.md, GPORCA):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A/B Nested Loop loops=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 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176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Hash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est≈actual    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Cold planning на baseline — всегда note warm/cold.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EQUIVALENCE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Доказательство эквивалентности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этого rewrite — мнение, не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одинаковый optimizer + snapshot + GUC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baseline_grain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EXCEPT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after_grain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x;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lesson03-e2e-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-metrics.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lesson03-nlj-cte-temp-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 оптимизации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Отдельные ловушки плана. У каждого кейса — титул → разбор → план/код → фикс.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→ сигнал в EXPLAIN → почему → как чинить → стенд.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кейса недооценки строк (ORCA и Legacy).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SCD2, NOT IN, window, VALUES, DISTINCT, median.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Stats 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Autostats не срабатывает на INSERT в parent.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недооценил строки → Nested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CTE + join к маленькой dim: план верит в «1 row».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GPORCA выбирает Index Nested Loop при est≪actual.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+ Broadcast/Index Scan, loops≈80k, rows=1→80000.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stage + ANALYZE → Hash Join; не «просто SET optimizer».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lesson03-orca-ce-trap.sql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Скрипт: lesson03-orca-ce-trap.sql · metrics: ce-traps-metrics.md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3 CTE + opaque preds → join к replicated dim с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Nested Loop + Index Scan, est≈1, loops=80k.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Cardinality under-estimate после CTE/opaque фильтров.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 enriched stage → Hash Join ~21 ms (lab).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Стендовый запрос (ORCA)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Предикаты почти keep-all. Статы нет / stale.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cte_orders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opaque … 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cte_active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cte_enriched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e.*, r.tier, r.score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cte_enriched 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lesson03.orca_ref 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Плохой план и после 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Форма важнее абсолютных секунд на 2 seg.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      rows=1 → actual 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rows=1 → actual 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Index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   loops=80000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GOOD (TEMP+ANALYZE):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est≈actual  ~21 ms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EXISTS → Nested Loop Semi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класс CE-ошибки, другой SQL и другой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Postgres planner выбирает Nested Loop Semi при under-estimate.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Semi Join, est≪actual, огромные loops.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ANALYZE; enable_nestloop на стенде включаем явно.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lesson03-legacy-ce-trap.sql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Почему нельзя один SQL на оба оптимизатора для демо.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Opaque filters + EXISTS + join к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Semi Join + Nested Loop (Legacy).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EXISTS «приглашает» semi; CE занижает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+ ANALYZE → Hash Join ~22 ms.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Плохой план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HashJoin остаётся ON — NL выбран стоимостью.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SET optimizer = off;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SET enable_nestloop = on;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Semi Join   rows=15 → actual 40060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 est≈29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Index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loops=40060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 trap → TEMP, не «просто сменить optimizer»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Смена движка без cardinality stage часто не лечит корень.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Диагноз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est≪actual на join/semi + index dim → NL-семейство. Смотрите loops=.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(TEMP) + ANALYZE; proof в ce-traps-metrics.md.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SCD2: Redistribute при «согласованном»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Ключи join совпали с DISTRIBUTED BY — а Motion всё равно есть.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max(version) меняет locus: hash(biz_key) ≠ hash(biz_key, version).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… Hash Key: biz_key (часто ×2).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(biz_key) под access pattern; TEMP только keys — мало.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lesson03-principal-scd2-locus.sql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Иллюзия co-location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Senior смотрит имена колонок. Нужно читать Hash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⋈ (biz_key, max(version)) — classic SCD2 latest.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Иллюзия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(biz_key, version_id) + USING тех же полей.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hash(пары) ≠ hash(biz_key) → Redistribute обязателен.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Модель: DISTRIBUTED BY (biz_key). Не «ещё ANALYZE».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→ B → C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lesson03-principal-scd2-locus.sql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composite dist + CTE max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biz_key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B) TEMP latest BY (biz_key) → Redistribute FACT остаётся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fact BY (biz_key) → local join, только Gather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Бонус: int ⋈ int8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(id)::bigint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 раздувает Broadcast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Антифильтр, который тиражирует всю внутреннюю таблицу.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 (SELECT …) → Hash Left Anti Semi (Not-In) + Broadcast inner.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Motion всей t2 на каждый сегмент.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 или LEFT JOIN … IS NULL + co-located ключи.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lesson03-secret18-not-in-broadcast.sql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 → фикс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Семантика Not-In (+ NULL) ≠ обычный anti-join.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t1.n NOT IN (SELECT n FROM t2).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Not-In Join; часто Broadcast полной t2.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Xform Not-In + семантика NULL.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 / LEFT JOIN IS NULL.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 vs Hash Anti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Lab: форма важнее секунд на 2 seg.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NOT IN: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Hash Left Anti Semi (Not-In)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← вся t2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NOT EXISTS: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Anti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← без Broadcast t2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Куда смотреть в исходниках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xform + Motion executor.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Xform Not-In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https://github.com/apache/cloudberry/blob/main/src/backend/gporca/libgpopt/src/xforms/CXformLeftAntiSemiJoinNotIn2HashJoinNotIn.cpp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https://github.com/apache/cloudberry/blob/main/src/backend/gporca/libgpopt/src/operators/CPhysicalMotionBroadcast.cpp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deep-dives/secret18-not-in-broadcast.md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Окно по константе → сегмент-жертва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BY ключ с NDV=1 собирает всю таблицу на один сегмент.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WindowAgg требует все строки partition key вместе.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Motion … Hash Key: &lt;partition col&gt;.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бессмысленный PARTITION BY или DISTRIBUTED BY реальному ключу.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lesson03-secret14-window-partition-skew.sql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Коллапс параллелизма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Константа invalid_id = один hash = один QE.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row_number() OVER (PARTITION BY invalid_id …).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на partition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NDV=1 → victim segment, spill/workfile.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ключа? Иначе убрать PARTITION BY.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→ без Motion → rewrite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lesson03-secret14-window-partition-skew.sql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BY (id) + PARTITION BY const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invalid_id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BY (invalid_id) → Motion нет, но NDV=1 → всё равно один seg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D) без PARTITION BY → Gather +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WindowAgg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(если ключ мусор)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WindowAgg + hash-distribute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deep-dives/secret14-window-partition-skew.md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WindowAgg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https://github.com/greenplum-db/gpdb-archive/blob/main/src/backend/executor/nodeWindowAgg.c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https://github.com/apache/cloudberry/blob/main/src/backend/gporca/libgpopt/src/xforms/CXformImplementSequenceProject.cpp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https://github.com/apache/cloudberry/blob/main/src/backend/gporca/libgpopt/src/operators/CPhysicalMotionHashDistribute.cpp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secret14-window-partition-skew.md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Параметры в VALUES двигают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Красивый CTE с параметрами — едет большая таблица, не params.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WITH data_batch AS (VALUES …) JOIN fact без ключа/статы.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Lab: Gather fact→QD; prod: часто Broadcast 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WHERE/литералы; или DISTRIBUTED BY join-ключа + ANALYZE.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lesson03-secret29-values-params-broadcast.sql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Какую сторону двигает Motion?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Всегда читайте сторону Broadcast/Gather.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VALUES «параметры отчёта» ⋈ 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едет к params (Gather/Broadcast).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CE rows≈1 без ANALYZE + RANDOM dist.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Scalar WHERE или dist key + 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Gather → B local → D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lesson03-secret29-values-params-broadcast.sql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RANDOM, no ANALYZE: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→ Gather/Broadcast fact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DISTRIBUTED BY (n_txt):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fact, без Motion fact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 WHERE n_txt = '10': Filter — без join к VALUES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 IN (VALUES) ≠ IN list → ANY filter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+ CE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deep-dives/secret29-values-params-broadcast.md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https://github.com/apache/cloudberry/blob/main/src/backend/gporca/libgpopt/src/operators/CPhysicalMotionBroadcast.cpp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redistribute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https://github.com/apache/cloudberry/blob/main/src/backend/gporca/libgpopt/src/operators/CPhysicalMotionHashDistribute.cpp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selfuncs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https://github.com/greenplum-db/gpdb-archive/blob/main/src/backend/utils/adt/selfuncs.c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secret29-values-params-broadcast.md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Считаем DISTINCT по сегментам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Map count(DISTINCT) на каждом seg → SUM. Exact только при dist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COUNT(DISTINCT) на огромной AOCO — spill/timeout.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Тяжёлый Aggregate/spill; map-версия — двухфазный HashAggregate.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sum(cnt) GROUP BY gp_segment_id, если DISTINCT ⊆ DISTRIBUTED BY.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lesson03-secret42-distinct-by-segment.sql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vs overcount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D стенда — обязательный negative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COUNT(DISTINCT id) на большой AOCO.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sum(count DISTINCT) … GROUP BY gp_segment_id.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Только если id на одном seg (dist key).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Ловушка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RANDOMLY → SUM завышает.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Canonical vs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 может быть медленнее map — учим контракт exactness.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count(DISTINCT id) → Aggregate → Gather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B) sum per gp_segment_id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(seg, id) → sum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canonical = mapped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D) RANDOM: mapped &gt; canonical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 + GbAgg xform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deep-dives/secret42-distinct-by-segment.md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nodeAgg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https://github.com/greenplum-db/gpdb-archive/blob/main/src/backend/executor/nodeAgg.c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HashAgg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https://github.com/apache/cloudberry/blob/main/src/backend/gporca/libgpopt/src/xforms/CXformGbAgg2HashAgg.cpp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 только при coverage DISTINCT dist-ключом.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Autostats молчит после INSERT в 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≠ «стата появится сама» для партиций.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в top-level parent не триггерит autostats на leaves.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Каталог: leaves MISSING pg_statistic после parent 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Явный ANALYZE parent/leaves в ETL; insert в leaf — другой контракт.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lesson03-secret41-autostats-partitions.sql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Parent miss → leaf hit →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Документированное поведение GP6, не баг.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в parent партицированной таблицы.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gp_autostats_mode=on_no_stats не обновляет tree.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Autostats с leaf insert, не с parent.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в runbook ETL + проверка catalog.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шага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lesson03-secret41-autostats-partitions.sql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 = on_no_stats;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 …;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parent → MISSING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lesson03.sec41_sales_1_prt_1 …;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leaf → HAS 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lesson03.sec41_sales;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ETL policy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analyze.c + GUC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deep-dives/secret41-autostats-partitions.md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https://github.com/greenplum-db/gpdb-archive/blob/main/src/backend/utils/misc/guc.c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insert ≠ autostats; leaf insert = autostats.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gp_autostats_mode_in_functions внутри функции.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Медиана собирает все строки на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Ordered-set aggregate = полный порядок = Gather-all на QD.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percentile_disc глобально не считается локально exact.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 Motion N:1 почти всех rows → Aggregate на QD.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Exact: мириться с Gather / sample. Approx: avg(local median) при RANDOM.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lesson03-secret38-median-gather-qd.sql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Pure MPP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порядок нельзя посчитать по кускам без потерь.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percentile_disc(0.5) WITHIN GROUP (ORDER BY 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 почти всех строк на QD.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Approx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avg(local median) GROUP BY gp_segment_id.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Помечать approximate в отчётах.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Gather vs local medians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показывает классическую форму; ORCA часто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exact: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Aggregate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(все rows)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approx: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avg(percentile_disc … GROUP BY gp_segment_id)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Lab median=500; approx≈500.5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orderedsetaggs.c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deep-dives/secret38-median-gather-qd.md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Ordered-set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https://github.com/greenplum-db/gpdb-archive/blob/main/src/backend/utils/adt/orderedsetaggs.c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nodeAgg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https://github.com/greenplum-db/gpdb-archive/blob/main/src/backend/executor/nodeAgg.c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порядок = данные к одному месту.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Закрепление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Checklist, маршруты занятия, что унести.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Definition of done для rewrite.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Маршруты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 / Core 90 / Full — skip-map у ментора.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Метод + кейсы + навигация.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Справочник: кнопка ниже или «☰ Меню» → Appendix.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старт справочника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4288536" y="5925312"/>
            <a:ext cx="389534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история ORCA/Legacy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Decision checklist Senior/Principal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Definition of done для любого performance rewrite.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optimizer/mem на before и 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Hash Key + misestimate + join type + spill.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CTE/GROUP BY/cast меняют hash vs DISTRIBUTED BY?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Metrics + plan shape + residual risk.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 / Core 90 / Full — что листать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См. «Как смотреть эту презентацию» в начале. Не всё читать вслух.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~30 LIVE: проблема → plan 1–5 → sel lite → TEMP → proof. Словарь/детали — клик.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~45 LIVE: + MCV/hist (смысл), storage decision, 2 кейса (01 + 03 или 08).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учебные слайды + appendix по кнопкам. Порталы — только возврат, не урок.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Homework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Остальные кейсы + RFC evidence pack. Не жечь live-время на 01–09 подряд.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09067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GPORCA memo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85032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deep-dive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унести с собой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Метод + теория + 9 именованных кейсов оптимизации.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Симптом → profile → гипотеза → stage →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План MPP · статистика ·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CE, SCD2, NOT IN, window, VALUES, DISTINCT, autostats, median.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☰ Меню и Словарь на каждом слайде.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 / deep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Сюда ведут кнопки «→ Appendix» из core. Возврат — через портал «← Вернуться».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 после core-лекции или homework.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Содержание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ORCA/Legacy internals, stats formulas, TEMP ON COMMIT,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«→ Appendix» сначала открывает портал с «← Вернуться».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SQL demos в labs/greenplum-625/examples/lesson03-*.sql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238658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Карта appendix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2980944" y="59253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5175504" y="59253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Справочник (не для 60‑мин 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Словарь — в начале и рядом с теорией. Сюда — deep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Полный в начале + блоки «Детали» у Этапов 2–3.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Термины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Чип на слайде: наведение = tip, клик = разбор.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Здесь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History ORCA, формулы CE, ON COMMIT, полные EXPLAIN.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Портал «→ Appendix» / «Аа Словарь» с ← Вернуться.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 (Legacy vs ORCA)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4288536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 / pgsql_tmp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7068312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История двух оптимизаторов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Self-service стенд Урока 03 — Greenplum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Отдельный lab greenplum-625, чтобы демо ORCA/Legacy было воспроизводимо.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up greenplum-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greenplum-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seed greenplum-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--profile lesson03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psql greenplum-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x86_64: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GREENPLUM_625_IMAGE=andruche/greenplum: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-slim-amd64 \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python3 mentor-lab.py up greenplum-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625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Тяжёлый OLAP = данные + сеть + оценки + выбор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SQL — вход; план — контракт на CPU, IO и interconnect.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дорого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Лишний Motion, плохой join order, stale stats, spill, широкая projection.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Рычаги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optimizer on/off, ANALYZE, TEMP stages, DISTRIBUTED BY, Heap/AO/AOCO.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Greenplum оптимизирует запрос: стадии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строит план; QE исполняют slices. Ошибка на стадии Optimize = дорогая сеть.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SQL → parse tree.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views/rules → query tree.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или GPORCA →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→ gangs/slices.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QE + Motion + gather.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PHASES →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Одно дерево на все фазы (ментальная карта)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Ниже — не AST дамп, а то, что Senior должен видеть в голове при чтении 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Parse     → raw parse tree (grammar)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Rewrite   → view expand: v_* → JOIN/WHERE tree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Optimize 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memo | Legacy path tree + Motion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Dispatch  → QD режет plan на slices/gangs →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Execute   → QE: Scan/Join/Agg + Motion interconnect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slice N Gather → результат на QD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Смотрите в EXPLAIN: sliceK; segments: N + тип Motion.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Parse: SQL → parse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Грамматика + analyze. Ещё нет Motion и cost — только синтаксическая форма.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Текст SQL / prepared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Raw/parsed statement tree (SelectStmt…).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parser/: </a:t>
            </a: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https://github.com/greenplum-db/gpdb-archive/blob/main/src/backend/parser/gram.y</a:t>
            </a:r>
            <a:br/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analyze: </a:t>
            </a: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https://github.com/greenplum-db/gpdb-archive/blob/main/src/backend/parser/analyze.c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Ошибки синтаксиса живут здесь; план ещё не существует.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Rewrite: views/rules → query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v_heavy_olap_monolith разворачивается в JOIN/WHERE до Optimize.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происходит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View/rule expansion (rewriter). Subquery pull-up — planner preprocessing (prepjointree), не rewrite. Оптимизатор уже видит развёрнутый join graph, не имя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rewriteHandler.c — </a:t>
            </a:r>
            <a:r>
              <a:rPr sz="13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https://github.com/greenplum-db/gpdb-archive/blob/main/src/backend/rewrite/rewriteHandler.c</a:t>
            </a:r>
            <a:br/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стенде: \d+ lesson03.v_star_join_orca_case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OPTIMIZE = GUC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Фаза Optimize: кто строит plan — решает GUC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= Grand Unified Configuration. SET optimizer выбирает движок поиска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GUC optimizer (session / role / postgresql.conf)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optimizer;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 | 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GPORCA (Pivotal Optimizer)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Postgres-based planner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Маркер в EXPLAIN (снято с greenplum-625):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Optimizer: Pivotal Optimizer (GPORCA)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Optimizer: Postgres query optimizer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Важно: SET живёт в сессии psql; новый коннект = default.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Карта кода Greenplum 6.x: куда смотреть в gpdb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Якоря: gpdb-archive (Legacy/CDB) + apache/cloudberry (GPORCA).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planner.c + cdbpath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https://github.com/greenplum-db/gpdb-archive/blob/main/src/backend/optimizer/plan/planner.c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memo/xforms/stats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selfuncs.c / clausesel.c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https://github.com/greenplum-db/gpdb-archive/blob/main/src/backend/utils/adt/selfuncs.c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Dispatch /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cdbdisp*, execMotion*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5"/>
              </a:rPr>
              <a:t>https://github.com/greenplum-db/gpdb-archive/tree/main/src/backend/cdb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7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Postgres planner: как думает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Динамическое программирование / жадные эвристики вокруг path trees PostgreSQL + GP Motion 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path/joinpath, costsize, selfuncs + cdbpath 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Сильная сторона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Простые/средние запросы, предсказуемый fallback.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Слабость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Взрыв пространства при многих joins; слабее глобальный reorder.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Часто хорош на 2–3 joins и локальных agg.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История: зачем в Greenplum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= Postgres lineage. GPORCA = ответ на MPP/OLAP, не «вторая кнопка».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 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Greenplum на PostgreSQL planner + Motion/locus. Хорошо для короткого SQL, слабо для many-join DWH.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2010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Внутренний проект Greenplum/Pivotal: новый optimizer. Лидер направления — Florian Waas; архитектура — Soliman et 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2014 SIGMOD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A Modular Query Optimizer Architecture for Big Data — Cascades/memo, portable, tooling (AMPERE).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 4.3.5 → GP5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Появление в продукте; с Greenplum 5 GPORCA = default. Legacy остаётся fallback и SET optimizer=off.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Legacy «не хватило» для MPP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PostgreSQL planner рождался под OLTP single-node — другая целевая функция.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OLTP vs OLAP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Короткие lookup vs длинные scan/agg/window на терабайтах.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Star/snowflake: локальный join search часто даёт локальный минимум порядка joins.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Redistribute/Broadcast часто дороже CPU — нужен first-class costing распределения.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Partitions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Тысячи leaf partitions: Legacy OOM/slow; ORCA — partition-aware transforms.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Таймлайн GPORCA (четыре якоря)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2010 start → 2014 paper → 4.3.5 ship → GP5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Старт Orca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SIGMOD paper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4.3.5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продукте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gporca в git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Legacy не удалили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оптимизатора — осознанная архитектура, не техдолг «на потом».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Planning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Простой SQL: Legacy часто дешевле compile.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Feature gap ORCA → Postgres query optimizer.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Mental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selfuncs/EXPLAIN привычны PostgreSQL-инженерам.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Runtime niche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Иногда Legacy быстрее на узком классе запросов — решает EXPLAIN ANALYZE, не идеология.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GPORCA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GPORCA: memo, transformations, cost-based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Cascades-style optimizer: исследование эквивалентных планов в memo-структуре.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Groups альтернативных выражений одного logical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Xforms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Join reorder, aggregate pull-up/push-down, distribution enforcers.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Учитывает Motion/distribution как first-class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Сильная сторона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Сложные star/snowflake, много joins, CTE-heavy SQL.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ORCA обычно выигрывает, а где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религия: измеряйте EXPLAIN/EXPLAIN ANALYZE на вашем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Много joins, сложный star, partition-heavy, когда нужен глубокий reorder и distribution-aware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лучше / безопаснее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 запросы; ORCA fallback/features gaps; отладка «странного» ORCA plan; иногда ниже planning time.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Star-join: fact в центре, dims по лучам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Классическая OLAP-форма. На стенде: lesson03.fact_sales ⋈ dim_customer ⋈ dim_product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dim_date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---- fact_sales ----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dim_store (если есть)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Пример со стенда (упрощённый star; lab ещё дублирует joins):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d.category,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  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FACT (центр)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.customer_id = f.customer_id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d         </a:t>
            </a: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d.product_id = f.product_id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0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0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Признаки star-join: 1 большая fact + N маленьких dims по FK;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150"/>
              </a:lnSpc>
            </a:pPr>
            <a:r>
              <a:rPr sz="10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фильтры на fact/dim; agg по атрибутам dims.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STAR-JOIN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Альтернативы star-join и когда их брать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Star — не единственный shape. Выбор = модель данных + стоимость Motion/planning.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Snowflake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Dims разбиты (product → brand → category). Больше joins; иногда яснее модель, чаще больнее planner.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Wide / denorm 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Атрибуты dims уже в fact (region, category в строке продажи). Меньше joins, больше хранения и риска рассинхрона.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stages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сузить fact → TEMP, потом 1–2 join к dims. Контролируемый physical stage вместо одного many-join 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Меньше joins /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дубли JOIN (как c2/d2 в v_star_join_orca_case) — demo-перегруз для ORCA; в prod это anti-pattern.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простой agg (реальный EXPLAIN 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Фазы Optimize→Dispatch→Execute видны как slices + Motion. Стенд greenplum-625.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(slice2; segments: 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 Key: 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on 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Pivotal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GPORCA на простом GROUP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artifacts/lesson-03/plan-screens/explain-simple.png — снято с живого стенда.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656" y="1874519"/>
            <a:ext cx="8258688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star-join под GPORCA (сжатый readout)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SQL, что в демо. Полный скрин — следующий слайд; raw: artifacts/lesson-03/plans/orca.txt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(slice3)          -- Execute: gather to QD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-- final 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(slice2)  -- by group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keys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-- partial agg on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Pivotal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GPORCA star-join (v_star_join_orca_case)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Ищите Redistribute до/после Hash Join и маркер Optimizer: GPORCA.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o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07" y="1874519"/>
            <a:ext cx="1029218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Дерево плана: тот же SQL под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Другой join order и маркер Postgres query optimizer. Скрин — следующий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(slice2)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   -- другой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Postgres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query optimizer   -- Legacy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Legacy на том же star-join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Сравнивайте join order и положение Redistribute с предыдущим скрином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65" y="1874519"/>
            <a:ext cx="7959069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monolith (WindowAgg + multi-slice)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v_heavy_olap_monolith: несколько Redistribute + WindowAgg — типичный «дорогой» OLAP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explain-monoli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41" y="1874519"/>
            <a:ext cx="8505118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на стенде: один SQL — два оптимизатора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lesson03.v_star_join_orca_case специально перегружен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/mentor-lab/examples/lesson03-optimizer-legacy-vs-orca.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lesson03.v_star_join_orca_case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lesson03.v_star_join_orca_case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ORCA+ / LEGACY−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Кейс: ORCA выбрал иной shape (проверить на объёме)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Многоjoin star: Legacy залипает в плохом порядке → лишний Redistribute.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Большой Redistribute до фильтров/agg; странный join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Находит порядок с меньшей shuffle cost через memo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Сравнить Settings/Optimizer status и Motion bytes/rows.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путать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Выигрыш ORCA ≠ повод не делать TEMP/ANALYZE.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LEGACY+ / ORCA−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Кейс: Legacy достаточен, ORCA избыточен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Простой aggregate по dimension: planning overhead ORCA не окупается.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Здесь оба плана близки; смотрите planning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стабильность, а не «модный» optimizer=on.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минусы: Legacy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Честный trade-off для Senior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Проще ментальная модель; быстрый planning на простых SQL; зрелый fallback; легче объяснить path 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Слабее на many-join; меньше глобальных transform; чаще локально-оптимальный join order.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PROS/CONS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минусы: GPORCA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Мощный search space имеет цену.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Глубокий join reorder; distribution-aware costing; сильнее на сложном OLAP/CTE.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Дороже planning; feature gaps → fallback; сложнее debug; иногда неожиданный plan shape.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fallback и minidump — обязательная грамотность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Если ORCA не может оптимизировать, Greenplum уходит в Legacy.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Признак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EXPLAIN: Optimizer status / fallback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optimizer_minidump=onerror для диагностики.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«чините SQL вслепую» — сначала читайте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Фиксируйте optimizer setting в session/role policy.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Сквозной case: месячный OLAP по продажам и клиентам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Монолит для layered EXPLAIN + сравнения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lesson03.v_heavy_olap_monolith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rank() OVER (PARTITION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.customer_id = f.customer_id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 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d.product_id  = f.product_id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&lt; 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d.category;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Декомпозиция: сужаем → соединяем → считаем → доказываем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Каждый этап должен уменьшать cardinality или убирать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Окно и anti-test.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grain.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Узкий 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Локально где можно.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до/после.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Сложный план: слои Senior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0) Optimizer. 1) Motion. 2) Join order. 3) Estimates. 4) Scan/storage.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on/off, fallback, PQO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Redistribute/Broadcast/Gather и ключ.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rows vs actual; selectivity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pruning / AOCO projection.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rows врут — тюнинг SQL почти бессмысленен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доказать estimate vs actual, потом rewrite/optimizer.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...;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Ищем на каждом узле: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  rows=&lt;estimate&gt;  vs  actual rows=&lt;fact&gt;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Порог тревоги: x5–x10 на join/agg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Дальше: pg_stats → ANALYZE / SET STATISTICS →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только потом менять SQL shape / optimizer.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Платим сетью: цель — перенести Motion на меньший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может выбрать другой enforcer; TEMP фиксирует ваш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широкого fact; Broadcast раздутой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После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окна + ANALYZE → меньше shuffle bytes.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что влияет статистика в Greenplum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«для красоты catalog»: от rows зависят join order, Motion, mem и spill.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Join order / hash vs 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Estimate input rows решает, что строить в hash и какой dim Broadcast.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Завышенный rows → лишний Redistribute/Broadcast «на всякий случай».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 / GROUP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групп ≈ n_distinct ключей; ошибка → плохой Redistribute grain.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Memory / 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 и workfiles планируются от estimate; врёт rows → диск.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Из чего состоит статистика колонки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Human view: pg_stats. Source of truth: pg_statistic slots после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&gt;0 абсолют NDV; &lt;0 доля от rows (−1 ≈ unique). База для equality без MCV и для GROUP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+ freqs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most_common_vals / most_common_freqs. Equality/IN по частым значениям → берёт freq, не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histogram_bounds — equi-depth корзины (равная доля строк). Для range (&lt;, BETWEEN). MCV-значения из hist исключены.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null_frac /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Доля NULL; correlation физ.порядка vs logical (влияние на index/scan costing).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pg_stats со стенда: MCV vs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default_statistics_target=100 → hist_n≈101. sale_date: все в MCV → hist пуст.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pg-sta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92" y="1874519"/>
            <a:ext cx="1098781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Гистограмма: equi-depth, сколько шагов, как 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bar-chart «красивый» — массив границ корзин равной плотности строк.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default_statistics_target = 100  (GUC / SET / ALTER COLUMN SET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ANALYZE строит до ~100 MCV и ~100 histogram buckets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histogram_bounds.length ≈ target + 1  (границы), на стенде: 101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bucket_i ≈ (значения между bounds[i] и bounds[i+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каждый bucket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/target доли строк (equi-depth / equi-height)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SELECTIVITY (col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BETWEEN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lo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доля полных корзин внутри [lo,hi]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+ доля края (линейная интерполяция в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partial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bucket)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 amount: bounds {1.67, 4.33, 6.67,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sale_date: hist NULL — NDV мал, всё ушло в MCV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выглядит histogram в pg_stats (пример)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Границы — квантили non-MCV sample. MCV из hist исключены.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lo,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q1,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histogram_bounds[array_length(histogram_bounds,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)]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array_length(histogram_bounds,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'fact_sales'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'amount'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Типичный readout: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lo≈1.67  q1≈4.33  hi≈max  hist_n=101  (target=100)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stakind=2 в pg_statistic; большие arrays → TOAST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Скрин: структура histogram + физический слот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stakind=2 → stavalues = bounds array в tuple pg_statistic (возможен TOAST).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histogram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92" y="1874519"/>
            <a:ext cx="10987815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обновляется гистограмма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Hist живёт только после ANALYZE; SET STATISTICS меняет target колонки.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Sample → rebuild MCV + bounds. После bulk load / exchange — обязательно.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SET STATISTICS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ALTER COLUMN … SET STATISTICS 200; ANALYZE — больше buckets/MCV.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CREATE TEMP … AS → ANALYZE сразу, иначе оценки stage часто грубые.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Root partitions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читает stats root; забыли ANALYZE root → плохие оценки.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что влияет histogram (и на что — нет)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Главный потребитель — range predicates; equality живёт на MCV/NDV.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Влияет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&lt;, &lt;=, &gt;, &gt;=, BETWEEN → histfrac + края; косвенно join/Motion/spill.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заменяет MCV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 = frequent_value берёт most_common_freqs, не bucket density.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Коррелированные AND/OR, функции на колонках, stale sample.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ineq_histogram_selectivity в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https://github.com/greenplum-db/gpdb-archive/blob/main/src/backend/utils/adt/selfuncs.c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MCV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выглядит и когда histogram не строится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Частые значения + частоты. Если NDV ≤ target — весь столбец может быть MCV.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dim_customer.segment на стенде: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most_common_vals  = {enterprise, mid, smb, test}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most_common_freqs = {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3136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0588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n_distinct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histogram_bounds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→ sel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314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(не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→ sel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059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'unknown'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→ sel ≈ 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(mcf)) / (NDV - |MCV|)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Физика: stakind=1; stavalues=values; stanumbers=freqs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Вектор плотности в Greenplum — что это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тип каталога: MCV freqs + per-bucket density в ORCA.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MCV frequency vector (stanumbers):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density_MCV[i] = most_common_freqs[i] = P(col = mcv[i])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Σ density_MCV + residual + null_frac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ORCA CBucket density (uniform в bucket):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density_bucket = frequency /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rows_one_value ≈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× density_bucket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CBucket::MakeBucketSingleton: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ratio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m_distinct)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frequency_new = m_frequency * ratio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= density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Код: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libnaucrates/src/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/CBucket.cpp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CBucket / CHistogram — вероятностные структуры 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читает slots; ORCA материализует их в CHistogram при costing.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lower/upper, closedness, frequency∈[0,1], distinct (NDV).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CHistogram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массив buckets + NDVRemain/freqRemain + nulls.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CStatsPred*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Conj / Disj / Point / ArrayCmp — дерево предикатов stats.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scale_factor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rows_out ≈ rows_in / SF; SF ≈ 1/selectivity.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defaults и equality (из selfuncs)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DEFAULT_EQ_SEL=0.005 — когда stats нет. Иначе MCV / residual NDV.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DEFAULT_EQ_SEL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005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DEFAULT_INEQ_SEL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DEFAULT_NUM_DISTINCT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var_eq_const / eqsel: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∈ MCV:     sel = most_common_freqs[i]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иначе:                sel = 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Σmcf −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/ (NDV − |MCV|)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clamp ≤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(MCV freqs)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нет stats:            sel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NDV_est  или DEFAULT_EQ_SEL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для &lt;&gt; (negate):      sel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sel − null_frac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d/utils/adt/selfuncs.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https://github.com/greenplum-db/gpdb-archive/blob/main/src/includ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e/utils/selfuncs.h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range по histogram (ineq_histogram_selectivity)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Бинарный поиск границы + линейная интерполяция внутри bucket.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&lt; bounds[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]:  histfrac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если const &gt; bounds[n]:  histfrac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иначе:  binfrac = (scalar(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)−scalar(lo)) / (scalar(hi)−scalar(lo))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histfrac = (полные buckets + binfrac) / (n−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histfrac относится к non-MCV / non-NULL популяции;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scalarineqsel домножает residual и учитывает MCV в диапазоне.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≈ tuples × (MCV_part + residual × histfrac)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AND / OR / NOT (clausesel.c)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Модель независимости событий. Корреляция колонок — главная ловушка.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Conjunctive AND (clauselist_selectivity):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s_AND = s1 * s2 * … * sn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Disjunctive OR (clauselist_selectivity_or):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s_OR  = s1 + s2 − s1*s2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inclusion–exclusion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(итеративно для n&gt;2)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NOT P: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s_NOT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− s_P − null_adjust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для strict ops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d/optimizer/path/clausesel.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LEGACY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IN / NOT IN / ScalarArrayOp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 ≈ OR equality; NOT IN ≈ AND ≠ (+ ловушки NULL).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IN / =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scalararraysel: OR по элементам; MCV freqs суммируются с поправкой.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Семантика NULL коварна; оценка через negators. Часто лучше NOT EXISTS / anti-join.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AND по элементам массива (useOr=false).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Короткий IN из MCV → хорошая оценка; длинный IN + join → дрейф.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AND с damping (не чистое ∏ 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DDampingFactorFilter = 0.75. SF сортируются; последующие ослабляются.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DampedFilter(n)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^n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n≥2; для 1 колонки → 1.0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CalcScaleFactorCumulativeConj: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отсортировать SF по убыванию (самый селективный первый)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SF_AND = ∏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(MinRows, SFᵢ · DampedFilter(i))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rows_out ≈ rows_in / SF_AND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Следствие: ORCA менее агрессивно «убивает» 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при многих AND, чем Legacy s1*s2*…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/CScaleFactorUtils.cpp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defaults: …/libgpopt/include/gpopt/engine/CStatisticsConfig.h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OR с damped накоплением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классическое s1+s2−s1s2 — накопление с 0.75^k.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CalcScaleFactorCumulativeDisj (комментарий в коде):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≈ rows0 + rows1·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rows2·(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)^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где rowsᵢ = total_rows / SFᵢ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SF_OR = total_rows / rows_acc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Conj/Disj деревья: CStatsPredConj / CStatsPredDisj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/CFilterStatsProcessor.cpp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ORCA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equality, join,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Singleton density + NDV join formula + fallback SF.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Point equality в bucket: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SF ≈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(frequency /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NDV_bucket))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Equi-join (CBucket):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|R ⋈ S| ≈ |R|·|S| /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(NDV(R.a), NDV(S.b))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DefaultInequalityJoinPredScaleFactor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DefaultJoinPredScaleFactor          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DDefaultScaleFactorLike             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/CBucket.cpp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Сводка: один предикат — два оценщика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Одинаковые pg_statistic slots → разные комбинаторы.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Selectivity ∈ (0,1]; rows ≈ sel × child_rows.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scale_factor; rows ≈ rows_in / SF.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∏s vs ORCA damped ∏SF (0.75^n).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s1+s2−s1s2 vs ORCA damped row sum.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 ANALYZE: хорошие оценки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Простые предикаты + свежий ANALYZE → estimate ≈ actual.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tats-estimates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99" y="1874519"/>
            <a:ext cx="10332401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GOOD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Хорошие оценки: SQL-паттерны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 / NDV / range / одноколоночный GROUP 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MCV equality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sel≈0.314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NDV equality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product_id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Range по hist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amount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BETWEEN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GROUP BY 1 ключ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region;         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groups≈4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BAD 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Плохие оценки: SQL-паттерны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Корреляция, expr на колонке, multi GROUP BY — ломают модель.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Коррелированный AND (независимость врёт)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'us'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Функция — stats колонки не применяются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date_trunc(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'month'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sale_date) 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Multi GROUP BY: estimate ≈ ∏NDV, actual &lt;&lt;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segment,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segment;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GROUP BY: estimate_num_groups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Эвристики Postgres: ∏NDV + clamp + restriction; не multivariate 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estimate_num_groups (selfuncs.c), упрощённо: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boolean expr → ×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групп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свести expr к уникальным Vars (a, a+b ≈ a,b)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внутри rel: ∏ NDV, clamp к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при &gt;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× selectivity restriction clauses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между rel — перемножить; clamp к input_rows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groups(a,b) ≈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 NDV(a)*NDV(b) [clamp],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d/utils/adt/selfuncs.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GROUP BY: GetCumulativeNDVs + damping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DDampingFactorGroupBy = 0.75. NDV сортируются по убыванию.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DampedGroupBy(i)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75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^(i+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cumulative = NDV[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]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sort desc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для i=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..n-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cumulative *=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(MinDistinct, NDV[i] * DampedGroupBy(i))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groups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(cumulative, input_rows)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/libnaucrates/src/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/CStatisticsUtils.cpp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CGroupByStatsProcessor::CalcGroupByStats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DEMO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на стенде: cardinality +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labs/greenplum-625/examples/lesson03-cardinality-histogram-demo.sql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 psql на mentor / lesson03: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/mentor-lab/examples/lesson03-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cardinality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-histogram-demo.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Блоки демо: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pg_stats: MCV vs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хорошие EXPLAIN ANALYZE (MCV/NDV/range/GROUP BY)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-- 3) плохие: AND коррел., date_trunc, multi GROUP BY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-- 4) IN / OR / NOT IN — ORCA vs Legacy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-- 5) SET STATISTICS 200 → rebuild hist → rollback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 повторить с off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Комбинации AND + OR: как читать глазами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оцените атомы (MCV/hist), потом комбинатор оптимизатора.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segment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'enterprise'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'mid'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 / array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range / MCV дат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'us'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'eu'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mental math: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s_seg ≈ f_ent + f_mid − f_ent*f_mid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s_date ≈ hist/MCV range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s_reg  ≈ s_us + s_eu − s_us*s_eu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s_all  ≈ s_seg * s_date * s_reg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независимость!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ORCA: те же атомы → SF, затем damped conj/disj.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 гоняйте блок 5 демо-SQL с on/off.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COMPARE 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Cardinality estimator: ORCA vs Legacy cheat-card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Держите рядом с EXPLAIN ANALYZE на уроке.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Оба: MCV freq или residual/NDV. ORCA через CBucket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∏s. ORCA ∏(SF·0.75^i) после sort.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s1+s2−s1s2. ORCA Σ rows·0.75^k.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estimate_num_groups. ORCA damped ∏NDV.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доказывать misestimate за 3 шага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«статистика плохая» общими словами — только числа.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ANALYZE: rows vs actual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pg_stats: MCV/hist/NDV колонок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Формула: Legacy∏ / ORCA damp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Fix: ANALYZE / rewrite / TEMP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Повтор при том же optimizer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хорошая статистика всё равно врёт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не всегда stale ANALYZE — часто модель независимости и форма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Коррелированные фильтры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region='us' AND segment='enterprise' — sel≠s1·s2, если атрибуты связаны.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 /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Ошибка sel на каждом join перемножается → взрыв/схлопывание rows на Motion.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Функции на колонках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date_trunc('week', sale_date)=… — stats на sale_date не помогают напрямую.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Skew + редкие значения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Значение вне MCV при высоком skew → недооценка; hash/Broadcast ломаются.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 решения: от ANALYZE до декомпозиции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Market practice: доказать misestimate → починить вход stats → иначе physical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rows vs actual.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/ после 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SET STATISTICS N на ключ.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expr/коррел.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stage + ANALYZE.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обновлять и настраивать статистику (GP 6.25)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Контракт production: stats = часть data pipeline, не «иногда vacuum».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Больше buckets/MCV на «важной» колонке (market practice):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ALTER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ALTER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STATISTICS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200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default_statistics_target;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на стенде: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ETL/partition exchange — ANALYZE обязателен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TEMP stage: ANALYZE сразу после наполнения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GP6: нет CREATE STATISTICS; на GP7/PG10+ — multivariate NDV/MCV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Ручной vs автоматический ANALYZE в GP6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DWH-контракт = явный ANALYZE. Autostats — помощник, не нянька.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Вручную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table; после load/exchange/TEMP — в ETL обязательно.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Автомат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gp_autostats_mode: planner дописывает ANALYZE к CTAS/INSERT/COPY…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— только если статистики ещё не было.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PG-autovacuum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GP6 user DB не стройте процесс вокруг autovacuum autoanalyze.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gp_autostats_mode: какой «сервис»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cron-daemon: поведение QD/planner на изменяющих командах.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gp_autostats_mode;   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default: on_no_stats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gp_autostats_on_change_threshold;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порог для on_change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gp_autostats_mode_in_functions;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часто none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on_no_stats: CTAS/INSERT/COPY владельцем, если stats нет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on_change:   + UPDATE/DELETE, если rows &gt; threshold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none:        выключено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Docs: Updating Statistics with ANALYZE (Greenplum 6)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AUTOSTATS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смотреть last_analyze / last_autoanalyze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pg_stat_user_tables — время ручного и автоматического обновления.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last_analyze,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ручной 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last_autoanalyze,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авто путь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analyze_count,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autoanalyze_count,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n_mod_since_analyze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«насколько устарело»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pg_stat_user_tables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missing stats: gp_toolkit.gp_stats_missing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демо: lesson03-stats-analyze-lifecycle.sql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STATS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Код: Legacy selfuncs + ORCA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Рабочие ссылки: gpdb-archive (Legacy) + apache/cloudberry (GPORCA).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https://github.com/greenplum-db/gpdb-archive/blob/main/src/backend/utils/adt/selfuncs.c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https://github.com/greenplum-db/gpdb-archive/blob/main/src/backend/optimizer/path/clausesel.c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5"/>
              </a:rPr>
              <a:t>https://github.com/apache/cloudberry/blob/main/src/backend/gporca/libnaucrates/.../CBucket.h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6"/>
              </a:rPr>
              <a:t>https://github.com/apache/cloudberry/blob/main/src/backend/gporca/.../CFilterStatsProcessor.cpp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docs/.../deep-dives/pg-statistic-internals.md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AO / AOCO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GP6: appendoptimized=true — документированный alias; в catalog/legacy часто видно appendonly.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Dims, updates, staging.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Bulk append row-oriented.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Scan-heavy fact + projection.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Плохой optimizer choice / Motion / skew.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AOCO GP6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Физическая раскладка AOCO и типы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Column files + compression; text/numeric varlena; широкий payload не читается зря.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(...)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appendoptimized=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alias: appendonly=true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orientation=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compresstype=zstd,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compresslevel=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PARTITION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RANGE (sale_date) (...);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TRIO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разных «временных» механизма — не путать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CTE, TEMP TABLE и spill/workfiles живут в разных слоях стека.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CTE /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Логическая подзапросная форма. Optimizer может инлайнить — нет гарантированного physical stage, stats, DISTRIBUTED BY.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Явная relation в pg_temp_NNN. Catalog + relfilenode t_* на QE. Можно ANALYZE и задать distribution.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/ workfiles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Файлы исполнителей Sort/Hash при нехватке statement_mem. Путь: &lt;datadir&gt;/base/pgsql_tmp/pgsql_tmp_Sort_*. Не relation.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Правило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«Не было CREATE TEMP ⇒ не было диска» — ложь. Spill пишется и без TEMP TABLE.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создаётся TEMP: SQL-контракт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Lifecycle = сессия (или ON COMMIT). Другие сессии объект не видят.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tmp_stage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&lt; 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обязательный контракт в GP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tmp_stage; 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иначе оценки stage часто грубые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Варианты lifecycle: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PRESERVE ROWS;  -- default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DROP;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CREATE TEMP TABLE ... ON COMMIT DELETE ROWS;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Каталог: nspname = pg_temp_&lt;backend&gt;, relpersistence = 't'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 пользователя: границы и 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Сессия = одно живое соединение клиента с QD. Не путать с транзакцией.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psql/JDBC подключился → backend на master. Пока TCP жив — живёт pg_temp_NNN.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Транзакция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BEGIN…COMMIT внутри сессии. Их может быть много подряд.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Чужая сессия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Другой psql не видит ваш TEMP. Это не «общая» таблица.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Конец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\q / disconnect / terminate_backend → TEMP уничтожены.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узнать «кто я» в сессии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якоря: pid, my_temp_schema, строка в pg_stat_activity.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pg_backend_pid()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backend_pid,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pg_my_temp_schema()::regnamespace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my_temp;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pid, usename, application_name,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state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pg_stat_activity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pid = pg_backend_pid();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ON COMMIT: три режима TEMP (сводка)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= PRESERVE ROWS. DROP/DELETE ROWS — транзакционный контракт.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 и строки остаются. Умирает в конце сессии.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 есть, строк 0. Каркас на сессию.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таблицы нет. TEMP «на одну транзакцию».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Если CREATE в той же txn — TEMP как будто не создавали.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 ROWS: сессионный stage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Паттерн урока: сузили → COMMIT → дальше join/window в той же сессии.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amount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PRESERVE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tmp_preserve;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живёт после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другой psql: to_regclass('tmp_preserve') → NULL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 vs DROP — примеры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DELETE ROWS чистит данные; DROP убивает relation на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DELETE ROWS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tmp_del(id int) 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DELETE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ROWS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tmp_del;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-- 0, таблица есть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DROP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BEGIN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tmp_drop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x 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(x)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DROP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COMMIT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to_regclass(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'tmp_drop'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);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NULL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ON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TEMP удаляется — чеклист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COMMIT / DROP / disconnect — разные события.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COMMIT + PRESERVE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удаляет. Можно переиспользовать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COMMIT +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Relation исчезает сразу.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Явно убрали в любой момент сессии.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Конец сессии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\q / idle timeout / kill backend → весь pg_temp_NNN cleanup.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посмотреть TEMP в каталоге Greenplum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pg_temp_NNN + relpersistence='t' + filepath t_*.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pg_my_temp_schema()::regnamespace;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n.nspname,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.relpersistence,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pg_relation_filepath(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filepath,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pg_size_pretty(pg_total_relation_size(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pg_class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pg_namespace 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pg_my_temp_schema()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Демо: lesson03-temp-on-commit-lifecycle.sql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живёт TEMP в Greenplum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отдельный tempdb: та же БД, временный schema, данные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pg_temp_NNN (+ pg_toast_temp_NNN). Session-local; после disconnect schema исчезает.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Обычные pg_class/pg_attribute во временном namespace. relpersistence='t', filepath base/&lt;dboid&gt;/t_&lt;relfilenode&gt;.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vs QE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координирует DDL/план. Данные TEMP на QE; на стенде QD-side файл часто 0 bytes (lab observation, не универсальный контракт).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— распределённая таблица. Неверный DISTRIBUTED BY ⇒ лишний Redistribute на следующем join.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FS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Файловая карта: TEMP relation vs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Снято с greenplum-625: два разных каталога под /data/*/gpsne*/base/.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(явная relation)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/data1/gpsne0/base/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  #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MB на seg0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/data2/gpsne1/base/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  #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MB на seg1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/master/gpsne-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   #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bytes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this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(QD-side)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pg_relation_filepath → 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12812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/t_16465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nspname = pg_temp_787, relpersistence = 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Prod: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check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temp_tablespaces / pg_relation_filepath()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Spill / workfiles (исполнитель Sort/Hash)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/data1/gpsne0/base/pgsql_tmp/pgsql_tmp_Sort_1_&lt;pid&gt;.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/data2/gpsne1/base/pgsql_tmp/pgsql_tmp_Sort_1_&lt;pid&gt;.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# растут во время query, удаляются после завершения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FS: TEMP relfilenode t_* на сегментах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CREATE TEMP … AS SELECT … DISTRIBUTED BY — данные на QE, не в pgsql_tmp.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temp-relfilenode-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38" y="1874519"/>
            <a:ext cx="6441724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Код gpdb-archive: TEMP и workfiles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Рабочие ссылки (ветка 6X_STABLE на github.com/greenplum-db/gpdb часто 404).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catalog/namespace.c — InitTempTableNamespace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https://github.com/greenplum-db/gpdb-archive/blob/main/src/backend/catalog/namespace.c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relfilenode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storage/smgr + heapam; temp prefix t_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https://github.com/greenplum-db/gpdb-archive/tree/main/src/backend/storage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Workfile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utils/workfile_manager/</a:t>
            </a:r>
            <a:br/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https://github.com/greenplum-db/gpdb-archive/tree/main/src/backend/utils/workfile_manager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памяти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 / max_statement_mem, gp_workfile_limit_*, gp_workfile_compression.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deep-dive: когда executor пишет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 statement_mem (на GP6 work_mem deprecated). Маркер в EXPLAIN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Демо со стенда (ужать память → external sort):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off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statement_mem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'8MB'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amount, sale_date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tmp_spill_fuel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~1M rows amplified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amount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customer_id, product_id, sale_date;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Факт с greenplum-625: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Sort Method: external merge  Disk: 34592kB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Memory used: 8192kB   Memory wanted: 58688kB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FS: pgsql_tmp_Sort_1_*.0 рос 0.4MB → 17MB на сегмент, потом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cleanup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FS: рост spill-файлов pgsql_tmp_Sort_*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Поллинг во время EXPLAIN ANALYZE: bytes на seg0/seg1 растут, после query → cleanup.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pill-pgsql_tmp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389" y="1874519"/>
            <a:ext cx="5093221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Скрин EXPLAIN: external merge Disk = 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Связка план ↔ файлы: Disk: NNkB в EXPLAIN = pgsql_tmp_Sort_* на сегментах.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pic>
        <p:nvPicPr>
          <p:cNvPr id="9" name="Picture 8" descr="spill-explain-external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" y="1874519"/>
            <a:ext cx="9486902" cy="3794761"/>
          </a:xfrm>
          <a:prstGeom prst="rect">
            <a:avLst/>
          </a:prstGeom>
        </p:spPr>
      </p:pic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 и минусы TEMP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— инструмент, не бесплатный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Фиксирует grain; свой DISTRIBUTED BY; ANALYZE → честный следующий plan; можно переиспользовать в сессии; проще доказать before/after; отделяет дорогой фильтр от join/window.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Двойной IO (write+read); место на дисках всех сегментов; catalog/planning overhead; риск устаревших данных в сессии; без фильтра = дорогой materialize всего fact.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TEMP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TEMP хорошо / когда 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Критерий: stage уменьшает cardinality/Motion cost больше, чем стоит materialize.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Хорошо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Узкое окно дат + anti-test; grain под следующий join key; повторное использование stage в сессии; стабилизация плана после ANALYZE; разрез монолита на доказуемые шаги.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= весь fact без фильтра; забыли ANALYZE; DISTRIBUTED BY не под join; десятки мелких TEMP; вместо фикса stats/skew; CTE «для красоты» без physical need; игнор spill (диск растёт без CREATE TEMP).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Паттерн rewrite + проверка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при фиксированном SET optimizer (GUC сессии) + FS sanity.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зафиксировали GUC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tmp_sales_feb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customer_id, product_id, 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sale_date &lt; 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tmp_sales_feb;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EXPLAIN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Evidence pack: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-- 1) before/after EXPLAIN (тот же optimizer)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-- 2) pg_relation_filepath / размер TEMP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-- 3) при spill: Sort Method external merge + pgsql_tmp_Sort_*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SIMPLE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60 минут на GP 6.25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Glossary → case → optimizer → EXPLAIN trees → stats → TEMP → proof.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Glossary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GUC/QD/QE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 vs 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скрины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DEEP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 Principal: internals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memo/xforms, pg_statistic slots, AOCO files, TEMP spill, design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fallback, minidump, join_order GUCs.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catalog heap pages → tuple → TOAST.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appendonly column layout.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rewrite + optimizer policy.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SCD2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SCD2 CTE — Redistribute при «согласованном»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Greenplum Secrets #19 spirit · lesson03-principal-scd2-locus.sql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(biz_key, version_id)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biz_key,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max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(version_id) …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biz_key)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(biz_key, version_id)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Senior: ключи совпали → Motion не нужен.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Principal: hash(biz_key, version_id) ≠ hash(biz_key).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План: Redistribute … Hash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biz_key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TEMP latest keys недостаточен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B vs C в стендовом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Aggregate locus ок; fact всё ещё composite → Redistribute 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Model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(biz_key) под SCD2 latest pattern → local join.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Skew по горячим biz_key; иногда snapshot current-state.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principal-scd2-locus-redistribute.md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PRINCIPAL · INT/INT8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Бонус эрудиции: int ⋈ int8 → Redistribute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Secrets #22 · cast в Hash Cond меняет hash.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t_int  (id int)   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t_int8 (id int8)  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a.id = b.id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Hash Cond: (t_int8.id = (t_int.id)::bigint)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Redistribute … Hash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(t_int.id)::bigint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Имена колонок совпали. Типы — нет. Motion есть.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SECRETS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акта из канала → три класса Motion-багов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#18 оператор SQL · #14 window locus · #29 params CTE/CE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#18 NOT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inner; фикс NOT EXISTS / LEFT anti.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#14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на partition key; константа = victim.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#29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едет к params (Broadcast/Gather).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Что→Как в EXPLAIN→Почему (код)→Фикс+proof.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IN: идея анти-join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мешка номеров на сегментах. Нужны «сироты» из t1.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Интуиция OLTP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«Анти-фильтр, локально по ключу» — часто ложь в MPP.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Реальность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Not-In Join + тираж всей t2 (Broadcast) на каждый QE.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NULL в inner → NOT IN даёт UNKNOWN → 0 строк. NOT EXISTS — нет.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Эквивалент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NULL: NOT EXISTS ≈ LEFT JOIN IS NULL (следите за дублями).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Rewrite: NOT IN → NOT EXISTS → LEFT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Стенд lesson03-secret18-not-in-broadcast.sql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BAD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GOOD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EXISTS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 t2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t2.n = t1.n);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ALSO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lesson03.sec18_t1 t1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lesson03.sec18_t2 t2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t1.n = t2.n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t2.n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xform LeftAntiSemiJoinNotIn → HashJoinNotIn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Именно Not-In путь открывает Broadcast-friendly physical 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Xform: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bgpopt/src/xforms/CXformLeftAntiSemiJoinNotIn2HashJoinNotIn.cpp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Broadcast physical: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bgpopt/src/operators/CPhysicalMotionBroadcast.cpp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Executor Motion: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Legacy join paths: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ptimizer/path/joinpath.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#18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 синтаксиса к модели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IS NOT 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join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EXCEPT 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первым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Window: PARTITION BY и коллапс параллелизма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BY = ключ распределения строк. Константа → один сегмент-жертва.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WindowAgg локален: весь partition key должен быть на сегменте.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Иначе Redistribute Hash Key = partition columns.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Константа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hash(const) → один victim segment; млрд строк съезжают туда.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workfile per query size limit / гигантский spill на одном seg.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Стендовый паттерн: constant invalid_id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lesson03-secret14-window-partition-skew.sql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lesson03.sec14_foo (…)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insert: invalid_id = 42 для всех строк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row_number() OVER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PARTITION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invalid_id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version_id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…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lesson03.sec14_foo;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REAL FIX when key is junk: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row_number() OVER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version_id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id)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nodeWindowAgg + CPhysicalMotionHashDistribute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Планировщик обеспечивает locus; executor только считает.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xecutor/nodeWindowAgg.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bgpopt/src/xforms/CXformImplementSequenceProject.cpp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bgpopt/src/operators/CPhysicalMotionHashDistribute.cpp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db/cdbmutate.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#14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 PARTITION BY, потом physical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нужен ли PB?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NDV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pre-stage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Mem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последним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FINGER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Параметры отчёта: красиво ≠ дёшево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VALUES join к fact — «произведение искусства» с ценой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Интуиция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Одна строка params разъедется / останется локальной.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Едет fact: Broadcast (prod) или Gather→QD (lab 2-seg).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ANALYZE fact rows≈1 → cost model врёт.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Hardcode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col = … / IN list часто на порядок дешевле join к VALUES.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VALUES CTE vs scalar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lesson03-secret29-values-params-broadcast.sql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data_batch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VALUES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'10'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'2024-01-01'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::date, 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t(rn, mdm_id, report_dt, 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lesson03.sec29_fact s0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data_batch 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b.mdm_id = s0.n_txt;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Prefer: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lesson03.sec29_fact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n_txt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'10'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режима fact: Gather / local / Redistribute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SQL params — три physical stories.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RANDOM no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Gather/Broadcast fact (CE trap).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DISTRIBUTED BY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Local Hash Join на сегментах.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RANDOM +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fact по join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 IN VALUES vs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Join+Motion vs Filter ANY.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 / HashDistribute / selfuncs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Смотрите сторону Motion + оценку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bgpopt/src/operators/CPhysicalMotionBroadcast.cpp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https://github.com/apache/cloudberry/blob/main/src/backend/gporca/li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bgpopt/src/operators/CPhysicalMotionHashDistribute.cpp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tils/adt/selfuncs.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5"/>
              </a:rPr>
              <a:t>https://github.com/greenplum-db/gpdb-archive/blob/main/src/backend/o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ptimizer/plan/planner.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#29 FIX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Лестница исправления #29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 синтаксиса параметров к distribution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 Literal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WHERE/IN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 Dist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BY join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params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side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SECRETS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Единый Principal checklist для #18/#14/#29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Перед тем как трогать statement_mem.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Оператор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IN? VALUES CTE? Window PARTITION BY?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Какая таблица в Broadcast/Redistribute/Gather?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Key / 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Совпадает с DISTRIBUTED BY? NDV≈1?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optimizer + EXCEPT ALL + metrics.md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ABC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Principal A/B/C: DISTINCT / autostats /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#42 exact map · #41 ETL stats lie · #38 Gather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#42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Shard DISTINCT when dist key covers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#41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INSERT ≠ autostats on partitions.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#38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Global percentile Gather-all; local≈ if RANDOM.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Что→EXPLAIN→почему (код/док)→фикс+proof.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 EXACTNESS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SUM(local DISTINCT) врёт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D стенда — обязательный negative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(id)</a:t>
            </a:r>
            <a:br/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count(DISTINCT id)</a:t>
            </a:r>
            <a:br/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= sum per gp_segment_id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RANDOMLY</a:t>
            </a:r>
            <a:br/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rewrite</a:t>
            </a:r>
            <a:br/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→ overcount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Rewrite DISTINCT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lesson03-secret42-distinct-by-segment.sql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BAD / heavy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id)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lesson03.sec42_ids;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GOOD when DISTRIBUTED BY (id)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(cnt)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gp_segment_id,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DISTINCT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id)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lesson03.sec42_ids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B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Цитата поведения autostats на partitions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баг — контракт Greenplum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into top-level parent → autostats NOT triggered.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directly into leaf → autostats triggered.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/ on_change / none — всё равно parent-правило.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after load — definition of done.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B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смотреть в каталоге после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Leaves, не только parent relname.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.relname, s.last_analyze, s.last_autoanalyze,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st.starelid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THEN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'MISSING'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'HAS pg_statistic'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pg_class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pg_namespace 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n.oid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pg_stat_all_tables 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s.relid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LEFT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pg_statistic 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st.starelid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.oid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st.staattnum =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n.nspname =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.relname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LIKE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'sec41_sales%'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медиана ломает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Нужен total order ⇒ один locus.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seg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rows→QD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мастере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Approx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local p50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vs approximate median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lesson03-secret38-median-gather-qd.sql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Exact (Gather-all)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percentile_disc(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WITHIN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lesson03.sec38_nums;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Approx (RANDOM shards)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avg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(median)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percentile_disc(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WITHIN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n)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median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lesson03.sec38_nums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gp_segment_id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C CODE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orderedsetaggs + nodeAgg +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Кликабельные URL в PPTX.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2"/>
              </a:rPr>
              <a:t>https://github.com/greenplum-db/gpdb-archive/blob/main/src/backend/u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tils/adt/orderedsetaggs.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xecutor/nodeAgg.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https://github.com/greenplum-db/gpdb-archive/blob/main/src/backend/e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xecutor/nodeMotion.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  <a:hlinkClick r:id="rId4"/>
              </a:rPr>
              <a:t>https://github.com/greenplum-db/gpdb-archive/blob/main/src/backend/c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ommands/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APPENDIX · ABC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Principal checklist A+B+C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Перед тем как трогать statement_mem.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 key covers? Proof + RANDOM negative?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 Autostats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vs leaf insert? Explicit ANALYZE?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 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 Gather vs labeled approx?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+ metrics.md + EXCEPT/tolerance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унести с Урока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Оптимизация Greenplum — это pipeline + два optimizer + физика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= Postgres; ORCA с ~2010, SIGMOD’14, default с GP5.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Stats / CE /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IN; VALUES; DISTINCT map; autostats×partitions; median Gather.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SCD2 CTE + Window PARTITION BY + int/int8: читайте Hash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Доказательство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EXPLAIN ANALYZE + before/after при том же optimizer.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Служебные слайды возврата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листать вручную — сюда ведут «Аа Словарь» и «→ Appendix».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 каждого слайда урока — свой портал с «← Вернуться».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«→ Appendix» тоже через портал с возвратом.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Полный словарь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9 слайдов в начале презентации — из портала или оглавления.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Google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Явные ссылки на слайды — возврат не зависит от истории просмотра.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«Проблема: тяжёлый OLAP».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«Симптом: месячный OLAP «горит» по времени».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«Архитектура данных кейса».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«Исходный SQL (monolith)».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«Baseline: три симптома на плане».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как читать distributed-план».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«Тяжёлый OLAP = данные + сеть + оценки +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«QD / QE / slice / Motion — в контексте плана».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«Алгоритм чтения EXPLAIN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«Алгоритм чтения EXPLAIN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«90 секунд: где первая причина плохого плана?».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«Форма дерева (baseline)».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едут данные (Motion)».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ошиблась cardinality».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«Память и диск».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«Bottleneck на этом плане».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vs Legacy: осторожные формулировки».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статистика и selectivity».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«Цепочка: от EXPLAIN к числам в каталоге».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«Equality: MCV или 1/NDV».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«Range: histfrac по equi-depth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«Стенд: MCV vs histogram в pg_stats».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AND: произведение selectivities».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AND: scale factors + damping 0.75ⁿ».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«Шпаргалка формул selectivity».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обновлять статистику».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«Статистика — не отдельный «stats file»».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свежий ANALYZE не спасает».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физика хранения».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«Физика хранения: зачем она в тюнинге».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«Heap page anatomy».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«AO row: blocks, aoseg, visimap».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«AOCO: column streams × segno».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«Типы данных: физика → следствие».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«Storage decision для кейса».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«Практика: чиним сквозной OLAP».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CTE ≠ physical stage».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«TEMP: session boundary + ON COMMIT».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«Декомпозиция OLAP-кейса: TEMP stages».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«TEMP files vs spill files».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«Цена materialization».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«After: форма плана на TEMP stage».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«Before / after (warm median, lab)».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«Доказательство эквивалентности».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«Кейсы оптимизации».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недооценил строки → Nested Loop».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«Стендовый запрос (ORCA)».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«Плохой план и после TEMP».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EXISTS → Nested Loop Semi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«Плохой план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«CE trap → TEMP, не «просто сменить optimizer»».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«SCD2: Redistribute при «согласованном»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«Иллюзия co-location».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 → B → C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«NOT IN раздувает Broadcast».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 → фикс».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«Broadcast vs Hash Anti».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«Куда смотреть в исходниках».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«Окно по константе → сегмент-жертва».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«Коллапс параллелизма».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«Redistribute → без Motion → rewrite».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«WindowAgg + hash-distribute».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«Параметры в VALUES двигают fact».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«Какую сторону двигает Motion?».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 Gather → B local → D filter».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«Motion + CE defaults».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«Считаем DISTINCT по сегментам».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«Exact vs overcount».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«Canonical vs map».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«Agg + GbAgg xform».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«Autostats молчит после INSERT в parent».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«Parent miss → leaf hit →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«Три шага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«analyze.c + GUC».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«Медиана собирает все строки на мастер».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«Pure MPP theory».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«Exact Gather vs local medians».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«orderedsetaggs.c».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«Закрепление».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«Decision checklist Senior/Principal».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«Core 60 / Core 90 / Full — что листать».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унести с собой».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«Self-service стенд Урока 03 — Greenplum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«Тяжёлый OLAP = данные + сеть + оценки + выбор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Greenplum оптимизирует запрос: стадии».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«Одно дерево на все фазы (ментальная карта)».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Parse: SQL → parse tree».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Rewrite: views/rules → query tree».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«Фаза Optimize: кто строит plan — решает GUC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«Карта кода Greenplum 6.x: куда смотреть в gpdb».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Postgres planner: как думает».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«История: зачем в Greenplum два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Legacy «не хватило» для MPP analytics».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«Таймлайн GPORCA (четыре якоря)».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Legacy не удалили».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«GPORCA: memo, transformations, cost-based search».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ORCA обычно выигрывает, а где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«Star-join: fact в центре, dims по лучам».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«Альтернативы star-join и когда их брать».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простой agg (реальный EXPLAIN GP 6.25)».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GPORCA на простом GROUP BY».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star-join под GPORCA (сжатый readout)».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GPORCA star-join (v_star_join_orca_case)».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«Дерево плана: тот же SQL под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Legacy на том же star-join».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monolith (WindowAgg + multi-slice)».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«Демо на стенде: один SQL — два оптимизатора».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«Кейс: ORCA выбрал иной shape (проверить на объёме)».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«Кейс: Legacy достаточен, ORCA избыточен».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минусы: Legacy planner».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минусы: GPORCA».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fallback и minidump — обязательная грамотность».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«Сквозной case: месячный OLAP по продажам и клиентам».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«Декомпозиция: сужаем → соединяем → считаем → доказываем».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«Сложный план: слои Senior readout».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«Если rows врут — тюнинг SQL почти бессмысленен».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«Платим сетью: цель — перенести Motion на меньший set».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«На что влияет статистика в Greenplum».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«Из чего состоит статистика колонки».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pg_stats со стенда: MCV vs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«Гистограмма: equi-depth, сколько шагов, как читать».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выглядит histogram в pg_stats (пример)».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«Скрин: структура histogram + физический слот».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обновляется гистограмма».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«На что влияет histogram (и на что — нет)».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«MCV: как выглядит и когда histogram не строится».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«Вектор плотности в Greenplum — что это».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«CBucket / CHistogram — вероятностные структуры ORCA».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defaults и equality (из selfuncs)».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range по histogram (ineq_histogram_selectivity)».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AND / OR / NOT (clausesel.c)».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IN / NOT IN / ScalarArrayOp».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AND с damping (не чистое ∏ s)».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OR с damped накоплением rows».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«ORCA: equality, join, defaults».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«Сводка: один предикат — два оценщика».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 ANALYZE: хорошие оценки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«Хорошие оценки: SQL-паттерны».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«Плохие оценки: SQL-паттерны».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GROUP BY: estimate_num_groups».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GROUP BY: GetCumulativeNDVs + damping».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«Демо на стенде: cardinality +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«Комбинации AND + OR: как читать глазами».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«Cardinality estimator: ORCA vs Legacy cheat-card».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доказывать misestimate за 3 шага».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хорошая статистика всё равно врёт».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«Путь решения: от ANALYZE до декомпозиции».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обновлять и настраивать статистику (GP 6.25)».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«Ручной vs автоматический ANALYZE в GP6».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«gp_autostats_mode: какой «сервис» отвечает».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смотреть last_analyze / last_autoanalyze».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«Код: Legacy selfuncs + ORCA statistics».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«Heap / AO / AOCO на GP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«Физическая раскладка AOCO и типы данных».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«Три разных «временных» механизма — не путать».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создаётся TEMP: SQL-контракт сессии».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«Сессия пользователя: границы и TEMP».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узнать «кто я» в сессии».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«ON COMMIT: три режима TEMP (сводка)».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«PRESERVE ROWS: сессионный stage (default)».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«DELETE ROWS vs DROP — примеры».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TEMP удаляется — чеклист».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посмотреть TEMP в каталоге Greenplum».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живёт TEMP в Greenplum MPP».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«Файловая карта: TEMP relation vs spill».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FS: TEMP relfilenode t_* на сегментах».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«Код gpdb-archive: TEMP и workfiles».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«Spill deep-dive: когда executor пишет pgsql_tmp».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FS: рост spill-файлов pgsql_tmp_Sort_*».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«Скрин EXPLAIN: external merge Disk = spill».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«Плюсы и минусы TEMP TABLE».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TEMP хорошо / когда плохо».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«Паттерн rewrite + проверка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«60 минут на GP 6.25».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«Deep-dive Principal: internals end-to-end».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«Appendix: SCD2 CTE — Redistribute при «согласованном»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TEMP latest keys недостаточен».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«Бонус эрудиции: int ⋈ int8 → Redistribute».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унести с Урока 03».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Начать Core 60 (Проблема)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Начать Core 60 (Проблема)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(по желанию)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99008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Словарь (по желанию)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Оглавление этапов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502920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Оглавление этапов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spill /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«Память и диск».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equality / MCV (selfuncs)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«Equality: MCV или 1/NDV».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(selfuncs)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anatomy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«Equality: MCV или 1/NDV».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histogram equi-depth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«Range: histfrac по equi-depth histogram».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995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histogram equi-depth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range / histfrac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«Range: histfrac по equi-depth histogram».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AND/OR/NOT + clausesel.c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«Legacy AND: произведение selectivities».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5029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AND/OR/NOT + clausesel.c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equality / MCV формулы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«Legacy AND: произведение selectivities».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19709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формулы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ORCA AND + damping 0.75ⁿ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«ORCA AND: scale factors + damping 0.75ⁿ».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ORCA AND + damping 0.75ⁿ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сводка CE Legacy vs 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«ORCA AND: scale factors + damping 0.75ⁿ».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сводка CE Legacy vs ORCA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AND/OR (clausesel)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 (clausesel)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range / histfrac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anatomy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старт справочника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«Закрепление».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старт справочника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история ORCA/Legacy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«Закрепление».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89534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история ORCA/Legacy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GPORCA memo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«Core 60 / Core 90 / Full — что листать».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09067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GPORCA memo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spill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«Core 60 / Core 90 / Full — что листать».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deep-dive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Карта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«Appendix / deep reference».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238658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Карта appendix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«Appendix / deep reference».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«Appendix / deep reference».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21031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CE (Legacy vs 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Формулы CE (Legacy vs ORCA)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/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История двух оптимизаторов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«Справочник (не для 60‑мин lite)».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История двух оптимизаторов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