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ТЕОРИЯ GREENPLUM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Greenplum MPP: мышление дата инженера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Первый урок: от системной карты до skew, Motion, storage и доказательного RCA.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01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Маршрут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минут: теория -&gt; SQL practice -&gt; incident -&gt; capstone.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Главный навык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Думать не только запросом, но и физикой размещения данных.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Фокус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Coordinator, segments, interconnect, distribution, EXPLAIN.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КАРТА СИСТЕМ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SMP, MPP, EPP: где живет узкое место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SMP / Shared-disk / MPP / EPP дают разные компромиссы по простоте, масштабу и цене сети.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02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Один большой сервер, общая память/storage. Простота, но вертикальный потолок.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71032" y="2212848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35624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53912" y="2532888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Shared-disk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53912" y="29260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Несколько compute-узлов, общее хранилище. Единые данные, но storage contention.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" y="3739896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22776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MPP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31596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Shared-nothing: сегменты хранят свои данные и параллельно исполняют запросы.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71032" y="3602736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35624" y="3739896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3922776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EPP / cloud elastic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53912" y="431596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Compute и storage часто масштабируются независимо; цена и shuffle требуют контроля.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ПОЗИЦИОНИРОВАНИЕ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Greenplum vs sharded PostgreSQL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Greenplum не sharded PostgreSQL: это MPP engine с единым SQL endpoint и distributed executor.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03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Sharded PostgreSQL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Routing/fan-out часто живет во внешнем слое или в приложении; cross-shard join становится задачей системы вокруг БД.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Greenplum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QD строит distributed plan, QE исполняют slices, Motion виден в EXPLAIN как часть плана.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Практический вывод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Мы проектируем distribution, storage и bulk I/O как часть модели данных, а не как приложение сверху.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ТОПОЛОГИЯ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Greenplum shared-nothing topology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Coordinator принимает SQL, segments держат data plane, interconnect переносит строки между QE.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04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Coordinator / master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Подключения, metadata, planning, dispatch, final gather.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Primary / mirror segments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Локальное хранение и локальное исполнение. Mirror нужен для HA.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Interconnect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Сеть становится частью query plan: Gather, Broadcast, Redistribute Motion.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НОВИЧКУ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Master / coordinator простыми словами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 - диспетчер и точка входа, но не место, через которое должны течь все большие данные.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05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делает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Парсит SQL, смотрит metadata, строит план, отправляет работу сегментам, возвращает результат клиенту.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Почему узкое место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Слишком много подключений, metadata work, planning, dispatch или final gather создают очередь на coordinator.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Правило урока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Control plane через master; большие scans/joins/load должны максимально оставаться на segments.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АНАЛОГИЯ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QD / QE / gang / slices: простая аналогия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QD - диспетчер смены; QE - исполнители; gang - команда; slice - участок работы.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06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Dispatcher на coordinator: решает, что делать и кому отправить.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71032" y="2212848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35624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53912" y="2532888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53912" y="29260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Query Executor на segment: исполняет свою часть плана над локальными данными.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" y="3739896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22776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gang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31596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Набор QE-процессов, которые синхронно исполняют slice на сегментах.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71032" y="3602736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35624" y="3739896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3922776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slice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53912" y="431596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Фрагмент distributed plan; часто граница проходит около Motion.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DIVE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QD/QE dispatch deep dive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режется на slices; slice исполняется gang-процессами; QueryDispatchDesc создается на QD и уезжает на QE.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07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важно новичку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Не нужно читать C-код в первый час; важно понимать, что distributed plan - нативная часть Greenplum.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Где глубина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anchors: cdbdisp_query.c, execUtils.c, nodeMotion.c.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5376672"/>
            <a:ext cx="109728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" y="55046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</a:rPr>
              <a:t>SQL / CLI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58952" y="5715000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QD: parse -&gt; rewrite -&gt; optimize -&gt; slice table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QD: allocate gang -&gt; build QueryDispatchDesc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QD -&gt; QE: dispatch MPPEXEC payload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QE: receive plan fragment -&gt; execute slice -&gt; send tuples via Motion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INTERCONNECT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Interconnect и Motion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 - оператор движения строк между QE. Это не всегда ошибка, но всегда физическая цена.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08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Gather Motion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Собрать результат на coordinator или consumer slice.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Broadcast Motion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Разослать маленькую сторону join всем segments.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Redistribute Motion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Переразложить строки по hash ключу для join/aggregate.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BULK I/O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Bulk I/O paths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Для больших загрузок держим master в control plane и даем segments читать/писать параллельно.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09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COPY через client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Просто для малых объемов, но поток легко становится центральной трубой.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gpfdist external table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Segments читают файлы параллельно как HTTP clients; throughput растет вместе с segments.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Production habit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Для bulk load заранее думай про parallel path, формат, compression, network и error handling.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STORAGE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Heap vs AO row vs AOCO: концепт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Heap vs AO row vs AOCO - выбор под workload, scan pattern и частоту изменений.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10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storage по умолчанию, удобен для small/mutable tables.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AO row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Append-optimized row storage для append-heavy аналитики, когда читаем много колонок.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AOCO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Append-optimized column storage: column pruning и compression для широких фактов.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RUNNABLE DDL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Heap vs AOCO: runnable DDL + catalog checks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Демо живет в labs/greenplum/examples/storage-and-partitioning.sql.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11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Проверяем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Heap/AO/AOCO видны через psql \d+ и catalog checks.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Не путаем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Storage ускоряет scan/compression, но не заменяет distribution key.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5376672"/>
            <a:ext cx="109728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" y="55046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</a:rPr>
              <a:t>SQL / CLI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58952" y="5715000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CREATE TABLE lesson01.storage_aoco_demo (...)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WITH (appendoptimized=true, orientation=column, compresstype=zstd, compresslevel=1)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DISTRIBUTED BY (customer_id);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\d+ lesson01.storage_aoco_demo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SELECT relname, relstorage FROM pg_class WHERE relname LIKE 'storage_%_demo';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Columnstore defaults: table / database / role / instance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Columnstore включается явно; defaults помогают стандарту, но требуют дисциплины.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12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Table level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WITH (appendoptimized=true, orientation=column, compresstype=zstd, compresslevel=1).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Column level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amount numeric(12,2) ENCODING (compresstype=zstd, compresslevel=3).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Admin note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Instance-level gpconfig показываем как production/admin snippet, не выполняем без необходимости.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376672"/>
            <a:ext cx="109728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" y="55046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</a:rPr>
              <a:t>SQL / CLI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58952" y="5715000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ALTER DATABASE mentor SET gp_default_storage_options =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'appendoptimized=true, orientation=column, compresstype=zstd, compresslevel=1';</a:t>
            </a:r>
            <a:endParaRPr lang="en-US" sz="820" dirty="0"/>
          </a:p>
          <a:p>
            <a:pPr indent="0" marL="0">
              <a:buNone/>
            </a:pP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gpconfig -c gp_default_storage_options \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-v "'appendoptimized=true, orientation=column, compresstype=zstd, compresslevel=1'"</a:t>
            </a:r>
            <a:endParaRPr lang="en-US" sz="8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key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Ключ распределения решает, где физически лежит строка и какие joins станут локальными.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13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Хороший ключ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Высокая cardinality, равномерность, совпадение с частым join key.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Плохой ключ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Низкая cardinality, skew, один segment делает почти всю работу.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Не то же самое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 key не равен primary key и не равен partition key.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SKEW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Skew через gp_segment_id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gp_segment_id превращает догадки про распределение в измеримое evidence.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14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Симптом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Один segment получил непропорционально много строк.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Причина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Часто низкая cardinality distribution key: status, region, flag.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Фикс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Распределить большой fact по высококардинальному join key.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376672"/>
            <a:ext cx="109728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" y="55046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</a:rPr>
              <a:t>SQL / CLI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58952" y="5715000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SELECT gp_segment_id, count(*) AS rows_count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FROM lesson01.fact_sales_bad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GROUP BY gp_segment_id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ORDER BY gp_segment_id;</a:t>
            </a:r>
            <a:endParaRPr lang="en-US" sz="8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PLAN READING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EXPLAIN и Motion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Первый взгляд новичка в Greenplum-плане: где данные едут по сети.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15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Redistribute Motion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Данные перекладываются по новому ключу. Часто join key не совпал с distribution key.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Broadcast Motion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Маленькая таблица копируется на все сегменты. Хорошо только если она действительно маленькая.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Gather Motion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Финальная сборка результата. Нормально, но может стать bottleneck для огромного output.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PARTITIONING INTRO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Partitioning intro: pruning/retention != distribution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Partitioning режет таблицу внутри logical table; distribution размещает строки по сегментам.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16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Pruning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Фильтр по sale_date может читать только нужные partitions.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Retention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Старые partitions можно удалять/архивировать операционно.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Не distribution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 key не обязан быть distribution key.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5376672"/>
            <a:ext cx="109728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" y="55046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</a:rPr>
              <a:t>SQL / CLI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758952" y="5715000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CREATE TABLE lesson01.fact_sales_partition_good (...)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DISTRIBUTED BY (customer_id)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PARTITION BY RANGE (sale_date)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(START (DATE '2026-01-01') END (DATE '2026-04-01') EVERY (INTERVAL '1 month'));</a:t>
            </a:r>
            <a:endParaRPr lang="en-US" sz="82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ЦИКЛ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Диагностический цикл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Профессиональный Greenplum fix выглядит как evidence loop, а не как догадка.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17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 Измерить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gp_segment_id, row counts, EXPLAIN, runtime symptoms.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 Объяснить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Связать skew/Motion/storage/statistics с физической причиной.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3. Изменить и проверить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Новый DDL или query shape плюс повторный evidence.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PRACTICE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Practice checkpoint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Ученик сам проходит skew -&gt; EXPLAIN -&gt; comparison -&gt; short RCA.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18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делает ученик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Запускает workbook, ищет skew, читает Motion, сравнивает bad/good fact.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делает ментор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Задает вопросы и просит доказывать каждый вывод SQL-артефактом.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Критерий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Ученик может назвать root cause и validation query.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INCIDENT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Incident mode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Теперь это не упражнение, а замедлившийся отчет и короткий RCA для бизнеса.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19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Симптом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Отчет по выручке стал медленнее после новой fact table.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Гипотезы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Skew, non-colocated join, missing statistics, плохой storage/load path.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Артефакт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RCA: symptom -&gt; evidence -&gt; root cause -&gt; fix -&gt; validation.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Fix and evidence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Фикс без проверки - мнение. Фикс с повторным EXPLAIN и skew check - инженерное решение.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20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До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DISTRIBUTED BY(status), skew, Redistribute Motion.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После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DISTRIBUTED BY(customer_id), ровнее gp_segment_id, дешевле движение.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Доказываем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Скрин/вывод SQL, короткая интерпретация, оставшийся риск.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CAPSTONE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Capstone mart design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Факт проектируется от grain и workload, а не от любимой DDL-опции.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21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Grain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Одна строка что означает? order, order item, daily customer aggregate?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Physical design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 для joins, partitioning для date pruning/retention, storage для scans.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 register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Skew, late facts, stats after load, hot partitions, huge final gather.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Automation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 делает урок повторяемым для ментора и ученика на macOS и Windows.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22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Student UX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up/status/psql/reset без локального psql.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Mentor UX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runbook, hints, grading, incident, report.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5376672"/>
            <a:ext cx="1097280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" y="55046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A37F"/>
                </a:solidFill>
              </a:rPr>
              <a:t>SQL / CLI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58952" y="5715000"/>
            <a:ext cx="10561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python3 mentor-lab.py runbook greenplum simple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python3 mentor-lab.py runbook greenplum deep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python3 mentor-lab.py runbook greenplum homework</a:t>
            </a:r>
            <a:endParaRPr lang="en-US" sz="820" dirty="0"/>
          </a:p>
          <a:p>
            <a:pPr indent="0" marL="0">
              <a:buNone/>
            </a:pPr>
            <a:r>
              <a:rPr lang="en-US" sz="820" dirty="0">
                <a:solidFill>
                  <a:srgbClr val="202123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python3 mentor-lab.py check greenplum</a:t>
            </a:r>
            <a:endParaRPr lang="en-US" sz="82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SUMMARY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Что ученик должен унести с урока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Одна страница mental model перед домашкой.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23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Greenplum = MPP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Coordinator планирует, segments исполняют, interconnect двигает строки.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Физика важна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Distribution, skew, Motion и storage влияют на тот же SQL сильнее, чем кажется.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Доказательность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Каждый fix подтверждаем skew check, EXPLAIN и коротким RCA.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APPENDIX: как читать EXPLAIN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Лестница чтения плана: снизу вверх и от локальной работы к сетевой цене.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24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Leaf scans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Какие таблицы читаем и сколько строк ожидаем.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71032" y="2212848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35624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53912" y="2532888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Local work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53912" y="29260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Filter, aggregate, Hash Join на QE.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" y="3739896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22776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Motion boundary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31596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Где появляется slice boundary и network movement.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71032" y="3602736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35624" y="3739896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3922776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Rows out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53912" y="431596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Где actual сильно расходится с estimate.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Physical joins in MPP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Hash Join - локальный алгоритм; co-located join/Broadcast/Redistribute - физика размещения.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25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co-located join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Обе стороны уже распределены по join key: network минимален.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Broadcast side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Маленькая dimension копируется на все segments.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Redistribute side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Одна или обе стороны перекладываются по hash join key.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Broadcast vs Redistribute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Выбор data movement зависит от размера сторон после фильтров и ключей распределения.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26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Broadcast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Хорош, когда broadcast-side реально мала. Плох для большой dimension/fact.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Redistribute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Нормальная цена несовпадения distribution и join key, но может стать дорогой.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Вопрос ученику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Что дешевле: разослать 10k строк или переразложить 50M строк?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Hash Join deep dive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QE строит hash table на inner side и probe-ит outer side; memory pressure ведет к batching/workfiles.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27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Build side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Обычно меньшая сторона. Ошибка оценок может привести к spill.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Probe side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Большая сторона проходит через hash lookup локально на QE.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MPP context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Перед локальным Hash Join данные могли пройти Broadcast или Redistribute Motion.</a:t>
            </a:r>
            <a:endParaRPr lang="en-US" sz="11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QD/QE internals with source anchors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Глубина для любопытного ученика: source anchors без превращения урока в чтение C-кода.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28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cdbdisp_query.c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Dispatch path: QD готовит и отправляет plan payload на QE.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nodeMotion.c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Motion executor обрабатывает send/receive tuple flow между slices.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nodeHashjoin.c / joinpath.c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Локальный Hash Join и optimizer choices отдельно от CdbPathLocus.</a:t>
            </a:r>
            <a:endParaRPr lang="en-US" sz="11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Storage internals and ALTER TABLE caveats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Heap/AO/AOCO и ALTER TABLE storage changes требуют понимания rewrite, locks и maintenance window.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29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AOCO files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Колонки хранятся отдельно, compression работает по column segments.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519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6552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48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ALTER caveat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348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Смена storage может требовать rewrite и операционного окна.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09560" y="2212848"/>
            <a:ext cx="3419856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4152" y="2350008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2532888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Production checklist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092440" y="2926080"/>
            <a:ext cx="30540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Объем данных, locks, stats, vacuum/analyze, rollback plan.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830568"/>
            <a:ext cx="12191695" cy="27432"/>
          </a:xfrm>
          <a:prstGeom prst="rect">
            <a:avLst/>
          </a:prstGeom>
          <a:solidFill>
            <a:srgbClr val="D8D7D0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291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0A37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APPENDIX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02920" y="667512"/>
            <a:ext cx="8412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MPP-семейства: где цена архитектуры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21208" y="1481328"/>
            <a:ext cx="8961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2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System taxonomy and next steps: SMP, MPP, EPP, lakehouse, HTAP переносят bottleneck в разные места.</a:t>
            </a:r>
            <a:endParaRPr lang="en-US" sz="1420" dirty="0"/>
          </a:p>
        </p:txBody>
      </p:sp>
      <p:sp>
        <p:nvSpPr>
          <p:cNvPr id="7" name="Text 5"/>
          <p:cNvSpPr/>
          <p:nvPr/>
        </p:nvSpPr>
        <p:spPr>
          <a:xfrm>
            <a:off x="10698480" y="34747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E68"/>
                </a:solidFill>
              </a:rPr>
              <a:t>30 / 30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212848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58952" y="2350008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532888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SMP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7240" y="29260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Простота и вертикальный масштаб.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971032" y="2212848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35624" y="2350008"/>
            <a:ext cx="438912" cy="36576"/>
          </a:xfrm>
          <a:prstGeom prst="rect">
            <a:avLst/>
          </a:prstGeom>
          <a:solidFill>
            <a:srgbClr val="2F6FED"/>
          </a:solidFill>
          <a:ln w="12700">
            <a:solidFill>
              <a:srgbClr val="2F6F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53912" y="2532888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MPP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153912" y="2926080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Параллельная аналитика ценой distribution design и Motion.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4360" y="3602736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58952" y="3739896"/>
            <a:ext cx="438912" cy="36576"/>
          </a:xfrm>
          <a:prstGeom prst="rect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922776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EPP / lakehouse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7240" y="431596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Эластика и открытые форматы ценой cost, shuffle, metadata и governance.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71032" y="3602736"/>
            <a:ext cx="513892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12700">
            <a:solidFill>
              <a:srgbClr val="D8D7D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35624" y="3739896"/>
            <a:ext cx="438912" cy="36576"/>
          </a:xfrm>
          <a:prstGeom prst="rect">
            <a:avLst/>
          </a:prstGeom>
          <a:solidFill>
            <a:srgbClr val="10A37F"/>
          </a:solidFill>
          <a:ln w="12700">
            <a:solidFill>
              <a:srgbClr val="10A3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53912" y="3922776"/>
            <a:ext cx="4773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212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Lesson 02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53912" y="4315968"/>
            <a:ext cx="47731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E6E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Partitioning, statistics and incremental loads in MPP.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Greenplum Academy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Greenplum MPP: мышление дата инженера</dc:title>
  <dc:subject>Greenplum MPP theory lesson</dc:subject>
  <dc:creator>Greenplum Academy</dc:creator>
  <cp:lastModifiedBy>Greenplum Academy</cp:lastModifiedBy>
  <cp:revision>1</cp:revision>
  <dcterms:created xsi:type="dcterms:W3CDTF">2026-06-12T16:14:36Z</dcterms:created>
  <dcterms:modified xsi:type="dcterms:W3CDTF">2026-06-12T16:14:36Z</dcterms:modified>
</cp:coreProperties>
</file>