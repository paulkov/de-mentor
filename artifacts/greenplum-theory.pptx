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f9177d8f4b4b57" /><Relationship Type="http://schemas.openxmlformats.org/officeDocument/2006/relationships/extended-properties" Target="/docProps/app.xml" Id="R589b4c03aeaa4b54" /><Relationship Type="http://schemas.openxmlformats.org/officeDocument/2006/relationships/officeDocument" Target="/ppt/presentation.xml" Id="Rc4a6567e8c3e45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fa4c430d224fcc"/>
  </p:sldMasterIdLst>
  <p:notesMasterIdLst>
    <p:notesMasterId xmlns:r="http://schemas.openxmlformats.org/officeDocument/2006/relationships" r:id="R415084845e8748ec"/>
  </p:notesMasterIdLst>
  <p:sldIdLst>
    <p:sldId xmlns:r="http://schemas.openxmlformats.org/officeDocument/2006/relationships" id="256" r:id="Rf33ef6c85d2f4f58"/>
    <p:sldId xmlns:r="http://schemas.openxmlformats.org/officeDocument/2006/relationships" id="257" r:id="Rd75f99c1576e4ef2"/>
    <p:sldId xmlns:r="http://schemas.openxmlformats.org/officeDocument/2006/relationships" id="258" r:id="Re1cda7f44c2e4806"/>
    <p:sldId xmlns:r="http://schemas.openxmlformats.org/officeDocument/2006/relationships" id="259" r:id="R88fda841fa96470f"/>
    <p:sldId xmlns:r="http://schemas.openxmlformats.org/officeDocument/2006/relationships" id="260" r:id="R912c2023900f4f0b"/>
    <p:sldId xmlns:r="http://schemas.openxmlformats.org/officeDocument/2006/relationships" id="261" r:id="Rbf72c5a55fee4c5d"/>
    <p:sldId xmlns:r="http://schemas.openxmlformats.org/officeDocument/2006/relationships" id="262" r:id="Rd15b34508b634410"/>
    <p:sldId xmlns:r="http://schemas.openxmlformats.org/officeDocument/2006/relationships" id="263" r:id="Rf83034a261054a1e"/>
    <p:sldId xmlns:r="http://schemas.openxmlformats.org/officeDocument/2006/relationships" id="264" r:id="Rd32e8ccb6f00444c"/>
    <p:sldId xmlns:r="http://schemas.openxmlformats.org/officeDocument/2006/relationships" id="265" r:id="R03259b49ad5c4b76"/>
    <p:sldId xmlns:r="http://schemas.openxmlformats.org/officeDocument/2006/relationships" id="266" r:id="Rc1a50954f78f438a"/>
    <p:sldId xmlns:r="http://schemas.openxmlformats.org/officeDocument/2006/relationships" id="267" r:id="Rc785159811ef4d1c"/>
    <p:sldId xmlns:r="http://schemas.openxmlformats.org/officeDocument/2006/relationships" id="268" r:id="Rd29385e855ba4586"/>
    <p:sldId xmlns:r="http://schemas.openxmlformats.org/officeDocument/2006/relationships" id="269" r:id="R5dc98933a6464eb0"/>
    <p:sldId xmlns:r="http://schemas.openxmlformats.org/officeDocument/2006/relationships" id="270" r:id="Ra096db97e2cd4cbf"/>
    <p:sldId xmlns:r="http://schemas.openxmlformats.org/officeDocument/2006/relationships" id="271" r:id="R3d042aa2f4864608"/>
    <p:sldId xmlns:r="http://schemas.openxmlformats.org/officeDocument/2006/relationships" id="272" r:id="R5be2f9644d994f61"/>
    <p:sldId xmlns:r="http://schemas.openxmlformats.org/officeDocument/2006/relationships" id="273" r:id="R184e3f1e4aa747f0"/>
    <p:sldId xmlns:r="http://schemas.openxmlformats.org/officeDocument/2006/relationships" id="274" r:id="Rcf70069b17814091"/>
    <p:sldId xmlns:r="http://schemas.openxmlformats.org/officeDocument/2006/relationships" id="275" r:id="R553f714236a6417b"/>
    <p:sldId xmlns:r="http://schemas.openxmlformats.org/officeDocument/2006/relationships" id="276" r:id="R5d3a98c39a144a7d"/>
    <p:sldId xmlns:r="http://schemas.openxmlformats.org/officeDocument/2006/relationships" id="277" r:id="Rb29a291f0ee243a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07c8ecc0354436" /><Relationship Type="http://schemas.openxmlformats.org/officeDocument/2006/relationships/slideMaster" Target="/ppt/slideMasters/slideMaster1.xml" Id="R5efa4c430d224fcc" /><Relationship Type="http://schemas.openxmlformats.org/officeDocument/2006/relationships/notesMaster" Target="/ppt/notesMasters/notesMaster1.xml" Id="R415084845e8748ec" /><Relationship Type="http://schemas.openxmlformats.org/officeDocument/2006/relationships/presProps" Target="/ppt/presProps.xml" Id="R6190f48e611c43f6" /><Relationship Type="http://schemas.openxmlformats.org/officeDocument/2006/relationships/viewProps" Target="/ppt/viewProps.xml" Id="R50c86d7bd7cc494b" /><Relationship Type="http://schemas.openxmlformats.org/officeDocument/2006/relationships/tableStyles" Target="/ppt/tableStyles.xml" Id="R53a1ccb43f684a6a" /><Relationship Type="http://schemas.openxmlformats.org/officeDocument/2006/relationships/slide" Target="/ppt/slides/slide1.xml" Id="Rf33ef6c85d2f4f58" /><Relationship Type="http://schemas.openxmlformats.org/officeDocument/2006/relationships/slide" Target="/ppt/slides/slide2.xml" Id="Rd75f99c1576e4ef2" /><Relationship Type="http://schemas.openxmlformats.org/officeDocument/2006/relationships/slide" Target="/ppt/slides/slide3.xml" Id="Re1cda7f44c2e4806" /><Relationship Type="http://schemas.openxmlformats.org/officeDocument/2006/relationships/slide" Target="/ppt/slides/slide4.xml" Id="R88fda841fa96470f" /><Relationship Type="http://schemas.openxmlformats.org/officeDocument/2006/relationships/slide" Target="/ppt/slides/slide5.xml" Id="R912c2023900f4f0b" /><Relationship Type="http://schemas.openxmlformats.org/officeDocument/2006/relationships/slide" Target="/ppt/slides/slide6.xml" Id="Rbf72c5a55fee4c5d" /><Relationship Type="http://schemas.openxmlformats.org/officeDocument/2006/relationships/slide" Target="/ppt/slides/slide7.xml" Id="Rd15b34508b634410" /><Relationship Type="http://schemas.openxmlformats.org/officeDocument/2006/relationships/slide" Target="/ppt/slides/slide8.xml" Id="Rf83034a261054a1e" /><Relationship Type="http://schemas.openxmlformats.org/officeDocument/2006/relationships/slide" Target="/ppt/slides/slide9.xml" Id="Rd32e8ccb6f00444c" /><Relationship Type="http://schemas.openxmlformats.org/officeDocument/2006/relationships/slide" Target="/ppt/slides/slide10.xml" Id="R03259b49ad5c4b76" /><Relationship Type="http://schemas.openxmlformats.org/officeDocument/2006/relationships/slide" Target="/ppt/slides/slide11.xml" Id="Rc1a50954f78f438a" /><Relationship Type="http://schemas.openxmlformats.org/officeDocument/2006/relationships/slide" Target="/ppt/slides/slide12.xml" Id="Rc785159811ef4d1c" /><Relationship Type="http://schemas.openxmlformats.org/officeDocument/2006/relationships/slide" Target="/ppt/slides/slide13.xml" Id="Rd29385e855ba4586" /><Relationship Type="http://schemas.openxmlformats.org/officeDocument/2006/relationships/slide" Target="/ppt/slides/slide14.xml" Id="R5dc98933a6464eb0" /><Relationship Type="http://schemas.openxmlformats.org/officeDocument/2006/relationships/slide" Target="/ppt/slides/slide15.xml" Id="Ra096db97e2cd4cbf" /><Relationship Type="http://schemas.openxmlformats.org/officeDocument/2006/relationships/slide" Target="/ppt/slides/slide16.xml" Id="R3d042aa2f4864608" /><Relationship Type="http://schemas.openxmlformats.org/officeDocument/2006/relationships/slide" Target="/ppt/slides/slide17.xml" Id="R5be2f9644d994f61" /><Relationship Type="http://schemas.openxmlformats.org/officeDocument/2006/relationships/slide" Target="/ppt/slides/slide18.xml" Id="R184e3f1e4aa747f0" /><Relationship Type="http://schemas.openxmlformats.org/officeDocument/2006/relationships/slide" Target="/ppt/slides/slide19.xml" Id="Rcf70069b17814091" /><Relationship Type="http://schemas.openxmlformats.org/officeDocument/2006/relationships/slide" Target="/ppt/slides/slide20.xml" Id="R553f714236a6417b" /><Relationship Type="http://schemas.openxmlformats.org/officeDocument/2006/relationships/slide" Target="/ppt/slides/slide21.xml" Id="R5d3a98c39a144a7d" /><Relationship Type="http://schemas.openxmlformats.org/officeDocument/2006/relationships/slide" Target="/ppt/slides/slide22.xml" Id="Rb29a291f0ee243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1e447748ab44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d2617c022b4697" /><Relationship Type="http://schemas.openxmlformats.org/officeDocument/2006/relationships/notesMaster" Target="/ppt/notesMasters/notesMaster1.xml" Id="R3d90a8a9444041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7f96f6b8f54fe5" /><Relationship Type="http://schemas.openxmlformats.org/officeDocument/2006/relationships/notesMaster" Target="/ppt/notesMasters/notesMaster1.xml" Id="R36d6719997f241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35eca141394113" /><Relationship Type="http://schemas.openxmlformats.org/officeDocument/2006/relationships/notesMaster" Target="/ppt/notesMasters/notesMaster1.xml" Id="R1aec48cfafff47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057df482574266" /><Relationship Type="http://schemas.openxmlformats.org/officeDocument/2006/relationships/notesMaster" Target="/ppt/notesMasters/notesMaster1.xml" Id="R63feaaad6ae046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9e2438bda84375" /><Relationship Type="http://schemas.openxmlformats.org/officeDocument/2006/relationships/notesMaster" Target="/ppt/notesMasters/notesMaster1.xml" Id="R72834d1e5bd848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bf52a387d54ad3" /><Relationship Type="http://schemas.openxmlformats.org/officeDocument/2006/relationships/notesMaster" Target="/ppt/notesMasters/notesMaster1.xml" Id="Re2d3c4a608054e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adf9f5b2904f85" /><Relationship Type="http://schemas.openxmlformats.org/officeDocument/2006/relationships/notesMaster" Target="/ppt/notesMasters/notesMaster1.xml" Id="Rdba6098790c244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80c01a0db64cf3" /><Relationship Type="http://schemas.openxmlformats.org/officeDocument/2006/relationships/notesMaster" Target="/ppt/notesMasters/notesMaster1.xml" Id="Ree6bfa470ff141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4cf8bdfab844cc" /><Relationship Type="http://schemas.openxmlformats.org/officeDocument/2006/relationships/notesMaster" Target="/ppt/notesMasters/notesMaster1.xml" Id="Rd80ff7d7f39741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4a3da71da34c1d" /><Relationship Type="http://schemas.openxmlformats.org/officeDocument/2006/relationships/notesMaster" Target="/ppt/notesMasters/notesMaster1.xml" Id="R96173395da284c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f4126ae6414aa9" /><Relationship Type="http://schemas.openxmlformats.org/officeDocument/2006/relationships/notesMaster" Target="/ppt/notesMasters/notesMaster1.xml" Id="R7897bf77138045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95b649ca7f42ec" /><Relationship Type="http://schemas.openxmlformats.org/officeDocument/2006/relationships/notesMaster" Target="/ppt/notesMasters/notesMaster1.xml" Id="R03ccf9be772241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cad7995c554795" /><Relationship Type="http://schemas.openxmlformats.org/officeDocument/2006/relationships/notesMaster" Target="/ppt/notesMasters/notesMaster1.xml" Id="R8c858fd484a14c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75a7322443f4f2b" /><Relationship Type="http://schemas.openxmlformats.org/officeDocument/2006/relationships/notesMaster" Target="/ppt/notesMasters/notesMaster1.xml" Id="R2a58ba6ea36d4e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b972415e68349b9" /><Relationship Type="http://schemas.openxmlformats.org/officeDocument/2006/relationships/notesMaster" Target="/ppt/notesMasters/notesMaster1.xml" Id="R33279161163f482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16d0435a02d4b3b" /><Relationship Type="http://schemas.openxmlformats.org/officeDocument/2006/relationships/notesMaster" Target="/ppt/notesMasters/notesMaster1.xml" Id="R6f3d27ecc430476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746ec12871d47e1" /><Relationship Type="http://schemas.openxmlformats.org/officeDocument/2006/relationships/notesMaster" Target="/ppt/notesMasters/notesMaster1.xml" Id="R264f5f3b505243c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5d4d14132874e52" /><Relationship Type="http://schemas.openxmlformats.org/officeDocument/2006/relationships/notesMaster" Target="/ppt/notesMasters/notesMaster1.xml" Id="R98906493e97d487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39559422f99409b" /><Relationship Type="http://schemas.openxmlformats.org/officeDocument/2006/relationships/notesMaster" Target="/ppt/notesMasters/notesMaster1.xml" Id="Rcdae4d7f726945e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17c5c66c27e41e7" /><Relationship Type="http://schemas.openxmlformats.org/officeDocument/2006/relationships/notesMaster" Target="/ppt/notesMasters/notesMaster1.xml" Id="Ref8c9e8562a1409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640d501a2934701" /><Relationship Type="http://schemas.openxmlformats.org/officeDocument/2006/relationships/notesMaster" Target="/ppt/notesMasters/notesMaster1.xml" Id="Refae45db4dfb4e8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9cd3f3bbe334a1e" /><Relationship Type="http://schemas.openxmlformats.org/officeDocument/2006/relationships/notesMaster" Target="/ppt/notesMasters/notesMaster1.xml" Id="R7190c058e10941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b5505b6c1345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c0925c842e4458" /><Relationship Type="http://schemas.openxmlformats.org/officeDocument/2006/relationships/slideLayout" Target="/ppt/slideLayouts/slideLayout1.xml" Id="Re55c5d9692f940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5c5d9692f940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83a89de4c4916" /><Relationship Type="http://schemas.openxmlformats.org/officeDocument/2006/relationships/image" Target="/ppt/media/image.png" Id="R5e1943d471304234" /><Relationship Type="http://schemas.openxmlformats.org/officeDocument/2006/relationships/image" Target="/ppt/media/image.svg" Id="R4cda87af59614a8c" /><Relationship Type="http://schemas.openxmlformats.org/officeDocument/2006/relationships/image" Target="/ppt/media/image2.png" Id="Rea7fbebb342b4312" /><Relationship Type="http://schemas.openxmlformats.org/officeDocument/2006/relationships/image" Target="/ppt/media/image2.svg" Id="R1625f28c3eec4eee" /><Relationship Type="http://schemas.openxmlformats.org/officeDocument/2006/relationships/notesSlide" Target="/ppt/notesSlides/notesSlide1.xml" Id="Ra35149a9ee6c4a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d1977e96c4796" /><Relationship Type="http://schemas.openxmlformats.org/officeDocument/2006/relationships/notesSlide" Target="/ppt/notesSlides/notesSlide2.xml" Id="Rbce84664c68a4e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b7d8b5a2947e6" /><Relationship Type="http://schemas.openxmlformats.org/officeDocument/2006/relationships/notesSlide" Target="/ppt/notesSlides/notesSlide3.xml" Id="R56102011728843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eda4036854520" /><Relationship Type="http://schemas.openxmlformats.org/officeDocument/2006/relationships/notesSlide" Target="/ppt/notesSlides/notesSlide4.xml" Id="R908ac6a453b947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5f57a09c04c43" /><Relationship Type="http://schemas.openxmlformats.org/officeDocument/2006/relationships/notesSlide" Target="/ppt/notesSlides/notesSlide5.xml" Id="Ra8ba2cac45834a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16efd0ab943f9" /><Relationship Type="http://schemas.openxmlformats.org/officeDocument/2006/relationships/notesSlide" Target="/ppt/notesSlides/notesSlide6.xml" Id="R9672586336d646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ab61c15474818" /><Relationship Type="http://schemas.openxmlformats.org/officeDocument/2006/relationships/notesSlide" Target="/ppt/notesSlides/notesSlide7.xml" Id="R52bbdad42efa4b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394c8abe74d6a" /><Relationship Type="http://schemas.openxmlformats.org/officeDocument/2006/relationships/notesSlide" Target="/ppt/notesSlides/notesSlide8.xml" Id="Rccafc0a397e14e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7bc13f23f44e0" /><Relationship Type="http://schemas.openxmlformats.org/officeDocument/2006/relationships/notesSlide" Target="/ppt/notesSlides/notesSlide9.xml" Id="R450646c001e241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e3a68c5d043e7" /><Relationship Type="http://schemas.openxmlformats.org/officeDocument/2006/relationships/notesSlide" Target="/ppt/notesSlides/notesSlide10.xml" Id="R67309ad40e9444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b5fc945674da5" /><Relationship Type="http://schemas.openxmlformats.org/officeDocument/2006/relationships/notesSlide" Target="/ppt/notesSlides/notesSlide11.xml" Id="R1385047dfe4048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ceec388b14bcf" /><Relationship Type="http://schemas.openxmlformats.org/officeDocument/2006/relationships/notesSlide" Target="/ppt/notesSlides/notesSlide12.xml" Id="Ra19893c147a04e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8314e886f4315" /><Relationship Type="http://schemas.openxmlformats.org/officeDocument/2006/relationships/notesSlide" Target="/ppt/notesSlides/notesSlide13.xml" Id="R8ce37267381941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c372199fc4420" /><Relationship Type="http://schemas.openxmlformats.org/officeDocument/2006/relationships/notesSlide" Target="/ppt/notesSlides/notesSlide14.xml" Id="Rc3064660d81f48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629237f864051" /><Relationship Type="http://schemas.openxmlformats.org/officeDocument/2006/relationships/notesSlide" Target="/ppt/notesSlides/notesSlide15.xml" Id="R053d9017b81a49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5f656be8947c9" /><Relationship Type="http://schemas.openxmlformats.org/officeDocument/2006/relationships/notesSlide" Target="/ppt/notesSlides/notesSlide16.xml" Id="Reebb83b5fa634de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d1b96cd6043ee" /><Relationship Type="http://schemas.openxmlformats.org/officeDocument/2006/relationships/notesSlide" Target="/ppt/notesSlides/notesSlide17.xml" Id="Rbf1d342be9284e4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bea4dbba049fb" /><Relationship Type="http://schemas.openxmlformats.org/officeDocument/2006/relationships/notesSlide" Target="/ppt/notesSlides/notesSlide18.xml" Id="Rc10eaeae233d4fd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2a0efb2a44b1c" /><Relationship Type="http://schemas.openxmlformats.org/officeDocument/2006/relationships/notesSlide" Target="/ppt/notesSlides/notesSlide19.xml" Id="R8cca1cd059d140b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9438957e34571" /><Relationship Type="http://schemas.openxmlformats.org/officeDocument/2006/relationships/notesSlide" Target="/ppt/notesSlides/notesSlide20.xml" Id="R9c16221abf1142d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e5e9a207d4b5c" /><Relationship Type="http://schemas.openxmlformats.org/officeDocument/2006/relationships/notesSlide" Target="/ppt/notesSlides/notesSlide21.xml" Id="Rab7404a895a54b0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39ad3efac46d2" /><Relationship Type="http://schemas.openxmlformats.org/officeDocument/2006/relationships/notesSlide" Target="/ppt/notesSlides/notesSlide22.xml" Id="R8f7f28f966dd48e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BD0193-D59F-4655-88B4-73BADE42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E8DA6-FEC2-4FC6-A6D4-DF1C248F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95944-FFE4-4A74-B033-42D40443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B4D44-7D89-45F8-8FAA-F1070AFB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ТЕОРИЯ GREENPLUM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95A0A-E5F0-4F1F-894D-0305B60C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Greenplum MPP: мышление дата инженера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02CAF-96E0-4062-9AEA-232B5703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Как думать о SQL, когда данные физически распределены по сегментам.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57DBB-FB9C-432B-8237-CE405941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0C133-1EC7-4C42-B36B-BA398A7F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7147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BD0151-F4CD-4793-84F3-EE41C9C9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2914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DFF5EC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943d471304234">
            <a:extLst>
              <a:ext uri="{96DAC541-7B7A-43D3-8B79-37D633B846F1}">
                <asvg:svgBlip xmlns:asvg="http://schemas.microsoft.com/office/drawing/2016/SVG/main" r:embed="R4cda87af59614a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0" y="1752600"/>
            <a:ext cx="800100" cy="8001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fbebb342b4312">
            <a:extLst>
              <a:ext uri="{96DAC541-7B7A-43D3-8B79-37D633B846F1}">
                <asvg:svgBlip xmlns:asvg="http://schemas.microsoft.com/office/drawing/2016/SVG/main" r:embed="R1625f28c3eec4e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34500" y="175260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57F51-D65D-4E7B-913B-C5406AAE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004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37A38-D4F7-4426-8B72-8957DBFA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6707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SMP / MPP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75DC58-C234-4C21-9AC1-C5A6FADF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004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6C1E2-735B-4E86-A3F3-7D8D46CA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6707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Skew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616EC-856D-4225-B46C-841C9DE5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9095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60 минут: модель -&gt; практика -&gt; incident -&gt; capstone</a:t>
            </a:r>
          </a:p>
        </p:txBody>
      </p:sp>
    </p:spTree>
    <p:extLst>
      <p:ext uri="{BB962C8B-B14F-4D97-AF65-F5344CB8AC3E}">
        <p14:creationId xmlns:p14="http://schemas.microsoft.com/office/powerpoint/2010/main" val="19892269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0BA828-7764-457B-B0A3-B4CAB8ED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207DA-279F-4534-825E-65BD3D6C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B0FF3-B0E4-4BF8-84A7-C16FED35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E8A7D-913F-4EED-B529-3EF22A13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КАРТА СИСТЕМ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20A59-446C-41E9-911D-5DC5E381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SMP, MPP, EPP: разная цена масштабирования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2818B-C6F0-4980-87E2-55B83A68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Архитектура определяет, где узкое место: CPU, память, диск, сеть или стоимость эластики.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2469E-F194-47EE-B00A-479C2584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352EC-65BA-429A-93F4-6ADC2C7C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25908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543BD-C069-44B4-9ED7-1FD230FC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622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EFCF0-8F22-426D-A1F0-EAF2FD9A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3365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SMP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80863-EF03-4AA5-948A-28C92D5B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67050"/>
            <a:ext cx="21907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Один большой сервер, общая память и диски. Плюс: проще администрировать. Минус: масштабирование в основном вертикальное.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C842C-5AF9-4C9E-955B-5FCECF5B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90750"/>
            <a:ext cx="25908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657EF-DDBB-41BF-8033-ACDEFB93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622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07341-CF3E-4F2A-8DAC-D3E58DDB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3365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Shared-disk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F0458-CB02-44B5-85EB-5CB46888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067050"/>
            <a:ext cx="21907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Несколько вычислителей, общее хранилище. Плюс: проще хранить единые данные. Минус: contention вокруг storage и сети.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53A4C-4508-4990-98CD-C4AC297D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25908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7E3FF-01AC-487C-AB1C-AAE5918D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622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B15547-E7A1-41F5-A147-E4028414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3365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MPP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92FCCC-E584-4340-8ABB-DD78BE15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67050"/>
            <a:ext cx="21907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Shared-nothing: каждый сегмент имеет свои CPU, память и данные. Плюс: горизонтальный рост. Минус: надо проектировать распределение.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0B90D-C57F-44EB-8A84-B746E6CE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90750"/>
            <a:ext cx="25908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FA7D2-58CC-4F30-B14F-41505786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622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C9E6BB-8DEF-498B-9765-7CC61347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53365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EPP / cloud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8E68EC-2CDF-41D3-A6AF-7B8D7CAE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67050"/>
            <a:ext cx="21907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Эластичная модель с разделением compute и storage. Плюс: гибкость. Минус: стоимость и движение данных становятся менее очевидными.</a:t>
            </a:r>
          </a:p>
        </p:txBody>
      </p:sp>
    </p:spTree>
    <p:extLst>
      <p:ext uri="{BB962C8B-B14F-4D97-AF65-F5344CB8AC3E}">
        <p14:creationId xmlns:p14="http://schemas.microsoft.com/office/powerpoint/2010/main" val="3433224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0FD67C-EEF9-4612-AE23-5173EC77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C1CD3-BFD5-41C0-9BC1-A8404A34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DF4C8-AD23-420B-9213-D4ABC46C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E8DC8-7E71-44F9-8B0B-5E19E8B5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АРХИТЕКТУРА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62347-1B30-411F-8DDF-FC8EE242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Greenplum = MPP / shared-nothing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439A7-2053-4F76-836C-C664CBA2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Coordinator строит план, segments выполняют работу, interconnect переносит данные.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FDBD5-091A-4C88-AFA8-0EA14C7B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F1C91-047B-45D4-B06D-5C51EF51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817FF-1663-46EE-941A-C38F308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E021F-F0A9-4EF0-BAE6-1F8AB681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Клиент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54213-E4F5-41B7-A6BA-CFBD9B45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43300"/>
            <a:ext cx="198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psql, BI-инструмент или приложение отправляет SQL.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AC3A8-7910-4820-92CB-738343AE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2857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E958F-5B5E-47D7-A650-3FCCDC52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71173-A5FE-4CB1-8260-13C48533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289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Coordinator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359AA0-81C5-494D-8431-6493031E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62300"/>
            <a:ext cx="24574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Парсит SQL, строит план, отправляет work units на сегменты.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29408A-DAA3-491B-B0C7-FBA7B448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57350"/>
            <a:ext cx="2095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C4978B-3DC0-4A08-BA62-A0B41624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288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B1297-2EA7-4E2C-ABFA-C5794786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002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Segment 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A3A824-F5F1-4F8A-BD69-E5AC21F5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33650"/>
            <a:ext cx="1695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Локальная часть данных и работы.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A30C4-685E-4708-AD1D-7A19B666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76600"/>
            <a:ext cx="2095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B36859-1CC4-42DF-A7A4-96B56AD7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480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98D199-A03D-43B6-91C6-C3D457E6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195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Segment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5F3880-72E2-4AC2-8C05-1CD40EA6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52900"/>
            <a:ext cx="1695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Локальная часть данных и работы.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DBB15F-71B0-4DE1-90E2-278813E7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4325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F6F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1D68C0-8555-4B59-B15C-9696CCC4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10A37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029975-28CF-4CC6-A224-A3E1B20A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10A37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4586E5-0D8F-498B-9367-2F65962E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48250"/>
            <a:ext cx="590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Сеть становится частью query plan.</a:t>
            </a:r>
          </a:p>
        </p:txBody>
      </p:sp>
    </p:spTree>
    <p:extLst>
      <p:ext uri="{BB962C8B-B14F-4D97-AF65-F5344CB8AC3E}">
        <p14:creationId xmlns:p14="http://schemas.microsoft.com/office/powerpoint/2010/main" val="14504469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D22075-797C-46B9-A825-BF021959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CDE05-C126-4F2E-A97B-F8852A8A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6BB4A-7389-4D9E-9234-9C3D84A2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B39DA-D53D-4591-AC76-B192D8DE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MASTER / COORDINATOR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BCC25-038A-4730-8CB7-24F73F5A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Master не хранит данные, но может стать узким горлышком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8B199-17FC-4A70-BC26-D3F9A640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Он принимает клиентские подключения, держит metadata, строит план, dispatch-ит работу и собирает финальный результат.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6221B-856A-42F5-8039-77DB9566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02F98-BBD8-456F-8865-FC8AC325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A08B1-0537-4782-835D-743A3D5C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CDC54-81F0-4800-9400-6C116AB2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BC56E-CB58-430C-AB9A-56D8C4A7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SQL, COPY, BI, JDBC/ODBC.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B3C94-86F8-405E-863C-53967829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43125"/>
            <a:ext cx="2667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382E4-948E-4A45-AC6F-3081AA66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145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31EAB2-511B-4B84-B111-C3CF6A21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86025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Master / QD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94278-D46D-487C-B235-6BB15E68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19425"/>
            <a:ext cx="2266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Parse -&gt; rewrite -&gt; optimize -&gt; dispatch -&gt; gather. Хорош для control plane, плох как data pipe.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51E16-C8BF-408A-8154-9110C886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2095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2F305E-F073-45F0-9CD7-F12AC4E9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621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B1B538-E543-4DED-8029-4B67405A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336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Segment 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B30D1-672D-477C-8D7B-13F4A0CF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1695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User data lives here.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8C9795-8151-4A9E-BBCC-CA06DB1F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2095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38447-7E95-42CD-9077-E5B0891D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577988-22F7-4BF8-A0CC-C3C3D709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Segment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AA0577-0536-4859-ACB7-7EC134F2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19600"/>
            <a:ext cx="1695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User data lives here.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F5E275-2975-4DD9-8951-6935269B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813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F6F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113989-4BC0-4545-A887-250BE34C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765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10A37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3E6A18-5FC7-449A-AA7F-6B7ACA33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05200"/>
            <a:ext cx="1276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10A37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DE91FA-563E-4080-B8D6-E146F7B9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1009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Главный рефлекс: управление идет через master, тяжелые данные должны идти параллельно через segments.</a:t>
            </a:r>
          </a:p>
        </p:txBody>
      </p:sp>
    </p:spTree>
    <p:extLst>
      <p:ext uri="{BB962C8B-B14F-4D97-AF65-F5344CB8AC3E}">
        <p14:creationId xmlns:p14="http://schemas.microsoft.com/office/powerpoint/2010/main" val="20578358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3F6F75-01DE-470E-9184-C7104E97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75D5E-67A1-4CD6-87D7-2DB3D69C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24486-6BEB-410B-A895-7E4FAD57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45424-3DDE-49C4-93BC-C2D53CC7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QD/QE DEEP DIVE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700F8-8D15-48A0-A10E-03D25008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Как план уезжает с QD на QE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C5091-B253-4CA4-8E4D-DEA3A83C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Внутри Greenplum план режется на slices, исполняется gangs-процессами, а dispatch payload сериализуется.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306B8-9BE0-4CB8-B33F-E7C6368A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2789B-0193-4BB0-9514-8665D2AA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5572125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69F5D-C0C3-4994-BFEE-036A1833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QD/QE 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A164C-6270-4283-8BA0-68609F9D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52292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QD: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PlannedStmt -&gt; SliceTable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allocate gang per executable slice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serializeNode(plan)              -- binary tree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serializeNode(QueryDispatchDesc) -- params, slice table, context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dispatch MPPEXEC to QEs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QE: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deserializeNode(payload)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install slice table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execute assigned slice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00231-85E6-44CD-AEA0-BDC0B126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76450"/>
            <a:ext cx="385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F98E6-6DBE-4219-9C4B-F5CF64CB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479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C3D55-DBA2-4E20-A0F0-88E7FD3E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19350"/>
            <a:ext cx="347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Slice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07987-81BB-462A-BE14-A27BC205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52750"/>
            <a:ext cx="3457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Единица исполнения между Motion nodes. Root slice часто остается на QD.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BBDA1-4F88-4ADE-A105-0F8AB1B4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76600"/>
            <a:ext cx="385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15CCB-C9EB-4BA0-91DB-0D3F05A7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480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7411C5-B808-4204-BD50-BDBCBCF0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19500"/>
            <a:ext cx="347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Gang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604E8-BA22-4EF3-A6D3-DA460B2A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52900"/>
            <a:ext cx="3457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Группа QE-процессов на сегментах, исполняющая slice параллельно.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37E14A-9D41-4BE4-BAF3-16C059E4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38650"/>
            <a:ext cx="385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8DE0F7-450F-4F08-835F-03B34913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101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B45231-1D11-483F-AA9C-5A3BC485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81550"/>
            <a:ext cx="347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Compression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60487A-CCB4-461F-ADFD-E41344C2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14950"/>
            <a:ext cx="3457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ZSTD для plan payload, если GPDB собран с libzstd; иначе binary serialization.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2C8EB4-59B4-4379-9D5E-C3F7DB57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Source anchors: cdbdisp_query.c, cdbsrlz.c, execdesc.h</a:t>
            </a:r>
          </a:p>
        </p:txBody>
      </p:sp>
    </p:spTree>
    <p:extLst>
      <p:ext uri="{BB962C8B-B14F-4D97-AF65-F5344CB8AC3E}">
        <p14:creationId xmlns:p14="http://schemas.microsoft.com/office/powerpoint/2010/main" val="1836644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030050-4439-4B73-9999-5C8317A3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9CA24-07B1-42C1-A6ED-3D2A8682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EBE02-6F96-47EB-818D-713FC2C5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8EE78-EF3A-4D10-96C2-6ACC627C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INTERCONNECT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4373D-E2B4-4819-AF67-158A8E9F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Как данные едут между сегментами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2C447-67C4-4B14-B05A-B4D7FE18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Motion node выбирает route, сериализует tuple в TupleChunks и отправляет их через interconnect.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8B2B6-F446-431B-AFE6-46E8C80D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6EA2A-EE42-40C4-A5C1-E9408E61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2000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8EDBD-DF62-4F60-A900-A3909FA8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15F22-B460-42E3-ABAE-524020DF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Sender QE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01510-EDD5-4C3B-8334-6CC5FB1E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600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ExecProcNode дает tuple из child plan.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0F5661-B9BF-42EE-B72C-EC822342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71700"/>
            <a:ext cx="238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3DFE13-E431-46FF-AE46-B4150CE6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AC9F5-4C1B-4AC9-B4BF-3B47BB9C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146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Motion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3841A-3913-43D7-80D7-7A248313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48000"/>
            <a:ext cx="1981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GATHER -&gt; route 0; BROADCAST -&gt; all; HASH -&gt; evalHashKey.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6797D-9EA6-40DC-803D-DCBFF3D0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238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234C95-5F69-425B-9B5E-D8D63E4A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431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CE84E3-E0A3-4E5F-92A1-311288F4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146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Interconnect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59C49-D525-4566-BA21-7C32277B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48000"/>
            <a:ext cx="1981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Packet = header + one or more serialized TupleChunks.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6F36D6-4642-4658-8210-24F87DD6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71700"/>
            <a:ext cx="1809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D63CA1-A184-429F-8B4A-AEEDDA4C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431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6271E3-83DD-4CB4-BE89-1A2A503A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146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Receiver QE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2ACED0-B766-48B9-AB59-C406B915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48000"/>
            <a:ext cx="1409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RecvTupleFrom собирает MinimalTuple.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4AEAA7-8F9F-4C83-A506-F16E9B63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9085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10A37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2CEDD7-D6AB-4E99-BD5E-57AA584A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90850"/>
            <a:ext cx="933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F6F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1396EE-9D5F-4069-A5C8-002C5D2B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908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B7791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218192-07F1-4213-A262-D3B87077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990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9F4CBB-B108-4AEE-9B1E-E813C2F0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815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MOTION ROUTING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BDC94F-C8DC-48F2-AA12-15988B8A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9563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if motion == HASH: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targetRoute = evalHashKey(distribution_expr)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elif motion == BROADCAST: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targetRoute = all_receivers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SendTuple(motionID, slot, targetRoute) -&gt; TupleChunks -&gt; packet -&gt; RecvTupleFrom(...)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4AD1B2-049F-4A66-80E3-435E9743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48350"/>
            <a:ext cx="952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Важно: Redistribute Motion идет segment-to-segment; master не должен становиться промежуточной трубой для каждой строки.</a:t>
            </a:r>
          </a:p>
        </p:txBody>
      </p:sp>
    </p:spTree>
    <p:extLst>
      <p:ext uri="{BB962C8B-B14F-4D97-AF65-F5344CB8AC3E}">
        <p14:creationId xmlns:p14="http://schemas.microsoft.com/office/powerpoint/2010/main" val="16026906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CD1911-289A-436D-90FB-5A4FC11B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17FF4-2D1E-4D00-87B9-39573109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3EA24-C068-4C32-97E6-584F50F0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D3390-563F-4F62-A75B-DBC58EF7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BULK I/O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0837A-C476-4250-95CB-00426602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Через master или напрямую на segments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DF9E3-708A-4941-A67E-B124D7EF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Для маленьких загрузок удобно идти через client/COPY; для больших потоков нужен parallel segment data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AC3C0-270D-41C1-843B-76F80297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4A5D1-2883-49A2-AD14-25253F27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31432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FDC99-F67C-425B-9626-9DED4338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FAACFF-13C4-4930-8627-A25D611D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COPY через client/QD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B4B45-4C05-449D-B63F-52DB651D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2743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Client stream приходит на coordinator. QD dispatch-ит COPY на QEs и прокидывает данные дальше. Просто, но master/client network становятся узким местом.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CAAA2-7830-451B-8F0D-13D2A193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71700"/>
            <a:ext cx="31432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F4717-1901-4278-9BF2-DFDDA455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431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75364-54F9-4B64-878D-E8A3C974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146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gpfdist external 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DE07DF-99BE-4CD5-BF22-DB808221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2743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gpfdist - HTTP server. Каждый segment подключается сам, читает/пишет поток параллельно, master держит metadata и план.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57D43-C4E1-4A69-8962-B77098FB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31432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2CAE1-8D9A-4A86-923A-17401E33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431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95C5E-D997-4CB2-9F8F-4956E814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146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PXF / writable external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C66F5-A25D-4304-AB47-F323ABD0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48000"/>
            <a:ext cx="2743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Та же идея data-plane bypass: segments работают с внешним storage или сервисом напрямую, когда protocol это поддерживает.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D88D3-354E-4478-99FF-17BE29C3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38650"/>
            <a:ext cx="8953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8FFC3C-303C-4638-96E3-901B8D66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PARALLEL 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E558E-B9C6-48BE-9038-F9E6C561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38700"/>
            <a:ext cx="8610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CREATE EXTERNAL TABLE stg_sales (...)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LOCATION ('gpfdist://loader-host:8081/sales.csv')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FORMAT 'CSV' (HEADER)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DISTRIBUTED BY (customer_id);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F115E7-24EC-4AF0-A169-E2FA4348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gpfdist protocol v1: messages F/O/L/D/E; optional X-GP-ZSTD path exists when built with ZSTD support.</a:t>
            </a:r>
          </a:p>
        </p:txBody>
      </p:sp>
    </p:spTree>
    <p:extLst>
      <p:ext uri="{BB962C8B-B14F-4D97-AF65-F5344CB8AC3E}">
        <p14:creationId xmlns:p14="http://schemas.microsoft.com/office/powerpoint/2010/main" val="2559282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20B423-438D-4D03-8008-88739708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61B22-94AC-4854-B91C-ECB6B788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C7BF1-DBDB-424D-A629-3B3634CE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013D3-20A7-4699-8DC7-2BD7D3C0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TABLE STORAGE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38408-6016-4566-95DD-79E8E26A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Heap, AO row, AOCO column: когда что выбирать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FF4FC-4A85-42BA-A3DE-77B946A2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В Greenplum columnstore - это append-optimized column-oriented table, а не отдельная магия поверх heap.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F9FAF-6BA1-45EF-9CFA-D71BB776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9BDDA-BD17-4376-8381-F34C2B8A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383C8-B825-4FFF-A22D-143D905C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9AF7F-A21C-46F8-8998-4B96FE05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Heap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976B1-92BF-4763-9F2D-2C8BD7AC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2552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Row-oriented storage по умолчанию. Подходит для небольших mutable tables, staging, частых точечных изменений.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245F5-0B09-4734-9E05-44C24E8E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9075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4A4F7-7888-477D-B5FE-E3F17D31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3622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BED0E-76B4-4B94-9D5E-E7410248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5336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AO row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2B77D-F52B-4FC7-9708-1C6FF845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67050"/>
            <a:ext cx="2552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Append-optimized row. Хорош для batch insert и широких scans, когда часто читается почти вся строка.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33345E-67D9-4212-8FF1-628DBDC9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9075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1DDB8-4BF2-4666-B565-0B6E5232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622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AA65C8-2047-44B1-A5C0-2003B45F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336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AOCO column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2F3767-C6A4-445B-8087-DC098F3C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67050"/>
            <a:ext cx="2552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Column-oriented AO. Сильный вариант для OLAP: меньше I/O по выбранным колонкам, эффективнее compression.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B2B752-BF21-4D19-891C-3DA411B8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43400"/>
            <a:ext cx="962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9C93EE-ED82-4AD5-89D9-3D095870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767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STORAGE OPTIONS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9EAC31-D1D0-4F3B-83A7-5F71FC0F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43450"/>
            <a:ext cx="927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WITH (appendoptimized=true, orientation=column,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    compresstype=zstd, compresslevel=1, blocksize=32768)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-- column-level: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amount numeric ENCODING (compresstype=zstd, compresslevel=3)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44BFC3-272B-4705-B9B7-960F418E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Правило: heap для mutable/малого, AO/AOCO для больших аналитических фактов и партиций; storage model меняется через rebuild.</a:t>
            </a:r>
          </a:p>
        </p:txBody>
      </p:sp>
    </p:spTree>
    <p:extLst>
      <p:ext uri="{BB962C8B-B14F-4D97-AF65-F5344CB8AC3E}">
        <p14:creationId xmlns:p14="http://schemas.microsoft.com/office/powerpoint/2010/main" val="74936114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C7F366-7AD2-4F55-B96F-9746668F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FA653-C93C-423F-949D-509067DE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6B9C8-023B-4739-ABBE-C8367B9E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7399F-B114-4F1F-90E1-FE1CC004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DISTRIBUTION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FFC24-0959-464A-8B6A-510557F2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Distribution key — физическое архитектурное решение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C2C34-4CAF-473B-AC11-F077EE39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Хороший ключ распределяет строки ровно и делает частые joins локальными.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7B97B-58E9-4037-AAB2-7D53336D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55B0B-BAC0-40B2-8870-3507CEF8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A47BF-4011-46B2-9D48-A249C092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F0BC4-658C-4675-8708-273BBC78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1. Cardinality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209DC-065E-41BC-B65E-4F05A708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552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Много разных значений. Поля вроде status, flag, gender опасны для больших фактов.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F2053-FA53-4F30-9998-9A5F7852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6695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5CC00-CDEB-423C-96EA-43D7BB26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4384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57D84-C84B-4EA8-9F83-2F066646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6098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2. Join locality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56301-171B-43AD-A408-3776F495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143250"/>
            <a:ext cx="2552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Если fact и dimension распределены по одному ключу, join может пройти без Redistribute Motion.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C0842C-6953-4B7A-8C7A-977D74AD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312D82-3F88-423B-AF5B-FCB178B0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384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F8B61-85DF-4D0E-954B-9A6C2AF8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98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3. Workload fit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1BBE03-B429-4C70-ACCA-89446838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43250"/>
            <a:ext cx="2552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Нет универсального ключа. Выбор защищается через grain, query patterns и риски.</a:t>
            </a:r>
          </a:p>
        </p:txBody>
      </p:sp>
    </p:spTree>
    <p:extLst>
      <p:ext uri="{BB962C8B-B14F-4D97-AF65-F5344CB8AC3E}">
        <p14:creationId xmlns:p14="http://schemas.microsoft.com/office/powerpoint/2010/main" val="209273183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51F998-953A-4633-B446-AF5F2A58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06741-2B64-40D0-941A-EA0E7DCE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F76FF-3A7A-4978-AFAD-28F32D89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614FC-8793-473E-8A3D-20007DA2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ДОКАЗАТЕЛЬСТВО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D95C0-6C28-4BD3-ACB5-336C06E1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Skew видно до production-инцидента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D0EB1-33DC-4191-B9D6-31BB2776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Проверка `gp_segment_id` превращает архитектурную гипотезу в измеримый факт.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030C7-3085-49A8-9606-6B7CB949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7FAE0-4CA8-4709-9789-1C2AF33C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Плохо: DISTRIBUTED BY(status)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D8AE9-1240-403E-8DCA-44B841F1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Segment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7EAEA-98EC-4614-8D42-118F851F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88129-10BD-4C5A-906A-CA8C7CE5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764A3-D260-4851-9F20-0DC23806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5275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E1A67-4A55-47EF-84DB-CD13C040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Segment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EF881-40CE-4434-9B37-82AFD8CA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14B99-89A0-458A-B39F-001B0848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358330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AAE72E-317D-4E54-BBF2-B8AE2267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100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99%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E12D4-6A6C-439D-9FDE-43BCA2CE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Лучше: BY(customer_id)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3808D5-CABF-47A4-AAD4-028DAC38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051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Segment 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9AB71C-FF1D-452E-8617-0DCD77CD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7A4EB-CAA5-4430-9A4B-8468B7AD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181337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C6235-D686-42E4-A653-0520AE5E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5275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35A8F-BC96-4741-990C-A316C0B3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623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Segment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EB0B54-4AD4-4FFA-A6B1-23068286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29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CEC47E-7E1B-4D43-B62E-FC508C77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29050"/>
            <a:ext cx="1806131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92F031-8EC6-408D-9E98-2F40AE4C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8100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83A053-E68F-4BC9-BAD2-124DAB05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Оптимизатору легче помогать, когда физическая модель не мешает.</a:t>
            </a:r>
          </a:p>
        </p:txBody>
      </p:sp>
    </p:spTree>
    <p:extLst>
      <p:ext uri="{BB962C8B-B14F-4D97-AF65-F5344CB8AC3E}">
        <p14:creationId xmlns:p14="http://schemas.microsoft.com/office/powerpoint/2010/main" val="150029851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AD776B-9F5F-4158-BB26-C6EB2F3A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04862-9D41-4D2E-A6CC-7C535927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B18A9-1030-42C9-B485-5F88B34B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A1171-1B57-46A5-A4BE-A335A8DC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BD49D-B922-47B5-B024-DBB743C5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Motion nodes — счет за сеть внутри запроса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0873C-CEBD-4D98-A025-2E90A940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Ученику не нужно понимать весь optimizer сразу; сначала он должен видеть, где данные поехали.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B974C-C8D1-4779-9B0B-C9F57692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EB61D-95D2-4E00-AD97-26005965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5095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DE33B-9C17-42E3-B992-55A83931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PLAN FRAGMENT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FB888-7DCB-41D8-821D-BC94F3FC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475297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-&gt; Redistribute Motion 2:2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 Hash Key: fact_sales_bad.customer_id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 -&gt; Seq Scan on fact_sales_bad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-&gt; Gather Motion 2:1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 Merge Key: sum(amount)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2771C-D402-4DCF-A29C-A8D71850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Правило чтения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85B28-4FC7-470A-B63A-EC509FB6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38450"/>
            <a:ext cx="419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3"/>
                </a:solidFill>
                <a:latin typeface="Aptos"/>
                <a:ea typeface="Aptos"/>
                <a:cs typeface="Aptos"/>
              </a:rPr>
              <a:t>Redistribute Motion значит, что строки не лежат там, где нужны для join или aggregate. Это не всегда плохо, но всегда должно быть осознанно.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78460-D0A0-4CD2-8A84-AEA052FB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1485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Вопрос: может ли физическая модель убрать этот motion?</a:t>
            </a:r>
          </a:p>
        </p:txBody>
      </p:sp>
    </p:spTree>
    <p:extLst>
      <p:ext uri="{BB962C8B-B14F-4D97-AF65-F5344CB8AC3E}">
        <p14:creationId xmlns:p14="http://schemas.microsoft.com/office/powerpoint/2010/main" val="97253842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B52114-DF62-4326-89AB-F54991F3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43CA3-954F-41CA-8D53-3EDF08AE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6CCBB-1669-4127-A10D-DDE2F74E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F64E0-7349-4937-9D47-3560E7D8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ДИАГНОСТИКА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B4EE7-6F6E-43E1-AF52-743DB5CD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Профессиональный цикл: evidence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EB521-7AE2-4FCD-89CD-E33C1323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Лучший урок учит не командам, а диагностическому мышлению.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06F2D-4A54-4A1C-9894-AB8CA08A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7A225-6DA0-4A87-AF80-FDC92133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03FBA-96E9-4011-8BDE-E36EC59E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11781-4F57-4F5A-A94C-75D8E85A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Измерить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ED844-9DCB-4148-A0D0-30E25985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1981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Строки по сегментам, размер таблиц, свежесть statistics, row counts.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F6978-5F7E-4C38-92D4-DECB16FD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24856-3CAA-4C7F-AF5D-94EAEE1F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DB62F-82CC-4797-A625-BF95EE4F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41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Объяснить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BEC96-3B56-4CE2-A05E-63139812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57550"/>
            <a:ext cx="1981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Найти Motion, тип join, фазы aggregate, форму scan.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822F8-F6EA-49A9-B603-B87C69A2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E87AD5-58DB-457E-88CB-72BFAA3B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0FFF8-68D1-48F0-AF77-0BA06088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241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Изменить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65F027-0857-437C-902B-F959A750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57550"/>
            <a:ext cx="1981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Поправить distribution, statistics, grain модели или форму запроса.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40A735-CCDF-4504-B379-E1C6A5AF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1FD6D-D1B0-437D-8208-31B234C3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B1586-D13D-41EB-BFED-E13EE122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Проверить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094696-37E9-4035-8EF4-5F07DD36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57550"/>
            <a:ext cx="1981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Сравнить proof objects, а не ощущения от выполнения.</a:t>
            </a:r>
          </a:p>
        </p:txBody>
      </p:sp>
    </p:spTree>
    <p:extLst>
      <p:ext uri="{BB962C8B-B14F-4D97-AF65-F5344CB8AC3E}">
        <p14:creationId xmlns:p14="http://schemas.microsoft.com/office/powerpoint/2010/main" val="132184534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8C02B5-43E8-42B3-A072-3CAC2DBE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E063E-64EC-40C1-9038-A82F9163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D64B2-94BE-4025-82D4-778A66BA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8E5C1-C286-4BD2-A67E-CC9F0985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INCIDENT MODE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FD199-E84C-4FA9-884F-53433856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Отчет по выручке marketplace замедлился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AE0B0-EC32-49EF-A993-477CB0B2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Ученик играет роль инженера, который должен дать RCA, а не просто выполнить SQL.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A4732-4E06-436C-993E-1E3BE90E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23A77-B28A-4C77-89B6-855DC865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23E17-D4DD-49A2-9ABE-32BE4FF7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F65A0-B2CB-4B3F-9082-21B0801B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Симптомы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D3AEF-C2A9-4DAF-940B-39CBFB03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2743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Запрос по регионам замедлился. EXPLAIN показывает Redistribute Motion. Один сегмент делает почти всю работу.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9AF88-206A-424C-BBFB-16730261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6868A-9655-4390-87E8-AE95B8E7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622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D31EC-9C3C-4272-888F-47856281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336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Миссия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31F29A-216B-4494-A75D-2B8D463C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067050"/>
            <a:ext cx="2743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Доказать или отвергнуть skew, non-colocated join и stale statistics. Предложить physical design fix.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13CB8-2FAE-448A-9DE7-FF09C371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912D60-A7A8-4F32-81D9-58A674A4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09998-A509-4434-93C6-A0A0BA88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336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Артефакт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74EF9-26CD-4DDD-8F92-4D753006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2743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Короткий RCA: evidence, root cause, fix, validation query, remaining risk.</a:t>
            </a:r>
          </a:p>
        </p:txBody>
      </p:sp>
    </p:spTree>
    <p:extLst>
      <p:ext uri="{BB962C8B-B14F-4D97-AF65-F5344CB8AC3E}">
        <p14:creationId xmlns:p14="http://schemas.microsoft.com/office/powerpoint/2010/main" val="2833329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FA37C6-7994-4435-829E-B4BD0589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1A0F8-04CC-4C8D-94B5-E1201FD4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0CD6C-1418-4516-A15F-60AB5D99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F2DC7-8667-4071-9674-6FEF2EB6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ПАТТЕРН ФИКСА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00A86-4CF5-4E4E-9DDD-77EECB70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Исправляем модель и доказываем эффект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9DC33-6681-4D17-8B0D-76F2F6AA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Профессиональный ответ содержит DDL и validation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902CF-7A85-4B29-887A-568CAFEF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007C5-9346-46E0-831B-B0C86643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53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7B5DF-7D59-4F72-9F17-2F6A8E54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DDL + 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A2C10-F6A0-4A40-B0A6-9B318A2A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4610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CREATE TABLE fact_sales_good (...)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DISTRIBUTED BY (customer_id);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SELECT gp_segment_id, count(*)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FROM fact_sales_good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GROUP BY gp_segment_id;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88E86-A727-4492-A757-CECEA115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4953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D9F1B-5D34-4137-95AF-CB4D0C64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PLAN 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22F85-9668-471A-883E-AE2707DC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610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EXPLAIN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SELECT c.region, sum(f.amount)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FROM fact_sales_good f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JOIN dim_customers c USING(customer_id)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GROUP BY c.region;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F87B6-FEC2-4AFE-9B46-5B6E055D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14950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Фикс не завершен, пока не измерены distribution и форма плана.</a:t>
            </a:r>
          </a:p>
        </p:txBody>
      </p:sp>
    </p:spTree>
    <p:extLst>
      <p:ext uri="{BB962C8B-B14F-4D97-AF65-F5344CB8AC3E}">
        <p14:creationId xmlns:p14="http://schemas.microsoft.com/office/powerpoint/2010/main" val="105348989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F85CBA-DDDE-49BF-BBD0-315A96FB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2E672-20BD-436F-A605-D56D08D5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D0791-555C-491C-BD46-981EAB39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751C1-A730-4038-BCD0-3E4DC595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BD530-E617-4C9F-A567-5DA02512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Проектируем daily marketplace revenue mart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35862-C45B-4900-9D3F-4CA5BAE6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Финальная задача проверяет архитектурное мышление, а не память команд.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B1A5C-A6A0-47DA-BDCD-75B0D801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DEF4E-80D5-4CAE-BDC9-F279624A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D0D5C-06F2-4ED4-B57D-E3AAFF51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3A760-BADD-472C-A2E5-2A75BA88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Grain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974A4F-D246-487B-ABAB-50C6042A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981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Что такое одна строка: день-клиент-продукт, order item или payment event?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7DC6F-EBBF-4FF5-BA46-108BD6C4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3640A-DF16-4294-82DA-B12FE18A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86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AF624-5EDB-46C5-820D-093C9AA9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574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Distribution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B38248-BA83-4B0A-BC16-E8B2272D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90850"/>
            <a:ext cx="1981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Какой ключ оптимизирует самые тяжелые joins и не создает skew?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1587D-826F-4DC0-A915-FA8C546B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C23217-71E6-4AC9-8CC7-79AC659E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86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DB4B93-98CB-484B-84A4-EB22F14B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Partitioning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B75F61-449A-414A-9062-81FCD2C6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90850"/>
            <a:ext cx="1981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Какая дата помогает pruning, retention и reload strategy?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62064C-A75A-4118-A850-848D65B9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A9816E-9AFE-4D66-9D52-9A615401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BBE7F6-DE63-40ED-958A-F6D15A4B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574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Risks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C9500F-0AC4-4BB7-A55D-9E439695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90850"/>
            <a:ext cx="1981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Enterprise-клиенты, late events, stale stats, меняющиеся query patterns.</a:t>
            </a:r>
          </a:p>
        </p:txBody>
      </p:sp>
    </p:spTree>
    <p:extLst>
      <p:ext uri="{BB962C8B-B14F-4D97-AF65-F5344CB8AC3E}">
        <p14:creationId xmlns:p14="http://schemas.microsoft.com/office/powerpoint/2010/main" val="68110059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C4CE1F-15F9-4F5A-858C-D7F5B6FE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01D69-660D-4ACB-B780-FAF0CB1A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B3E5C-4825-4B24-935B-EE847AF8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B2A5F-70DF-48B6-87C0-0B05DC0F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АВТОМАТИЗАЦИЯ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048AF-BEE8-440A-9927-165D488A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Лаборатория оценивает evidence, а не уверенность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A836F-9131-4E15-A730-F4E7C150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Команды превращают урок в self-service тренажер и дают ментору отчет.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5952B-5629-4100-8EDA-2EDF338C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CF793-D2A8-4E8C-8135-C3F1CE53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669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88322-66BB-4048-83AF-DE989A0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384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E0E4F-F45F-46D9-B74C-BF2F38B7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6098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Цикл ученика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54280-CB5B-487C-80F0-3FFFB705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43250"/>
            <a:ext cx="2743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lesson -&gt; seed -&gt; investigate -&gt; check -&gt; hint -&gt; retry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D2C26-11E8-4C3F-9A0C-60665AAA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E3EB4-9DE6-421A-B9C8-D56DD7DC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384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1FB6B-1A38-4746-B393-9AB7C5A0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098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Цикл ментора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1A7CBF-C599-4800-A1B8-9B5A6710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143250"/>
            <a:ext cx="2743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grade -&gt; report -&gt; rubric -&gt; next actions -&gt; homework focus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FADC4-0B3F-4519-ACF3-160DCB9A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669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D207E2-F347-429C-9A78-65965682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4384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FDB77-C131-4907-A067-35500C0B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098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Цикл платформы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9C0647-B398-49B1-B3F3-8971E717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43250"/>
            <a:ext cx="2743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Та же CLI-форма позже расширяется на Postgres, ClickHouse, HDFS и Spark.</a:t>
            </a:r>
          </a:p>
        </p:txBody>
      </p:sp>
    </p:spTree>
    <p:extLst>
      <p:ext uri="{BB962C8B-B14F-4D97-AF65-F5344CB8AC3E}">
        <p14:creationId xmlns:p14="http://schemas.microsoft.com/office/powerpoint/2010/main" val="209743592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D7BE44-0651-4DDA-9BD9-C28EDBC7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946F0-483D-43B2-8423-D2DB72D2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212D8-D502-428E-A61B-12CD9CBE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C45A9-3FFA-4AD5-A25B-698DDF81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ИТОГИ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BB27E-5960-4E08-A678-0B353D91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Что ученик должен унести с урока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EDFE4-622B-407C-87CB-A6CA47F1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Если эти пять тезисов закрепились, первый урок выполнил свою работу.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3312D-32B5-4442-B360-2A6D24B5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3E3CC-3F03-4A3B-8025-201C8393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24FBB-A904-40ED-ACC5-185675AE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71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47AE6-71EA-4310-B092-0CC53A9A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431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1. Greenplum — не просто большой PostgreSQL.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B2EE4-5E4B-4143-B79A-A24FD633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E06E1-1073-4BDC-9A4F-910E4CBB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194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EAE84-B32C-4B73-AD90-2C82990A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909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2. Distribution key — физическое решение.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EABD1-7E11-4BA2-A73F-0DBB4E2B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B3609B-1609-4D76-A192-A66F6497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672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AE4E96-F6CF-47F6-851C-595D8211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386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3. Skew измеряется через gp_segment_id.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2EC63C-848F-4179-8094-5CD4906D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B60B4-8A04-4514-B75E-2F7FFA9E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955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9DC9F-140F-46F5-84AB-34CFF0C8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67025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4. Motion nodes показывают движение по сети.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30B6DD-CE8C-4523-93E0-33B17413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F11474-87AA-4964-8C91-A278BCFF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433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576E85-2FC4-4BAF-8AF2-EF1F56D0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14775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5. Фикс доказывается distribution и EXPLAIN.</a:t>
            </a:r>
          </a:p>
        </p:txBody>
      </p:sp>
    </p:spTree>
    <p:extLst>
      <p:ext uri="{BB962C8B-B14F-4D97-AF65-F5344CB8AC3E}">
        <p14:creationId xmlns:p14="http://schemas.microsoft.com/office/powerpoint/2010/main" val="208762121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987D10-39BD-479F-A78F-12CBC424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CDB6C-A568-44BD-A1D9-608DC297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D9A57-AE24-40A9-B1A3-13CB821B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1E59A-F2B3-4D6C-990E-A3F066A1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E7545-7750-415C-8E91-6DCF58BD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APPENDIX: как читать 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89C9E-8EFC-4347-A7BC-B9EA7E69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План читается как физический маршрут данных: scan -&gt; local work -&gt; join -&gt; Motion -&gt; global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52348-BB65-421F-AE26-21BC4631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BEC2B-2DA1-4E0A-A1ED-F07AE451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4762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86C58-BDD8-4D21-9698-20D5FA46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READING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BD87F-8C47-4324-90EF-BE754D9E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4196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plan-reading ladder: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1. leaf scans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2. filters + cardinality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3. join algorithm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4. Motion / slice boundary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5. final aggregate / gather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6. Rows out vs estimates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7. one-sentence RCA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CEBD4-8E93-4D69-B370-2EE8C810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09800"/>
            <a:ext cx="238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24D2C-56CA-4490-AD33-DEF71989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3812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11585-FB78-4643-AC2C-EE7E07E1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52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Motion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94B6A-4174-4F56-ABB2-C9BF700D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86100"/>
            <a:ext cx="1981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Граница data movement/slice. Спроси: почему строки едут?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EB65D-DBF1-401D-A7AE-B3F5C515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09800"/>
            <a:ext cx="238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45155-2972-4DB5-A978-E102F2D9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3812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F29399-5D52-4AA0-A51C-F61E1BB8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552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Rows 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73C09D-5FA5-41F8-88A0-7F7B0319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86100"/>
            <a:ext cx="1981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Фактический поток строк: где оценка неожиданно поменяла масштаб?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733AB-D6A6-430A-B78E-1FC67691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71950"/>
            <a:ext cx="514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8563E-2205-4A68-89C1-1F885BB4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3434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8941E7-2CA6-48A8-BBE9-A8C8CCEC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514850"/>
            <a:ext cx="476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RCA sentence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F7ABFD-A8CC-4022-9C11-22766070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048250"/>
            <a:ext cx="4743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План дорогой, потому что &lt;node&gt; двигает или строит &lt;rows&gt; из-за &lt;distribution/join/skew reason&gt;.</a:t>
            </a:r>
          </a:p>
        </p:txBody>
      </p:sp>
    </p:spTree>
    <p:extLst>
      <p:ext uri="{BB962C8B-B14F-4D97-AF65-F5344CB8AC3E}">
        <p14:creationId xmlns:p14="http://schemas.microsoft.com/office/powerpoint/2010/main" val="184284565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A1000A-FAC1-4CFE-BE83-CE9FEEFB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60CA2-EA81-4C38-A3A9-333621A1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D0C3D-8399-4335-9E12-822A0A10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69452-0BD0-4B3F-8F82-89DEE340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E2A05-58B4-4389-A642-A7B5DFD5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Physical joins in MPP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9DBA2-99F3-41EE-B9FD-D6540967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Join algorithm и data movement - разные оси. В MPP нужно уметь назвать обе.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E78BD-D435-44AD-9646-946B79EE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71146-D755-4501-AC08-A9FE4647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E6BC2-5841-4137-A3A9-AA3F0D4B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98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EB2DB-287A-4FDA-AEEB-20030BFA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81275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Algorithm axis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C9006-DE2F-43F7-92EF-0EAB4FF8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14675"/>
            <a:ext cx="2457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Hash Join, Nested Loop, Merge Join отвечают на вопрос: как один QE соединяет строки локально.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96804-B485-42EB-8589-7FE46532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E56DB-2B42-4793-941C-0EF187C6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098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124E6-C47C-4CB6-BBE3-63CFF737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81275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Locus axis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B2C69-062C-4A38-9F2C-0E4CA729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14675"/>
            <a:ext cx="2457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co-located join, Broadcast Motion, Redistribute Motion отвечают: где строки должны оказаться.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AFCC9-42E9-428C-BECD-A46F97E8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38375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0073B-C77A-4AFE-A2A0-70CB2C69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098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37311-0962-4512-B209-58A6B928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81275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MPP answer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A633F-050E-4A65-893D-EE387A38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14675"/>
            <a:ext cx="2457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Полный ответ: Hash Join после Redistribute Motion из-за несовпадения distribution и join key.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E9AB0-3ABC-407E-8226-DABFEB1C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Нельзя говорить только `Hash Join`. Нужно объяснить data movement, build side, skew и возможный spill.</a:t>
            </a:r>
          </a:p>
        </p:txBody>
      </p:sp>
    </p:spTree>
    <p:extLst>
      <p:ext uri="{BB962C8B-B14F-4D97-AF65-F5344CB8AC3E}">
        <p14:creationId xmlns:p14="http://schemas.microsoft.com/office/powerpoint/2010/main" val="619549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38C606-5684-4A1B-B849-8E97DB50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24FC3-BD77-4553-B5DB-CDC12923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C76A0-60BE-4753-8C91-08DAF50B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94C58-3635-4633-8A67-413A4E05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28AF5-9B54-44E3-8A82-EE358752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Broadcast vs Redistribute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0383D-5C77-4EFA-B526-F7EC0DB5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Движение данных выбирается не по красоте SQL, а по размеру сторон, locus и join key.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F4292-A4A4-4141-AE3E-4201C1C2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00A2B-8600-40F1-931B-5DD18FD6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2857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8E456-C270-4053-B176-5112DEB4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291F8-FBA1-44FD-AE70-D50B8568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co-located join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3A3C4-6363-4A25-AB26-78EB8A56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24574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Обе стороны уже распределены по join key. Лучший случай для больших таблиц.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063DD-7AE6-45D3-847F-A59F2C11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09800"/>
            <a:ext cx="2857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8F32D-CDA6-4F73-A6B4-F456E593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812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6C6B2-333D-4EDF-8E4A-973C012A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527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Broadcast Motion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05AEE-0743-43E3-86BA-9BFB1BC8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86100"/>
            <a:ext cx="24574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Маленькая сторона копируется на все segments. Хорошо после сильного фильтра.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9B3E2-A3B9-4A28-8793-5D40EAF9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09800"/>
            <a:ext cx="2857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83BC5-76B8-4270-9FAE-E40D018C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812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5E826-FB0C-4A62-A730-6A01932A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527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Redistribute Motion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1B47CD-CB98-4DA9-9F8A-C000F748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86100"/>
            <a:ext cx="24574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Строки хэшируются по новому key и едут segment-to-segment.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FBD0C8-8B40-4552-BDC9-CDE9AB2C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29125"/>
            <a:ext cx="8667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02C2E0-0D2A-405F-B68C-DBBD0084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56247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JOIN ROUTE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AF42CA-77BA-41DF-9F1E-9979EFBB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829175"/>
            <a:ext cx="8324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if both sides distributed by join_key -&gt; co-located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else if one side is small after filters -&gt; Broadcast Motion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else -&gt; Redistribute Motion one or both sides</a:t>
            </a:r>
          </a:p>
        </p:txBody>
      </p:sp>
    </p:spTree>
    <p:extLst>
      <p:ext uri="{BB962C8B-B14F-4D97-AF65-F5344CB8AC3E}">
        <p14:creationId xmlns:p14="http://schemas.microsoft.com/office/powerpoint/2010/main" val="20915885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E9B152-549C-4D97-9E8F-C3C73CD7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69F8D-0784-40D1-850F-C6938143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1D3A9-66D1-46DC-81E5-6972CD0C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5ACE6-FC4F-4AC8-966D-2BF90886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B305C-48DC-4960-A0C1-FAA642AD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Hash Join deep dive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72B7C-E14E-409D-BB14-BB75D37D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Внутри QE Hash Join строит hash table на inner side и probe-ит outer side; при нехватке memory появляются batches/workfiles.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0DEA3-72AB-4524-BAC0-F62E2C12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9B70E-F249-4656-B5CD-EF6F179B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000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30D5C-05EB-46E5-AA22-384679D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EXECUTOR 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8C3F1-40F2-41C8-B947-B5D79BFF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65772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Hash Join: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build inner hash table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for each outer tuple: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  compute hash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  scan bucket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  evaluate join qual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if memory pressure: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  split into batches</a:t>
            </a:r>
          </a:p>
          <a:p xmlns:a="http://schemas.openxmlformats.org/drawingml/2006/main">
            <a:pPr algn="l">
              <a:def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  spill hashvalue + MinimalTuple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7AAC0-44EC-4C80-BCA6-4B4CB4ED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2333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DA77E-2346-4BE0-B2E5-41EC44C3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41FC4-E4F7-457F-8F18-DE407E50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90800"/>
            <a:ext cx="1952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Build side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F28583-E35A-42A2-9FB9-66C30F15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4200"/>
            <a:ext cx="1933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Меньшая сторона обычно лучше для hash table.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EA5D0E-C2C2-4F8C-9DC8-DE57754C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4790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F42F3-230A-49DF-AD34-797657ED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193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60142-4190-4BC6-A340-DC70110E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90800"/>
            <a:ext cx="1952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Spill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D04F0-F1C6-4077-AD3B-8065F348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24200"/>
            <a:ext cx="1933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Workfiles означают, что join вышел за memory budget.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C6EA86-2703-4968-BCC7-03AF8BD9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0958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4A5AF7-DF18-4BE7-92EB-494B027D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900DF0-AE36-4F68-9DB3-C03A39E0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38650"/>
            <a:ext cx="4714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Source anchors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377502-BBB8-4B75-B64A-21B77CDA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72050"/>
            <a:ext cx="4695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nodeHashjoin.c state machine; ExecHashJoinSaveTuple пишет hash value + MinimalTuple.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3175F1-5389-4949-854A-B3D907E2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912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MPP вопрос сверху: была ли data movement цена до того, как QE начал локальный Hash Join?</a:t>
            </a:r>
          </a:p>
        </p:txBody>
      </p:sp>
    </p:spTree>
    <p:extLst>
      <p:ext uri="{BB962C8B-B14F-4D97-AF65-F5344CB8AC3E}">
        <p14:creationId xmlns:p14="http://schemas.microsoft.com/office/powerpoint/2010/main" val="164325346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0AFDF2-AB6E-45D4-A59A-BD2DF447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91D22-A65C-40B9-8F5F-97C543BC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7D8EC-8681-4778-89DA-99AF6F04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AB026-5DED-4B6A-8482-BC6FA457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29735-0F6E-4576-91E8-83E1F3B1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MPP-семейства: где цена архитектуры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8E61C-9715-4B24-A241-624BE70C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Сильный инженер выбирает не модную систему, а bottleneck, который готов контролировать.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5029C-599D-4D0C-AF53-E5B24FE7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6291C-100C-4E4B-9F15-200AFBF9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2000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9B2E9-C83D-49F7-90BB-8AE07209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B3480-066A-44B1-9DBA-6873EC44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SMP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D3234-AB50-4A33-A129-7DDE17E0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600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Простота и vertical scale. Цена: предел одного сервера.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66513-A44F-41B7-A641-8EEBBA5C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90750"/>
            <a:ext cx="2000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9C686-2038-4BD8-86A6-97EC5D17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622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52A23-82AB-4B63-A557-B0A36057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33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MPP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0BED1-C667-447C-BD0C-B3B6BBB6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67050"/>
            <a:ext cx="1600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Shared-nothing scan/join scale-out. Цена: skew, Motion, distribution.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436D8-5C68-4AC2-97AD-387B1F77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90750"/>
            <a:ext cx="2000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AC487-0625-46CA-9D2C-7E2ED61D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622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A45C5-2773-4F2E-874C-BA085702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EPP/cloud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FFAE74-7A78-465A-91D2-56F271B7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67050"/>
            <a:ext cx="1600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Elastic compute/storage. Цена: remote IO, shuffle, cost governance.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81BE93-1E7C-423C-AD4F-21A1074D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90750"/>
            <a:ext cx="2000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9548F0-E102-4D1E-B934-714BF318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622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1DCDCF-C415-4275-8979-8C3D6D92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33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Lakehouse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FD81E4-5A8B-41D5-8DCD-F962D8DE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67050"/>
            <a:ext cx="1600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Open storage + engines. Цена: metadata, small files, compaction.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9538D1-AFDB-44E4-97EB-628972D1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90750"/>
            <a:ext cx="2000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B6E1D7-52C4-47B4-9ED2-9F12F06A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622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B1A471-2C5B-4D80-8C69-E65D9E15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33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HTAP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ECB6B6-DA62-4FFB-9394-D98A3412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67050"/>
            <a:ext cx="1600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Transactions + distributed SQL. Цена: consensus и OLAP-scan trade-offs.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421C3F-5601-45B2-8CD4-F7DF57EA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Контрольный вопрос: где твоя система платит за движение данных - внутри сети MPP, в object storage, в shuffle engine или в одном сервере?</a:t>
            </a:r>
          </a:p>
        </p:txBody>
      </p:sp>
    </p:spTree>
    <p:extLst>
      <p:ext uri="{BB962C8B-B14F-4D97-AF65-F5344CB8AC3E}">
        <p14:creationId xmlns:p14="http://schemas.microsoft.com/office/powerpoint/2010/main" val="14255151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2026-06-12T12:31:02.3020000Z</dcterms:created>
  <dcterms:modified xsi:type="dcterms:W3CDTF">2026-06-12T12:31:02.3020000Z</dcterms:modified>
</coreProperties>
</file>