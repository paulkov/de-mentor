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a274a2e9d04348" /><Relationship Type="http://schemas.openxmlformats.org/officeDocument/2006/relationships/extended-properties" Target="/docProps/app.xml" Id="R22ee8154c7cc4273" /><Relationship Type="http://schemas.openxmlformats.org/officeDocument/2006/relationships/officeDocument" Target="/ppt/presentation.xml" Id="R55f7b7efb20445c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94706097da14464"/>
  </p:sldMasterIdLst>
  <p:notesMasterIdLst>
    <p:notesMasterId xmlns:r="http://schemas.openxmlformats.org/officeDocument/2006/relationships" r:id="R86e794d731bc4a68"/>
  </p:notesMasterIdLst>
  <p:sldIdLst>
    <p:sldId xmlns:r="http://schemas.openxmlformats.org/officeDocument/2006/relationships" id="256" r:id="R3fccad1eee8f4d1d"/>
    <p:sldId xmlns:r="http://schemas.openxmlformats.org/officeDocument/2006/relationships" id="257" r:id="R1a6dfdbab680415f"/>
    <p:sldId xmlns:r="http://schemas.openxmlformats.org/officeDocument/2006/relationships" id="258" r:id="R95761cfa19fb4a12"/>
    <p:sldId xmlns:r="http://schemas.openxmlformats.org/officeDocument/2006/relationships" id="259" r:id="Ra59f6b39d3c0469c"/>
    <p:sldId xmlns:r="http://schemas.openxmlformats.org/officeDocument/2006/relationships" id="260" r:id="Rcecdf44ed1104dd2"/>
    <p:sldId xmlns:r="http://schemas.openxmlformats.org/officeDocument/2006/relationships" id="261" r:id="Re4ac91fd5a404e51"/>
    <p:sldId xmlns:r="http://schemas.openxmlformats.org/officeDocument/2006/relationships" id="262" r:id="R85bc0d1369ec48e9"/>
    <p:sldId xmlns:r="http://schemas.openxmlformats.org/officeDocument/2006/relationships" id="263" r:id="Rda973fc5647b4a7e"/>
    <p:sldId xmlns:r="http://schemas.openxmlformats.org/officeDocument/2006/relationships" id="264" r:id="R17d32037b8ca4911"/>
    <p:sldId xmlns:r="http://schemas.openxmlformats.org/officeDocument/2006/relationships" id="265" r:id="R343376bacf584972"/>
    <p:sldId xmlns:r="http://schemas.openxmlformats.org/officeDocument/2006/relationships" id="266" r:id="Ra7f7935cbdca4234"/>
    <p:sldId xmlns:r="http://schemas.openxmlformats.org/officeDocument/2006/relationships" id="267" r:id="Rc3c1cdf582844641"/>
    <p:sldId xmlns:r="http://schemas.openxmlformats.org/officeDocument/2006/relationships" id="268" r:id="Rfd00735aac6b48a1"/>
    <p:sldId xmlns:r="http://schemas.openxmlformats.org/officeDocument/2006/relationships" id="269" r:id="R35df784347c148cb"/>
    <p:sldId xmlns:r="http://schemas.openxmlformats.org/officeDocument/2006/relationships" id="270" r:id="R6ddfa7d2efb34ad5"/>
    <p:sldId xmlns:r="http://schemas.openxmlformats.org/officeDocument/2006/relationships" id="271" r:id="Rb2d045586e4d4c1a"/>
    <p:sldId xmlns:r="http://schemas.openxmlformats.org/officeDocument/2006/relationships" id="272" r:id="R3fb7124c95254693"/>
    <p:sldId xmlns:r="http://schemas.openxmlformats.org/officeDocument/2006/relationships" id="273" r:id="Rf546b17d1e804d1f"/>
    <p:sldId xmlns:r="http://schemas.openxmlformats.org/officeDocument/2006/relationships" id="274" r:id="R585f5c5154934af8"/>
    <p:sldId xmlns:r="http://schemas.openxmlformats.org/officeDocument/2006/relationships" id="275" r:id="Ra71d23796c8c44ed"/>
    <p:sldId xmlns:r="http://schemas.openxmlformats.org/officeDocument/2006/relationships" id="276" r:id="R402f39e3f1ad44a3"/>
    <p:sldId xmlns:r="http://schemas.openxmlformats.org/officeDocument/2006/relationships" id="277" r:id="R601ece3850194fcc"/>
    <p:sldId xmlns:r="http://schemas.openxmlformats.org/officeDocument/2006/relationships" id="278" r:id="R4d9fc1c64ee24450"/>
    <p:sldId xmlns:r="http://schemas.openxmlformats.org/officeDocument/2006/relationships" id="279" r:id="Ra8b433d0b1964e77"/>
    <p:sldId xmlns:r="http://schemas.openxmlformats.org/officeDocument/2006/relationships" id="280" r:id="R10447802a26d4b13"/>
    <p:sldId xmlns:r="http://schemas.openxmlformats.org/officeDocument/2006/relationships" id="281" r:id="R4158b1fdcfb44c80"/>
    <p:sldId xmlns:r="http://schemas.openxmlformats.org/officeDocument/2006/relationships" id="282" r:id="R44cdee406ac546df"/>
    <p:sldId xmlns:r="http://schemas.openxmlformats.org/officeDocument/2006/relationships" id="283" r:id="Re6c0a81c416e4a85"/>
    <p:sldId xmlns:r="http://schemas.openxmlformats.org/officeDocument/2006/relationships" id="284" r:id="R65450c6c024a4ddd"/>
    <p:sldId xmlns:r="http://schemas.openxmlformats.org/officeDocument/2006/relationships" id="285" r:id="R866c2397e5d54a62"/>
    <p:sldId xmlns:r="http://schemas.openxmlformats.org/officeDocument/2006/relationships" id="286" r:id="R9626adbae1bf4aae"/>
    <p:sldId xmlns:r="http://schemas.openxmlformats.org/officeDocument/2006/relationships" id="287" r:id="Rdf1003e0e0ce45f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b80fa5f7ef4cb5" /><Relationship Type="http://schemas.openxmlformats.org/officeDocument/2006/relationships/slideMaster" Target="/ppt/slideMasters/slideMaster1.xml" Id="R894706097da14464" /><Relationship Type="http://schemas.openxmlformats.org/officeDocument/2006/relationships/notesMaster" Target="/ppt/notesMasters/notesMaster1.xml" Id="R86e794d731bc4a68" /><Relationship Type="http://schemas.openxmlformats.org/officeDocument/2006/relationships/presProps" Target="/ppt/presProps.xml" Id="R1de6e64478e944c2" /><Relationship Type="http://schemas.openxmlformats.org/officeDocument/2006/relationships/viewProps" Target="/ppt/viewProps.xml" Id="Rcf31e3dc12774bcd" /><Relationship Type="http://schemas.openxmlformats.org/officeDocument/2006/relationships/tableStyles" Target="/ppt/tableStyles.xml" Id="Ra8c32b5edcd448fe" /><Relationship Type="http://schemas.openxmlformats.org/officeDocument/2006/relationships/slide" Target="/ppt/slides/slide1.xml" Id="R3fccad1eee8f4d1d" /><Relationship Type="http://schemas.openxmlformats.org/officeDocument/2006/relationships/slide" Target="/ppt/slides/slide2.xml" Id="R1a6dfdbab680415f" /><Relationship Type="http://schemas.openxmlformats.org/officeDocument/2006/relationships/slide" Target="/ppt/slides/slide3.xml" Id="R95761cfa19fb4a12" /><Relationship Type="http://schemas.openxmlformats.org/officeDocument/2006/relationships/slide" Target="/ppt/slides/slide4.xml" Id="Ra59f6b39d3c0469c" /><Relationship Type="http://schemas.openxmlformats.org/officeDocument/2006/relationships/slide" Target="/ppt/slides/slide5.xml" Id="Rcecdf44ed1104dd2" /><Relationship Type="http://schemas.openxmlformats.org/officeDocument/2006/relationships/slide" Target="/ppt/slides/slide6.xml" Id="Re4ac91fd5a404e51" /><Relationship Type="http://schemas.openxmlformats.org/officeDocument/2006/relationships/slide" Target="/ppt/slides/slide7.xml" Id="R85bc0d1369ec48e9" /><Relationship Type="http://schemas.openxmlformats.org/officeDocument/2006/relationships/slide" Target="/ppt/slides/slide8.xml" Id="Rda973fc5647b4a7e" /><Relationship Type="http://schemas.openxmlformats.org/officeDocument/2006/relationships/slide" Target="/ppt/slides/slide9.xml" Id="R17d32037b8ca4911" /><Relationship Type="http://schemas.openxmlformats.org/officeDocument/2006/relationships/slide" Target="/ppt/slides/slide10.xml" Id="R343376bacf584972" /><Relationship Type="http://schemas.openxmlformats.org/officeDocument/2006/relationships/slide" Target="/ppt/slides/slide11.xml" Id="Ra7f7935cbdca4234" /><Relationship Type="http://schemas.openxmlformats.org/officeDocument/2006/relationships/slide" Target="/ppt/slides/slide12.xml" Id="Rc3c1cdf582844641" /><Relationship Type="http://schemas.openxmlformats.org/officeDocument/2006/relationships/slide" Target="/ppt/slides/slide13.xml" Id="Rfd00735aac6b48a1" /><Relationship Type="http://schemas.openxmlformats.org/officeDocument/2006/relationships/slide" Target="/ppt/slides/slide14.xml" Id="R35df784347c148cb" /><Relationship Type="http://schemas.openxmlformats.org/officeDocument/2006/relationships/slide" Target="/ppt/slides/slide15.xml" Id="R6ddfa7d2efb34ad5" /><Relationship Type="http://schemas.openxmlformats.org/officeDocument/2006/relationships/slide" Target="/ppt/slides/slide16.xml" Id="Rb2d045586e4d4c1a" /><Relationship Type="http://schemas.openxmlformats.org/officeDocument/2006/relationships/slide" Target="/ppt/slides/slide17.xml" Id="R3fb7124c95254693" /><Relationship Type="http://schemas.openxmlformats.org/officeDocument/2006/relationships/slide" Target="/ppt/slides/slide18.xml" Id="Rf546b17d1e804d1f" /><Relationship Type="http://schemas.openxmlformats.org/officeDocument/2006/relationships/slide" Target="/ppt/slides/slide19.xml" Id="R585f5c5154934af8" /><Relationship Type="http://schemas.openxmlformats.org/officeDocument/2006/relationships/slide" Target="/ppt/slides/slide20.xml" Id="Ra71d23796c8c44ed" /><Relationship Type="http://schemas.openxmlformats.org/officeDocument/2006/relationships/slide" Target="/ppt/slides/slide21.xml" Id="R402f39e3f1ad44a3" /><Relationship Type="http://schemas.openxmlformats.org/officeDocument/2006/relationships/slide" Target="/ppt/slides/slide22.xml" Id="R601ece3850194fcc" /><Relationship Type="http://schemas.openxmlformats.org/officeDocument/2006/relationships/slide" Target="/ppt/slides/slide23.xml" Id="R4d9fc1c64ee24450" /><Relationship Type="http://schemas.openxmlformats.org/officeDocument/2006/relationships/slide" Target="/ppt/slides/slide24.xml" Id="Ra8b433d0b1964e77" /><Relationship Type="http://schemas.openxmlformats.org/officeDocument/2006/relationships/slide" Target="/ppt/slides/slide25.xml" Id="R10447802a26d4b13" /><Relationship Type="http://schemas.openxmlformats.org/officeDocument/2006/relationships/slide" Target="/ppt/slides/slide26.xml" Id="R4158b1fdcfb44c80" /><Relationship Type="http://schemas.openxmlformats.org/officeDocument/2006/relationships/slide" Target="/ppt/slides/slide27.xml" Id="R44cdee406ac546df" /><Relationship Type="http://schemas.openxmlformats.org/officeDocument/2006/relationships/slide" Target="/ppt/slides/slide28.xml" Id="Re6c0a81c416e4a85" /><Relationship Type="http://schemas.openxmlformats.org/officeDocument/2006/relationships/slide" Target="/ppt/slides/slide29.xml" Id="R65450c6c024a4ddd" /><Relationship Type="http://schemas.openxmlformats.org/officeDocument/2006/relationships/slide" Target="/ppt/slides/slide30.xml" Id="R866c2397e5d54a62" /><Relationship Type="http://schemas.openxmlformats.org/officeDocument/2006/relationships/slide" Target="/ppt/slides/slide31.xml" Id="R9626adbae1bf4aae" /><Relationship Type="http://schemas.openxmlformats.org/officeDocument/2006/relationships/slide" Target="/ppt/slides/slide32.xml" Id="Rdf1003e0e0ce45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065f00333b4a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17aa0e19624b9f" /><Relationship Type="http://schemas.openxmlformats.org/officeDocument/2006/relationships/notesMaster" Target="/ppt/notesMasters/notesMaster1.xml" Id="R86244aad7ff941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78d94a15aa4642" /><Relationship Type="http://schemas.openxmlformats.org/officeDocument/2006/relationships/notesMaster" Target="/ppt/notesMasters/notesMaster1.xml" Id="Ra9a06ccc81f54c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31249584a864f88" /><Relationship Type="http://schemas.openxmlformats.org/officeDocument/2006/relationships/notesMaster" Target="/ppt/notesMasters/notesMaster1.xml" Id="R172440b5dc8b43d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76bd03bd084dcd" /><Relationship Type="http://schemas.openxmlformats.org/officeDocument/2006/relationships/notesMaster" Target="/ppt/notesMasters/notesMaster1.xml" Id="Rbdbb7765f26145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fcad039a954ba1" /><Relationship Type="http://schemas.openxmlformats.org/officeDocument/2006/relationships/notesMaster" Target="/ppt/notesMasters/notesMaster1.xml" Id="Re8690863caff44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4933e832f44d1b" /><Relationship Type="http://schemas.openxmlformats.org/officeDocument/2006/relationships/notesMaster" Target="/ppt/notesMasters/notesMaster1.xml" Id="Rd3b1fa57da6240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bf2a432e4949f7" /><Relationship Type="http://schemas.openxmlformats.org/officeDocument/2006/relationships/notesMaster" Target="/ppt/notesMasters/notesMaster1.xml" Id="R75e81634406d4c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ce3e27c81942d0" /><Relationship Type="http://schemas.openxmlformats.org/officeDocument/2006/relationships/notesMaster" Target="/ppt/notesMasters/notesMaster1.xml" Id="Rfd04cbac0cda46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78cb30b23244090" /><Relationship Type="http://schemas.openxmlformats.org/officeDocument/2006/relationships/notesMaster" Target="/ppt/notesMasters/notesMaster1.xml" Id="R611e695ba2424e1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305fa4c51c4095" /><Relationship Type="http://schemas.openxmlformats.org/officeDocument/2006/relationships/notesMaster" Target="/ppt/notesMasters/notesMaster1.xml" Id="R4173c565107b46f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0e44f2b2c204557" /><Relationship Type="http://schemas.openxmlformats.org/officeDocument/2006/relationships/notesMaster" Target="/ppt/notesMasters/notesMaster1.xml" Id="R2237f6abc7fb4d5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b1d2f60186542e0" /><Relationship Type="http://schemas.openxmlformats.org/officeDocument/2006/relationships/notesMaster" Target="/ppt/notesMasters/notesMaster1.xml" Id="R092c013404b14b9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efb61ad79fb4c9a" /><Relationship Type="http://schemas.openxmlformats.org/officeDocument/2006/relationships/notesMaster" Target="/ppt/notesMasters/notesMaster1.xml" Id="Ra52e0e2fd77e4d7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c1637af88b0470c" /><Relationship Type="http://schemas.openxmlformats.org/officeDocument/2006/relationships/notesMaster" Target="/ppt/notesMasters/notesMaster1.xml" Id="Ra63d727d546a454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5909ed391c7476e" /><Relationship Type="http://schemas.openxmlformats.org/officeDocument/2006/relationships/notesMaster" Target="/ppt/notesMasters/notesMaster1.xml" Id="Re0f3e08bdc574ea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9348d18ceb54e61" /><Relationship Type="http://schemas.openxmlformats.org/officeDocument/2006/relationships/notesMaster" Target="/ppt/notesMasters/notesMaster1.xml" Id="R6ef08c25cf0f4c5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10d8ea5d46e4009" /><Relationship Type="http://schemas.openxmlformats.org/officeDocument/2006/relationships/notesMaster" Target="/ppt/notesMasters/notesMaster1.xml" Id="R7541509efdc642c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7a8191dd58d4cac" /><Relationship Type="http://schemas.openxmlformats.org/officeDocument/2006/relationships/notesMaster" Target="/ppt/notesMasters/notesMaster1.xml" Id="Rcf7eacf27c3e4f0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edaf7d02cc14b31" /><Relationship Type="http://schemas.openxmlformats.org/officeDocument/2006/relationships/notesMaster" Target="/ppt/notesMasters/notesMaster1.xml" Id="Ra528658f2fa94fc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8e999e1fe3d4376" /><Relationship Type="http://schemas.openxmlformats.org/officeDocument/2006/relationships/notesMaster" Target="/ppt/notesMasters/notesMaster1.xml" Id="R6a271ab3ab9842d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e149034e9a141d0" /><Relationship Type="http://schemas.openxmlformats.org/officeDocument/2006/relationships/notesMaster" Target="/ppt/notesMasters/notesMaster1.xml" Id="R765f6a83027c4bb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0068f8768fe433d" /><Relationship Type="http://schemas.openxmlformats.org/officeDocument/2006/relationships/notesMaster" Target="/ppt/notesMasters/notesMaster1.xml" Id="R739837875667403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da2e4026c0e4108" /><Relationship Type="http://schemas.openxmlformats.org/officeDocument/2006/relationships/notesMaster" Target="/ppt/notesMasters/notesMaster1.xml" Id="R9411087c56464e5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2c45eb8e7724f34" /><Relationship Type="http://schemas.openxmlformats.org/officeDocument/2006/relationships/notesMaster" Target="/ppt/notesMasters/notesMaster1.xml" Id="Rd75e2e092a4048e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4e58021493443ab" /><Relationship Type="http://schemas.openxmlformats.org/officeDocument/2006/relationships/notesMaster" Target="/ppt/notesMasters/notesMaster1.xml" Id="Ra82385880f2b44f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1dd877031fe4a1b" /><Relationship Type="http://schemas.openxmlformats.org/officeDocument/2006/relationships/notesMaster" Target="/ppt/notesMasters/notesMaster1.xml" Id="R1b3c0964483e463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2d1c7695bf14589" /><Relationship Type="http://schemas.openxmlformats.org/officeDocument/2006/relationships/notesMaster" Target="/ppt/notesMasters/notesMaster1.xml" Id="R5225a61e52d444b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2c5d6f1fd424c08" /><Relationship Type="http://schemas.openxmlformats.org/officeDocument/2006/relationships/notesMaster" Target="/ppt/notesMasters/notesMaster1.xml" Id="Raca7bda8c0914ca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639a97cd0844fdf" /><Relationship Type="http://schemas.openxmlformats.org/officeDocument/2006/relationships/notesMaster" Target="/ppt/notesMasters/notesMaster1.xml" Id="R1ab057ed3d2f444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66e2ad0dccc4767" /><Relationship Type="http://schemas.openxmlformats.org/officeDocument/2006/relationships/notesMaster" Target="/ppt/notesMasters/notesMaster1.xml" Id="R43232f34268542b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51a8e7bff514b75" /><Relationship Type="http://schemas.openxmlformats.org/officeDocument/2006/relationships/notesMaster" Target="/ppt/notesMasters/notesMaster1.xml" Id="R251a94bc284149e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c3654c1e5a54066" /><Relationship Type="http://schemas.openxmlformats.org/officeDocument/2006/relationships/notesMaster" Target="/ppt/notesMasters/notesMaster1.xml" Id="R5a9fcdab0bc54d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8b70d8a1e049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eb5a570be44daa" /><Relationship Type="http://schemas.openxmlformats.org/officeDocument/2006/relationships/slideLayout" Target="/ppt/slideLayouts/slideLayout1.xml" Id="Rf4b4edf0760c481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b4edf0760c481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b45afb89b498e" /><Relationship Type="http://schemas.openxmlformats.org/officeDocument/2006/relationships/notesSlide" Target="/ppt/notesSlides/notesSlide1.xml" Id="R3b8a51fcd1604f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265e145d9f47f0" /><Relationship Type="http://schemas.openxmlformats.org/officeDocument/2006/relationships/notesSlide" Target="/ppt/notesSlides/notesSlide2.xml" Id="R8702900d8d5346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c5cf93bfb54a0f" /><Relationship Type="http://schemas.openxmlformats.org/officeDocument/2006/relationships/notesSlide" Target="/ppt/notesSlides/notesSlide3.xml" Id="R3487cc38b2354ec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f24384daa144af" /><Relationship Type="http://schemas.openxmlformats.org/officeDocument/2006/relationships/notesSlide" Target="/ppt/notesSlides/notesSlide4.xml" Id="Rdfd2bd0cfb7347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8df9af445450e" /><Relationship Type="http://schemas.openxmlformats.org/officeDocument/2006/relationships/notesSlide" Target="/ppt/notesSlides/notesSlide5.xml" Id="R3f82364b3bdc4f6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85246ae6f645df" /><Relationship Type="http://schemas.openxmlformats.org/officeDocument/2006/relationships/notesSlide" Target="/ppt/notesSlides/notesSlide6.xml" Id="Rb9da2a5ab8b444d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b513e75ce491f" /><Relationship Type="http://schemas.openxmlformats.org/officeDocument/2006/relationships/notesSlide" Target="/ppt/notesSlides/notesSlide7.xml" Id="R638ad0bf6264454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f11892af204b9a" /><Relationship Type="http://schemas.openxmlformats.org/officeDocument/2006/relationships/notesSlide" Target="/ppt/notesSlides/notesSlide8.xml" Id="R3c69d1e7b89741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b4b075045441f" /><Relationship Type="http://schemas.openxmlformats.org/officeDocument/2006/relationships/notesSlide" Target="/ppt/notesSlides/notesSlide9.xml" Id="Rca263db14768419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2cb87490ef4a79" /><Relationship Type="http://schemas.openxmlformats.org/officeDocument/2006/relationships/notesSlide" Target="/ppt/notesSlides/notesSlide10.xml" Id="R4e875736b45b44a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4d31e3b0cc4dd6" /><Relationship Type="http://schemas.openxmlformats.org/officeDocument/2006/relationships/notesSlide" Target="/ppt/notesSlides/notesSlide11.xml" Id="Rafb4ecbb20374be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c084fa45a941e8" /><Relationship Type="http://schemas.openxmlformats.org/officeDocument/2006/relationships/notesSlide" Target="/ppt/notesSlides/notesSlide12.xml" Id="R6776c12f20e745e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1475e1ae541b0" /><Relationship Type="http://schemas.openxmlformats.org/officeDocument/2006/relationships/notesSlide" Target="/ppt/notesSlides/notesSlide13.xml" Id="Refa6e38379f34ec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3f0f07780148a8" /><Relationship Type="http://schemas.openxmlformats.org/officeDocument/2006/relationships/notesSlide" Target="/ppt/notesSlides/notesSlide14.xml" Id="R83adee88eb86481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e0ba0084b459f" /><Relationship Type="http://schemas.openxmlformats.org/officeDocument/2006/relationships/notesSlide" Target="/ppt/notesSlides/notesSlide15.xml" Id="R26fe447e093b490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ee623760fa4412" /><Relationship Type="http://schemas.openxmlformats.org/officeDocument/2006/relationships/notesSlide" Target="/ppt/notesSlides/notesSlide16.xml" Id="Rde8bb47107e843b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fddebd9544e8f" /><Relationship Type="http://schemas.openxmlformats.org/officeDocument/2006/relationships/notesSlide" Target="/ppt/notesSlides/notesSlide17.xml" Id="Rdd11d24b3440426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81ef1ec3f48ac" /><Relationship Type="http://schemas.openxmlformats.org/officeDocument/2006/relationships/notesSlide" Target="/ppt/notesSlides/notesSlide18.xml" Id="Rb1587304141442c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8a3fbad913474e" /><Relationship Type="http://schemas.openxmlformats.org/officeDocument/2006/relationships/notesSlide" Target="/ppt/notesSlides/notesSlide19.xml" Id="R45bae5c331184a9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44f1e84f154407" /><Relationship Type="http://schemas.openxmlformats.org/officeDocument/2006/relationships/notesSlide" Target="/ppt/notesSlides/notesSlide20.xml" Id="Re3659362775d483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0319ae4a74237" /><Relationship Type="http://schemas.openxmlformats.org/officeDocument/2006/relationships/notesSlide" Target="/ppt/notesSlides/notesSlide21.xml" Id="Rc0387c4b8f864df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28b6483244ffd" /><Relationship Type="http://schemas.openxmlformats.org/officeDocument/2006/relationships/notesSlide" Target="/ppt/notesSlides/notesSlide22.xml" Id="R23177c6974dc44b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612040ff4b47ba" /><Relationship Type="http://schemas.openxmlformats.org/officeDocument/2006/relationships/notesSlide" Target="/ppt/notesSlides/notesSlide23.xml" Id="R5c742da4cd5d432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8f73aa857e456a" /><Relationship Type="http://schemas.openxmlformats.org/officeDocument/2006/relationships/notesSlide" Target="/ppt/notesSlides/notesSlide24.xml" Id="R2692beee0c3b450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8c92c8621a4a9f" /><Relationship Type="http://schemas.openxmlformats.org/officeDocument/2006/relationships/notesSlide" Target="/ppt/notesSlides/notesSlide25.xml" Id="R641840b69ebd4bf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9eb015eb874e16" /><Relationship Type="http://schemas.openxmlformats.org/officeDocument/2006/relationships/notesSlide" Target="/ppt/notesSlides/notesSlide26.xml" Id="R2e41b136fff0481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6a3cd4a0144cc" /><Relationship Type="http://schemas.openxmlformats.org/officeDocument/2006/relationships/notesSlide" Target="/ppt/notesSlides/notesSlide27.xml" Id="Re6bd0d297223496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8d9ab0916b48da" /><Relationship Type="http://schemas.openxmlformats.org/officeDocument/2006/relationships/notesSlide" Target="/ppt/notesSlides/notesSlide28.xml" Id="Re989f066c1d6419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60adc4220455f" /><Relationship Type="http://schemas.openxmlformats.org/officeDocument/2006/relationships/notesSlide" Target="/ppt/notesSlides/notesSlide29.xml" Id="R61ef355564ee463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7c6f109384ffd" /><Relationship Type="http://schemas.openxmlformats.org/officeDocument/2006/relationships/notesSlide" Target="/ppt/notesSlides/notesSlide30.xml" Id="Rd5d357fa902a444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196cbc0e5045ff" /><Relationship Type="http://schemas.openxmlformats.org/officeDocument/2006/relationships/notesSlide" Target="/ppt/notesSlides/notesSlide31.xml" Id="R68df074e3a9d46c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f2f75094d44290" /><Relationship Type="http://schemas.openxmlformats.org/officeDocument/2006/relationships/notesSlide" Target="/ppt/notesSlides/notesSlide32.xml" Id="R0f31b2d52db84b1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02DCDA-C5E5-48A3-ACB3-3BECF565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56F37-1B63-4B8C-BB1C-B417CA33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1A9F4C-2553-417E-8F67-5A427CCC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DFD621-B9CE-4C48-BBA5-16A880B5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ТЕОРИЯ GREENPLUM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7454B5-CE37-4D14-8700-5BCC78BC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Greenplum MPP: мышление дата инженера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927258-8F42-4F6E-91B7-E907DFCC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Первый урок: от системной карты до skew, Motion, storage и доказательного RCA.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9CDA36-B51E-4804-9250-5844C5633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1BAC2B-570F-44B7-9902-908FE2AC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030DA7-1319-45D4-B68C-262551DFD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16C29D-F4F7-42CC-BC12-2456299C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Маршрут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0F3B4D-7932-4183-932E-C2F30D97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60 минут: теория -&gt; SQL practice -&gt; incident -&gt; capstone.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1E5551-B3FD-4C14-A10C-1A6F9E8D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8866F8-BE9C-4AF5-B98D-7FEBBC7C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E7E983-8FB7-4CE7-B6FC-04B37871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Главный навык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8ECF6C-3AFB-4191-AF89-353ED782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Думать не только запросом, но и физикой размещения данных.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7A683A-98D6-4573-B160-2D208A78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B29CF7-30EE-46AC-8720-9CD18EE1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C83FB5-C4B8-47DC-9CB0-33F3E622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Фокус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96BEEA-012A-4CDD-9FD5-DBC0972B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Coordinator, segments, interconnect, distribution, EXPLAIN.</a:t>
            </a:r>
          </a:p>
        </p:txBody>
      </p:sp>
    </p:spTree>
    <p:extLst>
      <p:ext uri="{BB962C8B-B14F-4D97-AF65-F5344CB8AC3E}">
        <p14:creationId xmlns:p14="http://schemas.microsoft.com/office/powerpoint/2010/main" val="140279018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2FC53E-A9DC-4194-9C44-0989635E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28FB10-9B83-4339-AA7D-E4E9A908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BB03E-C045-4666-8160-AF1983B1B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998C64-8131-440A-B0A9-DF5F31B2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КАРТА СИСТЕМ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04AAAA-DD08-46FF-884C-EBD53EF7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SMP, MPP, EPP: где живет узкое место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F1D3B-1061-4CB5-98BC-F9CCAE09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SMP / Shared-disk / MPP / EPP дают разные компромиссы по простоте, масштабу и цене сети.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20F96-DFAB-4B8E-93F4-C9185569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6DE5CC-5C58-4EEE-99B3-A56711D6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2C1CC4-0ED5-401E-BED1-0D1984C7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DED4F2-5C90-4E84-81A4-E87AAEAE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SMP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1975B6-8F53-4519-A754-25063481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Один большой сервер, общая память/storage. Простота, но вертикальный потолок.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103F05-7E7B-4B95-A96B-385E08877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D2BFF4-C456-4009-9183-E08651E7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9C30D1-6B2F-45C3-99EE-83A95A7B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Shared-disk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F5A451-8777-4BD3-910D-2C86578B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Несколько compute-узлов, общее хранилище. Единые данные, но storage contention.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2B97D0-E1F0-4BED-9A2E-1FA3002B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CABB8-DACF-438A-B159-DB18E44F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820F62-CC9E-4B65-B267-60DC2282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MPP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25F957-E710-47E2-90A2-FF82E6A0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Shared-nothing: сегменты хранят свои данные и параллельно исполняют запросы.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69D9AC-682C-4DD7-A73A-81F63A4A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72FF22-1A58-4A68-BC5D-1F53D66B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624EA9-8FA7-4CB3-B232-489CE994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EPP / cloud elastic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EE6A7A-17C0-41BF-A73F-28226D17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Compute и storage часто масштабируются независимо; цена и shuffle требуют контроля.</a:t>
            </a:r>
          </a:p>
        </p:txBody>
      </p:sp>
    </p:spTree>
    <p:extLst>
      <p:ext uri="{BB962C8B-B14F-4D97-AF65-F5344CB8AC3E}">
        <p14:creationId xmlns:p14="http://schemas.microsoft.com/office/powerpoint/2010/main" val="57670108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C80759-0453-49C4-BC81-9F62EFFC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EE9CB0-1DF0-4F07-97B9-4BEBEAA9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8DA214-73DC-4594-AA82-0D8B09C0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E796C0-5BFF-48B8-80CF-C1690F26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ПОЗИЦИОНИРОВАНИЕ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BE0758-2897-489E-BB1A-26CE5346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Greenplum vs sharded PostgreSQL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55E6F1-3282-4495-95E0-9B10EF64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Greenplum не sharded PostgreSQL: это MPP engine с единым SQL endpoint и distributed executor.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57611A-87EF-4390-BDAC-3716FFC2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EA9D36-2666-436A-8AA1-2A7AAB32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90556F-837E-454D-B043-A99B468E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D95FC0-94FE-4186-97CB-668FCE27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Sharded PostgreSQL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04D49A-8CB1-4589-AE96-9ED2941C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Routing/fan-out часто живет во внешнем слое или в приложении; cross-shard join становится задачей системы вокруг БД.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391127-2197-4E32-8D25-9DB3D352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32655E-61F0-47F9-AB18-0ABBBEB0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440D67-7132-467D-A276-BA09C20A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Greenplum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81F2EC-94A7-4C22-9E97-AAF72968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QD строит distributed plan, QE исполняют slices, Motion виден в EXPLAIN как часть плана.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E7D6CF-21BC-46FD-977A-CFF408FA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EA9614-1361-41F9-8D09-E728E1D4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55B5DD-11EA-450A-8BF6-25A4A2FA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Практический вывод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A6A67A-12D6-43E8-B55F-CC076B46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Мы проектируем distribution, storage и bulk I/O как часть модели данных, а не как приложение сверху.</a:t>
            </a:r>
          </a:p>
        </p:txBody>
      </p:sp>
    </p:spTree>
    <p:extLst>
      <p:ext uri="{BB962C8B-B14F-4D97-AF65-F5344CB8AC3E}">
        <p14:creationId xmlns:p14="http://schemas.microsoft.com/office/powerpoint/2010/main" val="64837214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149486-DBC3-43CB-A7F9-2B75B34A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526849-5C8A-4CDD-AB87-BF191FD4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C0749-1392-4247-A06C-343F052A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9B5EAF-0723-4CE1-932D-7B945086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ТОПОЛОГИЯ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23B92-F8E6-4D8E-BA97-A828289C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Greenplum shared-nothing topology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056443-ADA9-4965-AB7C-4FB3F94E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Coordinator принимает SQL, segments держат data plane, interconnect переносит строки между QE.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B87380-098F-4257-8FE3-9CBF4B12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F37E32-E635-4ED7-B29C-37D5D914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4831A3-0402-4AA7-9A12-B000CB8F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92BAF8-0406-4387-8E98-DDFD8FA4A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Coordinator / master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B26AD8-86E9-49FB-A9E0-CF3275F5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Подключения, metadata, planning, dispatch, final gather.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4A051A-C945-43F5-9884-457DEB6F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0C07D3-C853-4628-AD82-A82592B4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A26B48-8AFD-4E36-8895-A378E83A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Primary / mirror segments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BD0B20-68A9-4592-B07E-6042B863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Локальное хранение и локальное исполнение. Mirror нужен для HA.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003566-0BDA-4482-8A12-0CB40D2A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152DC1-F2A0-4349-9061-052E88EC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D30B8E-DA50-4EA3-9264-E6B209DE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Interconnect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410625-A38D-4D63-BE68-A5797581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Сеть становится частью query plan: Gather, Broadcast, Redistribute Motion.</a:t>
            </a:r>
          </a:p>
        </p:txBody>
      </p:sp>
    </p:spTree>
    <p:extLst>
      <p:ext uri="{BB962C8B-B14F-4D97-AF65-F5344CB8AC3E}">
        <p14:creationId xmlns:p14="http://schemas.microsoft.com/office/powerpoint/2010/main" val="64202144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B92680-8885-44DE-AABC-E6466ADB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5A935E-0379-4CED-BA52-BF0E4D66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93B003-0573-4DDD-81FD-2E3C442F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CAF8E-EEB7-4F43-8574-6CAA1202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НОВИЧКУ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1CE98D-1C1D-40BD-A5FF-BE45E166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Master / coordinator простыми словами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F0B47C-CF23-4F1D-A8F7-6DEBFA87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Master - диспетчер и точка входа, но не место, через которое должны течь все большие данные.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79756E-8B84-41B0-9A25-B6AB33F3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3BD475-902A-4309-AFE6-C06243C2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C86B56-755F-4149-8B52-D9CE6009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68EBD-555E-487D-87A5-5BF20A88E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Что делает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A589DB-4E5E-47F5-95F7-D4AC92A0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Парсит SQL, смотрит metadata, строит план, отправляет работу сегментам, возвращает результат клиенту.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A15CEA-2710-4659-8AAC-E2EF775C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E3DF2D-137D-473D-B82F-71C359BC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5D0C8D-99C1-44AA-B7DA-062BA361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Почему узкое место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BB577C-B2FE-4F92-9332-C9209E69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Слишком много подключений, metadata work, planning, dispatch или final gather создают очередь на coordinator.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E323D6-F017-4A46-B954-E312AE15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D0A74E-DF75-4D6A-9676-F31F503A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CFDAB3-261D-48F9-A90F-E5518515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Правило урока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CAAAF7-F1AE-4106-BD8B-B0435CE5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Control plane через master; большие scans/joins/load должны максимально оставаться на segments.</a:t>
            </a:r>
          </a:p>
        </p:txBody>
      </p:sp>
    </p:spTree>
    <p:extLst>
      <p:ext uri="{BB962C8B-B14F-4D97-AF65-F5344CB8AC3E}">
        <p14:creationId xmlns:p14="http://schemas.microsoft.com/office/powerpoint/2010/main" val="169769773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10D291-2AB9-4121-9192-3E9D50E4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3E4A16-7796-4E2C-91AA-2ED97458D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AC498F-30FF-4BD5-8EF2-5F92F767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3BEF12-1DB1-453E-85B1-1927005A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АНАЛОГИЯ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277FA-F584-448B-BAE4-BEF57656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QD / QE / gang / slices: простая аналогия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47BDCA-937E-4B17-9686-89DCFEBA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QD - диспетчер смены; QE - исполнители; gang - команда; slice - участок работы.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4279F4-FF36-4BCC-B61D-384D1DFA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E471D3-0F61-4D07-989E-3DB4C5B8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1B2DBD-4A05-46BA-95A9-F78816EB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AD032-95F8-460D-8DB7-6CA135CB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QD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E74FF1-128E-4F17-B384-A29669A19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Query Dispatcher на coordinator: решает, что делать и кому отправить.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E80FEA-D7B5-4F4D-B623-CBD9AA19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EEF8D5-D838-426A-B421-DB24DE90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C137E8-6093-4981-A5DA-0EA9BDD0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QE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085AFB-09CB-4DA9-A828-382FA444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Query Executor на segment: исполняет свою часть плана над локальными данными.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5CBF18-9F29-4E28-A70B-0C606139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DCDFDC-061D-4693-9D5D-04672217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7EF7A2-4E66-4D0E-B03B-24999B637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gang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F7723B-654A-4F04-B720-D322C24C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Набор QE-процессов, которые синхронно исполняют slice на сегментах.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E8BF67-8072-4746-B4D4-702BF514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BB9EF7-055E-40CE-9790-F417AC9A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7E105E-99CB-456B-BBA7-CDE94C87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slice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62B22F-6004-4F43-8226-C364CE8E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Фрагмент distributed plan; часто граница проходит около Motion.</a:t>
            </a:r>
          </a:p>
        </p:txBody>
      </p:sp>
    </p:spTree>
    <p:extLst>
      <p:ext uri="{BB962C8B-B14F-4D97-AF65-F5344CB8AC3E}">
        <p14:creationId xmlns:p14="http://schemas.microsoft.com/office/powerpoint/2010/main" val="10553046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CB5F10-BA99-4F3E-89C7-CA6BED64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D6C0FD-3641-41D1-B98A-843D63B5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11B9A-D19A-4A0B-AE1B-FF0887683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292571-18F2-4BBC-BE5A-F1A31C7E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DEEP DIVE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A448A9-60BF-4F61-B691-0E4D393F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QD/QE dispatch deep dive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FC4AEF-864C-4D12-B0C5-088306E4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Plan режется на slices; slice исполняется gang-процессами; QueryDispatchDesc создается на QD и уезжает на QE.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7E334C-F999-40E7-8EFE-065C0EEC6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341BB-F48E-49A5-B3F1-CAA9F26E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545687-BE16-45AB-9C9E-3F8BC0BC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E21B2-5663-460D-8621-11DDB08E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Что важно новичку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D64255-BB1A-4B2B-9656-5D17965B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Не нужно читать C-код в первый час; важно понимать, что distributed plan - нативная часть Greenplum.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B59AD6-C066-47D0-91F6-BF01D52F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830423-1E0A-4D53-8CD3-7BC46B04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A0E7D3-BA5A-4EEB-8D32-34CDE803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Где глубина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77C11B-E28B-4D59-BCD0-B2052DCA2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Source anchors: cdbdisp_query.c, execUtils.c, nodeMotion.c.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C69729-BF1E-4046-8983-66C5B951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0382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78CBAF-62B6-4C05-948E-F4249FBB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SQL / CLI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12C542-996E-4DF6-91A0-1EEAA370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53050"/>
            <a:ext cx="10039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QD: parse -&gt; rewrite -&gt; optimize -&gt; slice table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QD: allocate gang -&gt; build QueryDispatchDesc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QD -&gt; QE: dispatch MPPEXEC payload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QE: receive plan fragment -&gt; execute slice -&gt; send tuples via Motion</a:t>
            </a:r>
          </a:p>
        </p:txBody>
      </p:sp>
    </p:spTree>
    <p:extLst>
      <p:ext uri="{BB962C8B-B14F-4D97-AF65-F5344CB8AC3E}">
        <p14:creationId xmlns:p14="http://schemas.microsoft.com/office/powerpoint/2010/main" val="125426793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C39740-C6D3-40D6-902C-DF50FD66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59014-51EC-4869-B58F-79DDDC57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B68405-8735-4480-9395-4E65C74D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20BEFC-FDC9-477E-BCFA-AD487447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INTERCONNECT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AED2ED-61D3-416A-99B7-AEB9D3FC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Interconnect и Motion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ED22F9-703B-43B6-BF12-90ACDB1D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Motion - оператор движения строк между QE. Это не всегда ошибка, но всегда физическая цена.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D6AC06-30AF-4779-96B6-ED19BF27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E2613-F933-4843-A76A-6C45D4A0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5E749E-095B-4938-B985-11FA0439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BE9CE3-B09E-46E1-A751-71B5B939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Gather Motion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B1ED28-1A2B-4238-A098-CD6FF4D9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Собрать результат на coordinator или consumer slice.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E35809-9BC4-42E7-BE79-29719D18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AA5351-0A4E-433D-B881-7622E068D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18C65A-C737-450F-A1F6-C5453D11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Broadcast Motion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530BC7-027F-45F3-A596-2FB1261B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Разослать маленькую сторону join всем segments.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31E6CB-6A41-4EDA-8757-B58E2391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379844-4C84-4804-A1F3-94E895CC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159C6F-4104-4024-9206-7066A8B1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Redistribute Motion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91C58B-27CC-442D-A676-01D2DE7F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Переразложить строки по hash ключу для join/aggregate.</a:t>
            </a:r>
          </a:p>
        </p:txBody>
      </p:sp>
    </p:spTree>
    <p:extLst>
      <p:ext uri="{BB962C8B-B14F-4D97-AF65-F5344CB8AC3E}">
        <p14:creationId xmlns:p14="http://schemas.microsoft.com/office/powerpoint/2010/main" val="211072616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8C813E-3DF1-4156-88C8-892075A2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BF87C-16DA-439C-A206-505EFB7F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24673A-3262-4969-8E99-391E6E94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4D853C-B85F-40D9-A9C4-F0CC79C1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BULK I/O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F50CF7-E141-4BD2-ADB6-B4BECECA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Bulk I/O paths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651EB-AF7A-47ED-82BA-2D96C877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Для больших загрузок держим master в control plane и даем segments читать/писать параллельно.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EE0DE4-16BE-4646-BDC8-4CC97668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A30A3A-3E33-491E-8152-A8BB2519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C57114-522F-48B2-8B3D-B95721F0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711AE0-9885-469B-85B2-4BC14B7C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COPY через client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DF4722-F956-4E50-ADE2-C7934261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Просто для малых объемов, но поток легко становится центральной трубой.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3C9417-D917-48B3-AE72-4911B166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2C18C4-E008-45C3-8B76-F5C303C2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DD69A-9CB0-4BDF-9E14-7DF4AFFB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gpfdist external table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0A4C82-7CBD-4214-83FF-8918F0FC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Segments читают файлы параллельно как HTTP clients; throughput растет вместе с segments.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0D6A4A-D41B-40B6-B8C8-2F08F992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97E0B1-6367-4F75-BFB6-5EAAFE91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9DA0A2-4941-4866-86F8-52C5B368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Production habit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D6CE67-691F-4071-8902-BA5017E0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Для bulk load заранее думай про parallel path, формат, compression, network и error handling.</a:t>
            </a:r>
          </a:p>
        </p:txBody>
      </p:sp>
    </p:spTree>
    <p:extLst>
      <p:ext uri="{BB962C8B-B14F-4D97-AF65-F5344CB8AC3E}">
        <p14:creationId xmlns:p14="http://schemas.microsoft.com/office/powerpoint/2010/main" val="200998540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675A54-0774-4C36-8592-AE75D5F1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C713C5-1D7D-4F89-AD41-91BA5788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319588-764C-48BC-AD19-148B4ADB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4DEA3A-B003-41A4-AF36-13D638968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STORAGE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DB45D4-FB7E-4B9A-87E6-3C7CCA08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Heap vs AO row vs AOCO: концепт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48E726-A779-442A-8A12-8EFE935C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Heap vs AO row vs AOCO - выбор под workload, scan pattern и частоту изменений.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B33721-E3F6-4F41-B048-11DDDBEA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01C12D-CF25-4788-9935-5D2A97A1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27B4C6-93A7-4152-A08D-8DD407E3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CDF911-82E3-4795-9B2E-D35E803C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Heap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D7C3A9-B79D-49D4-90F1-3F8EEFE0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Row storage по умолчанию, удобен для small/mutable tables.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FCF3D0-B15C-4A55-858E-F92F5DB6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E0E5AC-4E26-4931-8290-449195B7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6E9138-CD24-415F-8908-41944998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AO row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CD6D94-AD38-4ABC-B840-1F9D1AC4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Append-optimized row storage для append-heavy аналитики, когда читаем много колонок.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8D1EA3-9D24-4C6E-AC6F-89E3BDDC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496EA7-ED01-43BD-B5D2-0F81F4CE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5F4480-8D60-4377-816B-A79CA500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AOCO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4D6EB8-30F4-4C9A-87D3-9EB5D349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Append-optimized column storage: column pruning и compression для широких фактов.</a:t>
            </a:r>
          </a:p>
        </p:txBody>
      </p:sp>
    </p:spTree>
    <p:extLst>
      <p:ext uri="{BB962C8B-B14F-4D97-AF65-F5344CB8AC3E}">
        <p14:creationId xmlns:p14="http://schemas.microsoft.com/office/powerpoint/2010/main" val="210330903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E051C1-2D15-473B-A974-7E703958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0EE968-F86E-457B-B969-8BEA938C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1DA9E2-9E89-4AF7-8B38-787CE91D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411B4D-F353-40AD-B29C-23560378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ПРАКТИКА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F948A4-8E6D-433B-B65A-C2FB929B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Docker lab cluster passport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E13E52-1F89-4813-9484-0CE8BA6A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Перед командами фиксируем, какой Greenplum мы смотрим: 1 coordinator + 2 primary segments в одном Docker service.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CA2A3C-30EF-4C92-95B9-12D559852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5C2680-5DB0-4095-BCA2-16E75448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890BE9-1820-4523-99D0-6E265F7C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82FFC1-E325-4905-A7BD-D452FF84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Container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E5536-E5F6-4484-A1CB-7D84257F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2933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image: woblerr/greenplum:7.1.0</a:t>
            </a:r>
          </a:p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service: greenplum</a:t>
            </a:r>
          </a:p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port: 15432 -&gt; 5432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03ACE8-2565-483E-8554-C9179917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33625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42D205-1967-4743-BC60-59817BBC7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70C46C-9DA2-42D7-AB5D-20B264EC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676525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Topology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323AD0-FDB2-44B0-AF2B-1EC53899E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209925"/>
            <a:ext cx="2933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1 coordinator/master</a:t>
            </a:r>
          </a:p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2 primary segments</a:t>
            </a:r>
          </a:p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0 mirrors, 1 segment host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BAABF3-2F10-49D7-966E-02A38F0E0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E539B1-2E74-4648-A284-DCAE185B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A005B1-54A8-4FC4-A2FE-9AC46EF8E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76525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Resources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03C08D-CD33-46C8-87C5-22446F59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457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CPU/RAM limits не заданы в compose: используются лимиты Docker Desktop/Engine.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EE537F-2D34-46D4-8394-0CB4441D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10382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B69275-7021-4510-B1A5-C86B7EFC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7672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SQL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703769-08A7-4CA5-AD8E-64BDB73C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43425"/>
            <a:ext cx="10039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\i /mentor-lab/examples/cluster-inspection.sql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-- anchors inside the script: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SELECT ... FROM gp_segment_configuration;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SELECT ... FROM pg_settings WHERE name IN (...);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SELECT ... FROM gp_toolkit.gp_disk_free;</a:t>
            </a:r>
          </a:p>
        </p:txBody>
      </p:sp>
    </p:spTree>
    <p:extLst>
      <p:ext uri="{BB962C8B-B14F-4D97-AF65-F5344CB8AC3E}">
        <p14:creationId xmlns:p14="http://schemas.microsoft.com/office/powerpoint/2010/main" val="29843615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2B3ACC-55B0-4993-BAE1-416AFD2A5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B29C68-D5AB-4121-90B6-7D9612B1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E2F449-58CE-4515-9B3C-6A566905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58A23E-B8A8-460E-A9D8-3B8016C6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RUNNABLE DDL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15D8A9-EBA1-48F9-BB6E-968CBD6F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Heap vs AOCO: runnable DDL + catalog checks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A5A8E-5638-4658-862F-C5EFF1DD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Демо живет в labs/greenplum/examples/storage-and-partitioning.sql.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3657DF-EF15-4C58-A2BC-4A769CFA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C2F06D-BE3D-44AB-82A8-078594E60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8641FF-85D8-4066-A749-E546DE98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AEDA2D-AFBF-4B1E-913F-05FBDF1B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Проверяем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4E91DD-3AC0-4D64-8745-9FAB5FA5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Heap/AO/AOCO видны через psql \d+ и catalog checks.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75D7D0-5CC1-4033-B4E0-099A828B8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DE48A6-0C76-42E0-8F6A-997D2D4E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B50D87-2478-4179-A216-8E3F5DBF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Не путаем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1B6278-B422-4462-B9F4-B7AF5CFC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Storage ускоряет scan/compression, но не заменяет distribution key.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752375-8D7B-43EE-B7D7-3B521BC6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0382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5700CD-EFDC-494E-8ADF-8CD3F6AD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SQL / CLI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09E328-04AB-41EE-80DC-CEB9BF452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53050"/>
            <a:ext cx="10039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CREATE TABLE lesson01.storage_aoco_demo (...)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WITH (appendoptimized=true, orientation=column, compresstype=zstd, compresslevel=1)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DISTRIBUTED BY (customer_id);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\d+ lesson01.storage_aoco_demo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SELECT c.relname, am.amname AS access_method FROM pg_class c LEFT JOIN pg_am am ON am.oid = c.relam WHERE c.relname LIKE 'storage_%_demo';</a:t>
            </a:r>
          </a:p>
        </p:txBody>
      </p:sp>
    </p:spTree>
    <p:extLst>
      <p:ext uri="{BB962C8B-B14F-4D97-AF65-F5344CB8AC3E}">
        <p14:creationId xmlns:p14="http://schemas.microsoft.com/office/powerpoint/2010/main" val="101153833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D1EACC-6A8D-4632-A9BE-FF4CB388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59B86A-FA1E-4607-BB7A-A695E3EE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CD351F-2227-4E20-B75C-4569273B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30AA5A-FEC6-4DCB-A679-EFACB500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DEFAULTS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7D6949-B0C2-43C4-B637-CC9FBF8B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Columnstore defaults: table / database / role / instance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7CFA7F-E8D8-4A71-BEC3-0B6FFE7A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Columnstore включается явно; defaults помогают стандарту, но требуют дисциплины.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07F12D-8054-4881-9E8D-5EE5C9DF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8971FA-8760-427D-B368-5A037F6E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D03BA0-98D4-4032-8532-175F3029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E18D5C-93A6-4BC2-BB57-EBB74895A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Table level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23302D-B08F-4DBF-880C-38EFDCA0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WITH (appendoptimized=true, orientation=column, compresstype=zstd, compresslevel=1).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A8A6E9-E460-4256-AAD7-72590AB2C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FB7593-1473-4764-8F2D-B6F7DD04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1AA79B-5328-4958-BE9D-7CF73563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Column level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E7AEFA-1F7B-4D24-9582-064272DB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amount numeric(12,2) ENCODING (compresstype=zstd, compresslevel=3).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76CE1E-7DA8-4A46-A51C-FD360DEE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6406AD-9D2D-4BC4-ADBF-BF51613A6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A3DA1A-818A-4CA6-AE6F-E1F3F63E9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Admin note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88DBC6-2684-42EE-B183-97DDE3A6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Instance-level gpconfig показываем как production/admin snippet, не выполняем без необходимости.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AAA9A1-91C3-4FBF-8CA2-D8EE4D43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0382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41282D-0F66-4D42-B34D-581E2C32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SQL / CLI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85D319-8643-4F4B-9E2E-C34A493F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53050"/>
            <a:ext cx="10039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ALTER DATABASE mentor SET gp_default_storage_options =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'appendoptimized=true, orientation=column, compresstype=zstd, compresslevel=1';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gpconfig -c gp_default_storage_options \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  -v "'appendoptimized=true, orientation=column, compresstype=zstd, compresslevel=1'"</a:t>
            </a:r>
          </a:p>
        </p:txBody>
      </p:sp>
    </p:spTree>
    <p:extLst>
      <p:ext uri="{BB962C8B-B14F-4D97-AF65-F5344CB8AC3E}">
        <p14:creationId xmlns:p14="http://schemas.microsoft.com/office/powerpoint/2010/main" val="88686571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EBD920-81C1-4B21-9CC4-E18D75B1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97288C-E8E1-4549-9D6E-7FE3CA2E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85721-1B59-4EF5-B8FF-B0DF9E232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F3E853-4CD9-4676-A5E8-71676871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DISTRIBUTION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CBF0C-DD15-43EC-9600-FEDF92D4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Distribution key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9351AF-4E52-408E-8499-122D64CA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Ключ распределения решает, где физически лежит строка и какие joins станут локальными.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96FEC4-DB94-4E43-A775-02E87A9D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503CEC-2AEA-48F7-92D0-64E3049A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83EEF-824B-47AA-9262-D1C34197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19A1BC-A98A-4DBE-B9C8-B18B702BC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Хороший ключ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6E7CF2-91B7-483C-9876-BEB221FC8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Высокая cardinality, равномерность, совпадение с частым join key.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2BC828-010B-4DAE-BAEE-7F523ECE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97B6FB-15CF-442B-91A0-58673F5C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FB9F1C-59A0-486D-BFED-83051DC0C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Плохой ключ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CC420A-8FEA-4EC5-B626-5ED4DB56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Низкая cardinality, skew, один segment делает почти всю работу.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134902-AC68-405D-B62E-294A8F87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EE6783-024E-4BD9-925B-F23B6D2B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EC69B0-D4D4-4D33-A836-7340B271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Не то же самое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7C9750-9B66-4FF9-AD74-30C72F72C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Distribution key не равен primary key и не равен partition key.</a:t>
            </a:r>
          </a:p>
        </p:txBody>
      </p:sp>
    </p:spTree>
    <p:extLst>
      <p:ext uri="{BB962C8B-B14F-4D97-AF65-F5344CB8AC3E}">
        <p14:creationId xmlns:p14="http://schemas.microsoft.com/office/powerpoint/2010/main" val="33298565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7F1114-BFD1-41A1-B212-C66DF76D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F9E515-6102-4EC0-B885-63E83D4D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104CF6-B30B-41C7-89E6-0B9EB815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FD3C6-F00D-4CAE-B029-DFE0A96E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SKEW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C91663-D470-4DBD-B50B-671E9A76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Skew через gp_segment_id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B7A23B-A0E3-463A-8C97-A7B3E854F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gp_segment_id превращает догадки про распределение в измеримое evidence.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A2DD29-5509-4C8C-80F5-03F3FE1E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5038CC-CFAE-4CCF-B571-C0DC0990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BA2E7-7EFD-4B10-95B9-1FFCAA80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767A04-13C5-4048-9B97-4ACAA129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Симптом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52135F-3AB3-4F12-A08B-61A536C3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Один segment получил непропорционально много строк.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99B09A-F95D-4FB4-B753-FEDAF09F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EBD762-129F-470E-89BB-6CEA88F5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8EC0DD-D739-4CC1-87B8-ED0712E8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Причина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57D2C9-61EF-4042-9D95-1553584C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Часто низкая cardinality distribution key: status, region, flag.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0E16AD-CD73-44D0-B201-19EE72C8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0AA3D8-F954-4E37-B826-C26777F2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AB0038-D5A4-4DAC-A584-39E2AB47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Фикс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81EA2B-C5E0-4552-A968-0B1683A2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Распределить большой fact по высококардинальному join key.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E75606-2A5E-4D96-BD7B-9A9C24CB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0382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5F2F79-91C9-4C89-9B1C-AF25FFC6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SQL / CLI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9D66EC-EB88-4403-9282-7BEB9689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53050"/>
            <a:ext cx="10039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SELECT gp_segment_id, count(*) AS rows_count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FROM lesson01.fact_sales_bad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GROUP BY gp_segment_id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ORDER BY gp_segment_id;</a:t>
            </a:r>
          </a:p>
        </p:txBody>
      </p:sp>
    </p:spTree>
    <p:extLst>
      <p:ext uri="{BB962C8B-B14F-4D97-AF65-F5344CB8AC3E}">
        <p14:creationId xmlns:p14="http://schemas.microsoft.com/office/powerpoint/2010/main" val="57627597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96CE46-0581-45CE-AF22-375259B1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7EA2F3-FD50-4FEA-8B9B-E84A8239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95E79-5364-4632-B6BE-56DB5205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9A3FC8-0100-40B1-A6B5-5C6E35BBB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PLAN READING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939423-CA89-4D7B-994F-8DF9C434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EXPLAIN и Motion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E132E8-1E79-4454-A981-7FB29167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Первый взгляд новичка в Greenplum-плане: где данные едут по сети.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1DBBD2-0AE7-495C-BF01-18407E49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2A635D-6793-4B14-9986-DF6AC6FB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1F121E-3F81-4316-B2D5-006E7B52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DDC99B-BE0D-49AE-B1C7-B054E725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Redistribute Motion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E873EA-D781-40EB-B6FD-8BFE3DC0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Данные перекладываются по новому ключу. Часто join key не совпал с distribution key.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C4B449-1F7D-4243-806B-5D6751EB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1D10E0-CD1C-4B80-A6EF-3D7BB93F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12061-4F50-481E-8AAD-713DEFD8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Broadcast Motion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C17B1-2E6C-4DA7-AA2E-57B42A2B2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Маленькая таблица копируется на все сегменты. Хорошо только если она действительно маленькая.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313793-9EE6-4941-8B9D-2F478D1E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468CD1-B1F7-42DF-A30E-ABB29A4A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D4285E-736B-4A92-A5C8-1ED12FC9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Gather Motion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7346F3-4806-4820-9715-6DD52066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Финальная сборка результата. Нормально, но может стать bottleneck для огромного output.</a:t>
            </a:r>
          </a:p>
        </p:txBody>
      </p:sp>
    </p:spTree>
    <p:extLst>
      <p:ext uri="{BB962C8B-B14F-4D97-AF65-F5344CB8AC3E}">
        <p14:creationId xmlns:p14="http://schemas.microsoft.com/office/powerpoint/2010/main" val="139797633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A83839-7C12-4D98-A7C5-AFA81170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646F29-F54B-4F10-B363-289BDFE4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3ADB4B-2A53-49CB-ADEC-03C47BD4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6498F9-1C75-401F-A3C5-31392ED1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PARTITIONING INTRO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572DFA-88DA-422A-942B-1F99DB2F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Partitioning strategies: RANGE / LIST / HASH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9AE950-371A-4D67-B2FE-14641BC80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Partitioning режет logical table для pruning/retention; distribution размещает строки по сегментам.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A0114-1319-4BF4-B1F2-BFA47829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684C68-4494-4BE6-A9C5-E2382097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3333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D1322-3E3E-4ECA-9BD9-AE1B10AD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8BF394-66EA-4C57-B153-B316403D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PARTITION BY RANGE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33E019-E622-48EF-83D1-BAB73142C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2933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Даты/числа: pruning, retention, monthly/daily windows.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E31E7-4B37-46D3-9389-9DD059E8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33625"/>
            <a:ext cx="3333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7E36DB-414A-41F5-83DF-7DBEBB01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CDDBCE-ABB3-4416-8EF0-EC8167C2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676525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PARTITION BY LIST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4D3A3E-26B1-4D5E-BA5F-30ACC756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209925"/>
            <a:ext cx="2933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Конечные категории: region, source_system, tenant_group.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CDFEB2-3FAD-441D-9C9B-7418903D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2857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25D7D1-0747-4DCE-82C8-24AB05C6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6FC16B-EFA0-41DA-B89A-7CD9FD90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76525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PARTITION BY HASH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CB2DB8-7155-46D8-9E89-EEB26468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457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Bucketization, когда нет естественного range/list. Не заменяет distribution.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E3C5F8-AF24-4252-B4FE-24ED4762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782DF0-7125-4235-A9F2-EFE68AC4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DE6B1D-0846-4C85-870B-EDE3F1E8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DEFAULT partition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8FF85A-FCC5-41FB-B8B9-095E59EC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Safety net для unexpected values; без него out-of-range INSERT падает.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94385D-9AA4-4697-863B-BF4B5886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3F9F14-253E-443E-BE87-4A652B7F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01919E-4E5F-4642-89A4-91142492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Не distribution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51F83D-3E64-4673-A760-13EF98AD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Partition key не обязан быть distribution key; leaf partitions тоже распределены по segments.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4F9590-1568-4E02-B69C-56D33F8E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10382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EDC4D2-03D8-4D35-81AE-5EB26FEBB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67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SQL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8BBFE8-58D3-4767-9B29-D4AF9BB7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34050"/>
            <a:ext cx="10039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DISTRIBUTED BY (customer_id) -- placement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PARTITION BY RANGE (sale_date) -- pruning/retention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-- no default partitioning: DEFAULT partition нужно объявить явно</a:t>
            </a:r>
          </a:p>
        </p:txBody>
      </p:sp>
    </p:spTree>
    <p:extLst>
      <p:ext uri="{BB962C8B-B14F-4D97-AF65-F5344CB8AC3E}">
        <p14:creationId xmlns:p14="http://schemas.microsoft.com/office/powerpoint/2010/main" val="57944646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FF0FF8-1955-48C2-BF76-18B8B790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5D188-A3DF-4293-80CD-6ED2DA87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CB68BF-4D17-41FC-8774-A8F13A431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3AE08-9545-4584-A734-8C1CAD7A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ЦИКЛ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7AE658-912E-4CD0-98C1-97CA49CE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Диагностический цикл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061B40-07A0-41FB-BFED-A37CE3C7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Профессиональный Greenplum fix выглядит как evidence loop, а не как догадка.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41BE93-F3E4-48C7-9CBD-74A91B5B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85999E-568B-4B8F-8285-71224B4A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AFD487-D231-41A8-B491-E51213A2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FC3DC9-4890-4FC1-972D-A0BD90FF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1. Измерить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8B5823-7300-482B-B096-EBD7DD6B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gp_segment_id, row counts, EXPLAIN, runtime symptoms.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5FBD1F-5268-4F0A-9A34-CAE22E17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0ADEB8-3C11-4595-9C1D-0D60D1EF3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9C9159-5932-48F9-A43F-84A0B77E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2. Объяснить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3A9694-475F-4C60-A1E3-7A53924F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Связать skew/Motion/storage/statistics с физической причиной.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68336D-52E7-4388-9687-D8CCBCF6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5D116A-9B26-45B8-ADA9-E0B4D808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709B5C-8AF4-491B-8966-8A9C0764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3. Изменить и проверить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4B911A-DB22-46E2-B6AF-B4493FFE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Новый DDL или query shape плюс повторный evidence.</a:t>
            </a:r>
          </a:p>
        </p:txBody>
      </p:sp>
    </p:spTree>
    <p:extLst>
      <p:ext uri="{BB962C8B-B14F-4D97-AF65-F5344CB8AC3E}">
        <p14:creationId xmlns:p14="http://schemas.microsoft.com/office/powerpoint/2010/main" val="633917351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494ACC-9AAF-4F12-A9C5-93A44255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37647F-172B-4A98-BB71-06B51F89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4183D4-7CAA-4BB4-929A-B3D440A2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E02AA7-DA59-4E2C-96F1-4EF9553A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PRACTICE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E96C2-F8EC-4C11-91F2-672F54FB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Practice checkpoint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D22BC-FC35-49B8-9A2E-BA299FE8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Ученик сам проходит skew -&gt; EXPLAIN -&gt; comparison -&gt; short RCA.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935785-E362-4BC0-88AB-5E4D901B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31A2C3-00BE-45EE-89E1-5374F81F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B5DAC2-1DB3-477F-922C-581B021B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71ADFB-8319-4D92-B60B-7A451E6C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Что делает ученик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9FD69C-6552-460E-B7A9-4198A633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Запускает workbook, ищет skew, читает Motion, сравнивает bad/good fact.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564B96-8CF1-4048-B017-ED8A59D9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CC3190-7718-49BA-884B-3EA0538B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F105D2-9CDC-4081-8E64-E4C880FF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Что делает ментор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B70C62-4CCE-41F0-B878-2AAD8F28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Задает вопросы и просит доказывать каждый вывод SQL-артефактом.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26E25F-5BF5-4DA0-8B54-1E01AB0D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98D190-2ADF-49A1-AD2A-622B4837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2FBC96-AEEB-4F00-8C77-664838F1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Критерий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A92459-27EA-4A5F-AF96-3DDF1A9A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Ученик может назвать root cause и validation query.</a:t>
            </a:r>
          </a:p>
        </p:txBody>
      </p:sp>
    </p:spTree>
    <p:extLst>
      <p:ext uri="{BB962C8B-B14F-4D97-AF65-F5344CB8AC3E}">
        <p14:creationId xmlns:p14="http://schemas.microsoft.com/office/powerpoint/2010/main" val="1847476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376023-DF1C-4893-ADC7-92092B17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B82B04-860D-4657-8B71-F21D9BD0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B3159B-6B70-4DF7-A5F0-C6029A16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F699D9-2ECC-4AFF-837D-42AC6DEB2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INCIDENT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EFC53-0B04-4AAB-92A6-CE5F4F77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Incident mode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C68B6-0BE5-421E-A861-58A990E6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Теперь это не упражнение, а замедлившийся отчет и короткий RCA для бизнеса.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A28AAC-C63C-4099-99FB-62D9A026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C9874F-BF48-4911-9D66-6C9148B8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A881D8-784A-4EB9-BCFF-E468B5FB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03549-A828-458D-B106-4753F0DA8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Симптом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929CDE-CEFA-455F-8A61-2F7F04402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Отчет по выручке стал медленнее после новой fact table.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D45ACF-D702-40A8-A371-A1BC9358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0A4D30-5EEC-4486-BABE-9F26B70A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31398D-1EF2-42DD-8672-CF8F1A33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Гипотезы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5B5C86-8ED7-460E-9A0E-CD7E273C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Skew, non-colocated join, missing statistics, плохой storage/load path.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410FF9-4532-42CD-8EF8-FF477EE1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BCBE00-D66A-419D-9166-89B39817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04E1B1-6F7D-4853-B026-BB560DBF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Артефакт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17C555-004D-432F-A9BC-7D73E843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RCA: symptom -&gt; evidence -&gt; root cause -&gt; fix -&gt; validation.</a:t>
            </a:r>
          </a:p>
        </p:txBody>
      </p:sp>
    </p:spTree>
    <p:extLst>
      <p:ext uri="{BB962C8B-B14F-4D97-AF65-F5344CB8AC3E}">
        <p14:creationId xmlns:p14="http://schemas.microsoft.com/office/powerpoint/2010/main" val="31853886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273AE8-E98B-403E-B121-42FA1375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17AF87-69C2-4C8D-A339-FB972691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5E5D80-FF52-492F-AD98-934B1E0F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4A8329-6A75-4647-825C-669FEBAD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48FC36-47B7-41F1-A415-3A9BDDAA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Fix and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0D753-D35F-49FB-896A-174539EF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Фикс без проверки - мнение. Фикс с повторным EXPLAIN и skew check - инженерное решение.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4CFCF9-1640-484F-A4C9-2DBB7C6E4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5FF1F4-0D48-4DAD-A37A-D8BE3126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BD04CB-24A7-4E79-9988-F9E00BC7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5D200C-6138-43B1-9A9F-E6EDB771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До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8F17F5-6BAD-41D9-ABB8-8B4D7E92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DISTRIBUTED BY(status), skew, Redistribute Motion.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2CBC8F-B5BD-43EB-84BC-469A642F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772756-E0D4-480B-ADDD-97F34770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939DF0-6E4F-4FD1-A295-0A0FE1CC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После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209B41-2BCB-45FF-BA78-729B5E28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DISTRIBUTED BY(customer_id), ровнее gp_segment_id, дешевле движение.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3D7E98-126E-400D-939B-405EF1A4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FE6033-FC36-443E-AAD5-7022AA4D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2E0CBB-9FFA-4184-AA70-90C6C97F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Доказываем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16D8F6-BAD9-436D-9DEF-5BA9CB16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Скрин/вывод SQL, короткая интерпретация, оставшийся риск.</a:t>
            </a:r>
          </a:p>
        </p:txBody>
      </p:sp>
    </p:spTree>
    <p:extLst>
      <p:ext uri="{BB962C8B-B14F-4D97-AF65-F5344CB8AC3E}">
        <p14:creationId xmlns:p14="http://schemas.microsoft.com/office/powerpoint/2010/main" val="196238049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78C8E7-32CE-4098-B5A4-38F9B359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42C972-ABDD-401A-A9A2-9920A8AF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515897-881A-4830-B804-86276C35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80D03F-9D74-4A9F-B678-61716738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CAPSTONE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DAF295-2302-43D2-9348-84300BEA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Capstone mart design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C616DE-9BCD-4523-B6E2-8BFB8A93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Факт проектируется от grain и workload, а не от любимой DDL-опции.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A7044D-145B-4837-A6C4-2A3F1CB3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2B8D2D-8FAA-40AA-B4D5-B4B41F02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91EB90-599A-4B3E-858C-202786FA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E725D4-EDD5-470A-BBCE-79EB34AF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Grain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7A10E6-3512-49C7-9F1F-A7AF4753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Одна строка что означает? order, order item, daily customer aggregate?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FC1D50-9D5C-4EA0-B557-B2BD48E2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4D6DE0-9510-41BD-85CC-41889263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447BAC-7B4B-47F6-AC1A-8466239A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Physical design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D00E6F-39D9-4DBB-9C58-9E2D4AA26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Distribution для joins, partitioning для date pruning/retention, storage для scans.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CBBF1A-21B4-4629-A48A-ABCF408B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DFFE7B-DE3B-4081-920B-3F2BF4FD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680AF3-B129-47CB-9037-278298E8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Risk register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959EE0-DBB0-45AE-8A5C-D27EBC937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Skew, late facts, stats after load, hot partitions, huge final gather.</a:t>
            </a:r>
          </a:p>
        </p:txBody>
      </p:sp>
    </p:spTree>
    <p:extLst>
      <p:ext uri="{BB962C8B-B14F-4D97-AF65-F5344CB8AC3E}">
        <p14:creationId xmlns:p14="http://schemas.microsoft.com/office/powerpoint/2010/main" val="134635428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6CF9C3-3D78-4557-877E-8A70506A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8B9F50-DDB4-4794-A5B7-6A229DF24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203900-8D21-471C-B7FE-C47B32BB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7E70A-D263-40F5-8E57-40E76C4D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AUTOMATION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48496A-BDC6-48D7-B30B-922564E4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Automation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636104-3231-4778-A334-1ECA66E9D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CLI делает урок повторяемым для ментора и ученика на macOS и Windows.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04B259-EE4E-4546-A6CA-3DE26992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2D9356-6612-4A28-9EE7-FC944D12B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1FFA15-6139-4147-8F60-FF831115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B26AA2-10A8-475B-96AF-824F5CBD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Student UX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DC4B7-07F9-48B8-8A93-0E35762C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up/status/psql/reset без локального psql.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801689-CF25-4967-9264-B1811240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BB980B-418C-4BBA-B484-A333A568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8E3FD7-6689-4567-AB11-7945A48A2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Mentor UX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668E85-18D7-43C3-A791-B5C51C87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runbook, hints, grading, incident, report.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DEFF97-B39B-47F4-B3D9-DF7AD563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0382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98BB80-C126-4C85-B312-87C5E80A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SQL / CLI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91B7FC-7870-466F-970D-BC1BC5CE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53050"/>
            <a:ext cx="10039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python3 mentor-lab.py runbook greenplum simple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python3 mentor-lab.py runbook greenplum deep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python3 mentor-lab.py runbook greenplum homework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python3 mentor-lab.py check greenplum</a:t>
            </a:r>
          </a:p>
        </p:txBody>
      </p:sp>
    </p:spTree>
    <p:extLst>
      <p:ext uri="{BB962C8B-B14F-4D97-AF65-F5344CB8AC3E}">
        <p14:creationId xmlns:p14="http://schemas.microsoft.com/office/powerpoint/2010/main" val="106299461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180742-752B-46B0-91F3-DF995659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587179-9147-49AC-987D-7C3BF901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1C4918-4DA3-4DB8-9F8F-6E774E7B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970529-D770-414C-8764-3026B5D1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SUMMARY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B781E8-8FB9-4477-AD1F-D50BE1A4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Что ученик должен унести с урока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0B2DE8-9D29-4AAA-BB7D-3646F340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Одна страница mental model перед домашкой.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466EF7-464F-4841-BE29-18D8E6D7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A72D49-861C-4705-B784-4768ADDA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D2E7A-9576-4D13-BD0F-C0B982B8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1F6AEF-4DEB-4EE7-8BE4-D489161F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Greenplum = MPP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97699B-4427-4ED5-8190-AABD41AC7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Coordinator планирует, segments исполняют, interconnect двигает строки.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7B586F-A254-4E7B-9D63-DB331AC0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309874-59DF-4E68-9E6B-16AF6AD0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B77972-F9D9-4106-9A15-C0ADA3B7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Физика важна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FAC5E-C415-4657-8058-4F3EADF1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Distribution, skew, Motion и storage влияют на тот же SQL сильнее, чем кажется.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EAC289-C5B4-4949-8700-C5E6C74B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522ADC-5F7E-4F4E-AB65-5665108E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62F8AE-551E-4845-BE60-7310DD9E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Доказательность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E0B8D5-9457-4E36-83AF-B7B03AE8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Каждый fix подтверждаем skew check, EXPLAIN и коротким RCA.</a:t>
            </a:r>
          </a:p>
        </p:txBody>
      </p:sp>
    </p:spTree>
    <p:extLst>
      <p:ext uri="{BB962C8B-B14F-4D97-AF65-F5344CB8AC3E}">
        <p14:creationId xmlns:p14="http://schemas.microsoft.com/office/powerpoint/2010/main" val="2109453654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F1AD54-7D20-47FD-A71F-270D8117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88F128-6312-4EC0-A7A0-604256D0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82D6F8-FCEB-467F-AA19-BDB7E40A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D40645-8439-4AF0-B03B-6CF978E5F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B38BD9-7A10-4016-B2AB-F3063EE6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APPENDIX: как читать EXPLAIN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83A58F-D541-4F20-B4EE-E0DF66E3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Лестница чтения плана: снизу вверх и от локальной работы к сетевой цене.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18B5F4-9C14-4C6D-A5E7-23252082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E90145-BCFB-4A36-89E4-EE8F98D4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117A8-5831-4FC4-A93D-852486AA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DD941F-56DB-4871-B24C-64DD76E8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Leaf scans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A33810-F6B2-477A-AC3D-F435DC91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Какие таблицы читаем и сколько строк ожидаем.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ABFDA7-4685-4F2D-B2F5-46BA8B72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8A08F3-FE79-4E7A-BCEF-F489FF82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277BB6-644B-4CEC-A788-188F6EED5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Local work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E76ED1-CB30-439E-98D1-48317FF3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Filter, aggregate, Hash Join на QE.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6B286A-7DCE-472B-9E23-7F44F497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868A2B-7D74-4591-9668-D188CA5F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B7C996-2DF7-4E27-BC90-A4DA03D2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Motion boundary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220244-36B2-4826-9E53-647AD3C8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Где появляется slice boundary и network movement.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8519DE-6102-41CB-8A14-878F05C5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B559BF-5EB7-4A7A-8150-C83138D5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096E19-FB91-4836-9B8D-C4C6666D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Rows out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60BA12-A1A5-4A2F-B29C-013ABB40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Где actual сильно расходится с estimate.</a:t>
            </a:r>
          </a:p>
        </p:txBody>
      </p:sp>
    </p:spTree>
    <p:extLst>
      <p:ext uri="{BB962C8B-B14F-4D97-AF65-F5344CB8AC3E}">
        <p14:creationId xmlns:p14="http://schemas.microsoft.com/office/powerpoint/2010/main" val="1530667072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2ACB9A-1F54-4455-894E-9951B45B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584676-BA2F-4490-A759-F095A036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51A558-42A7-4AA7-A6D6-C2B0A6F4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48F582-DDC3-41DC-AB26-33252103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F672C-E004-4251-AD6A-43B58FC3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Physical joins in MPP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43E3A1-A70C-4A1D-8623-E3B20DA8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Hash Join - локальный алгоритм; co-located join/Broadcast/Redistribute - физика размещения.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528E12-7EFC-4206-BC84-42A62E08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0FDCD4-A82C-4DC3-9A7B-28DBD2C9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AC905A-C7C4-483B-9A26-3E5DE4351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3502C2-BFC1-45B0-9811-1DE9777B2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co-located join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6A508F-D867-4F48-8E07-277BF71C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Обе стороны уже распределены по join key: network минимален.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26401A-2F38-4360-B433-A34D35C6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D1CCF0-8DD8-46A9-9EF3-AA7F3F4F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B05D51-FBB1-4C07-A49C-AB82082B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Broadcast side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C34C01-102B-47D9-8F1D-C531D7C4A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Маленькая dimension копируется на все segments.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20990B-4459-4F27-AD76-84C91078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7635AB-68AC-4C97-A2D7-AA1FAD1C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2B1F64-4F91-46E6-954E-4F159DBD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Redistribute side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DB2372-784E-4F95-ABC6-D94059CD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Одна или обе стороны перекладываются по hash join key.</a:t>
            </a:r>
          </a:p>
        </p:txBody>
      </p:sp>
    </p:spTree>
    <p:extLst>
      <p:ext uri="{BB962C8B-B14F-4D97-AF65-F5344CB8AC3E}">
        <p14:creationId xmlns:p14="http://schemas.microsoft.com/office/powerpoint/2010/main" val="450943096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D4370D-319C-4659-A143-C476A141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B3A50E-38C8-461C-8565-30E05B86C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FBD59C-FABE-433B-9E48-8CED8F19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935770-3841-4F28-80C0-F29DBA64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380D73-63BB-4F18-B760-7ACE4E06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Broadcast vs Redistribute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839156-CF84-4FB9-985C-7E4F267A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Выбор data movement зависит от размера сторон после фильтров и ключей распределения.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5CC55C-5FD5-406A-8F35-9898661D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53A823-9B5E-4A0E-8DD9-07A23708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0938F-C953-4A7B-877C-EA064237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EABFA2-B23E-4957-8422-44BFD395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Broadcast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191674-870A-4B6D-907B-09F59CD5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Хорош, когда broadcast-side реально мала. Плох для большой dimension/fact.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0F8C50-1AED-4D21-8F01-D36E8C17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DD9B77-B277-46DF-96E4-72F4237D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683F7F-5874-4EC1-92D8-674F6A06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Redistribute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3053BF-D04E-4E13-9059-F3F11A70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Нормальная цена несовпадения distribution и join key, но может стать дорогой.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58F5CC-1A25-4158-BDCC-A6A30D52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311F24-4137-41DA-8A47-E792D1A3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55F72D-F179-4BEC-9882-7D0D81F22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Вопрос ученику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F03FF0-F3F0-44AB-A0FE-FA859A5C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Что дешевле: разослать 10k строк или переразложить 50M строк?</a:t>
            </a:r>
          </a:p>
        </p:txBody>
      </p:sp>
    </p:spTree>
    <p:extLst>
      <p:ext uri="{BB962C8B-B14F-4D97-AF65-F5344CB8AC3E}">
        <p14:creationId xmlns:p14="http://schemas.microsoft.com/office/powerpoint/2010/main" val="1494262064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4A78C2-579E-475A-9C31-1B686364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9BE8F-287D-4F71-BED4-5B809AA8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237C4E-87FC-44E7-9930-45A5CD94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206BE4-81AA-4F0A-AA4E-BA028C2D9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BADF8C-E507-4825-A9FB-236EBBC5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Hash Join deep dive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B65E92-8550-4F6C-9E6B-7F6318C2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QE строит hash table на inner side и probe-ит outer side; memory pressure ведет к batching/workfiles.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3113B0-A66A-47D1-A63C-B5D4DDD2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B656AF-8892-472D-AEC7-4F91355E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ABEC92-E875-4F2D-B428-616172F6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CECEA3-4D92-437A-BBFB-358A3B1AC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Build side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38E70C-DFD6-4BC1-87D9-22531718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Обычно меньшая сторона. Ошибка оценок может привести к spill.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4D083A-B52B-449A-A59A-245EDCA8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521B57-3B7B-47AC-A039-A7567F39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43EDE0-C144-4981-BBFF-ED9A934D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Probe side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8AACB2-5272-4781-9288-EE0D3699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Большая сторона проходит через hash lookup локально на QE.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87B2C5-5C7D-445B-9A04-74950A65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A11B9D-45B9-42EA-8039-2E68EFC0F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321350-B735-4542-BB57-D4BDDE23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MPP context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7BBE5D-8775-4969-AC38-74A83D64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Перед локальным Hash Join данные могли пройти Broadcast или Redistribute Motion.</a:t>
            </a:r>
          </a:p>
        </p:txBody>
      </p:sp>
    </p:spTree>
    <p:extLst>
      <p:ext uri="{BB962C8B-B14F-4D97-AF65-F5344CB8AC3E}">
        <p14:creationId xmlns:p14="http://schemas.microsoft.com/office/powerpoint/2010/main" val="15532917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846FEB-F934-4C3F-A724-DED5ACCB5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69A12-87FE-49FF-877D-BD5F1F6E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242C91-BE46-4E14-92B3-AC75B41C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5AD6A-2967-4660-80B0-9CA18787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830198-BD97-47BC-8F05-D197E8CA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QD/QE internals with source anchors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BF3BD-F6E5-4FDB-88BC-7CFD64BE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Глубина для любопытного ученика: source anchors без превращения урока в чтение C-кода.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380C85-1584-4795-9029-74ECFBD6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DF05EB-46F6-49E4-B0FC-01121148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DBFAAC-7215-4A78-BC8A-2584105B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E78B5A-3E0F-41BF-9BDA-678358E9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cdbdisp_query.c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9EF556-12D0-452F-9C2C-F99FBE1F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Dispatch path: QD готовит и отправляет plan payload на QE.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F7A1D8-FBCD-46C0-B4F9-4D1A78096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0D16B9-0AB1-4DD4-AAD5-00E37FBC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3E0350-F6E0-426F-A552-611507BF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nodeMotion.c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211090-31FE-4106-BDD6-48330FD18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Motion executor обрабатывает send/receive tuple flow между slices.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DCE97A-2838-4E5B-B75A-B08B7AC12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E81AE1-AFA3-4FB9-8542-62FA9630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945654-4CFC-427C-A2FA-B256B9D7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nodeHashjoin.c / joinpath.c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8D5CE4-316B-41B3-9D85-F69EAE54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Локальный Hash Join и optimizer choices отдельно от CdbPathLocus.</a:t>
            </a:r>
          </a:p>
        </p:txBody>
      </p:sp>
    </p:spTree>
    <p:extLst>
      <p:ext uri="{BB962C8B-B14F-4D97-AF65-F5344CB8AC3E}">
        <p14:creationId xmlns:p14="http://schemas.microsoft.com/office/powerpoint/2010/main" val="686591985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F12577-3557-4DC4-8AFA-C076F957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57EA30-E3D6-47B9-AB52-63E223D9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967C8F-C311-47FE-B51A-57517216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6D639D-1DCA-4A12-B4A3-E549F264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E105B9-E04D-42B5-94CD-B9A34727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Storage internals and ALTER TABLE caveats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0FC632-DD44-4E76-855D-8FA2D5A9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Heap/AO/AOCO и ALTER TABLE storage changes требуют понимания rewrite, locks и maintenance window.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03DC36-190F-4ED4-96D0-0AD920A9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832EE8-CF78-4963-9A2A-8D622867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BF88E5-632F-411C-8BAD-80DBB712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2E8A3B-1073-4EBF-9E95-B5911032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AOCO files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CFEA1D-4BF7-4B0D-B082-CD1F5679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Колонки хранятся отдельно, compression работает по column segments.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D79BF0-4915-43D4-9B5B-21CDC589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48A12D-01C2-460E-BABD-A0DEA569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D31E20-3497-4370-8F55-7F2F9D4A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ALTER caveat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5A69CA-9049-45A4-8345-867405A4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Смена storage может требовать rewrite и операционного окна.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0F0064-9792-4E1E-BF06-9D761A40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FC6E9C-0E73-438A-9F73-0CEAD969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22C3D9-7A0B-4003-9EC0-5425019C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Production checklist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A27DC5-408C-4793-A96F-EA2B518A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Объем данных, locks, stats, vacuum/analyze, rollback plan.</a:t>
            </a:r>
          </a:p>
        </p:txBody>
      </p:sp>
    </p:spTree>
    <p:extLst>
      <p:ext uri="{BB962C8B-B14F-4D97-AF65-F5344CB8AC3E}">
        <p14:creationId xmlns:p14="http://schemas.microsoft.com/office/powerpoint/2010/main" val="197155924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B76B9C-4362-4B36-8BDF-5BA4E815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3076D0-F4F8-490A-AE29-28DDC45C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068413-7058-46A7-BC5F-47D1D075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BE9D11-73DE-4B6E-8A40-EDDFB483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4D522A-CACF-486D-A155-2170C11B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MPP-семейства: где цена архитектуры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40CF39-F014-46FB-BF6F-2CF320D8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System taxonomy and next steps: SMP, MPP, EPP, lakehouse, HTAP переносят bottleneck в разные места.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1E39A5-D1B2-4B33-8F91-78B0FF71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19BA5B-CFAB-4B3A-BB60-8078109D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2F4E1F-5CB2-4A2E-A924-4BB08F8E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C96AF9-EAB4-412B-868C-803DE419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SMP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7AF251-74A3-437C-80C1-85189FC9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Простота и вертикальный масштаб.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CD0F87-A0E7-467A-A9B7-1DD84A8F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109BDD-8E87-4840-B8C4-29A54042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60F70C-5122-4AEA-B364-1280E84C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MPP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C5BF91-ACC0-491F-99BB-BE99726C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Параллельная аналитика ценой distribution design и Motion.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01A5F-BB8C-46E7-A81F-6F7558EC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7B2F4E-1DAE-423F-B9BB-C6513521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32D186-76F5-42D1-8787-36FA6AA1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EPP / lakehouse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284B0A-211C-40A5-8B72-CAE07D12A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Эластика и открытые форматы ценой cost, shuffle, metadata и governance.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24B09D-3B31-4433-A516-D01ECED8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2061A5-302D-444D-BDA5-C30104D26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0A2C86-DAD2-4AB8-87D2-D7C7717A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Lesson 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FC8E04-AC19-43D0-88A0-DA27D94E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Partitioning, statistics and incremental loads in MPP.</a:t>
            </a:r>
          </a:p>
        </p:txBody>
      </p:sp>
    </p:spTree>
    <p:extLst>
      <p:ext uri="{BB962C8B-B14F-4D97-AF65-F5344CB8AC3E}">
        <p14:creationId xmlns:p14="http://schemas.microsoft.com/office/powerpoint/2010/main" val="29327370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81D2C8-8995-48D8-A015-31835D90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23CBF7-12B5-4A56-BCDA-DAF61726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69666E-B151-4C0A-916C-882D8C40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86BE10-6834-4490-8AF2-EE402387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BAC06F-892A-4694-A888-19F776C8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Partition catalog: как смотреть и считать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88248E-08ED-4479-8BC6-D2AE24A4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В Greenplum 7 основной быстрый путь - pg_partition_tree; compatibility view - gp_toolkit.gp_partitions.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6A8136-291E-4313-B7B3-872152D1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485364-3AD0-42F7-BDD6-63A9490F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BB67A4-CF72-4E16-9333-F9118B933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974B64-F253-484C-86FE-D1B3E846A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pg_partition_tree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012039-FBC4-49BE-B13D-CC408489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Показывает root/internal/leaf nodes, level и parent relation для partitioned table.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C8FE03-3D39-4CCF-A77C-B9E34DA2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3CA359-2E64-4915-B62F-6F2698F4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53496F-088C-4857-8031-75FF02D0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gp_toolkit.gp_partitions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09C31E-9C27-4993-9181-38C6B8B0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Удобный inventory leaf partitions в базе и совместимость с legacy pg_partitions-подходом.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99D111-22E4-4577-B3C4-EBE7F61D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29D3A0-8F51-4F19-B2D4-8C576864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8921A3-8F16-48E4-A741-83686E0B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leaf partitions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CCE747-DDCB-418E-BDA8-2FC2631A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Считаем именно leaf partitions: они физически держат данные и участвуют в pruning.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9DDE80-60C8-4632-AF28-824DF5CE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706FFF-E820-486B-A509-E51B55F9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718CCC-EE23-4770-82E3-DCC5444D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Maintenance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02A1F8-FCC9-438A-A2C4-07573E01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ATTACH PARTITION, DETACH PARTITION, retention DROP; проверять DEFAULT partition и out-of-range INSERT.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9FEC8C-A1E6-4A2C-8D52-60694F46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10382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F39761-CE15-4429-8B54-3F465340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67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SQL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1B4556-C0D0-4DC1-AB5B-9B3853B9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34050"/>
            <a:ext cx="10039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SELECT * FROM pg_partition_tree('lesson01.partition_range_demo'::regclass);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SELECT * FROM gp_toolkit.gp_partitions WHERE schemaname = 'lesson01';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-- COUNT(*) FILTER (WHERE isleaf) AS leaf_partitions</a:t>
            </a:r>
          </a:p>
        </p:txBody>
      </p:sp>
    </p:spTree>
    <p:extLst>
      <p:ext uri="{BB962C8B-B14F-4D97-AF65-F5344CB8AC3E}">
        <p14:creationId xmlns:p14="http://schemas.microsoft.com/office/powerpoint/2010/main" val="11519940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2026-06-12T17:54:04.3980000Z</dcterms:created>
  <dcterms:modified xsi:type="dcterms:W3CDTF">2026-06-12T17:54:04.3980000Z</dcterms:modified>
</coreProperties>
</file>