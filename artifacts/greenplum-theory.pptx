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3a0c7d8c64e4eda" /><Relationship Type="http://schemas.openxmlformats.org/officeDocument/2006/relationships/extended-properties" Target="/docProps/app.xml" Id="Rffb4fcd67853464a" /><Relationship Type="http://schemas.openxmlformats.org/officeDocument/2006/relationships/officeDocument" Target="/ppt/presentation.xml" Id="R7029dbf25318452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bc35ee48d8c471a"/>
  </p:sldMasterIdLst>
  <p:notesMasterIdLst>
    <p:notesMasterId xmlns:r="http://schemas.openxmlformats.org/officeDocument/2006/relationships" r:id="Rd6b5f905e11e48ac"/>
  </p:notesMasterIdLst>
  <p:sldIdLst>
    <p:sldId xmlns:r="http://schemas.openxmlformats.org/officeDocument/2006/relationships" id="256" r:id="R02669bdfbaba462c"/>
    <p:sldId xmlns:r="http://schemas.openxmlformats.org/officeDocument/2006/relationships" id="257" r:id="R7442140e82cd44d0"/>
    <p:sldId xmlns:r="http://schemas.openxmlformats.org/officeDocument/2006/relationships" id="258" r:id="R801628e4b2f043da"/>
    <p:sldId xmlns:r="http://schemas.openxmlformats.org/officeDocument/2006/relationships" id="259" r:id="Rd256bb0dad2445ed"/>
    <p:sldId xmlns:r="http://schemas.openxmlformats.org/officeDocument/2006/relationships" id="260" r:id="Rf045eb2b39fd4c63"/>
    <p:sldId xmlns:r="http://schemas.openxmlformats.org/officeDocument/2006/relationships" id="261" r:id="R7b97aa1409004519"/>
    <p:sldId xmlns:r="http://schemas.openxmlformats.org/officeDocument/2006/relationships" id="262" r:id="Ra21f116435ae4d05"/>
    <p:sldId xmlns:r="http://schemas.openxmlformats.org/officeDocument/2006/relationships" id="263" r:id="R9be8c346b44a4d1d"/>
    <p:sldId xmlns:r="http://schemas.openxmlformats.org/officeDocument/2006/relationships" id="264" r:id="Rdc33aae42d8d40e3"/>
    <p:sldId xmlns:r="http://schemas.openxmlformats.org/officeDocument/2006/relationships" id="265" r:id="R928437adf52c49d1"/>
    <p:sldId xmlns:r="http://schemas.openxmlformats.org/officeDocument/2006/relationships" id="266" r:id="R30a14b06caef4053"/>
    <p:sldId xmlns:r="http://schemas.openxmlformats.org/officeDocument/2006/relationships" id="267" r:id="R9e11dc7aad9b4fe2"/>
    <p:sldId xmlns:r="http://schemas.openxmlformats.org/officeDocument/2006/relationships" id="268" r:id="R94588c6682ad4b46"/>
    <p:sldId xmlns:r="http://schemas.openxmlformats.org/officeDocument/2006/relationships" id="269" r:id="Rf9259d34b6fe4fc0"/>
    <p:sldId xmlns:r="http://schemas.openxmlformats.org/officeDocument/2006/relationships" id="270" r:id="R084da90c99474ee4"/>
    <p:sldId xmlns:r="http://schemas.openxmlformats.org/officeDocument/2006/relationships" id="271" r:id="Radc50f8781d84ba9"/>
    <p:sldId xmlns:r="http://schemas.openxmlformats.org/officeDocument/2006/relationships" id="272" r:id="R3d3209545d474246"/>
    <p:sldId xmlns:r="http://schemas.openxmlformats.org/officeDocument/2006/relationships" id="273" r:id="R68c8840e1f384b3e"/>
    <p:sldId xmlns:r="http://schemas.openxmlformats.org/officeDocument/2006/relationships" id="274" r:id="Rff5a7f4c89a546fb"/>
    <p:sldId xmlns:r="http://schemas.openxmlformats.org/officeDocument/2006/relationships" id="275" r:id="R753bc64eb5b54e6a"/>
    <p:sldId xmlns:r="http://schemas.openxmlformats.org/officeDocument/2006/relationships" id="276" r:id="R76f7106aae21420f"/>
    <p:sldId xmlns:r="http://schemas.openxmlformats.org/officeDocument/2006/relationships" id="277" r:id="R2e39696a0f66468a"/>
    <p:sldId xmlns:r="http://schemas.openxmlformats.org/officeDocument/2006/relationships" id="278" r:id="Rf1b633c537d2441e"/>
    <p:sldId xmlns:r="http://schemas.openxmlformats.org/officeDocument/2006/relationships" id="279" r:id="Rfc5502aeb4ab4d72"/>
    <p:sldId xmlns:r="http://schemas.openxmlformats.org/officeDocument/2006/relationships" id="280" r:id="Re8435dc10759493e"/>
    <p:sldId xmlns:r="http://schemas.openxmlformats.org/officeDocument/2006/relationships" id="281" r:id="R550ec101c7a0402e"/>
    <p:sldId xmlns:r="http://schemas.openxmlformats.org/officeDocument/2006/relationships" id="282" r:id="R26b5ea73a64a4d04"/>
    <p:sldId xmlns:r="http://schemas.openxmlformats.org/officeDocument/2006/relationships" id="283" r:id="R461ad1ca24b24f59"/>
    <p:sldId xmlns:r="http://schemas.openxmlformats.org/officeDocument/2006/relationships" id="284" r:id="R0434244b03a04a0d"/>
    <p:sldId xmlns:r="http://schemas.openxmlformats.org/officeDocument/2006/relationships" id="285" r:id="Rc0d0d1e180ec4e1a"/>
    <p:sldId xmlns:r="http://schemas.openxmlformats.org/officeDocument/2006/relationships" id="286" r:id="R8404945eab9f470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57a717ce9ae4987" /><Relationship Type="http://schemas.openxmlformats.org/officeDocument/2006/relationships/slideMaster" Target="/ppt/slideMasters/slideMaster1.xml" Id="Rbbc35ee48d8c471a" /><Relationship Type="http://schemas.openxmlformats.org/officeDocument/2006/relationships/notesMaster" Target="/ppt/notesMasters/notesMaster1.xml" Id="Rd6b5f905e11e48ac" /><Relationship Type="http://schemas.openxmlformats.org/officeDocument/2006/relationships/presProps" Target="/ppt/presProps.xml" Id="R054e2bd5f4e247c4" /><Relationship Type="http://schemas.openxmlformats.org/officeDocument/2006/relationships/viewProps" Target="/ppt/viewProps.xml" Id="R33970bce407a4ed5" /><Relationship Type="http://schemas.openxmlformats.org/officeDocument/2006/relationships/tableStyles" Target="/ppt/tableStyles.xml" Id="R96eebe5cbb034c5b" /><Relationship Type="http://schemas.openxmlformats.org/officeDocument/2006/relationships/slide" Target="/ppt/slides/slide1.xml" Id="R02669bdfbaba462c" /><Relationship Type="http://schemas.openxmlformats.org/officeDocument/2006/relationships/slide" Target="/ppt/slides/slide2.xml" Id="R7442140e82cd44d0" /><Relationship Type="http://schemas.openxmlformats.org/officeDocument/2006/relationships/slide" Target="/ppt/slides/slide3.xml" Id="R801628e4b2f043da" /><Relationship Type="http://schemas.openxmlformats.org/officeDocument/2006/relationships/slide" Target="/ppt/slides/slide4.xml" Id="Rd256bb0dad2445ed" /><Relationship Type="http://schemas.openxmlformats.org/officeDocument/2006/relationships/slide" Target="/ppt/slides/slide5.xml" Id="Rf045eb2b39fd4c63" /><Relationship Type="http://schemas.openxmlformats.org/officeDocument/2006/relationships/slide" Target="/ppt/slides/slide6.xml" Id="R7b97aa1409004519" /><Relationship Type="http://schemas.openxmlformats.org/officeDocument/2006/relationships/slide" Target="/ppt/slides/slide7.xml" Id="Ra21f116435ae4d05" /><Relationship Type="http://schemas.openxmlformats.org/officeDocument/2006/relationships/slide" Target="/ppt/slides/slide8.xml" Id="R9be8c346b44a4d1d" /><Relationship Type="http://schemas.openxmlformats.org/officeDocument/2006/relationships/slide" Target="/ppt/slides/slide9.xml" Id="Rdc33aae42d8d40e3" /><Relationship Type="http://schemas.openxmlformats.org/officeDocument/2006/relationships/slide" Target="/ppt/slides/slide10.xml" Id="R928437adf52c49d1" /><Relationship Type="http://schemas.openxmlformats.org/officeDocument/2006/relationships/slide" Target="/ppt/slides/slide11.xml" Id="R30a14b06caef4053" /><Relationship Type="http://schemas.openxmlformats.org/officeDocument/2006/relationships/slide" Target="/ppt/slides/slide12.xml" Id="R9e11dc7aad9b4fe2" /><Relationship Type="http://schemas.openxmlformats.org/officeDocument/2006/relationships/slide" Target="/ppt/slides/slide13.xml" Id="R94588c6682ad4b46" /><Relationship Type="http://schemas.openxmlformats.org/officeDocument/2006/relationships/slide" Target="/ppt/slides/slide14.xml" Id="Rf9259d34b6fe4fc0" /><Relationship Type="http://schemas.openxmlformats.org/officeDocument/2006/relationships/slide" Target="/ppt/slides/slide15.xml" Id="R084da90c99474ee4" /><Relationship Type="http://schemas.openxmlformats.org/officeDocument/2006/relationships/slide" Target="/ppt/slides/slide16.xml" Id="Radc50f8781d84ba9" /><Relationship Type="http://schemas.openxmlformats.org/officeDocument/2006/relationships/slide" Target="/ppt/slides/slide17.xml" Id="R3d3209545d474246" /><Relationship Type="http://schemas.openxmlformats.org/officeDocument/2006/relationships/slide" Target="/ppt/slides/slide18.xml" Id="R68c8840e1f384b3e" /><Relationship Type="http://schemas.openxmlformats.org/officeDocument/2006/relationships/slide" Target="/ppt/slides/slide19.xml" Id="Rff5a7f4c89a546fb" /><Relationship Type="http://schemas.openxmlformats.org/officeDocument/2006/relationships/slide" Target="/ppt/slides/slide20.xml" Id="R753bc64eb5b54e6a" /><Relationship Type="http://schemas.openxmlformats.org/officeDocument/2006/relationships/slide" Target="/ppt/slides/slide21.xml" Id="R76f7106aae21420f" /><Relationship Type="http://schemas.openxmlformats.org/officeDocument/2006/relationships/slide" Target="/ppt/slides/slide22.xml" Id="R2e39696a0f66468a" /><Relationship Type="http://schemas.openxmlformats.org/officeDocument/2006/relationships/slide" Target="/ppt/slides/slide23.xml" Id="Rf1b633c537d2441e" /><Relationship Type="http://schemas.openxmlformats.org/officeDocument/2006/relationships/slide" Target="/ppt/slides/slide24.xml" Id="Rfc5502aeb4ab4d72" /><Relationship Type="http://schemas.openxmlformats.org/officeDocument/2006/relationships/slide" Target="/ppt/slides/slide25.xml" Id="Re8435dc10759493e" /><Relationship Type="http://schemas.openxmlformats.org/officeDocument/2006/relationships/slide" Target="/ppt/slides/slide26.xml" Id="R550ec101c7a0402e" /><Relationship Type="http://schemas.openxmlformats.org/officeDocument/2006/relationships/slide" Target="/ppt/slides/slide27.xml" Id="R26b5ea73a64a4d04" /><Relationship Type="http://schemas.openxmlformats.org/officeDocument/2006/relationships/slide" Target="/ppt/slides/slide28.xml" Id="R461ad1ca24b24f59" /><Relationship Type="http://schemas.openxmlformats.org/officeDocument/2006/relationships/slide" Target="/ppt/slides/slide29.xml" Id="R0434244b03a04a0d" /><Relationship Type="http://schemas.openxmlformats.org/officeDocument/2006/relationships/slide" Target="/ppt/slides/slide30.xml" Id="Rc0d0d1e180ec4e1a" /><Relationship Type="http://schemas.openxmlformats.org/officeDocument/2006/relationships/slide" Target="/ppt/slides/slide31.xml" Id="R8404945eab9f470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3c23fc0cbdf4b6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c12b292d52d4452" /><Relationship Type="http://schemas.openxmlformats.org/officeDocument/2006/relationships/notesMaster" Target="/ppt/notesMasters/notesMaster1.xml" Id="R34d088c26bc441e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f3a7254407b43ef" /><Relationship Type="http://schemas.openxmlformats.org/officeDocument/2006/relationships/notesMaster" Target="/ppt/notesMasters/notesMaster1.xml" Id="Redd472777375418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4a80b7491ee413b" /><Relationship Type="http://schemas.openxmlformats.org/officeDocument/2006/relationships/notesMaster" Target="/ppt/notesMasters/notesMaster1.xml" Id="R246d6d076cc3435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79c71bd2f684f6c" /><Relationship Type="http://schemas.openxmlformats.org/officeDocument/2006/relationships/notesMaster" Target="/ppt/notesMasters/notesMaster1.xml" Id="Rb62163493f8444b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16229cab5ee4a18" /><Relationship Type="http://schemas.openxmlformats.org/officeDocument/2006/relationships/notesMaster" Target="/ppt/notesMasters/notesMaster1.xml" Id="Rff454c3e147b494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1456f80d24a49bb" /><Relationship Type="http://schemas.openxmlformats.org/officeDocument/2006/relationships/notesMaster" Target="/ppt/notesMasters/notesMaster1.xml" Id="Rc242f5351c3e4ef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1bfa3489cf843b2" /><Relationship Type="http://schemas.openxmlformats.org/officeDocument/2006/relationships/notesMaster" Target="/ppt/notesMasters/notesMaster1.xml" Id="R3bb3a4fd5f744c8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35d768a438f4560" /><Relationship Type="http://schemas.openxmlformats.org/officeDocument/2006/relationships/notesMaster" Target="/ppt/notesMasters/notesMaster1.xml" Id="Rad428136ff8f4ac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5e323dcf2fe4c12" /><Relationship Type="http://schemas.openxmlformats.org/officeDocument/2006/relationships/notesMaster" Target="/ppt/notesMasters/notesMaster1.xml" Id="R6f807cb3d7f1466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ac58c7c477b43db" /><Relationship Type="http://schemas.openxmlformats.org/officeDocument/2006/relationships/notesMaster" Target="/ppt/notesMasters/notesMaster1.xml" Id="Rd70afbb5edee470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1b693c8dc8c4557" /><Relationship Type="http://schemas.openxmlformats.org/officeDocument/2006/relationships/notesMaster" Target="/ppt/notesMasters/notesMaster1.xml" Id="Rd07c03507e82453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2d97409242848bc" /><Relationship Type="http://schemas.openxmlformats.org/officeDocument/2006/relationships/notesMaster" Target="/ppt/notesMasters/notesMaster1.xml" Id="R3e4041a328924e3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8b79bcef5f446f1" /><Relationship Type="http://schemas.openxmlformats.org/officeDocument/2006/relationships/notesMaster" Target="/ppt/notesMasters/notesMaster1.xml" Id="R40ed16e1c88b4a7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cf834690a414d8c" /><Relationship Type="http://schemas.openxmlformats.org/officeDocument/2006/relationships/notesMaster" Target="/ppt/notesMasters/notesMaster1.xml" Id="R57b5f2a9c178441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6904070c1a64404" /><Relationship Type="http://schemas.openxmlformats.org/officeDocument/2006/relationships/notesMaster" Target="/ppt/notesMasters/notesMaster1.xml" Id="Reeecff97be60411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4c3bbe5ce0747a3" /><Relationship Type="http://schemas.openxmlformats.org/officeDocument/2006/relationships/notesMaster" Target="/ppt/notesMasters/notesMaster1.xml" Id="R318d04da51a545e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4ceefee49fd4908" /><Relationship Type="http://schemas.openxmlformats.org/officeDocument/2006/relationships/notesMaster" Target="/ppt/notesMasters/notesMaster1.xml" Id="R71fcaea432844a5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9d593e2bfb04cb8" /><Relationship Type="http://schemas.openxmlformats.org/officeDocument/2006/relationships/notesMaster" Target="/ppt/notesMasters/notesMaster1.xml" Id="R99e854efe80a4e3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780fbb5b8114cad" /><Relationship Type="http://schemas.openxmlformats.org/officeDocument/2006/relationships/notesMaster" Target="/ppt/notesMasters/notesMaster1.xml" Id="R4ad12b461e394e8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fb001634d4b4f0f" /><Relationship Type="http://schemas.openxmlformats.org/officeDocument/2006/relationships/notesMaster" Target="/ppt/notesMasters/notesMaster1.xml" Id="R72fc720cb3dc48e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dea5f9b3ae545c0" /><Relationship Type="http://schemas.openxmlformats.org/officeDocument/2006/relationships/notesMaster" Target="/ppt/notesMasters/notesMaster1.xml" Id="R3a389752b0aa402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3ca84c05307470c" /><Relationship Type="http://schemas.openxmlformats.org/officeDocument/2006/relationships/notesMaster" Target="/ppt/notesMasters/notesMaster1.xml" Id="R17b4ac63bf3343e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d98ff5b933445e5" /><Relationship Type="http://schemas.openxmlformats.org/officeDocument/2006/relationships/notesMaster" Target="/ppt/notesMasters/notesMaster1.xml" Id="Rf7aa78bf34dc47d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4ac4c66cb8b42a4" /><Relationship Type="http://schemas.openxmlformats.org/officeDocument/2006/relationships/notesMaster" Target="/ppt/notesMasters/notesMaster1.xml" Id="Red97230d29cf4c3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2b6eae8bfa2b455a" /><Relationship Type="http://schemas.openxmlformats.org/officeDocument/2006/relationships/notesMaster" Target="/ppt/notesMasters/notesMaster1.xml" Id="Rd022851142ab4e7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7acd9dff5eac4aa8" /><Relationship Type="http://schemas.openxmlformats.org/officeDocument/2006/relationships/notesMaster" Target="/ppt/notesMasters/notesMaster1.xml" Id="R9b20ad0001af4fa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7961d741a5643d7" /><Relationship Type="http://schemas.openxmlformats.org/officeDocument/2006/relationships/notesMaster" Target="/ppt/notesMasters/notesMaster1.xml" Id="R82c9f2eadbda4775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a216f6441729479f" /><Relationship Type="http://schemas.openxmlformats.org/officeDocument/2006/relationships/notesMaster" Target="/ppt/notesMasters/notesMaster1.xml" Id="Rd1e89d660c2440d3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61115c11efb54e89" /><Relationship Type="http://schemas.openxmlformats.org/officeDocument/2006/relationships/notesMaster" Target="/ppt/notesMasters/notesMaster1.xml" Id="Re1597fac648342e8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b3f2c3b2828148d5" /><Relationship Type="http://schemas.openxmlformats.org/officeDocument/2006/relationships/notesMaster" Target="/ppt/notesMasters/notesMaster1.xml" Id="R92a4e6218f5a40dc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cf0c47ca8da2462c" /><Relationship Type="http://schemas.openxmlformats.org/officeDocument/2006/relationships/notesMaster" Target="/ppt/notesMasters/notesMaster1.xml" Id="Ra289728da6d34fe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5d2b4b79724cf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263d785b7bc4ef8" /><Relationship Type="http://schemas.openxmlformats.org/officeDocument/2006/relationships/slideLayout" Target="/ppt/slideLayouts/slideLayout1.xml" Id="R0ad5df04e59d4d3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ad5df04e59d4d3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e8a4ac82264a3e" /><Relationship Type="http://schemas.openxmlformats.org/officeDocument/2006/relationships/notesSlide" Target="/ppt/notesSlides/notesSlide1.xml" Id="R3f5da8e248e3493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6d751f545d4808" /><Relationship Type="http://schemas.openxmlformats.org/officeDocument/2006/relationships/notesSlide" Target="/ppt/notesSlides/notesSlide2.xml" Id="R171288560969428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17e9a0ab1f4bae" /><Relationship Type="http://schemas.openxmlformats.org/officeDocument/2006/relationships/notesSlide" Target="/ppt/notesSlides/notesSlide3.xml" Id="R8cc44ec901a744a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dbda422c13420a" /><Relationship Type="http://schemas.openxmlformats.org/officeDocument/2006/relationships/notesSlide" Target="/ppt/notesSlides/notesSlide4.xml" Id="R36aeb912af6b468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0ce7530d4842d1" /><Relationship Type="http://schemas.openxmlformats.org/officeDocument/2006/relationships/notesSlide" Target="/ppt/notesSlides/notesSlide5.xml" Id="R8d0f7f0ef7ce4d2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7caf4d54b74ca4" /><Relationship Type="http://schemas.openxmlformats.org/officeDocument/2006/relationships/notesSlide" Target="/ppt/notesSlides/notesSlide6.xml" Id="Rb83d22ebc9ad453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c898bc5f444ba3" /><Relationship Type="http://schemas.openxmlformats.org/officeDocument/2006/relationships/notesSlide" Target="/ppt/notesSlides/notesSlide7.xml" Id="R02f65209764e4d2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af427ee29b4635" /><Relationship Type="http://schemas.openxmlformats.org/officeDocument/2006/relationships/notesSlide" Target="/ppt/notesSlides/notesSlide8.xml" Id="Rfa172e8c9696430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9b457417424841" /><Relationship Type="http://schemas.openxmlformats.org/officeDocument/2006/relationships/notesSlide" Target="/ppt/notesSlides/notesSlide9.xml" Id="R27aab5d0f503407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a6009afb8e4754" /><Relationship Type="http://schemas.openxmlformats.org/officeDocument/2006/relationships/notesSlide" Target="/ppt/notesSlides/notesSlide10.xml" Id="R8505ed9200144bb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296237b2994277" /><Relationship Type="http://schemas.openxmlformats.org/officeDocument/2006/relationships/notesSlide" Target="/ppt/notesSlides/notesSlide11.xml" Id="R9c8e87e43fcb49b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909cfb2d2843fa" /><Relationship Type="http://schemas.openxmlformats.org/officeDocument/2006/relationships/notesSlide" Target="/ppt/notesSlides/notesSlide12.xml" Id="Rd10054016948475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38f8e7ec704b77" /><Relationship Type="http://schemas.openxmlformats.org/officeDocument/2006/relationships/notesSlide" Target="/ppt/notesSlides/notesSlide13.xml" Id="R04009ce39d864bb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e5d5556344464e" /><Relationship Type="http://schemas.openxmlformats.org/officeDocument/2006/relationships/notesSlide" Target="/ppt/notesSlides/notesSlide14.xml" Id="R4d62a98d20594b5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44bd78f612418c" /><Relationship Type="http://schemas.openxmlformats.org/officeDocument/2006/relationships/notesSlide" Target="/ppt/notesSlides/notesSlide15.xml" Id="R4fcf7aa440ff440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065a7320314cf3" /><Relationship Type="http://schemas.openxmlformats.org/officeDocument/2006/relationships/notesSlide" Target="/ppt/notesSlides/notesSlide16.xml" Id="R7f9c517b3ab9422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8d26e753b54609" /><Relationship Type="http://schemas.openxmlformats.org/officeDocument/2006/relationships/notesSlide" Target="/ppt/notesSlides/notesSlide17.xml" Id="Rfc7bacfc51784be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f8b60f94b24715" /><Relationship Type="http://schemas.openxmlformats.org/officeDocument/2006/relationships/notesSlide" Target="/ppt/notesSlides/notesSlide18.xml" Id="Rdb3fc1be640645a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1bc8c2d2854857" /><Relationship Type="http://schemas.openxmlformats.org/officeDocument/2006/relationships/notesSlide" Target="/ppt/notesSlides/notesSlide19.xml" Id="Ra3268018b98a435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afbbd725604849" /><Relationship Type="http://schemas.openxmlformats.org/officeDocument/2006/relationships/notesSlide" Target="/ppt/notesSlides/notesSlide20.xml" Id="R827225e131b84d6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51f7cc84ce4ead" /><Relationship Type="http://schemas.openxmlformats.org/officeDocument/2006/relationships/notesSlide" Target="/ppt/notesSlides/notesSlide21.xml" Id="Ra8f4c214a5e641b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ac6398dcc548d4" /><Relationship Type="http://schemas.openxmlformats.org/officeDocument/2006/relationships/notesSlide" Target="/ppt/notesSlides/notesSlide22.xml" Id="Rfdf4df9d6905464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14858ec2a34bce" /><Relationship Type="http://schemas.openxmlformats.org/officeDocument/2006/relationships/notesSlide" Target="/ppt/notesSlides/notesSlide23.xml" Id="R31791e3f0ad1491c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4f887b425d4186" /><Relationship Type="http://schemas.openxmlformats.org/officeDocument/2006/relationships/notesSlide" Target="/ppt/notesSlides/notesSlide24.xml" Id="Rf0ef51112b1241a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dafaa25ad6433a" /><Relationship Type="http://schemas.openxmlformats.org/officeDocument/2006/relationships/notesSlide" Target="/ppt/notesSlides/notesSlide25.xml" Id="R223635c796e24ef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7d857b1c10421d" /><Relationship Type="http://schemas.openxmlformats.org/officeDocument/2006/relationships/notesSlide" Target="/ppt/notesSlides/notesSlide26.xml" Id="R88113e30874243cd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7930f2c26e48c1" /><Relationship Type="http://schemas.openxmlformats.org/officeDocument/2006/relationships/notesSlide" Target="/ppt/notesSlides/notesSlide27.xml" Id="Rf4711c0a0c724d77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38fe6b0ae74125" /><Relationship Type="http://schemas.openxmlformats.org/officeDocument/2006/relationships/notesSlide" Target="/ppt/notesSlides/notesSlide28.xml" Id="R3eb23f7081b74ad7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f57e3b6e7449b9" /><Relationship Type="http://schemas.openxmlformats.org/officeDocument/2006/relationships/notesSlide" Target="/ppt/notesSlides/notesSlide29.xml" Id="R15ba1c05c32f484e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38214b949041f1" /><Relationship Type="http://schemas.openxmlformats.org/officeDocument/2006/relationships/notesSlide" Target="/ppt/notesSlides/notesSlide30.xml" Id="Ra9b40cfbf3d346b3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8effe290054dd5" /><Relationship Type="http://schemas.openxmlformats.org/officeDocument/2006/relationships/notesSlide" Target="/ppt/notesSlides/notesSlide31.xml" Id="R3bea71811c81445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D5342B4-ECCD-4A3A-B73D-B7C735674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7057E2-ADEA-4329-97A3-AB72B99EB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FACB71-96D0-4743-BEE0-F1BE2F5C0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E37435-964C-41C1-95F3-75784C671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ТЕОРИЯ GREENPLUM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2ADC86-7B79-4F1F-AA70-A762B9065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Greenplum MPP: мышление дата инженера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DCC3C0-C429-4CC3-8ADD-83F780D6B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Первый урок: от системной карты до skew, Motion, storage и доказательного RCA.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9F6C7F-34E9-46E8-82F2-71080B896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65DD6D-C353-4DBC-AF34-6CE75C8A9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45ABFD-BACE-4578-BF86-0D46E464D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635743-E9C0-4AC8-B448-461D06F54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Маршрут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C137B5-B036-4245-8E7A-88F0D8C6F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60 минут: теория -&gt; SQL practice -&gt; incident -&gt; capstone.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D60A58-F4A5-4D6F-8877-BB9D5C37E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DA0FB2-972A-42BF-A067-97B2BF4E8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626039-01B4-4EA5-9765-33C4D2B5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Главный навык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2D51A8-BEEE-42F6-AF31-8C32FAC5D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Думать не только запросом, но и физикой размещения данных.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97FE8D-7576-42B4-B5CD-F615C2B3C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22782A-075C-4859-ACA8-F002F9756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D545A5-30F0-4AD6-B2B1-491C68859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Фокус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FF6993-F64F-4FEF-8F75-E35C041D7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Coordinator, segments, interconnect, distribution, EXPLAIN.</a:t>
            </a:r>
          </a:p>
        </p:txBody>
      </p:sp>
    </p:spTree>
    <p:extLst>
      <p:ext uri="{BB962C8B-B14F-4D97-AF65-F5344CB8AC3E}">
        <p14:creationId xmlns:p14="http://schemas.microsoft.com/office/powerpoint/2010/main" val="80231753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05E81B-8F82-4EDE-A731-0CD13BFD0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5F454E-F397-4257-968A-8F96CABAA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9590D7-21E6-4051-8C10-B9F5F6E18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9104F2-E71A-47FF-ADBE-C9209A738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КАРТА СИСТЕМ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1C76AD-CD91-448F-898A-EBEF14494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SMP, MPP, EPP: где живет узкое место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CA3CF9-660C-46F6-91C3-DB86A5D64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SMP / Shared-disk / MPP / EPP дают разные компромиссы по простоте, масштабу и цене сети.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0057EE-D44B-4FEE-9866-667649EFA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664B2F-A9F1-48D5-A625-FF3DA9950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99C810-2546-4BC8-95EA-B3DD09AA1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5B0C5E-B69F-4A19-AC71-BB53BFFC3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SMP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4417F5-7BDD-4B08-BE77-35411EEE6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Один большой сервер, общая память/storage. Простота, но вертикальный потолок.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D09DD7-808D-4493-89C1-85FA615FC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1D88F3-AAA7-4D14-BF40-109A3B6B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1D7CF2-4520-416E-AAED-6DEC6DE69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Shared-disk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FFBF41-142A-4947-9579-7AD9B7892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Несколько compute-узлов, общее хранилище. Единые данные, но storage contention.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7A7876-40C5-4E06-8787-0CC98E2CA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E49176-093C-4A09-A23A-BC3EE6816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00BD9F-3B2F-4F63-A8BD-63C9417D6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MPP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8C3484-FDA2-491E-A4E7-F9C3D670C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Shared-nothing: сегменты хранят свои данные и параллельно исполняют запросы.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ED2208-66E3-4A56-936B-77E712844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C1A105-F0C4-44CB-8200-9F1DF7A1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EEC82F-243E-44E1-9F40-F35B9645B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EPP / cloud elastic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71D102-31AC-49A1-86D0-ECFB67131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Compute и storage часто масштабируются независимо; цена и shuffle требуют контроля.</a:t>
            </a:r>
          </a:p>
        </p:txBody>
      </p:sp>
    </p:spTree>
    <p:extLst>
      <p:ext uri="{BB962C8B-B14F-4D97-AF65-F5344CB8AC3E}">
        <p14:creationId xmlns:p14="http://schemas.microsoft.com/office/powerpoint/2010/main" val="93986785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B80BE4-EB24-4E8B-8CBE-35E47B6AB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929F6A-7910-4FA2-8851-3F015F129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FF5D31-B18E-42DD-8B9D-E4762154C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639BB2-FCF0-44F5-8DA1-3CC7D269F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ПОЗИЦИОНИРОВАНИЕ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3D4422-0BB6-4480-9BDE-79900048F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Greenplum vs sharded PostgreSQL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5A6BAE-278F-4E88-B020-4F6FBF562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Greenplum не sharded PostgreSQL: это MPP engine с единым SQL endpoint и distributed executor.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205ABB-8445-43A4-B475-A261363EC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472420-C8BC-4820-A15C-4A40D64C5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026F11-AB68-4713-BB8A-039ABF5BE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9578B5-176D-4B55-AE12-44401C1BF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Sharded PostgreSQL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34B17A-C271-4326-8322-F2CF8C6ED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Routing/fan-out часто живет во внешнем слое или в приложении; cross-shard join становится задачей системы вокруг БД.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1D8CC6-7356-4B5B-BD73-8A36AD775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AD40D8-6D86-4582-A2E8-AD26C0172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DF46D4-8D5F-4922-83E1-9DF875BF4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Greenplum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9DCFB4-CB0F-415C-8318-00BA5C878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QD строит distributed plan, QE исполняют slices, Motion виден в EXPLAIN как часть плана.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F9E768-CF43-4867-AC2E-8091FD3A1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1DDB4C-6FAD-4EC8-8A8A-7408F70AA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31F53A-2EB8-456C-A230-EE75B0CDB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Практический вывод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AC73BB-965D-4417-B08A-D9153C3DE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Мы проектируем distribution, storage и bulk I/O как часть модели данных, а не как приложение сверху.</a:t>
            </a:r>
          </a:p>
        </p:txBody>
      </p:sp>
    </p:spTree>
    <p:extLst>
      <p:ext uri="{BB962C8B-B14F-4D97-AF65-F5344CB8AC3E}">
        <p14:creationId xmlns:p14="http://schemas.microsoft.com/office/powerpoint/2010/main" val="142476915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A8517E2-5A97-4FCF-80DF-0FC0BBF1A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B0A7E5-4FFF-413B-8578-84E393D04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EABA5A-CC0C-4C01-9B5B-D596B00F1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D58D9D-22A4-4E0D-BEDB-E088DFE6C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ТОПОЛОГИЯ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C7877B-FBEA-46A6-A887-5E76AF082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Greenplum shared-nothing topology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39B9B7-FD95-4CF7-BE71-9EF70EB4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Coordinator принимает SQL, segments держат data plane, interconnect переносит строки между QE.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3C522A-BF15-4342-B0D6-1B6B83F8F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8B173A-C4F3-479B-87A7-BBD6F07F5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286AE9-C82B-477C-9FF2-C23BEBEDC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B6D5CA-13E4-4306-A57A-4DA6B7DA3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Coordinator / master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6697DB-60FE-4C1F-9ECA-3121B2684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Подключения, metadata, planning, dispatch, final gather.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563DC7-B36C-43D7-8ED2-7B15A879F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4DFB26-D0A4-4040-A498-A0EB7746C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60C943-2676-45BF-AD78-3070F371C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Primary / mirror segments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295254-5A8D-4A8D-9139-8A6A78F9E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Локальное хранение и локальное исполнение. Mirror нужен для HA.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7BA83B-5442-4746-9C21-9EF8EE6EC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876815-2FA2-4934-9CDD-D2413F90C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57517B-05FD-4D85-8274-FBC8CB8DC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Interconnect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E021C9-71CB-4F30-A2F4-BC3ED88DD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Сеть становится частью query plan: Gather, Broadcast, Redistribute Motion.</a:t>
            </a:r>
          </a:p>
        </p:txBody>
      </p:sp>
    </p:spTree>
    <p:extLst>
      <p:ext uri="{BB962C8B-B14F-4D97-AF65-F5344CB8AC3E}">
        <p14:creationId xmlns:p14="http://schemas.microsoft.com/office/powerpoint/2010/main" val="171585486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315167-1C04-48B4-B042-C5BDA219F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FBADEE-0419-4046-9356-6B6D7AFED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02BCF7-6D22-4FBA-A6F5-F2D862F06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0AE759-FBCE-4A58-90C8-7272A9F19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НОВИЧКУ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C84BEC-BB3D-4970-A2AC-0B8E9C806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Master / coordinator простыми словами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858532-6B23-465D-99C2-9C73E0B0F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Master - диспетчер и точка входа, но не место, через которое должны течь все большие данные.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E67915-C8EA-4B1D-B00C-024A89313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EAF82E-CC13-4E49-A0E5-144691CA8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BB6C36-8562-4774-A8C4-CE56211FA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9D7605-3582-41BE-960B-5AAA9DE73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Что делает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81BDA1-8484-4225-B18E-6EAC991EB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Парсит SQL, смотрит metadata, строит план, отправляет работу сегментам, возвращает результат клиенту.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520EC2-42E2-48FE-95B4-B26B53A5B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8D8935-DA28-428E-859A-DB4724523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7DF460-C4DD-4284-AD42-B1A068537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Почему узкое место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3E3C24-2888-4427-8D50-669A70E9A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Слишком много подключений, metadata work, planning, dispatch или final gather создают очередь на coordinator.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7DD7B1-DE84-4B8F-97F4-CF90754E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4B0432-E4EC-43D2-B3A8-35C25A0C6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D977B7-1DE6-4313-AD28-DD056D1B0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Правило урока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0060FE-A188-4D58-B078-42A5AB5C0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Control plane через master; большие scans/joins/load должны максимально оставаться на segments.</a:t>
            </a:r>
          </a:p>
        </p:txBody>
      </p:sp>
    </p:spTree>
    <p:extLst>
      <p:ext uri="{BB962C8B-B14F-4D97-AF65-F5344CB8AC3E}">
        <p14:creationId xmlns:p14="http://schemas.microsoft.com/office/powerpoint/2010/main" val="141575290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E9DCE7-3C05-4BDA-8F84-58B1D77D9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C41FE2-E673-422B-8774-B99E39C38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18A58B-8FEF-46A6-8A52-1D5EF8C71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7701C4-B383-43BA-84BC-C2A12C661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АНАЛОГИЯ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5556D3-6F3B-45AC-9DC6-31428E356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QD / QE / gang / slices: простая аналогия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06E326-2AAC-4D21-8D59-16B1EFA80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QD - диспетчер смены; QE - исполнители; gang - команда; slice - участок работы.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709ED0-7C74-4865-A090-065252051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986E6E-941D-47BF-808E-DD696535F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65D7DC-23DE-4B7D-943D-36AC24D42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2AC0CE-7471-4E68-8818-9B1E48D67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QD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C5AE01-ECBC-4BD4-A975-7DF622F02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Query Dispatcher на coordinator: решает, что делать и кому отправить.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E0C28B-9AFE-45B0-9E00-81656F1E5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E9B173-F9D1-4E95-9EBE-5D82C987C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4758C7-14B3-4FEF-93C0-79942ACB4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QE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337137-1C13-4A5F-9EBA-B8ECFE5D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Query Executor на segment: исполняет свою часть плана над локальными данными.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A089EA-E02B-43E8-BD51-FEDB98A37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CD6737-B922-4D2D-BA2B-59F4A3AB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C90DD1-4534-44B6-B758-A768C4AFE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gang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789C5C-6A76-4E52-AD36-022824416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Набор QE-процессов, которые синхронно исполняют slice на сегментах.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FB3A51-2E01-4803-B8BA-779766288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9DE0AC-63C8-4F4A-9D32-DE8B5932A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5F5EFD-E194-409B-9745-FB336416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slice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4C82FB-899D-4D55-A682-D14EB6C56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Фрагмент distributed plan; часто граница проходит около Motion.</a:t>
            </a:r>
          </a:p>
        </p:txBody>
      </p:sp>
    </p:spTree>
    <p:extLst>
      <p:ext uri="{BB962C8B-B14F-4D97-AF65-F5344CB8AC3E}">
        <p14:creationId xmlns:p14="http://schemas.microsoft.com/office/powerpoint/2010/main" val="121745944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90FC82B-07AE-4F6E-BDD2-F30D0BE72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1746AB-D7DA-4F61-B0F3-5212E17E2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1A5230-CCA0-4EB4-9E5D-B82B2BD5C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6B68C0-683C-413D-9836-6F3292CBC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DEEP DIVE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09D439-18AD-4613-90E7-09F61C42B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QD/QE dispatch deep dive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6FF487-4298-4464-9550-AC4B76357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Plan режется на slices; slice исполняется gang-процессами; QueryDispatchDesc создается на QD и уезжает на QE.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5AAC75-B712-45F0-86E0-39A52A2C4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59FFEF-3A9B-441D-B1E1-9748E45CC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CDECE0-9C72-4E38-907A-4E3733EE9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A939DD-BB5E-43FC-8731-B063030C6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Что важно новичку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5928F8-E84F-48CB-A24C-63619C2E2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Не нужно читать C-код в первый час; важно понимать, что distributed plan - нативная часть Greenplum.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7ABF37-59A1-47DA-8CB1-6F686FF79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F7760B-DC73-4A3A-B0BC-6892B3939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11CF5C-FD80-4B87-8F14-0602DC1A8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Где глубина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941104-BDB5-48D9-AC38-89B1F0815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Source anchors: cdbdisp_query.c, execUtils.c, nodeMotion.c.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8B850D-0215-4AED-A0A6-380FF5FBB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53000"/>
            <a:ext cx="10382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A47A01-6E38-4231-B069-3C921EFE9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863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SQL / CLI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7A16BD-D2F1-4224-A320-B2F5B3387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53050"/>
            <a:ext cx="100393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QD: parse -&gt; rewrite -&gt; optimize -&gt; slice table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QD: allocate gang -&gt; build QueryDispatchDesc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QD -&gt; QE: dispatch MPPEXEC payload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QE: receive plan fragment -&gt; execute slice -&gt; send tuples via Motion</a:t>
            </a:r>
          </a:p>
        </p:txBody>
      </p:sp>
    </p:spTree>
    <p:extLst>
      <p:ext uri="{BB962C8B-B14F-4D97-AF65-F5344CB8AC3E}">
        <p14:creationId xmlns:p14="http://schemas.microsoft.com/office/powerpoint/2010/main" val="41755648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344D353-F147-493C-AA46-A86E626EC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DA6E4D-DF40-466F-BF36-1E1E8F4E0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8CDB4D-FC05-4327-AE68-B86107B19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A44C21-D658-458B-B354-8DF0633DE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INTERCONNECT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4CCB92-67E8-43FC-A014-364AE99C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Interconnect и Motion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2CAB84-83B0-444E-A70C-2B2CB1134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Motion - оператор движения строк между QE. Это не всегда ошибка, но всегда физическая цена.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0ED3EB-39F2-4317-B692-60F63B659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96945E-046C-4D60-A874-DC9CAF48C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4FE862-3BFA-40A9-B5B7-D4501F9BA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1EA983-4576-4777-ACC7-ADDA5EDCD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Gather Motion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5F5556-1999-4A8C-9DE3-DD3F233E6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Собрать результат на coordinator или consumer slice.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9E3D15-C903-420A-8C71-C3521453C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4CA07F-F699-4B18-948D-5D7C07A2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F1FBEA-A13C-4F42-A9D5-75CCAD7A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Broadcast Motion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7630EA-D6E2-476B-882F-289988DA8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Разослать маленькую сторону join всем segments.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C61573-1BDB-4373-B664-F89EEA8F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202A76-836C-45D1-9E8A-EEF9F6D73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5B4441-9AFB-417B-ACA6-2EA072E81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Redistribute Motion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6658EE-B2D8-4CAA-8175-39D4ED94F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Переразложить строки по hash ключу для join/aggregate.</a:t>
            </a:r>
          </a:p>
        </p:txBody>
      </p:sp>
    </p:spTree>
    <p:extLst>
      <p:ext uri="{BB962C8B-B14F-4D97-AF65-F5344CB8AC3E}">
        <p14:creationId xmlns:p14="http://schemas.microsoft.com/office/powerpoint/2010/main" val="15470285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146E592-C120-4B15-AB97-9B88E016C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D5EC30-AFAE-4BB3-A4C5-A43FD3024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566A50-A17A-489B-87B7-200A460EF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2F8EB9-8160-4495-8713-41FEAB5EA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BULK I/O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98DAA2-B711-46CA-8297-D626DCB79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Bulk I/O paths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2A4F64-6EAD-463E-8E78-B3C8D622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Для больших загрузок держим master в control plane и даем segments читать/писать параллельно.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9D2851-3935-4DA8-AC39-AEAD59211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8F3BE9-110B-4DDC-9101-897968A2D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BC5ECC-6BF1-4192-8DDC-57957DE34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834EA9-E7EC-49C8-8576-0C5580CA3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COPY через client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5F4F7C-CE67-44DF-AF2B-834E6106A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Просто для малых объемов, но поток легко становится центральной трубой.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6D24A9-04AC-499E-A353-B68D2A4DD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5073CB-60F4-4C1D-BB30-0DB6F8E5E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265DC5-E5A0-4D8E-8BD3-6C2612A54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gpfdist external table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62CB71-DB28-4E73-831D-830799788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Segments читают файлы параллельно как HTTP clients; throughput растет вместе с segments.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D06F32-5174-47E5-8CB9-77A44649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BBEBED-7529-44E6-96F2-8A065686C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1C3893-03F0-4F3F-A302-AAFA76E9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Production habit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4382A2-D466-44BC-A54F-1DC756150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Для bulk load заранее думай про parallel path, формат, compression, network и error handling.</a:t>
            </a:r>
          </a:p>
        </p:txBody>
      </p:sp>
    </p:spTree>
    <p:extLst>
      <p:ext uri="{BB962C8B-B14F-4D97-AF65-F5344CB8AC3E}">
        <p14:creationId xmlns:p14="http://schemas.microsoft.com/office/powerpoint/2010/main" val="79773768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6FC796B-D6FD-4265-86F0-017679D52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250F05-24C6-4342-AA87-FA21AD26D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58E9D5-AD8B-478A-8232-BFA642FFF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4C1548-69DA-402F-A146-3375262C5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STORAGE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7731DB-D443-49E1-BCDE-749738568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Heap vs AO row vs AOCO: концепт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576478-0925-4184-80E1-37CB9F3C2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Heap vs AO row vs AOCO - выбор под workload, scan pattern и частоту изменений.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8E1263-BE49-47B2-A360-01B14DD68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623955-EFEF-436D-A569-7B57CCFC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D82DFE-FF3A-48F6-8302-8A3D7E48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F76D5B-033E-46CD-83ED-85EE3FDA7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Heap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4048AD-8B83-4515-8B21-8C858F9E7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Row storage по умолчанию, удобен для small/mutable tables.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F35584-F5F7-4987-9FF6-EFCF9E755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651B0D-608A-4E36-AD4F-68CD5C535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2ED67E-1C05-4A6D-A67F-9D4D81B87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AO row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C3167D-CFF6-4FE5-A453-3D1E74860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Append-optimized row storage для append-heavy аналитики, когда читаем много колонок.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0E840D-F176-4054-B7F9-3AC5F6156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7FE09D-779B-453E-AA2A-CD5522B93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F01307-DA79-4B0B-BE13-7FD9D701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AOCO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E96F81-66BB-42D6-BD7F-0F5C0D527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Append-optimized column storage: column pruning и compression для широких фактов.</a:t>
            </a:r>
          </a:p>
        </p:txBody>
      </p:sp>
    </p:spTree>
    <p:extLst>
      <p:ext uri="{BB962C8B-B14F-4D97-AF65-F5344CB8AC3E}">
        <p14:creationId xmlns:p14="http://schemas.microsoft.com/office/powerpoint/2010/main" val="130989913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B677B4D-5383-4BB2-886A-FA9B8E1FD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DABB6B-6062-474D-8B4B-F0B83DC31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AE723F-EFD0-4E82-9449-FE13D063F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AF537A-176C-4ED9-B96D-EFD9E94CE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ПРАКТИКА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B79833-D309-4E09-A24E-0CD413D0E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Docker lab cluster passport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F34E64-7115-4045-9ED7-328AD618A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Перед командами фиксируем, какой Greenplum мы смотрим: 1 coordinator + 2 primary segments в одном Docker service.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820C31-73E2-4C62-A737-34146CEE3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0B0CCA-F5D8-467A-ADCF-2046B5339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3333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D4B45F-6D71-4BAE-A63E-843796FE3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21C41A-79D6-4229-9BA5-3FFBB6744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Container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F98226-C6C4-44E8-B832-35F49A707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2933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image: woblerr/greenplum:7.1.0</a:t>
            </a:r>
          </a:p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service: greenplum</a:t>
            </a:r>
          </a:p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port: 15432 -&gt; 5432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774BEB-3B36-4DD4-B52C-155679F6A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333625"/>
            <a:ext cx="3333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F2AEC4-19BA-4F65-92F7-EDDF9EEAA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8D9C0E-8453-44E4-82F0-2ADBF776F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676525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Topology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5A95A4-7C3F-409A-A115-2110F0634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209925"/>
            <a:ext cx="2933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1 coordinator/master</a:t>
            </a:r>
          </a:p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2 primary segments</a:t>
            </a:r>
          </a:p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0 mirrors, 1 segment host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7EECEF-6022-4069-A224-1DDA60E4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33625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F47972-11F8-41E1-93C0-E243675EF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B5677D-0AE2-470E-A275-784AFFAE7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676525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Resources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51FE48-0430-4185-B34D-11E0AFAB8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09925"/>
            <a:ext cx="2457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CPU/RAM limits не заданы в compose: используются лимиты Docker Desktop/Engine.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D51B82-28A7-4892-80F5-512D9825F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43375"/>
            <a:ext cx="10382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BE8E06-B79D-4174-B8EC-9BC0238CB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76725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SQL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2643A4-D61B-479E-ABB8-8440D1817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43425"/>
            <a:ext cx="100393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\i /mentor-lab/examples/cluster-inspection.sql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-- anchors inside the script: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SELECT ... FROM gp_segment_configuration;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SELECT ... FROM pg_settings WHERE name IN (...);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SELECT ... FROM gp_toolkit.gp_disk_free;</a:t>
            </a:r>
          </a:p>
        </p:txBody>
      </p:sp>
    </p:spTree>
    <p:extLst>
      <p:ext uri="{BB962C8B-B14F-4D97-AF65-F5344CB8AC3E}">
        <p14:creationId xmlns:p14="http://schemas.microsoft.com/office/powerpoint/2010/main" val="31798551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257C47-9F76-427C-8CDD-0712A0294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469A04-DD10-4B8B-87E7-473E61047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6B08DC-92D8-4F6E-A395-CF08C43BF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8C87E9-B7D4-4F2C-A0C5-3057303F2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RUNNABLE DDL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A18F65-7397-4857-BFBD-F4FE89F40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Heap vs AOCO: runnable DDL + catalog checks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12E584-EDD2-42BC-9A0C-FC1843E7D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Демо живет в labs/greenplum/examples/storage-and-partitioning.sql.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BEA41F-01ED-4052-9F51-662A80F68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E33687-9A46-4290-8C6C-0FBEA7919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F92F2A-97D7-4BEB-BE7D-C41E69E95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DAAA82-A831-4828-AB82-FB352E697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Проверяем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9A55B3-8577-41C0-B490-B513DBBF2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Heap/AO/AOCO видны через psql \d+ и catalog checks.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92B17C-3812-4603-8DA7-B54712B1C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359C5D-AEF8-43ED-B8EF-F8AEF90E0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DDE713-E009-46CD-B2FB-06CB71EE2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Не путаем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237E4A-9E42-4395-A47E-0BCA1B3ED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Storage ускоряет scan/compression, но не заменяет distribution key.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9AAAE5-D259-47BE-987F-08D8BF6B9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53000"/>
            <a:ext cx="10382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89298E-23A4-40AA-9C24-9DD0C3D56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863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SQL / CLI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DABCA2-B269-45EB-8023-84004C636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53050"/>
            <a:ext cx="100393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CREATE TABLE lesson01.storage_aoco_demo (...)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WITH (appendoptimized=true, orientation=column, compresstype=zstd, compresslevel=1)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DISTRIBUTED BY (customer_id);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\d+ lesson01.storage_aoco_demo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SELECT c.relname, am.amname AS access_method FROM pg_class c LEFT JOIN pg_am am ON am.oid = c.relam WHERE c.relname LIKE 'storage_%_demo';</a:t>
            </a:r>
          </a:p>
        </p:txBody>
      </p:sp>
    </p:spTree>
    <p:extLst>
      <p:ext uri="{BB962C8B-B14F-4D97-AF65-F5344CB8AC3E}">
        <p14:creationId xmlns:p14="http://schemas.microsoft.com/office/powerpoint/2010/main" val="788434659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A0F90E-D347-45E7-9E5B-DC26CEF5C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567650-E5C1-49B4-ADED-D56F17CB6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70F8CF-5787-402C-85DD-D9AC2EA2D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A6F757-DC77-4487-AD54-803D13080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DEFAULTS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24E7C3-0326-4DD3-9BE7-DE6F28FF2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Columnstore defaults: table / database / role / instance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082116-6FA4-43AD-8E1F-B8F4DFAD8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Columnstore включается явно; defaults помогают стандарту, но требуют дисциплины.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B9B788-C9A7-45AF-A634-B1182AE66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CD318F-B48E-46C2-AFB0-862EDCAD3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B80037-021F-4942-A9C4-66D5B7C03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0D519D-922E-4D49-8FA2-35735BD84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Table level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12D7CB-81EC-490F-BAF8-6B893A294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WITH (appendoptimized=true, orientation=column, compresstype=zstd, compresslevel=1).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60463D-0108-41E9-9888-3A2069ACF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4C9746-AC91-4DEB-B69C-03A376494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5DFAE2-C675-4228-B4EB-9B893E0CF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Column level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7964D0-66A7-4E22-BB6F-61DE13DC4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amount numeric(12,2) ENCODING (compresstype=zstd, compresslevel=3).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D9CFAD-1D53-445B-ACCC-B96146DA0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8EF74F-9D37-485D-9773-6C321953D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0FFA9C-E1D1-4EC4-ABCA-66E93E17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Admin note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A7B173-3232-46A1-8AD4-2ACCB3635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Instance-level gpconfig показываем как production/admin snippet, не выполняем без необходимости.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B697AD-C3E6-4988-BAB4-F735CC032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53000"/>
            <a:ext cx="10382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A70CAD-6CA1-40E5-939C-97CB332D5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863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SQL / CLI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EC09D4-4498-4D4D-B708-E54205360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53050"/>
            <a:ext cx="100393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ALTER DATABASE mentor SET gp_default_storage_options =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'appendoptimized=true, orientation=column, compresstype=zstd, compresslevel=1';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gpconfig -c gp_default_storage_options \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  -v "'appendoptimized=true, orientation=column, compresstype=zstd, compresslevel=1'"</a:t>
            </a:r>
          </a:p>
        </p:txBody>
      </p:sp>
    </p:spTree>
    <p:extLst>
      <p:ext uri="{BB962C8B-B14F-4D97-AF65-F5344CB8AC3E}">
        <p14:creationId xmlns:p14="http://schemas.microsoft.com/office/powerpoint/2010/main" val="468214351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2A7DC8F-42F0-4AC7-AEBC-6C6BDEA70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5C726A-654B-43BC-B7BE-73223E0D7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48B475-1F82-4573-BD80-CFFD3E5D0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0D7CB0-F5B7-41D3-BE60-62E536F74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DISTRIBUTION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FB662A-75E1-49BE-97AD-2FD7A27B2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Distribution key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3D045F-53FC-4ED6-8B44-64C95AF13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Ключ распределения решает, где физически лежит строка и какие joins станут локальными.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312E7F-DED3-4E08-8E3D-AC42029A7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D8EA7F-28F0-408F-A4FF-CEE78AE03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51704C-70B2-43AF-A2D3-32F049EB9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CF53D6-45D8-473A-A401-C45B68369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Хороший ключ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FAAC6C-D8F4-4478-9D8F-0529D72F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Высокая cardinality, равномерность, совпадение с частым join key.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BC808F-A5B7-499F-83E8-2D53818EE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F4F96D-62EE-4691-93BD-555AD44EB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1269F8-E774-4AF8-9CD5-3707BA64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Плохой ключ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622F8E-7A0F-4B39-9281-CCA77BABA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Низкая cardinality, skew, один segment делает почти всю работу.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4D4080-6C0A-4A0C-95DF-80777597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FD2866-400F-42E8-B306-8851416EE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CCD8C0-0FED-49F4-8508-92207620D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Не то же самое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B6DB83-519A-4F54-BA69-D80E9B3E4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Distribution key не равен primary key и не равен partition key.</a:t>
            </a:r>
          </a:p>
        </p:txBody>
      </p:sp>
    </p:spTree>
    <p:extLst>
      <p:ext uri="{BB962C8B-B14F-4D97-AF65-F5344CB8AC3E}">
        <p14:creationId xmlns:p14="http://schemas.microsoft.com/office/powerpoint/2010/main" val="178696825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83DEEE-0709-40ED-BBD4-68A77248C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0C6472-73F7-4417-BF08-6845605D4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CE3C4E-C6B2-4681-8A61-D247A4119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373667-F18B-44B0-B4B5-2F9A46BA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SKEW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56AE68-016C-4BD6-9317-01B7BC77A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Skew через gp_segment_id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FB1000-DBCC-47B1-A965-2DD3D9CF8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gp_segment_id превращает догадки про распределение в измеримое evidence.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95823A-D88A-4574-9574-C1AB5EC97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806E3E-4D71-4000-A33E-82D10C237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0A398A-35CD-4EE8-B49D-496D1B976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AE6AB6-F1EB-4851-AF30-91C575E6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Симптом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0157A6-3B0B-45AE-96DF-4DAE6E031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Один segment получил непропорционально много строк.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C2DF4A-0FED-4E80-AA1D-958A15822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C0813F-22C6-4FED-AC86-D4F8A6E0F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8E0DC8-D1C1-40D8-B89B-E40326291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Причина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E50173-44DA-4F0D-86F7-CB11A1D1C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Часто низкая cardinality distribution key: status, region, flag.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51FFB3-009C-44DA-9AED-113E4C12A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EA5DB8-6473-4996-9EB5-6CF0726AB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91BD3C-0404-48B7-8108-2ABDB3CA7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Фикс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552856-9D69-4C64-8375-B31FB1704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Распределить большой fact по высококардинальному join key.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8E24AA-49F5-4810-90CE-C159893E6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53000"/>
            <a:ext cx="10382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D2A035-4D79-464C-8BF7-A01FD4F10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863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SQL / CLI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BB6CA3-9BDB-4BEF-AAFC-D6CA2C7F6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53050"/>
            <a:ext cx="100393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SELECT gp_segment_id, count(*) AS rows_count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FROM lesson01.fact_sales_bad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GROUP BY gp_segment_id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ORDER BY gp_segment_id;</a:t>
            </a:r>
          </a:p>
        </p:txBody>
      </p:sp>
    </p:spTree>
    <p:extLst>
      <p:ext uri="{BB962C8B-B14F-4D97-AF65-F5344CB8AC3E}">
        <p14:creationId xmlns:p14="http://schemas.microsoft.com/office/powerpoint/2010/main" val="154137506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0C82D91-62FC-4BED-A988-6FAC67C01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AA2D24-F0F7-46B7-BB6D-D343FF48C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3C15C9-EB90-44DC-8EA6-57EE93394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477C07-9624-46E5-98AF-AD83DB81A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PLAN READING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258310-5A3F-44ED-95FD-E5A8CED26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EXPLAIN и Motion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A77F10-E68C-45D3-B57D-57D835629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Первый взгляд новичка в Greenplum-плане: где данные едут по сети.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A094F0-85FC-40C2-9CCE-886060891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8702BF-311E-43A5-BFC3-D567CD711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FF18EC-9F52-4819-86AB-F37AC9461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1FDF87-27F6-4350-A50D-C7CA62BF3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Redistribute Motion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B7EB6E-A47E-4AA0-9362-713B084DD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Данные перекладываются по новому ключу. Часто join key не совпал с distribution key.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462F46-4E8A-43F3-8C16-6927AEFF5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DEDCDD-7E0C-4892-ADD4-59340BA5A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96FAD7-4321-4748-8EAD-87E5CADF0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Broadcast Motion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66E500-91C8-4D5E-9CAB-4BC033405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Маленькая таблица копируется на все сегменты. Хорошо только если она действительно маленькая.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F73A6D-34C5-422C-B09F-221990516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7D0F13-1AF4-4163-891C-931DC85E6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56C477-5415-4133-8EBE-D61240134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Gather Motion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163931-9E32-4C7E-8F37-08A8661E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Финальная сборка результата. Нормально, но может стать bottleneck для огромного output.</a:t>
            </a:r>
          </a:p>
        </p:txBody>
      </p:sp>
    </p:spTree>
    <p:extLst>
      <p:ext uri="{BB962C8B-B14F-4D97-AF65-F5344CB8AC3E}">
        <p14:creationId xmlns:p14="http://schemas.microsoft.com/office/powerpoint/2010/main" val="1798046349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0894F53-A8B7-44E2-AC94-B343FD75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758BB1-AE45-4422-91E8-FEF815029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746D45-0870-4B9E-BF06-FE81AAA21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5CAD4C-A903-47FB-8A30-98C5DB75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PARTITIONING INTRO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40BD38-B674-41A0-BBC1-A7B32258A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Partitioning intro: pruning/retention != distribution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2E49C9-30CE-40EC-A08D-3CA0F2142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Partitioning режет таблицу внутри logical table; distribution размещает строки по сегментам.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CABDC5-21E9-4754-9AD2-357D26EF3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9909D3-1671-4111-AAEE-23B21240A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5E10FD-78A1-4F9A-8E5F-D3FCD7069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191091-2D6C-424E-AB49-1607C2DD3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Pruning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227BE7-CB6C-40F4-9796-9C338A999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Фильтр по sale_date может читать только нужные partitions.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BB7861-F8FB-42E7-BCB2-BA9029A2A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033E21-1F99-438D-8DB2-B2F6B01B9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782CD5-5DD0-4FF3-938A-DBF627E00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Retention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F53EF0-43C5-4448-85D9-84E46A181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Старые partitions можно удалять/архивировать операционно.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657D14-0AB7-45BB-B469-C5DD1DB2C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878B0E-3114-4958-8BFD-C9D66CDEC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66DF4C-16C6-4A52-8601-40ED7734B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Не distribution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D9BB6A-B35D-4724-9FCA-DE00C2B95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Partition key не обязан быть distribution key.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205219-1CA3-492C-AC0C-24DFDE8A2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53000"/>
            <a:ext cx="10382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D69D3F-19FE-42F8-96D0-53D3F2FB0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863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SQL / CLI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70449D-849E-4FB0-AE80-B057335A9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53050"/>
            <a:ext cx="100393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CREATE TABLE lesson01.fact_sales_partition_good (...)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DISTRIBUTED BY (customer_id)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PARTITION BY RANGE (sale_date)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(START (DATE '2026-01-01') END (DATE '2026-04-01') EVERY (INTERVAL '1 month'));</a:t>
            </a:r>
          </a:p>
        </p:txBody>
      </p:sp>
    </p:spTree>
    <p:extLst>
      <p:ext uri="{BB962C8B-B14F-4D97-AF65-F5344CB8AC3E}">
        <p14:creationId xmlns:p14="http://schemas.microsoft.com/office/powerpoint/2010/main" val="84749799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2BB737-5577-4B49-A193-EBE7015E5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791650-A08D-44CB-B92F-24C99D573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EDB10A-6707-4FDE-BBA2-855365439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ED2722-9B20-4C34-97FA-C35140839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ЦИКЛ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DB493B-3975-4A24-BDF5-418E677A3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Диагностический цикл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46FB0B-9653-4245-9CB7-539194F27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Профессиональный Greenplum fix выглядит как evidence loop, а не как догадка.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FB9560-9CF6-455D-BE74-91DC957DF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89C547-B952-4356-B9F7-F1F306C43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8E5889-69B7-4D46-8F10-C55E3BDFA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13B013-CDDB-4719-91ED-250CE03AD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1. Измерить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71F323-DE8F-495E-9ECA-C8D7DC305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gp_segment_id, row counts, EXPLAIN, runtime symptoms.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5C1382-AE50-4354-A987-E92BAB80E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4BBB5A-3917-4EAD-9692-07C2A6CF5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2D0A71-14A0-4634-86A0-640D5BD7E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2. Объяснить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1471C9-952B-444D-8F54-11824C078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Связать skew/Motion/storage/statistics с физической причиной.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4ABCCE-859F-495A-BEA3-346EC95B3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BD44A1-20C1-4799-925A-CA2ECA224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F895ED-DE9A-4630-956F-0C7527627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3. Изменить и проверить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237C6E-E2B6-40ED-B61C-9132E9469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Новый DDL или query shape плюс повторный evidence.</a:t>
            </a:r>
          </a:p>
        </p:txBody>
      </p:sp>
    </p:spTree>
    <p:extLst>
      <p:ext uri="{BB962C8B-B14F-4D97-AF65-F5344CB8AC3E}">
        <p14:creationId xmlns:p14="http://schemas.microsoft.com/office/powerpoint/2010/main" val="22599089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AA87D7-F7ED-429E-A71D-C69BDDC9A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C90DAB-CF19-493C-998E-A5AD6A707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732D05-983C-44FB-BE23-1C8AD5035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A24BDC-09CB-4430-8B8D-E011D0E45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PRACTICE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B6630A-159C-45ED-B942-CD9E4B35C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Practice checkpoint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6B620E-90B0-43F5-9032-8EA509F63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Ученик сам проходит skew -&gt; EXPLAIN -&gt; comparison -&gt; short RCA.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486E1B-89A2-43A0-97CC-91AEF6C0C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51751A-F2FA-4CE1-9515-FA4FABE8C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275F12-855A-4D14-9C5C-B4EDAA371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B8B2A8-7F41-417E-8D31-AA361B2F4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Что делает ученик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620CE2-614D-46D1-927E-F000C96CE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Запускает workbook, ищет skew, читает Motion, сравнивает bad/good fact.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7DD2D5-0F3E-46AA-92A8-109DF98BB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8CD9B7-D4AC-4AE5-B48E-A74024DB0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EFC72E-E016-46E4-8005-D6864EA60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Что делает ментор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A2E2F3-0163-4902-832B-DE2D96013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Задает вопросы и просит доказывать каждый вывод SQL-артефактом.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19AC2A-A6EB-45EE-BDD7-8B980A9BE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22E7F0-CEFC-410A-B5A2-8436223E7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9EF5E4-FFF7-41FB-A572-DA5E3242D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Критерий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C73A85-7A6B-4AD9-96B5-9B1713565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Ученик может назвать root cause и validation query.</a:t>
            </a:r>
          </a:p>
        </p:txBody>
      </p:sp>
    </p:spTree>
    <p:extLst>
      <p:ext uri="{BB962C8B-B14F-4D97-AF65-F5344CB8AC3E}">
        <p14:creationId xmlns:p14="http://schemas.microsoft.com/office/powerpoint/2010/main" val="1366993604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7C982D-8B4D-4101-B7CD-138A5B8D4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B0B4F0-4878-418F-A7D9-F3AAB9DDA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5DBC6D-78D6-4865-8BBE-0951770A3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0C5C45-7721-4E02-8576-E1313BF83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INCIDENT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844176-1BD9-4FF4-ADA2-DDF5A651A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Incident mode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3841C8-926B-4110-9EA3-ACC035265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Теперь это не упражнение, а замедлившийся отчет и короткий RCA для бизнеса.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BFB8ED-D3E9-4A4F-A9A3-588CA8A5C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6213C4-95EB-4677-9515-E447971C9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EBC15E-8710-43E9-A1B7-292A2784F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B881EB-F7BB-4618-80A6-0FE9A53A2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Симптом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5E5DA9-EF02-4420-9B2E-3DD682318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Отчет по выручке стал медленнее после новой fact table.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734486-8E2F-4F89-9563-A92CDB27D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9CE53A-F929-42F6-8B0D-D9B598FF5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583005-6881-4C29-9054-53BC0200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Гипотезы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A9DB08-6CDE-4233-87FF-DF41F5DC7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Skew, non-colocated join, missing statistics, плохой storage/load path.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068C74-B14B-44FF-B69E-28F5E6F43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821B61-0346-4D75-887E-3ACE7D4E2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9CA05C-E692-41DD-A2EC-09C1D1A9B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Артефакт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B20F77-2027-4CAA-BE3F-7A63ED796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RCA: symptom -&gt; evidence -&gt; root cause -&gt; fix -&gt; validation.</a:t>
            </a:r>
          </a:p>
        </p:txBody>
      </p:sp>
    </p:spTree>
    <p:extLst>
      <p:ext uri="{BB962C8B-B14F-4D97-AF65-F5344CB8AC3E}">
        <p14:creationId xmlns:p14="http://schemas.microsoft.com/office/powerpoint/2010/main" val="1092731681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1915E2-BD10-4210-9F9F-9B7C154EC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38BE7E-E75F-4132-B004-EACFBC0F1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D1F438-ECAF-4421-AA2A-E07B951D9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E100A2-A7B0-48BF-8DC1-60DD9FC34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98A8D8-9AA7-41B8-8DA3-D4B005BAC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Fix and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C25683-C6D0-4F51-9479-A9C6DC790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Фикс без проверки - мнение. Фикс с повторным EXPLAIN и skew check - инженерное решение.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6DE30E-DCEF-4A7D-AA9E-7D84E082C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0B4DFE-6076-4F1C-A92F-C0D76A033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38346F-5A10-4DCA-AA01-E4C1496E1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96AECC-7C50-4CA3-B03E-E2837C3A1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До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5DC71C-7CF8-482B-8066-F46EBD750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DISTRIBUTED BY(status), skew, Redistribute Motion.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3DF8C6-07F1-470B-87D5-D00833AC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E799D0-0C44-40BF-B86F-804169312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A1C9A1-0133-413B-AB4B-F6DFF022D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После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F25777-19F7-47EF-96A0-075F6896F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DISTRIBUTED BY(customer_id), ровнее gp_segment_id, дешевле движение.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D10481-3008-4595-9539-B8F63D0BF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99FF84-3EE6-4874-863E-8C19EDAA0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D88A04-0919-4A93-BE90-19D1A2451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Доказываем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6485B9-B323-4187-8C5B-9A75F7C2E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Скрин/вывод SQL, короткая интерпретация, оставшийся риск.</a:t>
            </a:r>
          </a:p>
        </p:txBody>
      </p:sp>
    </p:spTree>
    <p:extLst>
      <p:ext uri="{BB962C8B-B14F-4D97-AF65-F5344CB8AC3E}">
        <p14:creationId xmlns:p14="http://schemas.microsoft.com/office/powerpoint/2010/main" val="2123151068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E6F6F8-740D-46CF-B5EC-792EEFF2E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02D45C-938E-49BD-AD86-3F5C4078E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7D02F6-17CA-41FF-BDBC-BA2693744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65778E-B649-458F-B893-562DD39A1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CAPSTONE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418A08-FCB4-43F4-92DF-0BA7BD1ED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Capstone mart design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2AD86A-1823-4375-94BE-B4BD4D26E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Факт проектируется от grain и workload, а не от любимой DDL-опции.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B52729-61B9-4370-A0EE-B2E74E73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B72CBA-35B7-4855-9C4E-6A04F131A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7B15C1-180A-4B1E-952E-E82D125A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2BA7B3-9B48-4399-9A06-B584E3D62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Grain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BA6D1D-179E-4D09-B6DD-D813D1BF8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Одна строка что означает? order, order item, daily customer aggregate?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A31476-42F6-4EB7-8F8A-3620A016F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043E6B-9A91-4EED-9431-AE3E6947E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B06F19-EB06-439B-B816-915FBE33C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Physical design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315573-A8A3-4BF1-871B-242A51F28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Distribution для joins, partitioning для date pruning/retention, storage для scans.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D5189E-A8B7-43BC-9D0E-3B9B3F05F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A3ACB8-627C-4CE5-9D6B-28E8E4B17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5FAD88-D6A4-4CAE-89A9-6E1B55D75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Risk register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0C0555-4BAC-4FB8-81CA-49BFE2541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Skew, late facts, stats after load, hot partitions, huge final gather.</a:t>
            </a:r>
          </a:p>
        </p:txBody>
      </p:sp>
    </p:spTree>
    <p:extLst>
      <p:ext uri="{BB962C8B-B14F-4D97-AF65-F5344CB8AC3E}">
        <p14:creationId xmlns:p14="http://schemas.microsoft.com/office/powerpoint/2010/main" val="882438678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739A6FE-298B-4CF9-8B82-B7E9E5DAA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8525D7-D73F-4937-A417-9E82EA10E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A5F584-49BA-4105-99FF-8B9A1EA15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D4279B-74D0-4757-BAF7-BE6F75B0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AUTOMATION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C731DF-42B6-482D-BAC3-DB09B0FC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Automation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989225-E660-46C5-8807-E4A2B0E5E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CLI делает урок повторяемым для ментора и ученика на macOS и Windows.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C55A6C-B152-453D-9244-8F9E04B08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73F9AE-927B-4BC0-90BA-F1B66C372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BC8E94-42F9-465C-BD8D-A1A157EE5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F797F1-DC1A-4452-ABD2-8B006CD3A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Student UX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354F60-2813-4287-B22C-DE4BBCE9C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up/status/psql/reset без локального psql.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12FC30-EC32-4C40-A37F-3C2A38219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3B3DBA-68B2-45CD-9D5C-9F159D77F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E14EA0-4802-46CE-928D-BBB4ECA2A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Mentor UX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39353D-842F-495C-A42E-3C830EDB2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runbook, hints, grading, incident, report.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9807DD-DD2F-4792-9F0E-6C84EA4BE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53000"/>
            <a:ext cx="10382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8B4F45-C206-4180-B4B3-29A37BCE8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863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SQL / CLI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82EE20-2126-46FA-8E53-16B8B6F06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53050"/>
            <a:ext cx="100393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python3 mentor-lab.py runbook greenplum simple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python3 mentor-lab.py runbook greenplum deep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python3 mentor-lab.py runbook greenplum homework</a:t>
            </a:r>
          </a:p>
          <a:p xmlns:a="http://schemas.openxmlformats.org/drawingml/2006/main">
            <a:pPr algn="l">
              <a:def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202123"/>
                </a:solidFill>
                <a:latin typeface="Aptos Mono"/>
                <a:ea typeface="Aptos Mono"/>
                <a:cs typeface="Aptos Mono"/>
              </a:rPr>
              <a:t>python3 mentor-lab.py check greenplum</a:t>
            </a:r>
          </a:p>
        </p:txBody>
      </p:sp>
    </p:spTree>
    <p:extLst>
      <p:ext uri="{BB962C8B-B14F-4D97-AF65-F5344CB8AC3E}">
        <p14:creationId xmlns:p14="http://schemas.microsoft.com/office/powerpoint/2010/main" val="78644125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2DEB6C1-E17B-46FB-A76F-442AABDE0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981C37-B4FB-4AF7-8210-D401ECCB0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D8578E-3C6F-4CEF-9C2A-8CAE8FBF5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71187D-A4BF-4F3D-8D10-09092AB29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SUMMARY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43086E-5774-42AE-8F95-996F9E90A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Что ученик должен унести с урока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501734-201D-44BE-BA45-A84DA2BA9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Одна страница mental model перед домашкой.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61B974-B608-497F-A718-FF95FE1E4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762D5F-89B8-4007-B7C0-E705BF938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1296E0-16A1-4F83-BFC6-14D1C133B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063A2A-EE25-4C30-98CB-46B777E66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Greenplum = MPP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743D10-6830-4441-B375-914B5FD3F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Coordinator планирует, segments исполняют, interconnect двигает строки.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999849-ED57-4349-AD21-BB87C89A2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1C313D-9161-4FD2-B082-4FF55CBED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DCCECC-48C3-4C83-93C9-753139ED9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Физика важна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8F4BAC-D112-46A3-B464-BFB4BD5F1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Distribution, skew, Motion и storage влияют на тот же SQL сильнее, чем кажется.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4EA514-FDAE-4BEB-9952-C2960B040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82B300-1F1B-4A4F-AA90-5082240C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A842D7-2C6B-4B64-A174-9268099E0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Доказательность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ACDE3C-4320-425F-ADD4-D0C74E060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Каждый fix подтверждаем skew check, EXPLAIN и коротким RCA.</a:t>
            </a:r>
          </a:p>
        </p:txBody>
      </p:sp>
    </p:spTree>
    <p:extLst>
      <p:ext uri="{BB962C8B-B14F-4D97-AF65-F5344CB8AC3E}">
        <p14:creationId xmlns:p14="http://schemas.microsoft.com/office/powerpoint/2010/main" val="822154241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B72057B-81FC-46FD-B875-9B92EFF0A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C9CF3E-2D4C-40CE-9692-FEE1B666C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B7E239-E8FB-4998-B6B9-C21561F69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61BA40-E01F-4945-B0BC-49199B422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APPENDIX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E66D4B-DDCF-468F-80CF-E1E2FC25C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APPENDIX: как читать EXPLAIN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CBBF9F-A43B-48C0-8B68-150266BC1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Лестница чтения плана: снизу вверх и от локальной работы к сетевой цене.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853507-9BEC-4A4C-8D51-9EAC97A31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FA882F-49E8-4A2E-810F-6213C71B3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CA0568-32D6-482F-9CB3-676FB3B76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EC7019-DECB-48FB-9700-B6436C9D4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Leaf scans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064680-7789-42DE-9FBB-6F24BC5D6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Какие таблицы читаем и сколько строк ожидаем.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5107DF-0D8D-4CF3-B6F5-169010AEC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97003E-2E79-480B-A5DD-DB9D96296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87BE4A-40DB-4FE7-8D05-67AFC8668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Local work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F9C547-9A87-474F-AA9A-DFFC9B7D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Filter, aggregate, Hash Join на QE.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316A6C-611F-4F95-A6D9-F22FD122E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3EA8C4-C66B-439A-9C8B-B84728A90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B95A81-3C9E-431D-9765-956471411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Motion boundary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278B6C-081B-4A31-978C-E50AF21F6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Где появляется slice boundary и network movement.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C0D04F-9452-4F0F-A313-5B2AC8794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89321E-4D54-4A93-AC2F-2E7C92570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90047D-3ADD-48F0-9062-C9360F0DF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Rows out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436F62-612F-4AA3-B708-87C9CE563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Где actual сильно расходится с estimate.</a:t>
            </a:r>
          </a:p>
        </p:txBody>
      </p:sp>
    </p:spTree>
    <p:extLst>
      <p:ext uri="{BB962C8B-B14F-4D97-AF65-F5344CB8AC3E}">
        <p14:creationId xmlns:p14="http://schemas.microsoft.com/office/powerpoint/2010/main" val="1293419248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2F1EFB-8698-4C07-AC49-F91B4C8BC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D67707-8325-4EB2-9E22-19234C6DC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228FBE-6675-4B60-B5FB-FD9D383E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F01928-FDE4-4285-A784-9C43CD2A6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APPENDIX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D4DDD6-4B74-4BA2-B633-7FB816F19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Physical joins in MPP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E7D91C-254B-4194-AAE2-8B690E3D1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Hash Join - локальный алгоритм; co-located join/Broadcast/Redistribute - физика размещения.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70AE32-A19E-4007-B530-2207665FB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5F05CD-92F2-4348-8A73-75460A542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F8ECC6-63EC-49B7-81ED-CB3612CAA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9D207F-80C7-4206-B063-33994A745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co-located join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FEF52C-CDCA-4C42-9AEE-337D830BF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Обе стороны уже распределены по join key: network минимален.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2CF2AB-D801-4D37-B331-77A8BFF9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F4B97E-2020-43C8-9BBD-F155DADEF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B914F5-DF29-48DE-8D0A-824B3035F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Broadcast side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1953F3-AB0D-4815-B4A6-2618869B3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Маленькая dimension копируется на все segments.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04A4FD-99C7-4C3C-AF92-3A2355C40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C6497C-6CCA-424F-BF2E-2DCC7A0F3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95DFEA-6C00-4BD8-9497-1252C234A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Redistribute side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35C644-E040-4333-80A5-25B865B1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Одна или обе стороны перекладываются по hash join key.</a:t>
            </a:r>
          </a:p>
        </p:txBody>
      </p:sp>
    </p:spTree>
    <p:extLst>
      <p:ext uri="{BB962C8B-B14F-4D97-AF65-F5344CB8AC3E}">
        <p14:creationId xmlns:p14="http://schemas.microsoft.com/office/powerpoint/2010/main" val="742654368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071667-65E1-4011-BEBA-C548E4561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420A72-2633-406F-A010-74D3E0810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378C86-5200-4364-AB15-93DB1C67F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FFF0DB-1E0C-48F0-BC9A-F252565FF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APPENDIX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1F2DC5-F158-4A3D-A0F5-DD0B61F0B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Broadcast vs Redistribute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FD20F0-F242-45DB-87F7-92D8D5A3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Выбор data movement зависит от размера сторон после фильтров и ключей распределения.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5E5939-A4F8-451C-B177-686534FAB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9D3EB5-EE11-47A9-A779-CC895EDE9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3ACE87-9787-4F2D-AA7A-7384289E1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627314-1BFC-438F-A2A8-D271DECAD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Broadcast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9E6DC0-3BC3-456F-947C-081F9F1B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Хорош, когда broadcast-side реально мала. Плох для большой dimension/fact.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1897FB-B883-4C2C-BADC-72C8CCC6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CB3CF1-98DD-427C-97D9-5689D036A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E87E75-B56E-4AE9-A6BB-805C546F1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Redistribute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B6672F-2FF8-4D09-9661-752D7BC90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Нормальная цена несовпадения distribution и join key, но может стать дорогой.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C091EF-B7FA-4F47-BD98-7A6A84D19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E788F7-7146-4807-9A46-3E45ECD39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E2C2D-3435-4E09-BB3B-AB53B1916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Вопрос ученику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698A8A-44E1-4763-9964-6F07262B0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Что дешевле: разослать 10k строк или переразложить 50M строк?</a:t>
            </a:r>
          </a:p>
        </p:txBody>
      </p:sp>
    </p:spTree>
    <p:extLst>
      <p:ext uri="{BB962C8B-B14F-4D97-AF65-F5344CB8AC3E}">
        <p14:creationId xmlns:p14="http://schemas.microsoft.com/office/powerpoint/2010/main" val="1715611661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CCAEA2D-3984-427A-94A9-42EC87EB5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74D4A2-DB6F-4667-97FD-E5F484A6E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F1CBC3-0381-4636-92E2-4A4CAF596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D5508B-B156-43A2-8DD2-EE0F471CA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APPENDIX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31B0DF-7067-4238-BB26-74E03967A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Hash Join deep dive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AB06A4-E565-412F-BC6E-E20375CF6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QE строит hash table на inner side и probe-ит outer side; memory pressure ведет к batching/workfiles.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3CB5CD-9B5B-40F9-A6E4-07880188D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766AF8-09A9-45EA-909A-BD23A4E81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099355-FFA5-44FD-AA99-0187186B1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A937A2-6728-4B64-8311-899AD33F1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Build side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0066CB-96C2-4561-87B5-9E9275F51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Обычно меньшая сторона. Ошибка оценок может привести к spill.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BE39AB-6234-43F0-B455-51C4BF66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AB11CC-5E55-456B-83FA-B4E472EB2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17B362-E1A7-4DEB-99E0-886753676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Probe side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7F5013-E190-4E29-B662-C0D886E01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Большая сторона проходит через hash lookup локально на QE.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3B8230-00DE-40C8-B225-3801B4C7F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A35074-5796-4F2B-94E9-64212D733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B0A24D-34B3-4A2F-950B-B98746966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MPP context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4CCC3F-D852-4002-9138-9AC4C4E22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Перед локальным Hash Join данные могли пройти Broadcast или Redistribute Motion.</a:t>
            </a:r>
          </a:p>
        </p:txBody>
      </p:sp>
    </p:spTree>
    <p:extLst>
      <p:ext uri="{BB962C8B-B14F-4D97-AF65-F5344CB8AC3E}">
        <p14:creationId xmlns:p14="http://schemas.microsoft.com/office/powerpoint/2010/main" val="123532647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2085F3-4E25-4677-8EAF-44D21324E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EF5027-538A-4F82-AACE-97D7ADDCD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405A25-0451-41E1-BDEE-C4042A6CD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67A3EE-B598-4BA9-AC66-EF5B852E8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APPENDIX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15889E-0B11-48E4-8280-4ABF5C71F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QD/QE internals with source anchors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90025C-46D3-426F-8E9D-89827D29E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Глубина для любопытного ученика: source anchors без превращения урока в чтение C-кода.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8A891C-8486-4507-A10A-E7E25C7E9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7408C3-F68B-4EEF-A2F3-FEE0280B3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9E97A6-ED88-4E1B-B574-910D8909C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FAD0A5-99EB-4249-90F1-33F4A0A25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cdbdisp_query.c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14C399-7A96-4CA2-9C95-4F5510FA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Dispatch path: QD готовит и отправляет plan payload на QE.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EDBC7F-C95A-41C3-B105-11C08A851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9EFC8E-EAA0-4D9B-82CA-25FF4C4AF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4C81DD-4A8E-43F7-91D3-A2BD072C0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nodeMotion.c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CC5DDA-B144-4AFA-A1FF-6B7BC0DAB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Motion executor обрабатывает send/receive tuple flow между slices.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B5FDA2-8192-4B50-AC39-6C0DE3427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7FAF69-311F-4D68-8526-6C58B844A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A42933-B4D0-4B1A-B5CF-435579A81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nodeHashjoin.c / joinpath.c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717B60-739C-4A20-B731-4581F3110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Локальный Hash Join и optimizer choices отдельно от CdbPathLocus.</a:t>
            </a:r>
          </a:p>
        </p:txBody>
      </p:sp>
    </p:spTree>
    <p:extLst>
      <p:ext uri="{BB962C8B-B14F-4D97-AF65-F5344CB8AC3E}">
        <p14:creationId xmlns:p14="http://schemas.microsoft.com/office/powerpoint/2010/main" val="1203978447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E9B12FA-44F0-449C-A5E9-6083DD2A5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579A8B-620D-427E-88D9-5B53198AF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E7BB4D-9F98-48A6-B895-440479C82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71C509-BA3D-4D89-BA54-04A7BD15B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APPENDIX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BC241B-CBCF-497D-A7A8-E562F3B68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Storage internals and ALTER TABLE caveats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719EC2-D549-4392-9ECB-54F729F25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Heap/AO/AOCO и ALTER TABLE storage changes требуют понимания rewrite, locks и maintenance window.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664C2E-44A2-4203-832A-360BE87AF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7EC6DA-6AD9-4F63-8F2A-BFCED2689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2BDC26-7E62-49DF-91BC-E97945F0B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AF082D-609E-4C2B-B45F-B73B2B7BC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AOCO files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AC5E0B-9C62-4C64-A2E3-503041246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Колонки хранятся отдельно, compression работает по column segments.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2EEF6C-1203-450D-B3F9-855AE7759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F4F6D2-3E37-4FF9-B8D6-2B4967E95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C6B93B-FBD6-4145-9504-090DCF741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ALTER caveat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5FCF55-B847-409C-9DBA-F42572CA1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Смена storage может требовать rewrite и операционного окна.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04A090-1A59-4B2A-BC9F-040C7911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500F03-36A2-418E-86D3-2F3379FFA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03CF4A-7AE1-4B79-8891-B8076DB50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Production checklist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64180D-7322-46F2-8A5A-E36328BAB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Объем данных, locks, stats, vacuum/analyze, rollback plan.</a:t>
            </a:r>
          </a:p>
        </p:txBody>
      </p:sp>
    </p:spTree>
    <p:extLst>
      <p:ext uri="{BB962C8B-B14F-4D97-AF65-F5344CB8AC3E}">
        <p14:creationId xmlns:p14="http://schemas.microsoft.com/office/powerpoint/2010/main" val="1318901633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3DD2BC1-6B3C-46CC-B287-81F8DF16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5F7C3A-F2D3-4202-B3F9-835D1DB57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7B62E5-9C4B-4BD6-A428-A5D46F875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48475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59355B-F5F8-4DAC-B5B7-11B0BA64F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A37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0A37F"/>
                </a:solidFill>
                <a:latin typeface="Aptos"/>
                <a:ea typeface="Aptos"/>
                <a:cs typeface="Aptos"/>
              </a:rPr>
              <a:t>APPENDIX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AB8181-BC8B-4E86-99DA-657C0FA76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524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202123"/>
                </a:solidFill>
                <a:latin typeface="Aptos Display"/>
                <a:ea typeface="Aptos Display"/>
                <a:cs typeface="Aptos Display"/>
              </a:rPr>
              <a:t>MPP-семейства: где цена архитектуры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9EFE63-3E0D-4CCA-838F-C530956BA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System taxonomy and next steps: SMP, MPP, EPP, lakehouse, HTAP переносят bottleneck в разные места.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D2D453-A9C9-4D28-A534-B55A48A4E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6400800"/>
            <a:ext cx="1123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Урок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C9DC11-8729-4234-A28E-1ADA4E900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8B90CD-D95C-40B6-9992-2219839C0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C88AFA-D540-4AC9-8246-3074FE586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SMP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6740CB-E3DF-4B35-B740-945B18D2E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Простота и вертикальный масштаб.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23436C-4E74-424B-A581-C0AE8E6F1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9BFB75-3070-433C-BA51-FEE25BF1F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E193EB-9850-48D6-A4F7-2912FB2CC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76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MPP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567B21-7DB5-4CF5-9F6C-EB6F6FE56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9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Параллельная аналитика ценой distribution design и Motion.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43D89F-8DA5-4233-A809-699E48C5A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5DA671-2AC6-4704-9574-CB438A54E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1D2BA5-2E8E-4F00-B204-FF2FFBE46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EPP / lakehouse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A47279-1451-4733-9331-4244DAB9D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Эластика и открытые форматы ценой cost, shuffle, metadata и governance.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E67B9B-E46F-48BB-B888-B765F5855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57625"/>
            <a:ext cx="495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9DED0E-94A3-4901-B533-4A65F81D3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2907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9E5E22-38BB-4BB9-8350-5F76E30CC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00525"/>
            <a:ext cx="457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2123"/>
                </a:solidFill>
                <a:latin typeface="Aptos"/>
                <a:ea typeface="Aptos"/>
                <a:cs typeface="Aptos"/>
              </a:rPr>
              <a:t>Lesson 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BDC923-3896-4634-8503-A6C079514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33925"/>
            <a:ext cx="4552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E6E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E6E68"/>
                </a:solidFill>
                <a:latin typeface="Aptos"/>
                <a:ea typeface="Aptos"/>
                <a:cs typeface="Aptos"/>
              </a:rPr>
              <a:t>Partitioning, statistics and incremental loads in MPP.</a:t>
            </a:r>
          </a:p>
        </p:txBody>
      </p:sp>
    </p:spTree>
    <p:extLst>
      <p:ext uri="{BB962C8B-B14F-4D97-AF65-F5344CB8AC3E}">
        <p14:creationId xmlns:p14="http://schemas.microsoft.com/office/powerpoint/2010/main" val="4650591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2026-06-12T17:14:54.1370000Z</dcterms:created>
  <dcterms:modified xsi:type="dcterms:W3CDTF">2026-06-12T17:14:54.1370000Z</dcterms:modified>
</coreProperties>
</file>