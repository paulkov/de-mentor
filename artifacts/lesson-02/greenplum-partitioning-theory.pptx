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21a2b0dc664444" /><Relationship Type="http://schemas.openxmlformats.org/officeDocument/2006/relationships/extended-properties" Target="/docProps/app.xml" Id="R14c6a70b16d54394" /><Relationship Type="http://schemas.openxmlformats.org/officeDocument/2006/relationships/officeDocument" Target="/ppt/presentation.xml" Id="R2eaf902c882245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d703709cae479f"/>
  </p:sldMasterIdLst>
  <p:notesMasterIdLst>
    <p:notesMasterId xmlns:r="http://schemas.openxmlformats.org/officeDocument/2006/relationships" r:id="R2d1f94cbdead4e5a"/>
  </p:notesMasterIdLst>
  <p:sldIdLst>
    <p:sldId xmlns:r="http://schemas.openxmlformats.org/officeDocument/2006/relationships" id="256" r:id="R1a8b8248a1ec4253"/>
    <p:sldId xmlns:r="http://schemas.openxmlformats.org/officeDocument/2006/relationships" id="257" r:id="R4ee79d0446c24fda"/>
    <p:sldId xmlns:r="http://schemas.openxmlformats.org/officeDocument/2006/relationships" id="258" r:id="Rf2fa9782d4504635"/>
    <p:sldId xmlns:r="http://schemas.openxmlformats.org/officeDocument/2006/relationships" id="259" r:id="R2f57616e0f364442"/>
    <p:sldId xmlns:r="http://schemas.openxmlformats.org/officeDocument/2006/relationships" id="260" r:id="Rbd730f69211a4280"/>
    <p:sldId xmlns:r="http://schemas.openxmlformats.org/officeDocument/2006/relationships" id="261" r:id="R7e35edfffb064df3"/>
    <p:sldId xmlns:r="http://schemas.openxmlformats.org/officeDocument/2006/relationships" id="262" r:id="R77814a15688344b2"/>
    <p:sldId xmlns:r="http://schemas.openxmlformats.org/officeDocument/2006/relationships" id="263" r:id="Rf625f1c0d10a45f6"/>
    <p:sldId xmlns:r="http://schemas.openxmlformats.org/officeDocument/2006/relationships" id="264" r:id="Rf31dde5498bc4043"/>
    <p:sldId xmlns:r="http://schemas.openxmlformats.org/officeDocument/2006/relationships" id="265" r:id="R046e109d2e4f415e"/>
    <p:sldId xmlns:r="http://schemas.openxmlformats.org/officeDocument/2006/relationships" id="266" r:id="Rc0ccd095263741f8"/>
    <p:sldId xmlns:r="http://schemas.openxmlformats.org/officeDocument/2006/relationships" id="267" r:id="Ra538d89f7ebb4586"/>
    <p:sldId xmlns:r="http://schemas.openxmlformats.org/officeDocument/2006/relationships" id="268" r:id="Rfc19168acf8c46c1"/>
    <p:sldId xmlns:r="http://schemas.openxmlformats.org/officeDocument/2006/relationships" id="269" r:id="R1635c55841404d3a"/>
    <p:sldId xmlns:r="http://schemas.openxmlformats.org/officeDocument/2006/relationships" id="270" r:id="R2e2dbe776a6346f7"/>
    <p:sldId xmlns:r="http://schemas.openxmlformats.org/officeDocument/2006/relationships" id="271" r:id="R076e812342134c09"/>
    <p:sldId xmlns:r="http://schemas.openxmlformats.org/officeDocument/2006/relationships" id="272" r:id="R3778e41b6d144e8e"/>
    <p:sldId xmlns:r="http://schemas.openxmlformats.org/officeDocument/2006/relationships" id="273" r:id="Raf66edd63716407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5df5497274672" /><Relationship Type="http://schemas.openxmlformats.org/officeDocument/2006/relationships/slideMaster" Target="/ppt/slideMasters/slideMaster1.xml" Id="R2dd703709cae479f" /><Relationship Type="http://schemas.openxmlformats.org/officeDocument/2006/relationships/notesMaster" Target="/ppt/notesMasters/notesMaster1.xml" Id="R2d1f94cbdead4e5a" /><Relationship Type="http://schemas.openxmlformats.org/officeDocument/2006/relationships/presProps" Target="/ppt/presProps.xml" Id="R9f73df7161ae417a" /><Relationship Type="http://schemas.openxmlformats.org/officeDocument/2006/relationships/viewProps" Target="/ppt/viewProps.xml" Id="Rc7224abdf40847d8" /><Relationship Type="http://schemas.openxmlformats.org/officeDocument/2006/relationships/tableStyles" Target="/ppt/tableStyles.xml" Id="R0ac0ce4bc2d34d1d" /><Relationship Type="http://schemas.openxmlformats.org/officeDocument/2006/relationships/slide" Target="/ppt/slides/slide1.xml" Id="R1a8b8248a1ec4253" /><Relationship Type="http://schemas.openxmlformats.org/officeDocument/2006/relationships/slide" Target="/ppt/slides/slide2.xml" Id="R4ee79d0446c24fda" /><Relationship Type="http://schemas.openxmlformats.org/officeDocument/2006/relationships/slide" Target="/ppt/slides/slide3.xml" Id="Rf2fa9782d4504635" /><Relationship Type="http://schemas.openxmlformats.org/officeDocument/2006/relationships/slide" Target="/ppt/slides/slide4.xml" Id="R2f57616e0f364442" /><Relationship Type="http://schemas.openxmlformats.org/officeDocument/2006/relationships/slide" Target="/ppt/slides/slide5.xml" Id="Rbd730f69211a4280" /><Relationship Type="http://schemas.openxmlformats.org/officeDocument/2006/relationships/slide" Target="/ppt/slides/slide6.xml" Id="R7e35edfffb064df3" /><Relationship Type="http://schemas.openxmlformats.org/officeDocument/2006/relationships/slide" Target="/ppt/slides/slide7.xml" Id="R77814a15688344b2" /><Relationship Type="http://schemas.openxmlformats.org/officeDocument/2006/relationships/slide" Target="/ppt/slides/slide8.xml" Id="Rf625f1c0d10a45f6" /><Relationship Type="http://schemas.openxmlformats.org/officeDocument/2006/relationships/slide" Target="/ppt/slides/slide9.xml" Id="Rf31dde5498bc4043" /><Relationship Type="http://schemas.openxmlformats.org/officeDocument/2006/relationships/slide" Target="/ppt/slides/slide10.xml" Id="R046e109d2e4f415e" /><Relationship Type="http://schemas.openxmlformats.org/officeDocument/2006/relationships/slide" Target="/ppt/slides/slide11.xml" Id="Rc0ccd095263741f8" /><Relationship Type="http://schemas.openxmlformats.org/officeDocument/2006/relationships/slide" Target="/ppt/slides/slide12.xml" Id="Ra538d89f7ebb4586" /><Relationship Type="http://schemas.openxmlformats.org/officeDocument/2006/relationships/slide" Target="/ppt/slides/slide13.xml" Id="Rfc19168acf8c46c1" /><Relationship Type="http://schemas.openxmlformats.org/officeDocument/2006/relationships/slide" Target="/ppt/slides/slide14.xml" Id="R1635c55841404d3a" /><Relationship Type="http://schemas.openxmlformats.org/officeDocument/2006/relationships/slide" Target="/ppt/slides/slide15.xml" Id="R2e2dbe776a6346f7" /><Relationship Type="http://schemas.openxmlformats.org/officeDocument/2006/relationships/slide" Target="/ppt/slides/slide16.xml" Id="R076e812342134c09" /><Relationship Type="http://schemas.openxmlformats.org/officeDocument/2006/relationships/slide" Target="/ppt/slides/slide17.xml" Id="R3778e41b6d144e8e" /><Relationship Type="http://schemas.openxmlformats.org/officeDocument/2006/relationships/slide" Target="/ppt/slides/slide18.xml" Id="Raf66edd6371640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e250a1863741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1f9adc4f64c03" /><Relationship Type="http://schemas.openxmlformats.org/officeDocument/2006/relationships/notesMaster" Target="/ppt/notesMasters/notesMaster1.xml" Id="Reac7b037d3ba4c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1587187ab248f1" /><Relationship Type="http://schemas.openxmlformats.org/officeDocument/2006/relationships/notesMaster" Target="/ppt/notesMasters/notesMaster1.xml" Id="Ree2eea5a6b854c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2f2e5997f749b5" /><Relationship Type="http://schemas.openxmlformats.org/officeDocument/2006/relationships/notesMaster" Target="/ppt/notesMasters/notesMaster1.xml" Id="R23abcf070314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47e8eb286e4610" /><Relationship Type="http://schemas.openxmlformats.org/officeDocument/2006/relationships/notesMaster" Target="/ppt/notesMasters/notesMaster1.xml" Id="Ra29c368ec29743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39a194a08d44f0" /><Relationship Type="http://schemas.openxmlformats.org/officeDocument/2006/relationships/notesMaster" Target="/ppt/notesMasters/notesMaster1.xml" Id="R25e5c74e991940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bdc73c82a4476a" /><Relationship Type="http://schemas.openxmlformats.org/officeDocument/2006/relationships/notesMaster" Target="/ppt/notesMasters/notesMaster1.xml" Id="Reee1a5c30a3249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1633f5db04dd2" /><Relationship Type="http://schemas.openxmlformats.org/officeDocument/2006/relationships/notesMaster" Target="/ppt/notesMasters/notesMaster1.xml" Id="R2774f200ea094f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0c291002ba4688" /><Relationship Type="http://schemas.openxmlformats.org/officeDocument/2006/relationships/notesMaster" Target="/ppt/notesMasters/notesMaster1.xml" Id="R9afd41be2f9d49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2e46623a314cba" /><Relationship Type="http://schemas.openxmlformats.org/officeDocument/2006/relationships/notesMaster" Target="/ppt/notesMasters/notesMaster1.xml" Id="Re0464ce1bfaa4e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e6ecfcef1147a0" /><Relationship Type="http://schemas.openxmlformats.org/officeDocument/2006/relationships/notesMaster" Target="/ppt/notesMasters/notesMaster1.xml" Id="Rbaefba903cbf42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ec58bdde6d44e8" /><Relationship Type="http://schemas.openxmlformats.org/officeDocument/2006/relationships/notesMaster" Target="/ppt/notesMasters/notesMaster1.xml" Id="R3a23028865bf47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b409cb62d34f76" /><Relationship Type="http://schemas.openxmlformats.org/officeDocument/2006/relationships/notesMaster" Target="/ppt/notesMasters/notesMaster1.xml" Id="R9d361986ade043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b66feaead54a65" /><Relationship Type="http://schemas.openxmlformats.org/officeDocument/2006/relationships/notesMaster" Target="/ppt/notesMasters/notesMaster1.xml" Id="R8020263627dc4e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0f456a62b8401e" /><Relationship Type="http://schemas.openxmlformats.org/officeDocument/2006/relationships/notesMaster" Target="/ppt/notesMasters/notesMaster1.xml" Id="Rc5b28ce87b4c4b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858fe7bf2d4233" /><Relationship Type="http://schemas.openxmlformats.org/officeDocument/2006/relationships/notesMaster" Target="/ppt/notesMasters/notesMaster1.xml" Id="Rafc5b07746814e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346a5523824f4f" /><Relationship Type="http://schemas.openxmlformats.org/officeDocument/2006/relationships/notesMaster" Target="/ppt/notesMasters/notesMaster1.xml" Id="R7fd07be7f3d145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28657e2891e4d52" /><Relationship Type="http://schemas.openxmlformats.org/officeDocument/2006/relationships/notesMaster" Target="/ppt/notesMasters/notesMaster1.xml" Id="R341972a068bf40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c70a8b0ccb4ff0" /><Relationship Type="http://schemas.openxmlformats.org/officeDocument/2006/relationships/notesMaster" Target="/ppt/notesMasters/notesMaster1.xml" Id="R25d3e552b67d44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426551be341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3aa5f0f4c34fe6" /><Relationship Type="http://schemas.openxmlformats.org/officeDocument/2006/relationships/slideLayout" Target="/ppt/slideLayouts/slideLayout1.xml" Id="R662e2371356d45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e2371356d45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3d9d00d9a4948" /><Relationship Type="http://schemas.openxmlformats.org/officeDocument/2006/relationships/notesSlide" Target="/ppt/notesSlides/notesSlide1.xml" Id="R51d13e25cc6f4c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e11ae1ceb4016" /><Relationship Type="http://schemas.openxmlformats.org/officeDocument/2006/relationships/notesSlide" Target="/ppt/notesSlides/notesSlide2.xml" Id="R85b41b49eb7647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d264145ba473e" /><Relationship Type="http://schemas.openxmlformats.org/officeDocument/2006/relationships/notesSlide" Target="/ppt/notesSlides/notesSlide3.xml" Id="R07792826f906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517e8b2dc4726" /><Relationship Type="http://schemas.openxmlformats.org/officeDocument/2006/relationships/notesSlide" Target="/ppt/notesSlides/notesSlide4.xml" Id="R9d92ca7696454a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66dcc692c4177" /><Relationship Type="http://schemas.openxmlformats.org/officeDocument/2006/relationships/notesSlide" Target="/ppt/notesSlides/notesSlide5.xml" Id="Rd28cea9e7feb42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0af0a43e54648" /><Relationship Type="http://schemas.openxmlformats.org/officeDocument/2006/relationships/notesSlide" Target="/ppt/notesSlides/notesSlide6.xml" Id="R982234a2305243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40136dcf944c0" /><Relationship Type="http://schemas.openxmlformats.org/officeDocument/2006/relationships/notesSlide" Target="/ppt/notesSlides/notesSlide7.xml" Id="R9c3f4af7404741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d496af32e4f72" /><Relationship Type="http://schemas.openxmlformats.org/officeDocument/2006/relationships/notesSlide" Target="/ppt/notesSlides/notesSlide8.xml" Id="Rfaedd0ecbcae41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554e9a394635" /><Relationship Type="http://schemas.openxmlformats.org/officeDocument/2006/relationships/notesSlide" Target="/ppt/notesSlides/notesSlide9.xml" Id="R370f040f51f746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2996058224860" /><Relationship Type="http://schemas.openxmlformats.org/officeDocument/2006/relationships/notesSlide" Target="/ppt/notesSlides/notesSlide10.xml" Id="R2173f8567f2a48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c9d9122024ba3" /><Relationship Type="http://schemas.openxmlformats.org/officeDocument/2006/relationships/notesSlide" Target="/ppt/notesSlides/notesSlide11.xml" Id="R9a35aaa6cb7c41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2ee94f81640f4" /><Relationship Type="http://schemas.openxmlformats.org/officeDocument/2006/relationships/notesSlide" Target="/ppt/notesSlides/notesSlide12.xml" Id="R127d6a62035d4b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ba4f2f3cb4b3d" /><Relationship Type="http://schemas.openxmlformats.org/officeDocument/2006/relationships/notesSlide" Target="/ppt/notesSlides/notesSlide13.xml" Id="Rdbd70171abb748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f81fc1cc94538" /><Relationship Type="http://schemas.openxmlformats.org/officeDocument/2006/relationships/notesSlide" Target="/ppt/notesSlides/notesSlide14.xml" Id="Rdc29b892532440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8cfaa41014643" /><Relationship Type="http://schemas.openxmlformats.org/officeDocument/2006/relationships/notesSlide" Target="/ppt/notesSlides/notesSlide15.xml" Id="R219ef4c0952d49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b1297735c405f" /><Relationship Type="http://schemas.openxmlformats.org/officeDocument/2006/relationships/notesSlide" Target="/ppt/notesSlides/notesSlide16.xml" Id="Raaf8ff6723f14f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8036be2c74b2a" /><Relationship Type="http://schemas.openxmlformats.org/officeDocument/2006/relationships/notesSlide" Target="/ppt/notesSlides/notesSlide17.xml" Id="R1f80839ef9084b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bda561a234391" /><Relationship Type="http://schemas.openxmlformats.org/officeDocument/2006/relationships/notesSlide" Target="/ppt/notesSlides/notesSlide18.xml" Id="Rb3b6a2a401f043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BF9A4-559F-449E-A444-320EE7C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99651-C22B-4A8E-9DE4-577AED3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338FA-2E1C-4B74-908B-B73349D0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C6F85-D798-48E1-9DCE-D017BFCB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LESSON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66BBE-002C-40E0-B623-14A1E2B1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Lesson 02: Partitioning, statistics and incremental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84D04-E190-46F6-A4CD-837791A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От DDL к evidence: pruning, partitions, statistics, late facts и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17497-3219-477C-BDC5-C5D849C6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F15AE-C1B6-4363-99BB-A9746068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549CF-83DE-474C-B8DC-3F54756F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6811D-B859-463B-A14C-ADBA0D72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71E2D-BE6F-4559-9D8C-22EFD9A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Научиться проектировать partitioned fact под workload, а не под красивый CREATE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5EF39-B1CB-4A68-BB8E-A91E1347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8297F-3215-4BA3-B236-4D75B069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4BE16-D649-4532-8D1A-482DE6AD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Практика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1EA61-D82E-45B3-8260-35C89745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Работаем с lesson02 SQL-lab: bad/good partition key, catalog checks, ANALYZE.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D16AA-E4CB-4BFE-96BF-16CAA9D8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40E12-065A-4879-BA8B-9ADC71C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70CF66-0B96-4D01-B8B4-84B9A6D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Итог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09613C-D6D9-43B5-9FD4-B62D185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Ученик уходит с mini-project: DDL, EXPLAIN, load policy, residual risk.</a:t>
            </a:r>
          </a:p>
        </p:txBody>
      </p:sp>
    </p:spTree>
    <p:extLst>
      <p:ext uri="{BB962C8B-B14F-4D97-AF65-F5344CB8AC3E}">
        <p14:creationId xmlns:p14="http://schemas.microsoft.com/office/powerpoint/2010/main" val="10118143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F6ABD6-1400-48F2-B7B9-2003014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B3510-72DB-4357-BCF9-A6EA47D1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E14CB-887E-4134-B8FF-1E78223A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EF399-5FF4-414A-957E-A6946C99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MENTAL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B8812-F976-4A2F-9373-1E8AE7AB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Partitioning и distribution отвечают за разные физические вопросы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67DFC-9748-47DB-B3B3-6B9E12E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Один режет таблицу на управляемые части, другой раскладывает строки по segments.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08D42-7FFC-4681-9EC4-081C3618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DE881-2216-4DE4-A609-9BE4C32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2B11A-AA58-4F0B-AA4C-B11B21C1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DAE05-B93C-4469-8E4E-D0A04BF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Partition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688B5-8272-4721-BD91-F825774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partition pruning, retention, leaf partitions, быстрый DROP/DETACH старого окна.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F067C-2AA0-41D4-AE3C-7B18240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F152F-32D3-4C92-8120-39A2FBCC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AC70D-B01A-4860-92DF-CDF5F43B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Distribution key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CC792-85A1-44BD-B115-BC882335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segment placement, parallelism, join locality, skew risk через gp_segment_id.</a:t>
            </a:r>
          </a:p>
        </p:txBody>
      </p:sp>
    </p:spTree>
    <p:extLst>
      <p:ext uri="{BB962C8B-B14F-4D97-AF65-F5344CB8AC3E}">
        <p14:creationId xmlns:p14="http://schemas.microsoft.com/office/powerpoint/2010/main" val="17415891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BC2C7-E3FD-47AE-A672-5E1FD0F4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59AAF-C223-4EB4-82A0-E8E78B9D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7F849-5BE8-49A3-BA66-458A40C4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6675D-A581-4086-B06D-2B0F6950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WORKLOAD FIRST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FDB58-82A1-4DF7-A111-757800A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Partition key выбирают после workload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3A412-B2D9-40A3-9133-1B70DC99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Сначала вопросы к отчетам и загрузке, потом DDL.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A8906-1F51-408C-A9CB-2BA4E641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14514-C624-499A-9E13-DAEF4F8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C6F91-8A4D-428A-AA9F-D596009F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FB2B2-A0C1-4931-9942-4288CDB1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Predicates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ED672-311A-4A43-92D9-EFC79D61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Какие WHERE фильтры повторяются каждый день?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19DB1-CA1F-4E77-BD97-6A485118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135E6-CB87-422A-A555-5746A00D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532F7-6D3E-4EBC-9DB5-70B81161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FBF2C-7600-4F64-9B32-FBA5F809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6674C1-64FE-405C-A215-86B8CF0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Что удаляем или архивируем по времени?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DD594B-D5DE-42DE-8264-075FE32B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46F2F-A4F5-417E-96E7-9A3C690E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0C9C4-6130-42C3-800C-7D3BAD0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CCB93-60A6-4A3B-8F62-0A759279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Late 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906F4-CFA0-4B7A-8BD6-29B7E7A6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 часто факты приезжают задним числом?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F20D4-FB89-4AA8-B6B1-00CC0C96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2A707-0227-4977-A6A0-A2EC2C5F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1AD0A-9D78-4E88-A06E-E7780DC8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CF18E-EDCF-4943-BD3A-EE4B781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SLA 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2920A9-C24C-47FC-8FB2-9907CA49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Когда publish и ANALYZE должны закончиться?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FD7336-9EC4-405D-829E-7B2DE22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9A7900-7910-4AB8-AB65-EFDC7FC4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FBDAF6-9AB3-4E8A-B9FE-EFF9819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E37A8-D879-4EB0-A512-9D1E3E1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10333F-9B20-41F2-BBC3-1D015AF1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Какие counts/sums доказывают корректность?</a:t>
            </a:r>
          </a:p>
        </p:txBody>
      </p:sp>
    </p:spTree>
    <p:extLst>
      <p:ext uri="{BB962C8B-B14F-4D97-AF65-F5344CB8AC3E}">
        <p14:creationId xmlns:p14="http://schemas.microsoft.com/office/powerpoint/2010/main" val="8143579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FFE92-8AEC-45DF-8594-3CFDE392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34357-0AE7-4EE2-A3EE-A0F771E2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CEA38-B4C5-4EBF-82C5-6AD80C98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85DB31-7066-4EE1-AC31-3178417F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BAD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548E8-C832-4FB5-80EF-553C6F8D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loaded_at часто удобен инженеру, но бесполезен отчету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55075-30A6-4963-85B6-904E70C9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Если бизнес фильтрует sale_date, partition by loaded_at не даст нужный pruning.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AEC5A5-81CD-4B69-BD58-69F039BD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02E02-4F7B-406A-B84B-39EB7774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236CF-C2CC-4DC1-845B-4B71392D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2FB2D-FE1C-4F42-802F-85182BD4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CREATE TABLE lesson02.fact_sales_bad_partition_key (...)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WITH (appendoptimized=true, orientation=column)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DISTRIBUTED BY (customer_id)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PARTITION BY RANGE (loaded_at);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-- typical report filter: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WHERE sale_date &gt;= DATE '2026-02-01'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AND sale_date &lt;  DATE '2026-03-01';</a:t>
            </a:r>
          </a:p>
        </p:txBody>
      </p:sp>
    </p:spTree>
    <p:extLst>
      <p:ext uri="{BB962C8B-B14F-4D97-AF65-F5344CB8AC3E}">
        <p14:creationId xmlns:p14="http://schemas.microsoft.com/office/powerpoint/2010/main" val="6470898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27E958-CC14-4F88-A9DE-C68B9AB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21673-F7D9-4FDC-B0E7-B3D9B08B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B6C67-F0E9-4E95-A507-CFF1BCCC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46C87-80D5-45D1-B378-89FD0FF5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GOOD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8D961-0CB9-4437-B4B8-27AD52AF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PARTITION BY RANGE (sale_date) совпадает с reporting predicate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A15E9-5CBE-475D-95E1-11CD96E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Теперь optimizer может отбросить лишние leaf partitions.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CB07A-40C0-4E63-B4ED-F0A9B69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4D785-D5BF-407B-8A9A-3762B9E4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69951-0F11-4C7B-8765-D7A97DF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0379B-9824-4855-A08E-C0B63A65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CREATE TABLE lesson02.fact_sales_partitioned (...)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WITH (appendoptimized=true, orientation=column,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    compresstype=zstd, compresslevel=1)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DISTRIBUTED BY (customer_id)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PARTITION BY RANGE (sale_date);</a:t>
            </a:r>
          </a:p>
        </p:txBody>
      </p:sp>
    </p:spTree>
    <p:extLst>
      <p:ext uri="{BB962C8B-B14F-4D97-AF65-F5344CB8AC3E}">
        <p14:creationId xmlns:p14="http://schemas.microsoft.com/office/powerpoint/2010/main" val="12730641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A3C52-4B32-4C50-98F7-A1F52F4B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1A1C5-1829-443D-8F1E-5117A8C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1434D-FD51-4CE4-9CC3-5EB81F50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3C467-8542-4079-807E-A41B5E4F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CF173-1E2F-45A8-AB48-DBE9D8B3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Pruning надо доказывать планом, а не надеждой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6C83B-73AD-4955-AECA-759412E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В demo хороший план сканирует 1 partition из 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27E10-E36F-4774-811A-ABA8B7FF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93F33-8785-4E18-BC36-7AB7C8E9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8C51D-2769-4192-9B06-79FA4075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F8D8F-BAFE-46D1-BBEB-F4375F11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EXPLAIN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sum(amount)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lesson02.fact_sales_partitioned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WHERE sale_date &gt;= DATE '2026-02-01'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AND sale_date &lt; DATE '2026-03-01';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-- ищем: Number of partitions to scan: 1 (out of 4)</a:t>
            </a:r>
          </a:p>
        </p:txBody>
      </p:sp>
    </p:spTree>
    <p:extLst>
      <p:ext uri="{BB962C8B-B14F-4D97-AF65-F5344CB8AC3E}">
        <p14:creationId xmlns:p14="http://schemas.microsoft.com/office/powerpoint/2010/main" val="10085426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7F638-10D6-4960-BA8C-0F5E4929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E00A1-6BF2-4E52-B1B6-88BBAEA0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04A7D-4DA7-423B-8B28-86D90D4F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3B39F-BC67-4849-9C9D-8D9E3A4A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CATALOG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DDD53-86D8-4C63-B04F-6A68CDB4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pg_partition_tree и gp_toolkit.gp_partitions показывают структуру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C4987-6DFF-41B8-9F23-13C0D63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Catalog evidence нужен в homework и production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8E7130-B385-45A2-8FE2-7C0C79E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72B5E-3FE2-40E2-B498-B0AAEBCD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820D-F87F-4D9C-897D-56EFA8D0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0636D-8D0F-438B-8619-85AF5C05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*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pg_partition_tree('lesson02.fact_sales_partitioned'::regclass);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*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gp_toolkit.gp_partitions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WHERE schemaname = 'lesson02'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ORDER BY partitiontablename;</a:t>
            </a:r>
          </a:p>
        </p:txBody>
      </p:sp>
    </p:spTree>
    <p:extLst>
      <p:ext uri="{BB962C8B-B14F-4D97-AF65-F5344CB8AC3E}">
        <p14:creationId xmlns:p14="http://schemas.microsoft.com/office/powerpoint/2010/main" val="14556895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F055D-3BE5-464D-81AC-491FE23C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01630-6CF6-4908-A1E7-195B5BD2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F6ABD-1EC4-45DF-9978-5620AF3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E225-3AD6-4C7B-820F-CE7740AB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STRATEGIES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64736-5D3A-4FFF-8340-25FA854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RANGE, LIST, HASH и DEFAULT решают разные задачи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8184EE-5FE7-440D-BE67-3576BB6B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Выбор стратегии должен звучать как ответ на workload, а не как перечисление syntax.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35380-6BD4-4448-AE3F-3B4766C8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D3C2B-949D-4FB4-A596-86635443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77E381-DBA3-4796-A21C-1650CD59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BE686-AC3B-4868-8DDB-136C41B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CBAE1-F8AE-4090-9720-49A031C4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Даты, retention, rolling windows, monthly partitions.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37D6B-A316-4C1E-9E83-C52F0B02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5CB69-D10C-4E11-AA84-1B630105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0CA8D-150A-402C-8EDC-E5364D0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0BFA1-38CC-4E82-A1CB-0D14207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Стабильные бизнес-категории: region, channel, tenant group.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20C7B-C14A-4FB0-AEC5-F240FBC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A62E1-DC5C-4791-A3E5-CC06D994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5F95DC-92CB-4A74-8ECD-A08813C6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C25D9-FE1D-48BF-B833-8F4F4B86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Bucketization без естественного range/list. Не замена DISTRIBUTED BY.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7BCCF0-0BFD-4D2E-A3BE-CF71DE5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8FD03-D2D3-47BF-A990-F85CD996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5900A2-2DBF-44BB-B3B9-925D6C60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4F85BA-1955-404D-A8BD-E0819210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Safety net для неожиданных значений. Может скрыть data quality issue.</a:t>
            </a:r>
          </a:p>
        </p:txBody>
      </p:sp>
    </p:spTree>
    <p:extLst>
      <p:ext uri="{BB962C8B-B14F-4D97-AF65-F5344CB8AC3E}">
        <p14:creationId xmlns:p14="http://schemas.microsoft.com/office/powerpoint/2010/main" val="5005278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429EB-22EE-4928-A98C-D52AADB7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7A604-B496-4593-91ED-00AA6365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36140-2D1B-4432-8D71-8ECCB9F2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595EE-4D25-408C-956E-53CEE259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115E8-84C2-423F-90B9-02EFC51D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AOCO partitions ускоряют scan, но не лечат плохой key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0252A-419C-4D3E-ABBA-F58BF259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Storage, partitioning и distribution — три разных рычага.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1FFF5-98DA-43DB-B0E3-AF823151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A38EA-A712-4D6C-A37A-D595AD62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BC17C-2E4B-40E1-A03B-B7AF517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119CA-05F0-4892-84B8-18E4CF4A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AOCO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A64621-E907-4523-A320-5170028C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column-oriented append-optimized storage для scan-heavy fact.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F2F2C-617B-4339-B578-F8EB35E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C800B-791E-4B9A-B12B-B1994B60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ED6DE-9917-4B13-A645-9D207968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Compression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7FD72-B3DE-4DE8-9C67-8A7A87DA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zstd помогает storage footprint и IO, но не убирает Motion.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12CBF-88C8-4959-BECE-566C3FFA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4E7A62-45AF-43D2-83C5-5781A7C4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C0FE9-F5BE-4FF8-B57B-E6C80813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Skew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564200-1B15-4486-AF46-234EB04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Проверяется через gp_segment_id, а не через orientation=column.</a:t>
            </a:r>
          </a:p>
        </p:txBody>
      </p:sp>
    </p:spTree>
    <p:extLst>
      <p:ext uri="{BB962C8B-B14F-4D97-AF65-F5344CB8AC3E}">
        <p14:creationId xmlns:p14="http://schemas.microsoft.com/office/powerpoint/2010/main" val="18278830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5C113-69B9-4C0C-9727-436D654E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B69ED-4911-4D26-8A19-3DC04AB3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D0E70-5ABB-4374-AA5F-15E92E9E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CCA45-B187-43AD-B5BC-0070D237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ECECA-C6FC-460F-8B9C-250DDEEC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ANALYZE после load — часть контракта загрузки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F849-D7AB-4C64-AB2A-BFD10A2E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Без свежих estimates optimizer легко выбирает плохой join или Motion.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E80F3-C083-4EB0-9F43-FBD9B108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537C4-EA15-41E3-990E-3EB425FF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7BDEC-DCB4-49D7-ADD1-81C73FB4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B56E6-5839-46EF-A8BE-A32E16D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ANALYZE lesson02.fact_sales_partitioned;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SELECT schemaname, relname, n_live_tup, last_analyze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FROM pg_stat_user_tables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WHERE schemaname = 'lesson02'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ORDER BY relname;</a:t>
            </a:r>
          </a:p>
        </p:txBody>
      </p:sp>
    </p:spTree>
    <p:extLst>
      <p:ext uri="{BB962C8B-B14F-4D97-AF65-F5344CB8AC3E}">
        <p14:creationId xmlns:p14="http://schemas.microsoft.com/office/powerpoint/2010/main" val="13579863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54BCA2-94F9-4C17-A2A0-3CEB746C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F5C87-862F-4D0D-A9AE-D2C43BE8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E8125-A741-4304-9657-668B759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5E130-63F3-4CAF-8D95-6B8D7C0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LOAD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EBC91-44E3-4736-9706-953939D7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Incremental load — это stage, publish, analyze и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EA7F1-8F41-4C2E-99CC-28AE6FAE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Простой INSERT не отвечает на retry, late facts и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8EBCC-88AB-4787-9470-99B1AF92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0B806-A83D-4394-8976-C0070674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6EC22-EE6D-4416-B889-CAFD9B22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57072-A636-4F5B-B810-D69CCA6C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AED9F-426B-43A9-9585-650B854A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Загружаем окно в staging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C6A0C-0211-477E-BF71-2290DD39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FFFE8-7DC9-44F8-A0B4-3CC6ACC6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418E9-8ED5-4EEA-8B18-622656D5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F1C52C-1ADB-401B-8DF1-22D04183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04E27D-B5D2-4E12-99A9-25B1C0F8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Сверяем counts, sums, duplicates.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56246-DF6C-40B4-B5E8-438AB2A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D8EC9-0881-41C9-A568-2141482E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E1B66-7E17-4C5E-8961-1222B2E9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FF296-C69B-4A38-A5F7-4551D46D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BA53-B5E0-43DA-ACE4-6D99FE03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Публикуем touched partitions.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011D2-0DF0-4350-93AA-65C530C6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3548A-690C-4688-8098-020B28B5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B4DF8E-D2AE-4B7E-8850-9F223D20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E717A-0B6D-4A57-A1FD-D70D5375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1CDBE-760A-4382-BB9D-C3557966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Обновляем statistics.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FC76B-4675-4059-B0A0-A1EDDFD2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24CAE-D798-4883-9E8E-82AB7C19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9D168-1B69-45D7-B157-D52EFF15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F1B27-739D-483B-B7AC-D86AC49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45D12-E0D2-4F5B-8D2C-096E90DD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Фиксируем evidence для retry.</a:t>
            </a:r>
          </a:p>
        </p:txBody>
      </p:sp>
    </p:spTree>
    <p:extLst>
      <p:ext uri="{BB962C8B-B14F-4D97-AF65-F5344CB8AC3E}">
        <p14:creationId xmlns:p14="http://schemas.microsoft.com/office/powerpoint/2010/main" val="99980212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FE33E0-2BE9-4EEB-A1B3-49ED031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8A421-3F71-44EB-AC46-9ED434F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90EE0-879F-4E75-9B70-0DB5FDDC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FBDE9-CE3F-437E-A6D5-2112E7C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LATE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D8C79-2FA8-4A9C-B774-D08BE2A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late-arriving facts — требование, а не исключение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8C354-6468-4C7E-918D-E1A240E2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Факт с sale_date января может приехать в февральской загрузке.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94E7D-B30B-489E-A20A-BC7CA602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49F2D-2A6D-48EC-9BCC-B67CB565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EE7F-991B-4D5A-9688-BE8F14F7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E0E08-BA26-416E-84FF-B064ED24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Плохой ответ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92801-1EF0-4EB7-8DCC-B0796D5F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Просто вставим строку еще раз и посмотрим, что будет. Дубли и stale stats появятся тихо.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1F448-FC1F-49A7-B950-6951603E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2E821-86CA-46AF-9071-B1AE22E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E661C-7CAA-4843-9E8E-5B5528A4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Хороший ответ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8E775-D395-411A-AD7C-DBFFD07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bounded reload window, partition-level replace или идемпотентный merge/upsert, validation, ANALYZE.</a:t>
            </a:r>
          </a:p>
        </p:txBody>
      </p:sp>
    </p:spTree>
    <p:extLst>
      <p:ext uri="{BB962C8B-B14F-4D97-AF65-F5344CB8AC3E}">
        <p14:creationId xmlns:p14="http://schemas.microsoft.com/office/powerpoint/2010/main" val="157088958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11A17-81D9-403C-8CC0-936EAAD2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374E4-865A-4A77-96B9-7FB9A5E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02FB6-EFE3-48B2-BB8B-88ADCC14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614FC-6B6B-4C1B-B45B-804E2E99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IDEMPOTENCY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435BF-A0B8-438D-AAAB-AE3052AE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idempotency означает безопасный повторный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A4490-CCBE-42F5-8A2D-8AC2DEE8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Повтор load не должен удваивать факты или ломать audit.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2658E-5926-4963-92DA-E4B48D5D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D9978-15DC-4437-80B1-0FEA5E3D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D3796-365A-4FD8-A247-81D3E4C6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193C2-E57E-459A-9A27-029ED07A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Deterministic key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3A4FA7-5926-4BCD-A6A3-2DF3B819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sale_id/source_system/load_batch_id позволяют отделить новые строки от дублей.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EDBB-3A1F-4EC9-8349-D5AF8D7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6B930-5EA5-46C0-853D-A041BB73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281F3-6AAE-4A06-A14F-624EDAC3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Bounded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C92C2-495D-452B-9505-EDB524E7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Перезагружаем только контролируемое окно late facts.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6ACB7-2593-48D8-8A75-D569633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F7055-7A9B-40BD-8133-6CCD8F2A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1D460-77AE-4761-8DEF-A1ABD228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7864F-972E-40D2-BDA6-A2D66D79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До publish сохраняем row counts, sums и duplicate checks.</a:t>
            </a:r>
          </a:p>
        </p:txBody>
      </p:sp>
    </p:spTree>
    <p:extLst>
      <p:ext uri="{BB962C8B-B14F-4D97-AF65-F5344CB8AC3E}">
        <p14:creationId xmlns:p14="http://schemas.microsoft.com/office/powerpoint/2010/main" val="9702824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E04FEB-0FCE-46FA-BD5D-063C0165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B98C9-8108-49DC-9166-C79416E0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6D8B6-C320-4079-AA2B-DF12E0A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B24FE-CCB7-43EF-8E22-3EC6D4B4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9185E-62DE-40AF-8D7E-F2EF4C95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Retention через partition boundary обычно лучше массового DELETE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1DF23-356F-4E7C-9A28-5B7A6BB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DETACH/DROP старой leaf partition проще объяснить и контролировать.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33A6C-5A55-44F5-8847-49C0B197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8C92-DB1A-41DD-860E-A8760017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096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F4D71A-8230-497F-9D03-417E5775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728F9-B62E-418E-9B8C-C8744A5B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97536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-- admin snippet, not casual classroom command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ALTER TABLE lesson02.fact_sales_partitioned</a:t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  DETACH PARTITION lesson02.fact_sales_partitioned_2026_01;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02123"/>
                </a:solidFill>
                <a:latin typeface="Aptos Mono"/>
                <a:ea typeface="Aptos Mono"/>
                <a:cs typeface="Aptos Mono"/>
              </a:rPr>
              <a:t>DROP TABLE lesson02.fact_sales_partitioned_2026_01;</a:t>
            </a:r>
          </a:p>
        </p:txBody>
      </p:sp>
    </p:spTree>
    <p:extLst>
      <p:ext uri="{BB962C8B-B14F-4D97-AF65-F5344CB8AC3E}">
        <p14:creationId xmlns:p14="http://schemas.microsoft.com/office/powerpoint/2010/main" val="6425647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085526-2707-4A29-9F7D-C28C2EDD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AD4D8-3FAE-44C7-890A-8F78264F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DA9B-DE0E-4858-A158-A895D30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BD4D8-D91E-4641-AD71-5EC54BA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D33E3-FC0C-441E-BE4F-577116B9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Приемка физического дизайна строится на доказательствах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33F71-C7DC-464A-9649-790CB762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Если доказательств нет, это не production-ready решение.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DDC44-C8D4-4CAE-9F1C-24F17D21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678C1-F49F-4AC2-A4A5-DA517061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5382B-5928-48AF-95EB-B6D5762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EF329-5382-435D-ADE2-7D4B4908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DDL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5FFB1-2B91-49B5-8480-D2AD970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PARTITION BY, DISTRIBUTED BY, storage options.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953F6-3F5F-4FFD-8EF2-568FE9A5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6B66-0580-425C-B286-D560D866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FF9F2-33F4-48F6-BC8E-EFDAD55F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27E53-6042-415A-86AC-88FF9879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EXPLAIN показывает pruning и возможный Motion risk.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A896F5-9915-4EF7-A97A-655714D3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04D16-B380-477C-BEA8-74A909A1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BB98B-28CD-48DE-AB67-95EB9BF6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C73C3-76EA-49E1-9909-5C5BC43D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pg_partition_tree, gp_toolkit.gp_partitions, tableoid.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043B4-3002-4C4D-BB3D-5C125524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6FD20E-0D4B-4684-84B9-1C4A9662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1314F-AB64-4FF5-878E-79F89747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16DD24-4013-4DB7-8F55-18AC9F9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ANALYZE, validation, retry, residual risk.</a:t>
            </a:r>
          </a:p>
        </p:txBody>
      </p:sp>
    </p:spTree>
    <p:extLst>
      <p:ext uri="{BB962C8B-B14F-4D97-AF65-F5344CB8AC3E}">
        <p14:creationId xmlns:p14="http://schemas.microsoft.com/office/powerpoint/2010/main" val="12754190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5B741-DD97-4C3E-A74C-B6BBF445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4BED0-3E07-43DC-86FC-ADB7C1E7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79B1F-3E58-4BF3-AA7D-0CB3D069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79E63-9E22-4635-ACFA-74BDFAD9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SIMPLE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CD5A5-CFA5-46ED-BDE9-64020941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60 минут: replay, pruning, statistics, incremental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7F7DD-DE63-4A05-8F40-F8CBE97B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Основной маршрут держит ученика в SQL и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7B179-394B-4156-8AAB-A6BE2D27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26AF3-5668-478A-BE3A-F3690868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7F8E9-5B3D-4F42-B528-9B393ED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DE630-70BA-47EA-B105-E7B4FE62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Replay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0925C-A9E6-44EA-A0B6-8184AF30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Что не доказали в Lesson 01?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52E65-11BE-4590-A19D-1B2E57E3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16F78-E92A-4159-BB55-93843050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5EE60-980D-45D3-BE6E-DDF78F3A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0BA19-F6CF-4F82-8AD8-7B63A0E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Pruning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245D4-4E5D-4AE1-87F5-546DA53E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Bad/good partition key.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08431-D990-4876-8698-D2733D1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376FD-DEF8-4E5F-82EF-8637EBF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05C7F-A286-4EE4-A256-0C781489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AD9AC-485B-4C08-B42D-7B11FBD5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Stats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B4FE6-ECB9-4C79-8AE0-F196C424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ANALYZE и last_analyze.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0E2CE-8B43-4A4B-98D8-C02935A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467D0-4EAA-4C7D-9C0B-26D8997D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5210CA-E6B7-4131-8C5A-E1425CA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F7F54E-18D7-4C12-86FF-3C9E0BB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5F3D4-A482-4FCA-88C1-7700DC0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late facts и idempotency.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7C916-C030-474B-BE84-CC326F70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13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4BD2BB-0F50-48D3-9EF1-0012713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16764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7D6EDF-0605-4AD6-9E27-15C3FA1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3B8D72-2646-4ABA-BB91-A9076A09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0400"/>
            <a:ext cx="1257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Homework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9D4B1F-1608-44B9-90C6-AAA614A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957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mini-project.</a:t>
            </a:r>
          </a:p>
        </p:txBody>
      </p:sp>
    </p:spTree>
    <p:extLst>
      <p:ext uri="{BB962C8B-B14F-4D97-AF65-F5344CB8AC3E}">
        <p14:creationId xmlns:p14="http://schemas.microsoft.com/office/powerpoint/2010/main" val="20034748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6BEB1-0DAD-4F55-91A6-965EA093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B7722-3245-4695-AD35-4AF3C379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D86E7-3A67-4617-8A35-B5A4ED87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2E1D1-09E5-4362-9EA1-F95C3661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DEEP ROUTE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5A2BD-DE9C-44D7-8960-E08ED57F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Deep-dive расширяет урок до operational design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74C02-BA35-40B7-8666-A7778EC1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Используй, если ученик уже не путает pruning, Motion и distribution.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1B34F-A603-4903-88F4-4F0B5939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F7CD1-7F12-499A-AEEF-4E22C414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AEFB5-998F-4A28-9964-076273F6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65D51-DC88-41D0-850F-A8F88DD4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Plan reading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88B43-B35B-48CF-8211-D9DC0C30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Смотреть partitions, estimates и Motion в одном объяснении.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E86EA-8227-405D-B572-5F1114D8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6599C-7D74-402E-85EF-BA0E9B8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F5A77-9D21-48E7-A9A4-C52C909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Maintenance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1A4C1-1D08-43C9-A484-CEEBD2E2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ATTACH/DETACH, default partition, retention windows.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930202-A407-46DB-9F4E-380FD5E8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67DDD-92A4-4CB8-A066-308AEDF0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E427F-BDCA-43DD-B358-5C6FB6B7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Mini-RFC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3592B9-C6D7-498C-A402-32E7F13D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Ученик защищает DDL и load policy как production design.</a:t>
            </a:r>
          </a:p>
        </p:txBody>
      </p:sp>
    </p:spTree>
    <p:extLst>
      <p:ext uri="{BB962C8B-B14F-4D97-AF65-F5344CB8AC3E}">
        <p14:creationId xmlns:p14="http://schemas.microsoft.com/office/powerpoint/2010/main" val="62798081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63839-FBF3-46FE-9C9E-6449814C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99C9D-90EF-4CC7-B508-31F04C00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7A796-2FA1-47AD-AC7E-18E428D0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484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7C820-5E54-4D4A-9E64-001B599B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A3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A37F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65401-9146-4C3E-B591-C8C9B16C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2123"/>
                </a:solidFill>
                <a:latin typeface="Aptos Display"/>
                <a:ea typeface="Aptos Display"/>
                <a:cs typeface="Aptos Display"/>
              </a:rPr>
              <a:t>Что ученик должен унести с Lesson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2CA5E-8778-4257-BC19-B70723D0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Не набор syntax, а инженерный способ защищать MPP physical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7A6F0-0009-4546-8A26-8F61236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400800"/>
            <a:ext cx="1123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Урок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3E2B-C699-4BF2-BE43-88F47B1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C1E25-735D-416A-AF22-C02B59C8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3083CA-4D00-448E-B03D-82A7BA45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Разделять ключи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4D43D-9E34-42F0-9D17-86DE1A5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Partition key != distribution key.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B8CC1-A4C3-464B-BE10-06C27FB4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45058-576A-491B-B774-7936C4F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EC1CA3-D727-42DB-BBCD-BBA4113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Доказывать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EE5A1-0C18-4317-97D7-4330681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EXPLAIN, catalog checks, gp_segment_id, last_analyze.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D936-6B2E-4A6F-AAAF-1061E3D4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3B306F-B296-40C9-AFF4-47ABAE7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2C14C-1D79-49FC-9F2D-522F6EDB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43400"/>
            <a:ext cx="4533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123"/>
                </a:solidFill>
                <a:latin typeface="Aptos"/>
                <a:ea typeface="Aptos"/>
                <a:cs typeface="Aptos"/>
              </a:rPr>
              <a:t>Проектировать 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3C7C2-C636-409E-87B4-9174DBA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533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E6E6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E6E68"/>
                </a:solidFill>
                <a:latin typeface="Aptos"/>
                <a:ea typeface="Aptos"/>
                <a:cs typeface="Aptos"/>
              </a:rPr>
              <a:t>late-arriving facts, idempotency, validation, residual risk.</a:t>
            </a:r>
          </a:p>
        </p:txBody>
      </p:sp>
    </p:spTree>
    <p:extLst>
      <p:ext uri="{BB962C8B-B14F-4D97-AF65-F5344CB8AC3E}">
        <p14:creationId xmlns:p14="http://schemas.microsoft.com/office/powerpoint/2010/main" val="13253043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2026-06-14T10:25:02.4580000Z</dcterms:created>
  <dcterms:modified xsi:type="dcterms:W3CDTF">2026-06-14T10:25:02.4580000Z</dcterms:modified>
</coreProperties>
</file>